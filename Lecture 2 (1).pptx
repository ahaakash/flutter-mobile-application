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1" d="100"/>
          <a:sy n="41" d="100"/>
        </p:scale>
        <p:origin x="-584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EE22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EE22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40603" y="2814439"/>
            <a:ext cx="8893810" cy="6064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802070" y="2995375"/>
            <a:ext cx="7946390" cy="7637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EE220D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142" y="351686"/>
            <a:ext cx="16262985" cy="1664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0" i="0">
                <a:solidFill>
                  <a:srgbClr val="24579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63407" y="2599995"/>
            <a:ext cx="10725150" cy="3237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EE220D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hyperlink" Target="mailto:m@xyz.com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88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>
                <a:solidFill>
                  <a:srgbClr val="000000"/>
                </a:solidFill>
              </a:rPr>
              <a:t>Mobile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Learning</a:t>
            </a:r>
            <a:r>
              <a:rPr spc="-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Application </a:t>
            </a:r>
            <a:r>
              <a:rPr spc="-10" dirty="0">
                <a:solidFill>
                  <a:srgbClr val="000000"/>
                </a:solidFill>
              </a:rPr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9284" y="3327930"/>
            <a:ext cx="12926060" cy="345286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615690">
              <a:lnSpc>
                <a:spcPct val="100000"/>
              </a:lnSpc>
              <a:spcBef>
                <a:spcPts val="125"/>
              </a:spcBef>
            </a:pPr>
            <a:r>
              <a:rPr sz="5250" dirty="0">
                <a:latin typeface="Arial MT"/>
                <a:cs typeface="Arial MT"/>
              </a:rPr>
              <a:t>Dart</a:t>
            </a:r>
            <a:r>
              <a:rPr sz="5250" spc="-5" dirty="0">
                <a:latin typeface="Arial MT"/>
                <a:cs typeface="Arial MT"/>
              </a:rPr>
              <a:t> </a:t>
            </a:r>
            <a:r>
              <a:rPr sz="5250" dirty="0">
                <a:latin typeface="Arial MT"/>
                <a:cs typeface="Arial MT"/>
              </a:rPr>
              <a:t>Programming</a:t>
            </a:r>
            <a:r>
              <a:rPr sz="5250" spc="5" dirty="0">
                <a:latin typeface="Arial MT"/>
                <a:cs typeface="Arial MT"/>
              </a:rPr>
              <a:t> </a:t>
            </a:r>
            <a:r>
              <a:rPr sz="5250" spc="-10" dirty="0">
                <a:latin typeface="Arial MT"/>
                <a:cs typeface="Arial MT"/>
              </a:rPr>
              <a:t>Language</a:t>
            </a:r>
            <a:endParaRPr sz="5250" dirty="0">
              <a:latin typeface="Arial MT"/>
              <a:cs typeface="Arial MT"/>
            </a:endParaRPr>
          </a:p>
          <a:p>
            <a:pPr marL="6356985">
              <a:lnSpc>
                <a:spcPct val="100000"/>
              </a:lnSpc>
              <a:spcBef>
                <a:spcPts val="50"/>
              </a:spcBef>
            </a:pPr>
            <a:r>
              <a:rPr sz="5250" dirty="0">
                <a:latin typeface="Arial MT"/>
                <a:cs typeface="Arial MT"/>
              </a:rPr>
              <a:t>Lecture</a:t>
            </a:r>
            <a:r>
              <a:rPr sz="5250" spc="5" dirty="0">
                <a:latin typeface="Arial MT"/>
                <a:cs typeface="Arial MT"/>
              </a:rPr>
              <a:t> </a:t>
            </a:r>
            <a:r>
              <a:rPr sz="5250" spc="-50" dirty="0">
                <a:latin typeface="Arial MT"/>
                <a:cs typeface="Arial MT"/>
              </a:rPr>
              <a:t>2</a:t>
            </a:r>
            <a:endParaRPr sz="52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525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52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86678" y="3214142"/>
            <a:ext cx="1482677" cy="14826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969980" y="10829273"/>
            <a:ext cx="153670" cy="3022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-50" dirty="0">
                <a:latin typeface="Arial MT"/>
                <a:cs typeface="Arial MT"/>
              </a:rPr>
              <a:t>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65451" y="5883275"/>
            <a:ext cx="135498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</a:p>
          <a:p>
            <a:pPr marL="0" indent="0" algn="ctr">
              <a:spcBef>
                <a:spcPts val="0"/>
              </a:spcBef>
              <a:buNone/>
            </a:pPr>
            <a:endParaRPr lang="en-US" sz="4400" dirty="0" smtClean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b="1" dirty="0" err="1" smtClean="0">
                <a:solidFill>
                  <a:schemeClr val="tx1"/>
                </a:solidFill>
                <a:latin typeface="Georgia" panose="02040502050405020303" pitchFamily="18" charset="0"/>
              </a:rPr>
              <a:t>Rakib</a:t>
            </a:r>
            <a:r>
              <a:rPr lang="en-US" sz="48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US" sz="4800" b="1" dirty="0" err="1" smtClean="0">
                <a:solidFill>
                  <a:schemeClr val="tx1"/>
                </a:solidFill>
                <a:latin typeface="Georgia" panose="02040502050405020303" pitchFamily="18" charset="0"/>
              </a:rPr>
              <a:t>Hossen</a:t>
            </a:r>
            <a:r>
              <a:rPr lang="en-US" sz="4800" b="1" dirty="0" smtClean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400" dirty="0" err="1" smtClean="0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), GDU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617"/>
            <a:ext cx="20104100" cy="2666365"/>
            <a:chOff x="0" y="22617"/>
            <a:chExt cx="20104100" cy="2666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617"/>
              <a:ext cx="20101586" cy="26663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8648" y="143241"/>
              <a:ext cx="9514265" cy="24828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8053"/>
              <a:ext cx="20104099" cy="20347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131" rIns="0" bIns="0" rtlCol="0">
            <a:spAutoFit/>
          </a:bodyPr>
          <a:lstStyle/>
          <a:p>
            <a:pPr marL="148844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814439"/>
            <a:ext cx="17411700" cy="2440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0375">
              <a:lnSpc>
                <a:spcPct val="100000"/>
              </a:lnSpc>
              <a:spcBef>
                <a:spcPts val="105"/>
              </a:spcBef>
              <a:buClr>
                <a:srgbClr val="245796"/>
              </a:buClr>
              <a:buChar char="•"/>
              <a:tabLst>
                <a:tab pos="473075" algn="l"/>
              </a:tabLst>
            </a:pPr>
            <a:r>
              <a:rPr sz="3950" dirty="0">
                <a:latin typeface="Georgia"/>
                <a:cs typeface="Georgia"/>
              </a:rPr>
              <a:t>Dart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List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is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similar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to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an</a:t>
            </a:r>
            <a:r>
              <a:rPr sz="3950" spc="15" dirty="0"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array</a:t>
            </a:r>
            <a:r>
              <a:rPr sz="3950" dirty="0">
                <a:latin typeface="Georgia"/>
                <a:cs typeface="Georgia"/>
              </a:rPr>
              <a:t>,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which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is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ordered collection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of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objects</a:t>
            </a:r>
            <a:r>
              <a:rPr sz="3950" spc="-10" dirty="0">
                <a:latin typeface="Georgia"/>
                <a:cs typeface="Georgia"/>
              </a:rPr>
              <a:t>.</a:t>
            </a:r>
            <a:endParaRPr sz="3950">
              <a:latin typeface="Georgia"/>
              <a:cs typeface="Georgia"/>
            </a:endParaRPr>
          </a:p>
          <a:p>
            <a:pPr marL="473075" marR="275590" indent="-461009">
              <a:lnSpc>
                <a:spcPct val="101000"/>
              </a:lnSpc>
              <a:buClr>
                <a:srgbClr val="245796"/>
              </a:buClr>
              <a:buChar char="•"/>
              <a:tabLst>
                <a:tab pos="473075" algn="l"/>
              </a:tabLst>
            </a:pPr>
            <a:r>
              <a:rPr sz="3950" dirty="0">
                <a:latin typeface="Georgia"/>
                <a:cs typeface="Georgia"/>
              </a:rPr>
              <a:t>The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Dart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list looks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like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JavaScript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array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literals.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syntax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of</a:t>
            </a:r>
            <a:r>
              <a:rPr sz="3950" spc="-10" dirty="0">
                <a:latin typeface="Georgia"/>
                <a:cs typeface="Georgia"/>
              </a:rPr>
              <a:t> declaring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list is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given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spc="-10" dirty="0">
                <a:latin typeface="Georgia"/>
                <a:cs typeface="Georgia"/>
              </a:rPr>
              <a:t>below.</a:t>
            </a:r>
            <a:endParaRPr sz="3950">
              <a:latin typeface="Georgia"/>
              <a:cs typeface="Georgia"/>
            </a:endParaRPr>
          </a:p>
          <a:p>
            <a:pPr marL="5837555">
              <a:lnSpc>
                <a:spcPts val="4690"/>
              </a:lnSpc>
            </a:pPr>
            <a:r>
              <a:rPr sz="3950" dirty="0">
                <a:solidFill>
                  <a:srgbClr val="FF0000"/>
                </a:solidFill>
                <a:latin typeface="Georgia"/>
                <a:cs typeface="Georgia"/>
              </a:rPr>
              <a:t>var</a:t>
            </a:r>
            <a:r>
              <a:rPr sz="3950" spc="-1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FF0000"/>
                </a:solidFill>
                <a:latin typeface="Georgia"/>
                <a:cs typeface="Georgia"/>
              </a:rPr>
              <a:t>list1</a:t>
            </a:r>
            <a:r>
              <a:rPr sz="395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FF0000"/>
                </a:solidFill>
                <a:latin typeface="Georgia"/>
                <a:cs typeface="Georgia"/>
              </a:rPr>
              <a:t>= [10,</a:t>
            </a:r>
            <a:r>
              <a:rPr sz="3950" spc="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FF0000"/>
                </a:solidFill>
                <a:latin typeface="Georgia"/>
                <a:cs typeface="Georgia"/>
              </a:rPr>
              <a:t>15,</a:t>
            </a:r>
            <a:r>
              <a:rPr sz="3950" spc="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Georgia"/>
                <a:cs typeface="Georgia"/>
              </a:rPr>
              <a:t>20,25,25]</a:t>
            </a:r>
            <a:endParaRPr sz="39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93176" y="5837728"/>
            <a:ext cx="10924065" cy="23773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617"/>
            <a:ext cx="20104100" cy="2666365"/>
            <a:chOff x="0" y="22617"/>
            <a:chExt cx="20104100" cy="2666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617"/>
              <a:ext cx="20101586" cy="26663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8648" y="143241"/>
              <a:ext cx="9758027" cy="24828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8053"/>
              <a:ext cx="20104099" cy="20347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131" rIns="0" bIns="0" rtlCol="0">
            <a:spAutoFit/>
          </a:bodyPr>
          <a:lstStyle/>
          <a:p>
            <a:pPr marL="148844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71170" marR="5080" indent="-459105" algn="just">
              <a:lnSpc>
                <a:spcPct val="101000"/>
              </a:lnSpc>
              <a:spcBef>
                <a:spcPts val="60"/>
              </a:spcBef>
              <a:buClr>
                <a:srgbClr val="245796"/>
              </a:buClr>
              <a:buChar char="•"/>
              <a:tabLst>
                <a:tab pos="473075" algn="l"/>
              </a:tabLst>
            </a:pPr>
            <a:r>
              <a:rPr dirty="0"/>
              <a:t>The</a:t>
            </a:r>
            <a:r>
              <a:rPr spc="525" dirty="0"/>
              <a:t> </a:t>
            </a:r>
            <a:r>
              <a:rPr dirty="0"/>
              <a:t>Dart</a:t>
            </a:r>
            <a:r>
              <a:rPr spc="530" dirty="0"/>
              <a:t> </a:t>
            </a:r>
            <a:r>
              <a:rPr dirty="0"/>
              <a:t>list</a:t>
            </a:r>
            <a:r>
              <a:rPr spc="535" dirty="0"/>
              <a:t> </a:t>
            </a:r>
            <a:r>
              <a:rPr dirty="0"/>
              <a:t>can</a:t>
            </a:r>
            <a:r>
              <a:rPr spc="530" dirty="0"/>
              <a:t> </a:t>
            </a:r>
            <a:r>
              <a:rPr dirty="0"/>
              <a:t>be</a:t>
            </a:r>
            <a:r>
              <a:rPr spc="540" dirty="0"/>
              <a:t> </a:t>
            </a:r>
            <a:r>
              <a:rPr dirty="0"/>
              <a:t>categorized</a:t>
            </a:r>
            <a:r>
              <a:rPr spc="540" dirty="0"/>
              <a:t> </a:t>
            </a:r>
            <a:r>
              <a:rPr spc="-20" dirty="0"/>
              <a:t>into 	</a:t>
            </a:r>
            <a:r>
              <a:rPr dirty="0"/>
              <a:t>two</a:t>
            </a:r>
            <a:r>
              <a:rPr spc="-35" dirty="0"/>
              <a:t> </a:t>
            </a:r>
            <a:r>
              <a:rPr dirty="0"/>
              <a:t>types</a:t>
            </a:r>
            <a:r>
              <a:rPr spc="-30" dirty="0"/>
              <a:t> </a:t>
            </a:r>
            <a:r>
              <a:rPr spc="-50" dirty="0"/>
              <a:t>–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-50" dirty="0"/>
          </a:p>
          <a:p>
            <a:pPr marL="577850" marR="5080" indent="-565785" algn="just">
              <a:lnSpc>
                <a:spcPct val="100299"/>
              </a:lnSpc>
              <a:buClr>
                <a:srgbClr val="245796"/>
              </a:buClr>
              <a:buFont typeface="Wingdings"/>
              <a:buChar char=""/>
              <a:tabLst>
                <a:tab pos="577850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Fixed</a:t>
            </a:r>
            <a:r>
              <a:rPr spc="2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Length</a:t>
            </a:r>
            <a:r>
              <a:rPr spc="25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List:</a:t>
            </a:r>
            <a:r>
              <a:rPr spc="30" dirty="0">
                <a:solidFill>
                  <a:srgbClr val="FF0000"/>
                </a:solidFill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30" dirty="0">
                <a:latin typeface="Arial MT"/>
                <a:cs typeface="Arial MT"/>
              </a:rPr>
              <a:t>  </a:t>
            </a:r>
            <a:r>
              <a:rPr spc="-10" dirty="0">
                <a:latin typeface="Arial MT"/>
                <a:cs typeface="Arial MT"/>
              </a:rPr>
              <a:t>fixed-length </a:t>
            </a:r>
            <a:r>
              <a:rPr dirty="0">
                <a:latin typeface="Arial MT"/>
                <a:cs typeface="Arial MT"/>
              </a:rPr>
              <a:t>lists</a:t>
            </a:r>
            <a:r>
              <a:rPr spc="55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65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defined</a:t>
            </a:r>
            <a:r>
              <a:rPr spc="70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65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65" dirty="0">
                <a:latin typeface="Arial MT"/>
                <a:cs typeface="Arial MT"/>
              </a:rPr>
              <a:t>  </a:t>
            </a:r>
            <a:r>
              <a:rPr spc="-10" dirty="0">
                <a:latin typeface="Arial MT"/>
                <a:cs typeface="Arial MT"/>
              </a:rPr>
              <a:t>specified </a:t>
            </a:r>
            <a:r>
              <a:rPr dirty="0">
                <a:latin typeface="Arial MT"/>
                <a:cs typeface="Arial MT"/>
              </a:rPr>
              <a:t>length.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cannot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change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size</a:t>
            </a:r>
            <a:r>
              <a:rPr spc="20" dirty="0">
                <a:latin typeface="Arial MT"/>
                <a:cs typeface="Arial MT"/>
              </a:rPr>
              <a:t> </a:t>
            </a:r>
            <a:r>
              <a:rPr spc="-25" dirty="0">
                <a:latin typeface="Arial MT"/>
                <a:cs typeface="Arial MT"/>
              </a:rPr>
              <a:t>at </a:t>
            </a:r>
            <a:r>
              <a:rPr dirty="0">
                <a:latin typeface="Arial MT"/>
                <a:cs typeface="Arial MT"/>
              </a:rPr>
              <a:t>runtime.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 syntax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given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below.</a:t>
            </a:r>
          </a:p>
          <a:p>
            <a:pPr marL="577850" indent="-565150" algn="just">
              <a:lnSpc>
                <a:spcPts val="4715"/>
              </a:lnSpc>
              <a:spcBef>
                <a:spcPts val="50"/>
              </a:spcBef>
              <a:buClr>
                <a:srgbClr val="245796"/>
              </a:buClr>
              <a:buFont typeface="Courier New"/>
              <a:buChar char="o"/>
              <a:tabLst>
                <a:tab pos="577850" algn="l"/>
              </a:tabLst>
            </a:pPr>
            <a:r>
              <a:rPr dirty="0">
                <a:latin typeface="Arial MT"/>
                <a:cs typeface="Arial MT"/>
              </a:rPr>
              <a:t>Syntax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-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Create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list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fixed-</a:t>
            </a:r>
            <a:r>
              <a:rPr spc="-20" dirty="0">
                <a:latin typeface="Arial MT"/>
                <a:cs typeface="Arial MT"/>
              </a:rPr>
              <a:t>size</a:t>
            </a:r>
          </a:p>
          <a:p>
            <a:pPr marL="577850" marR="6350" indent="-565785" algn="just">
              <a:lnSpc>
                <a:spcPts val="4790"/>
              </a:lnSpc>
              <a:spcBef>
                <a:spcPts val="25"/>
              </a:spcBef>
              <a:buClr>
                <a:srgbClr val="245796"/>
              </a:buClr>
              <a:buFont typeface="Courier New"/>
              <a:buChar char="o"/>
              <a:tabLst>
                <a:tab pos="577850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var</a:t>
            </a:r>
            <a:r>
              <a:rPr spc="9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list_name</a:t>
            </a:r>
            <a:r>
              <a:rPr spc="10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pc="9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</a:rPr>
              <a:t>List&lt;type&gt;.filled(size, </a:t>
            </a:r>
            <a:r>
              <a:rPr spc="-25" dirty="0">
                <a:solidFill>
                  <a:srgbClr val="FF0000"/>
                </a:solidFill>
                <a:latin typeface="Arial MT"/>
                <a:cs typeface="Arial MT"/>
              </a:rPr>
              <a:t>0)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167204" y="2625963"/>
            <a:ext cx="6492240" cy="6358255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3950" b="1" dirty="0">
                <a:solidFill>
                  <a:srgbClr val="EE220D"/>
                </a:solidFill>
                <a:latin typeface="Times New Roman"/>
                <a:cs typeface="Times New Roman"/>
              </a:rPr>
              <a:t>void</a:t>
            </a:r>
            <a:r>
              <a:rPr sz="3950" b="1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main()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Times New Roman"/>
                <a:cs typeface="Times New Roman"/>
              </a:rPr>
              <a:t>{</a:t>
            </a:r>
            <a:endParaRPr sz="3950">
              <a:latin typeface="Times New Roman"/>
              <a:cs typeface="Times New Roman"/>
            </a:endParaRPr>
          </a:p>
          <a:p>
            <a:pPr marL="389255" marR="5080">
              <a:lnSpc>
                <a:spcPts val="6270"/>
              </a:lnSpc>
              <a:spcBef>
                <a:spcPts val="370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var</a:t>
            </a:r>
            <a:r>
              <a:rPr sz="3950" spc="-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list1=List&lt;int&gt;.filled(5,0);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list1[0]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10;</a:t>
            </a:r>
            <a:endParaRPr sz="3950">
              <a:latin typeface="Times New Roman"/>
              <a:cs typeface="Times New Roman"/>
            </a:endParaRPr>
          </a:p>
          <a:p>
            <a:pPr marL="389255">
              <a:lnSpc>
                <a:spcPct val="100000"/>
              </a:lnSpc>
              <a:spcBef>
                <a:spcPts val="1070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list1[1]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11;</a:t>
            </a:r>
            <a:endParaRPr sz="3950">
              <a:latin typeface="Times New Roman"/>
              <a:cs typeface="Times New Roman"/>
            </a:endParaRPr>
          </a:p>
          <a:p>
            <a:pPr marL="389255">
              <a:lnSpc>
                <a:spcPct val="100000"/>
              </a:lnSpc>
              <a:spcBef>
                <a:spcPts val="1515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list1[2]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12;</a:t>
            </a:r>
            <a:endParaRPr sz="3950">
              <a:latin typeface="Times New Roman"/>
              <a:cs typeface="Times New Roman"/>
            </a:endParaRPr>
          </a:p>
          <a:p>
            <a:pPr marL="389255">
              <a:lnSpc>
                <a:spcPct val="100000"/>
              </a:lnSpc>
              <a:spcBef>
                <a:spcPts val="1530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list1[3]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13;</a:t>
            </a:r>
            <a:endParaRPr sz="3950">
              <a:latin typeface="Times New Roman"/>
              <a:cs typeface="Times New Roman"/>
            </a:endParaRPr>
          </a:p>
          <a:p>
            <a:pPr marL="389255" marR="3463925">
              <a:lnSpc>
                <a:spcPct val="130200"/>
              </a:lnSpc>
              <a:spcBef>
                <a:spcPts val="100"/>
              </a:spcBef>
            </a:pP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list1[4]</a:t>
            </a:r>
            <a:r>
              <a:rPr sz="3950" spc="-20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EE220D"/>
                </a:solidFill>
                <a:latin typeface="Times New Roman"/>
                <a:cs typeface="Times New Roman"/>
              </a:rPr>
              <a:t>=</a:t>
            </a:r>
            <a:r>
              <a:rPr sz="3950" spc="-15" dirty="0">
                <a:solidFill>
                  <a:srgbClr val="EE220D"/>
                </a:solidFill>
                <a:latin typeface="Times New Roman"/>
                <a:cs typeface="Times New Roman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Times New Roman"/>
                <a:cs typeface="Times New Roman"/>
              </a:rPr>
              <a:t>14; </a:t>
            </a:r>
            <a:r>
              <a:rPr sz="3950" spc="-10" dirty="0">
                <a:solidFill>
                  <a:srgbClr val="EE220D"/>
                </a:solidFill>
                <a:latin typeface="Times New Roman"/>
                <a:cs typeface="Times New Roman"/>
              </a:rPr>
              <a:t>print(list1);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7204" y="9654858"/>
            <a:ext cx="26670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50" dirty="0">
                <a:solidFill>
                  <a:srgbClr val="EE220D"/>
                </a:solidFill>
                <a:latin typeface="Times New Roman"/>
                <a:cs typeface="Times New Roman"/>
              </a:rPr>
              <a:t>}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617"/>
            <a:ext cx="20104100" cy="2666365"/>
            <a:chOff x="0" y="22617"/>
            <a:chExt cx="20104100" cy="2666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617"/>
              <a:ext cx="20101586" cy="26663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8648" y="143241"/>
              <a:ext cx="9758027" cy="24828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8053"/>
              <a:ext cx="20104099" cy="20347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131" rIns="0" bIns="0" rtlCol="0">
            <a:spAutoFit/>
          </a:bodyPr>
          <a:lstStyle/>
          <a:p>
            <a:pPr marL="148844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71170" marR="5080" indent="-459105" algn="just">
              <a:lnSpc>
                <a:spcPct val="101000"/>
              </a:lnSpc>
              <a:spcBef>
                <a:spcPts val="60"/>
              </a:spcBef>
              <a:buClr>
                <a:srgbClr val="245796"/>
              </a:buClr>
              <a:buChar char="•"/>
              <a:tabLst>
                <a:tab pos="473075" algn="l"/>
              </a:tabLst>
            </a:pPr>
            <a:r>
              <a:rPr dirty="0"/>
              <a:t>The</a:t>
            </a:r>
            <a:r>
              <a:rPr spc="525" dirty="0"/>
              <a:t> </a:t>
            </a:r>
            <a:r>
              <a:rPr dirty="0"/>
              <a:t>Dart</a:t>
            </a:r>
            <a:r>
              <a:rPr spc="530" dirty="0"/>
              <a:t> </a:t>
            </a:r>
            <a:r>
              <a:rPr dirty="0"/>
              <a:t>list</a:t>
            </a:r>
            <a:r>
              <a:rPr spc="535" dirty="0"/>
              <a:t> </a:t>
            </a:r>
            <a:r>
              <a:rPr dirty="0"/>
              <a:t>can</a:t>
            </a:r>
            <a:r>
              <a:rPr spc="530" dirty="0"/>
              <a:t> </a:t>
            </a:r>
            <a:r>
              <a:rPr dirty="0"/>
              <a:t>be</a:t>
            </a:r>
            <a:r>
              <a:rPr spc="540" dirty="0"/>
              <a:t> </a:t>
            </a:r>
            <a:r>
              <a:rPr dirty="0"/>
              <a:t>categorized</a:t>
            </a:r>
            <a:r>
              <a:rPr spc="540" dirty="0"/>
              <a:t> </a:t>
            </a:r>
            <a:r>
              <a:rPr spc="-20" dirty="0"/>
              <a:t>into 	</a:t>
            </a:r>
            <a:r>
              <a:rPr dirty="0"/>
              <a:t>two</a:t>
            </a:r>
            <a:r>
              <a:rPr spc="-35" dirty="0"/>
              <a:t> </a:t>
            </a:r>
            <a:r>
              <a:rPr dirty="0"/>
              <a:t>types</a:t>
            </a:r>
            <a:r>
              <a:rPr spc="-30" dirty="0"/>
              <a:t> </a:t>
            </a:r>
            <a:r>
              <a:rPr spc="-50" dirty="0"/>
              <a:t>–</a:t>
            </a: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pc="-50" dirty="0"/>
          </a:p>
          <a:p>
            <a:pPr marL="577850" marR="5080" indent="-565785" algn="just">
              <a:lnSpc>
                <a:spcPct val="100299"/>
              </a:lnSpc>
              <a:buClr>
                <a:srgbClr val="245796"/>
              </a:buClr>
              <a:buFont typeface="Wingdings"/>
              <a:buChar char=""/>
              <a:tabLst>
                <a:tab pos="577850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Growable</a:t>
            </a:r>
            <a:r>
              <a:rPr spc="66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List:</a:t>
            </a:r>
            <a:r>
              <a:rPr spc="66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67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fixed-</a:t>
            </a:r>
            <a:r>
              <a:rPr dirty="0">
                <a:latin typeface="Arial MT"/>
                <a:cs typeface="Arial MT"/>
              </a:rPr>
              <a:t>length</a:t>
            </a:r>
            <a:r>
              <a:rPr spc="66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lists </a:t>
            </a:r>
            <a:r>
              <a:rPr dirty="0">
                <a:latin typeface="Arial MT"/>
                <a:cs typeface="Arial MT"/>
              </a:rPr>
              <a:t>are</a:t>
            </a:r>
            <a:r>
              <a:rPr spc="20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defined</a:t>
            </a:r>
            <a:r>
              <a:rPr spc="20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with</a:t>
            </a:r>
            <a:r>
              <a:rPr spc="204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2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specified</a:t>
            </a:r>
            <a:r>
              <a:rPr spc="21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length. </a:t>
            </a:r>
            <a:r>
              <a:rPr dirty="0">
                <a:latin typeface="Arial MT"/>
                <a:cs typeface="Arial MT"/>
              </a:rPr>
              <a:t>We</a:t>
            </a:r>
            <a:r>
              <a:rPr spc="760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cannot</a:t>
            </a:r>
            <a:r>
              <a:rPr spc="765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change</a:t>
            </a:r>
            <a:r>
              <a:rPr spc="770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the</a:t>
            </a:r>
            <a:r>
              <a:rPr spc="765" dirty="0">
                <a:latin typeface="Arial MT"/>
                <a:cs typeface="Arial MT"/>
              </a:rPr>
              <a:t>  </a:t>
            </a:r>
            <a:r>
              <a:rPr dirty="0">
                <a:latin typeface="Arial MT"/>
                <a:cs typeface="Arial MT"/>
              </a:rPr>
              <a:t>size</a:t>
            </a:r>
            <a:r>
              <a:rPr spc="770" dirty="0">
                <a:latin typeface="Arial MT"/>
                <a:cs typeface="Arial MT"/>
              </a:rPr>
              <a:t>  </a:t>
            </a:r>
            <a:r>
              <a:rPr spc="-25" dirty="0">
                <a:latin typeface="Arial MT"/>
                <a:cs typeface="Arial MT"/>
              </a:rPr>
              <a:t>at </a:t>
            </a:r>
            <a:r>
              <a:rPr dirty="0">
                <a:latin typeface="Arial MT"/>
                <a:cs typeface="Arial MT"/>
              </a:rPr>
              <a:t>runtime.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The syntax</a:t>
            </a:r>
            <a:r>
              <a:rPr spc="-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is</a:t>
            </a:r>
            <a:r>
              <a:rPr spc="-1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given</a:t>
            </a:r>
            <a:r>
              <a:rPr spc="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below.</a:t>
            </a:r>
          </a:p>
          <a:p>
            <a:pPr marL="577850" indent="-565150">
              <a:lnSpc>
                <a:spcPts val="4715"/>
              </a:lnSpc>
              <a:spcBef>
                <a:spcPts val="50"/>
              </a:spcBef>
              <a:buClr>
                <a:srgbClr val="245796"/>
              </a:buClr>
              <a:buFont typeface="Courier New"/>
              <a:buChar char="o"/>
              <a:tabLst>
                <a:tab pos="577850" algn="l"/>
              </a:tabLst>
            </a:pPr>
            <a:r>
              <a:rPr dirty="0">
                <a:latin typeface="Arial MT"/>
                <a:cs typeface="Arial MT"/>
              </a:rPr>
              <a:t>Syntax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spc="-50" dirty="0">
                <a:latin typeface="Arial MT"/>
                <a:cs typeface="Arial MT"/>
              </a:rPr>
              <a:t>-</a:t>
            </a:r>
          </a:p>
          <a:p>
            <a:pPr marL="577850" indent="-565150">
              <a:lnSpc>
                <a:spcPts val="4715"/>
              </a:lnSpc>
              <a:buClr>
                <a:srgbClr val="245796"/>
              </a:buClr>
              <a:buFont typeface="Courier New"/>
              <a:buChar char="o"/>
              <a:tabLst>
                <a:tab pos="577850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var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list_name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[val1,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val2,</a:t>
            </a:r>
            <a:r>
              <a:rPr spc="-1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</a:rPr>
              <a:t>val3]</a:t>
            </a:r>
          </a:p>
          <a:p>
            <a:pPr marL="577850" indent="-565150">
              <a:lnSpc>
                <a:spcPct val="100000"/>
              </a:lnSpc>
              <a:spcBef>
                <a:spcPts val="45"/>
              </a:spcBef>
              <a:buClr>
                <a:srgbClr val="245796"/>
              </a:buClr>
              <a:buFont typeface="Courier New"/>
              <a:buChar char="o"/>
              <a:tabLst>
                <a:tab pos="577850" algn="l"/>
              </a:tabLst>
            </a:pP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var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list_name</a:t>
            </a:r>
            <a:r>
              <a:rPr spc="-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=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FF0000"/>
                </a:solidFill>
                <a:latin typeface="Arial MT"/>
                <a:cs typeface="Arial MT"/>
              </a:rPr>
              <a:t>new</a:t>
            </a:r>
            <a:r>
              <a:rPr spc="-10" dirty="0">
                <a:solidFill>
                  <a:srgbClr val="FF0000"/>
                </a:solidFill>
                <a:latin typeface="Arial MT"/>
                <a:cs typeface="Arial MT"/>
              </a:rPr>
              <a:t> List()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575816" y="2671196"/>
            <a:ext cx="7234555" cy="3430904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void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main()</a:t>
            </a:r>
            <a:r>
              <a:rPr sz="395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Arial MT"/>
                <a:cs typeface="Arial MT"/>
              </a:rPr>
              <a:t>{</a:t>
            </a:r>
            <a:endParaRPr sz="3950">
              <a:latin typeface="Arial MT"/>
              <a:cs typeface="Arial MT"/>
            </a:endParaRPr>
          </a:p>
          <a:p>
            <a:pPr marL="432434">
              <a:lnSpc>
                <a:spcPct val="100000"/>
              </a:lnSpc>
              <a:spcBef>
                <a:spcPts val="1950"/>
              </a:spcBef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list1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 [10,11,12,13,14,15];</a:t>
            </a:r>
            <a:endParaRPr sz="3950">
              <a:latin typeface="Arial MT"/>
              <a:cs typeface="Arial MT"/>
            </a:endParaRPr>
          </a:p>
          <a:p>
            <a:pPr marL="432434">
              <a:lnSpc>
                <a:spcPct val="100000"/>
              </a:lnSpc>
              <a:spcBef>
                <a:spcPts val="2005"/>
              </a:spcBef>
            </a:pP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print(list1);</a:t>
            </a:r>
            <a:endParaRPr sz="3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50"/>
              </a:spcBef>
            </a:pPr>
            <a:r>
              <a:rPr sz="395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511752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83524"/>
            <a:ext cx="14683105" cy="7299959"/>
          </a:xfrm>
          <a:prstGeom prst="rect">
            <a:avLst/>
          </a:prstGeom>
        </p:spPr>
        <p:txBody>
          <a:bodyPr vert="horz" wrap="square" lIns="0" tIns="330200" rIns="0" bIns="0" rtlCol="0">
            <a:spAutoFit/>
          </a:bodyPr>
          <a:lstStyle/>
          <a:p>
            <a:pPr marL="617220" indent="-604520">
              <a:lnSpc>
                <a:spcPct val="100000"/>
              </a:lnSpc>
              <a:spcBef>
                <a:spcPts val="2600"/>
              </a:spcBef>
              <a:buClr>
                <a:srgbClr val="245796"/>
              </a:buClr>
              <a:buFont typeface="Georgia"/>
              <a:buChar char="●"/>
              <a:tabLst>
                <a:tab pos="617220" algn="l"/>
              </a:tabLst>
            </a:pPr>
            <a:r>
              <a:rPr sz="4100" b="1" dirty="0">
                <a:latin typeface="Georgia"/>
                <a:cs typeface="Georgia"/>
              </a:rPr>
              <a:t>List</a:t>
            </a:r>
            <a:r>
              <a:rPr sz="4100" b="1" spc="-15" dirty="0">
                <a:latin typeface="Georgia"/>
                <a:cs typeface="Georgia"/>
              </a:rPr>
              <a:t> </a:t>
            </a:r>
            <a:r>
              <a:rPr sz="4100" b="1" spc="-10" dirty="0">
                <a:latin typeface="Georgia"/>
                <a:cs typeface="Georgia"/>
              </a:rPr>
              <a:t>Properties</a:t>
            </a:r>
            <a:endParaRPr sz="410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9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first</a:t>
            </a:r>
            <a:r>
              <a:rPr sz="3950" b="1" spc="-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dirty="0">
                <a:latin typeface="Arial MT"/>
                <a:cs typeface="Arial MT"/>
              </a:rPr>
              <a:t>returns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first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element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case</a:t>
            </a:r>
            <a:endParaRPr sz="3950">
              <a:latin typeface="Arial MT"/>
              <a:cs typeface="Arial MT"/>
            </a:endParaRPr>
          </a:p>
          <a:p>
            <a:pPr marL="765810" lvl="1" indent="-439420">
              <a:lnSpc>
                <a:spcPct val="100000"/>
              </a:lnSpc>
              <a:spcBef>
                <a:spcPts val="236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isEmpty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dirty="0">
                <a:latin typeface="Arial MT"/>
                <a:cs typeface="Arial MT"/>
              </a:rPr>
              <a:t>returns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true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list is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empty</a:t>
            </a:r>
            <a:endParaRPr sz="3950">
              <a:latin typeface="Arial MT"/>
              <a:cs typeface="Arial MT"/>
            </a:endParaRPr>
          </a:p>
          <a:p>
            <a:pPr marL="765810" lvl="1" indent="-439420">
              <a:lnSpc>
                <a:spcPct val="100000"/>
              </a:lnSpc>
              <a:spcBef>
                <a:spcPts val="242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isNotEmpty</a:t>
            </a:r>
            <a:r>
              <a:rPr sz="3950" b="1" spc="-10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dirty="0">
                <a:latin typeface="Arial MT"/>
                <a:cs typeface="Arial MT"/>
              </a:rPr>
              <a:t>returns true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 list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has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at least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one </a:t>
            </a:r>
            <a:r>
              <a:rPr sz="3950" spc="-10" dirty="0">
                <a:latin typeface="Arial MT"/>
                <a:cs typeface="Arial MT"/>
              </a:rPr>
              <a:t>element</a:t>
            </a:r>
            <a:endParaRPr sz="3950">
              <a:latin typeface="Arial MT"/>
              <a:cs typeface="Arial MT"/>
            </a:endParaRPr>
          </a:p>
          <a:p>
            <a:pPr marL="765810" lvl="1" indent="-439420">
              <a:lnSpc>
                <a:spcPct val="100000"/>
              </a:lnSpc>
              <a:spcBef>
                <a:spcPts val="234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length</a:t>
            </a:r>
            <a:r>
              <a:rPr sz="3950" b="1" spc="-10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dirty="0">
                <a:latin typeface="Arial MT"/>
                <a:cs typeface="Arial MT"/>
              </a:rPr>
              <a:t>returns 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length of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 </a:t>
            </a:r>
            <a:r>
              <a:rPr sz="3950" spc="-20" dirty="0">
                <a:latin typeface="Arial MT"/>
                <a:cs typeface="Arial MT"/>
              </a:rPr>
              <a:t>list</a:t>
            </a:r>
            <a:endParaRPr sz="3950">
              <a:latin typeface="Arial MT"/>
              <a:cs typeface="Arial MT"/>
            </a:endParaRPr>
          </a:p>
          <a:p>
            <a:pPr marL="765810" lvl="1" indent="-439420">
              <a:lnSpc>
                <a:spcPct val="100000"/>
              </a:lnSpc>
              <a:spcBef>
                <a:spcPts val="236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last</a:t>
            </a:r>
            <a:r>
              <a:rPr sz="3950" b="1" spc="-1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 </a:t>
            </a:r>
            <a:r>
              <a:rPr sz="3950" dirty="0">
                <a:latin typeface="Arial MT"/>
                <a:cs typeface="Arial MT"/>
              </a:rPr>
              <a:t>returns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last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element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 the </a:t>
            </a:r>
            <a:r>
              <a:rPr sz="3950" spc="-20" dirty="0">
                <a:latin typeface="Arial MT"/>
                <a:cs typeface="Arial MT"/>
              </a:rPr>
              <a:t>list</a:t>
            </a:r>
            <a:endParaRPr sz="3950">
              <a:latin typeface="Arial MT"/>
              <a:cs typeface="Arial MT"/>
            </a:endParaRPr>
          </a:p>
          <a:p>
            <a:pPr marL="765810" lvl="1" indent="-439420">
              <a:lnSpc>
                <a:spcPct val="100000"/>
              </a:lnSpc>
              <a:spcBef>
                <a:spcPts val="242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reversed</a:t>
            </a:r>
            <a:r>
              <a:rPr sz="3950" b="1" spc="10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dirty="0">
                <a:latin typeface="Arial MT"/>
                <a:cs typeface="Arial MT"/>
              </a:rPr>
              <a:t>returns a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list in reverse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order</a:t>
            </a:r>
            <a:endParaRPr sz="3950">
              <a:latin typeface="Arial MT"/>
              <a:cs typeface="Arial MT"/>
            </a:endParaRPr>
          </a:p>
          <a:p>
            <a:pPr marL="765810" lvl="1" indent="-439420">
              <a:lnSpc>
                <a:spcPct val="100000"/>
              </a:lnSpc>
              <a:spcBef>
                <a:spcPts val="236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Single </a:t>
            </a:r>
            <a:r>
              <a:rPr sz="3950" b="1" dirty="0">
                <a:latin typeface="Arial"/>
                <a:cs typeface="Arial"/>
              </a:rPr>
              <a:t>-</a:t>
            </a:r>
            <a:r>
              <a:rPr sz="3950" b="1" spc="-5" dirty="0">
                <a:latin typeface="Arial"/>
                <a:cs typeface="Arial"/>
              </a:rPr>
              <a:t> </a:t>
            </a:r>
            <a:r>
              <a:rPr sz="3950" dirty="0">
                <a:latin typeface="Arial MT"/>
                <a:cs typeface="Arial MT"/>
              </a:rPr>
              <a:t>it checks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 list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has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only one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element and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returns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it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511752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61779"/>
            <a:ext cx="8599170" cy="7412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3075" marR="5080" indent="-461009">
              <a:lnSpc>
                <a:spcPct val="150800"/>
              </a:lnSpc>
              <a:spcBef>
                <a:spcPts val="95"/>
              </a:spcBef>
              <a:buChar char="●"/>
              <a:tabLst>
                <a:tab pos="473075" algn="l"/>
                <a:tab pos="482600" algn="l"/>
              </a:tabLst>
            </a:pPr>
            <a:r>
              <a:rPr sz="4100" dirty="0">
                <a:solidFill>
                  <a:srgbClr val="245796"/>
                </a:solidFill>
                <a:latin typeface="Georgia"/>
                <a:cs typeface="Georgia"/>
              </a:rPr>
              <a:t>	</a:t>
            </a:r>
            <a:r>
              <a:rPr sz="4100" dirty="0">
                <a:latin typeface="Georgia"/>
                <a:cs typeface="Georgia"/>
              </a:rPr>
              <a:t>Dart</a:t>
            </a:r>
            <a:r>
              <a:rPr sz="4100" spc="-2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provides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solidFill>
                  <a:srgbClr val="EE220D"/>
                </a:solidFill>
                <a:latin typeface="Georgia"/>
                <a:cs typeface="Georgia"/>
              </a:rPr>
              <a:t>four</a:t>
            </a:r>
            <a:r>
              <a:rPr sz="410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4100" dirty="0">
                <a:solidFill>
                  <a:srgbClr val="EE220D"/>
                </a:solidFill>
                <a:latin typeface="Georgia"/>
                <a:cs typeface="Georgia"/>
              </a:rPr>
              <a:t>methods</a:t>
            </a:r>
            <a:r>
              <a:rPr sz="410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4100" spc="-10" dirty="0">
                <a:latin typeface="Georgia"/>
                <a:cs typeface="Georgia"/>
              </a:rPr>
              <a:t>which </a:t>
            </a:r>
            <a:r>
              <a:rPr sz="4100" dirty="0">
                <a:latin typeface="Georgia"/>
                <a:cs typeface="Georgia"/>
              </a:rPr>
              <a:t>are</a:t>
            </a:r>
            <a:r>
              <a:rPr sz="4100" spc="-3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used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to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insert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elements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spc="-20" dirty="0">
                <a:latin typeface="Georgia"/>
                <a:cs typeface="Georgia"/>
              </a:rPr>
              <a:t>into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lists.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These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methods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are</a:t>
            </a:r>
            <a:r>
              <a:rPr sz="4100" spc="-10" dirty="0">
                <a:latin typeface="Georgia"/>
                <a:cs typeface="Georgia"/>
              </a:rPr>
              <a:t> given below.</a:t>
            </a:r>
            <a:endParaRPr sz="410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9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solidFill>
                  <a:srgbClr val="FF0000"/>
                </a:solidFill>
                <a:latin typeface="Georgia"/>
                <a:cs typeface="Georgia"/>
              </a:rPr>
              <a:t>add()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6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solidFill>
                  <a:srgbClr val="FF0000"/>
                </a:solidFill>
                <a:latin typeface="Georgia"/>
                <a:cs typeface="Georgia"/>
              </a:rPr>
              <a:t>addAll()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42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insert()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4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insertAll()</a:t>
            </a:r>
            <a:endParaRPr sz="39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48753" y="2570258"/>
            <a:ext cx="5285740" cy="7908925"/>
          </a:xfrm>
          <a:prstGeom prst="rect">
            <a:avLst/>
          </a:prstGeom>
        </p:spPr>
        <p:txBody>
          <a:bodyPr vert="horz" wrap="square" lIns="0" tIns="175895" rIns="0" bIns="0" rtlCol="0">
            <a:spAutoFit/>
          </a:bodyPr>
          <a:lstStyle/>
          <a:p>
            <a:pPr marL="442595" indent="-429895">
              <a:lnSpc>
                <a:spcPct val="100000"/>
              </a:lnSpc>
              <a:spcBef>
                <a:spcPts val="1385"/>
              </a:spcBef>
              <a:buAutoNum type="arabicPeriod"/>
              <a:tabLst>
                <a:tab pos="442595" algn="l"/>
              </a:tabLst>
            </a:pPr>
            <a:r>
              <a:rPr sz="3050" b="1" dirty="0">
                <a:solidFill>
                  <a:srgbClr val="EE220D"/>
                </a:solidFill>
                <a:latin typeface="Arial"/>
                <a:cs typeface="Arial"/>
              </a:rPr>
              <a:t>void</a:t>
            </a:r>
            <a:r>
              <a:rPr sz="3050" b="1" spc="-3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main()</a:t>
            </a:r>
            <a:r>
              <a:rPr sz="3050" spc="-2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spc="-50" dirty="0">
                <a:solidFill>
                  <a:srgbClr val="EE220D"/>
                </a:solidFill>
                <a:latin typeface="Arial MT"/>
                <a:cs typeface="Arial MT"/>
              </a:rPr>
              <a:t>{</a:t>
            </a:r>
            <a:endParaRPr sz="3050">
              <a:latin typeface="Arial MT"/>
              <a:cs typeface="Arial MT"/>
            </a:endParaRPr>
          </a:p>
          <a:p>
            <a:pPr marL="441959" marR="581025">
              <a:lnSpc>
                <a:spcPct val="133700"/>
              </a:lnSpc>
              <a:spcBef>
                <a:spcPts val="55"/>
              </a:spcBef>
            </a:pP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05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odd_list</a:t>
            </a:r>
            <a:r>
              <a:rPr sz="3050" spc="-5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05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EE220D"/>
                </a:solidFill>
                <a:latin typeface="Arial MT"/>
                <a:cs typeface="Arial MT"/>
              </a:rPr>
              <a:t>[1,3,5,7,9]; print(odd_list); odd_list.add(11); print(odd_list);</a:t>
            </a:r>
            <a:endParaRPr sz="3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sz="305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3050">
              <a:latin typeface="Arial MT"/>
              <a:cs typeface="Arial MT"/>
            </a:endParaRPr>
          </a:p>
          <a:p>
            <a:pPr marL="442595" indent="-429895">
              <a:lnSpc>
                <a:spcPct val="100000"/>
              </a:lnSpc>
              <a:spcBef>
                <a:spcPts val="1860"/>
              </a:spcBef>
              <a:buAutoNum type="arabicPeriod" startAt="2"/>
              <a:tabLst>
                <a:tab pos="442595" algn="l"/>
              </a:tabLst>
            </a:pPr>
            <a:r>
              <a:rPr sz="3050" b="1" dirty="0">
                <a:solidFill>
                  <a:srgbClr val="EE220D"/>
                </a:solidFill>
                <a:latin typeface="Arial"/>
                <a:cs typeface="Arial"/>
              </a:rPr>
              <a:t>void</a:t>
            </a:r>
            <a:r>
              <a:rPr sz="3050" b="1" spc="-3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main()</a:t>
            </a:r>
            <a:r>
              <a:rPr sz="3050" spc="-2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spc="-50" dirty="0">
                <a:solidFill>
                  <a:srgbClr val="EE220D"/>
                </a:solidFill>
                <a:latin typeface="Arial MT"/>
                <a:cs typeface="Arial MT"/>
              </a:rPr>
              <a:t>{</a:t>
            </a:r>
            <a:endParaRPr sz="3050">
              <a:latin typeface="Arial MT"/>
              <a:cs typeface="Arial MT"/>
            </a:endParaRPr>
          </a:p>
          <a:p>
            <a:pPr marL="549275" marR="5080" indent="-107950">
              <a:lnSpc>
                <a:spcPct val="144200"/>
              </a:lnSpc>
              <a:spcBef>
                <a:spcPts val="5"/>
              </a:spcBef>
            </a:pP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05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odd_list</a:t>
            </a:r>
            <a:r>
              <a:rPr sz="3050" spc="-5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05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050" spc="-10" dirty="0">
                <a:solidFill>
                  <a:srgbClr val="EE220D"/>
                </a:solidFill>
                <a:latin typeface="Arial MT"/>
                <a:cs typeface="Arial MT"/>
              </a:rPr>
              <a:t>[1,3,5,7,9] print(odd_list); odd_list.addAll([11,13,14]); print(odd_list);</a:t>
            </a:r>
            <a:endParaRPr sz="30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305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3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511752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61779"/>
            <a:ext cx="8599170" cy="74123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3075" marR="5080" indent="-461009">
              <a:lnSpc>
                <a:spcPct val="150800"/>
              </a:lnSpc>
              <a:spcBef>
                <a:spcPts val="95"/>
              </a:spcBef>
              <a:buChar char="●"/>
              <a:tabLst>
                <a:tab pos="473075" algn="l"/>
                <a:tab pos="482600" algn="l"/>
              </a:tabLst>
            </a:pPr>
            <a:r>
              <a:rPr sz="4100" dirty="0">
                <a:solidFill>
                  <a:srgbClr val="245796"/>
                </a:solidFill>
                <a:latin typeface="Georgia"/>
                <a:cs typeface="Georgia"/>
              </a:rPr>
              <a:t>	</a:t>
            </a:r>
            <a:r>
              <a:rPr sz="4100" dirty="0">
                <a:latin typeface="Georgia"/>
                <a:cs typeface="Georgia"/>
              </a:rPr>
              <a:t>Dart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provides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four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methods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spc="-10" dirty="0">
                <a:latin typeface="Georgia"/>
                <a:cs typeface="Georgia"/>
              </a:rPr>
              <a:t>which </a:t>
            </a:r>
            <a:r>
              <a:rPr sz="4100" dirty="0">
                <a:latin typeface="Georgia"/>
                <a:cs typeface="Georgia"/>
              </a:rPr>
              <a:t>are</a:t>
            </a:r>
            <a:r>
              <a:rPr sz="4100" spc="-3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used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to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insert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elements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spc="-20" dirty="0">
                <a:latin typeface="Georgia"/>
                <a:cs typeface="Georgia"/>
              </a:rPr>
              <a:t>into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lists.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These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methods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are</a:t>
            </a:r>
            <a:r>
              <a:rPr sz="4100" spc="-10" dirty="0">
                <a:latin typeface="Georgia"/>
                <a:cs typeface="Georgia"/>
              </a:rPr>
              <a:t> given below.</a:t>
            </a:r>
            <a:endParaRPr sz="410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9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add()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6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addAll()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42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solidFill>
                  <a:srgbClr val="FF0000"/>
                </a:solidFill>
                <a:latin typeface="Georgia"/>
                <a:cs typeface="Georgia"/>
              </a:rPr>
              <a:t>insert()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4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solidFill>
                  <a:srgbClr val="FF0000"/>
                </a:solidFill>
                <a:latin typeface="Georgia"/>
                <a:cs typeface="Georgia"/>
              </a:rPr>
              <a:t>insertAll()</a:t>
            </a:r>
            <a:endParaRPr sz="39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448753" y="2568163"/>
            <a:ext cx="3408679" cy="3712210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950" b="1" dirty="0">
                <a:solidFill>
                  <a:srgbClr val="EE220D"/>
                </a:solidFill>
                <a:latin typeface="Arial"/>
                <a:cs typeface="Arial"/>
              </a:rPr>
              <a:t>3.</a:t>
            </a:r>
            <a:r>
              <a:rPr sz="2950" b="1" spc="-10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EE220D"/>
                </a:solidFill>
                <a:latin typeface="Arial"/>
                <a:cs typeface="Arial"/>
              </a:rPr>
              <a:t>void</a:t>
            </a:r>
            <a:r>
              <a:rPr sz="2950" b="1" spc="-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EE220D"/>
                </a:solidFill>
                <a:latin typeface="Arial MT"/>
                <a:cs typeface="Arial MT"/>
              </a:rPr>
              <a:t>main(){</a:t>
            </a:r>
            <a:endParaRPr sz="2950">
              <a:latin typeface="Arial MT"/>
              <a:cs typeface="Arial MT"/>
            </a:endParaRPr>
          </a:p>
          <a:p>
            <a:pPr marL="431165" marR="5080">
              <a:lnSpc>
                <a:spcPct val="136600"/>
              </a:lnSpc>
              <a:spcBef>
                <a:spcPts val="30"/>
              </a:spcBef>
            </a:pPr>
            <a:r>
              <a:rPr sz="2950" dirty="0">
                <a:solidFill>
                  <a:srgbClr val="EE220D"/>
                </a:solidFill>
                <a:latin typeface="Arial MT"/>
                <a:cs typeface="Arial MT"/>
              </a:rPr>
              <a:t>List</a:t>
            </a:r>
            <a:r>
              <a:rPr sz="295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EE220D"/>
                </a:solidFill>
                <a:latin typeface="Arial MT"/>
                <a:cs typeface="Arial MT"/>
              </a:rPr>
              <a:t>lst =</a:t>
            </a:r>
            <a:r>
              <a:rPr sz="295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EE220D"/>
                </a:solidFill>
                <a:latin typeface="Arial MT"/>
                <a:cs typeface="Arial MT"/>
              </a:rPr>
              <a:t>[3,4,2,5]; print(lst); lst.insert(2,10); print(lst);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295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448753" y="6996092"/>
            <a:ext cx="4610735" cy="3702050"/>
          </a:xfrm>
          <a:prstGeom prst="rect">
            <a:avLst/>
          </a:prstGeom>
        </p:spPr>
        <p:txBody>
          <a:bodyPr vert="horz" wrap="square" lIns="0" tIns="170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45"/>
              </a:spcBef>
            </a:pPr>
            <a:r>
              <a:rPr sz="2950" b="1" dirty="0">
                <a:solidFill>
                  <a:srgbClr val="EE220D"/>
                </a:solidFill>
                <a:latin typeface="Arial"/>
                <a:cs typeface="Arial"/>
              </a:rPr>
              <a:t>4.</a:t>
            </a:r>
            <a:r>
              <a:rPr sz="2950" b="1" spc="-10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2950" b="1" dirty="0">
                <a:solidFill>
                  <a:srgbClr val="EE220D"/>
                </a:solidFill>
                <a:latin typeface="Arial"/>
                <a:cs typeface="Arial"/>
              </a:rPr>
              <a:t>void</a:t>
            </a:r>
            <a:r>
              <a:rPr sz="2950" b="1" spc="-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2950" spc="-10" dirty="0">
                <a:solidFill>
                  <a:srgbClr val="EE220D"/>
                </a:solidFill>
                <a:latin typeface="Arial MT"/>
                <a:cs typeface="Arial MT"/>
              </a:rPr>
              <a:t>main(){</a:t>
            </a:r>
            <a:endParaRPr sz="2950">
              <a:latin typeface="Arial MT"/>
              <a:cs typeface="Arial MT"/>
            </a:endParaRPr>
          </a:p>
          <a:p>
            <a:pPr marL="431165">
              <a:lnSpc>
                <a:spcPct val="100000"/>
              </a:lnSpc>
              <a:spcBef>
                <a:spcPts val="1245"/>
              </a:spcBef>
            </a:pPr>
            <a:r>
              <a:rPr sz="2950" dirty="0">
                <a:solidFill>
                  <a:srgbClr val="EE220D"/>
                </a:solidFill>
                <a:latin typeface="Arial MT"/>
                <a:cs typeface="Arial MT"/>
              </a:rPr>
              <a:t>List</a:t>
            </a:r>
            <a:r>
              <a:rPr sz="295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950" dirty="0">
                <a:solidFill>
                  <a:srgbClr val="EE220D"/>
                </a:solidFill>
                <a:latin typeface="Arial MT"/>
                <a:cs typeface="Arial MT"/>
              </a:rPr>
              <a:t>lst =</a:t>
            </a:r>
            <a:r>
              <a:rPr sz="295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950" spc="-10" dirty="0">
                <a:solidFill>
                  <a:srgbClr val="EE220D"/>
                </a:solidFill>
                <a:latin typeface="Arial MT"/>
                <a:cs typeface="Arial MT"/>
              </a:rPr>
              <a:t>[3,4,2,5];</a:t>
            </a:r>
            <a:endParaRPr sz="2950">
              <a:latin typeface="Arial MT"/>
              <a:cs typeface="Arial MT"/>
            </a:endParaRPr>
          </a:p>
          <a:p>
            <a:pPr marL="535940" marR="5080">
              <a:lnSpc>
                <a:spcPct val="136100"/>
              </a:lnSpc>
              <a:spcBef>
                <a:spcPts val="50"/>
              </a:spcBef>
            </a:pPr>
            <a:r>
              <a:rPr sz="2950" spc="-10" dirty="0">
                <a:solidFill>
                  <a:srgbClr val="EE220D"/>
                </a:solidFill>
                <a:latin typeface="Arial MT"/>
                <a:cs typeface="Arial MT"/>
              </a:rPr>
              <a:t>print(lst); lst.insertAll(0,[6,7,10,9]); print(lst);</a:t>
            </a:r>
            <a:endParaRPr sz="2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95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2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511752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0" dirty="0"/>
              <a:t>List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61779"/>
            <a:ext cx="9528175" cy="5527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3075" marR="5080" indent="-461009">
              <a:lnSpc>
                <a:spcPct val="150800"/>
              </a:lnSpc>
              <a:spcBef>
                <a:spcPts val="95"/>
              </a:spcBef>
              <a:buChar char="●"/>
              <a:tabLst>
                <a:tab pos="473075" algn="l"/>
                <a:tab pos="482600" algn="l"/>
                <a:tab pos="1561465" algn="l"/>
                <a:tab pos="2810510" algn="l"/>
                <a:tab pos="4998720" algn="l"/>
                <a:tab pos="7344409" algn="l"/>
              </a:tabLst>
            </a:pPr>
            <a:r>
              <a:rPr sz="4100" dirty="0">
                <a:solidFill>
                  <a:srgbClr val="245796"/>
                </a:solidFill>
                <a:latin typeface="Georgia"/>
                <a:cs typeface="Georgia"/>
              </a:rPr>
              <a:t>	</a:t>
            </a:r>
            <a:r>
              <a:rPr sz="4100" spc="-25" dirty="0">
                <a:latin typeface="Georgia"/>
                <a:cs typeface="Georgia"/>
              </a:rPr>
              <a:t>The</a:t>
            </a:r>
            <a:r>
              <a:rPr sz="4100" dirty="0">
                <a:latin typeface="Georgia"/>
                <a:cs typeface="Georgia"/>
              </a:rPr>
              <a:t>	</a:t>
            </a:r>
            <a:r>
              <a:rPr sz="4100" spc="-20" dirty="0">
                <a:latin typeface="Georgia"/>
                <a:cs typeface="Georgia"/>
              </a:rPr>
              <a:t>Dart</a:t>
            </a:r>
            <a:r>
              <a:rPr sz="4100" dirty="0">
                <a:latin typeface="Georgia"/>
                <a:cs typeface="Georgia"/>
              </a:rPr>
              <a:t>	</a:t>
            </a:r>
            <a:r>
              <a:rPr sz="4100" spc="-10" dirty="0">
                <a:latin typeface="Georgia"/>
                <a:cs typeface="Georgia"/>
              </a:rPr>
              <a:t>provides</a:t>
            </a:r>
            <a:r>
              <a:rPr sz="4100" dirty="0">
                <a:latin typeface="Georgia"/>
                <a:cs typeface="Georgia"/>
              </a:rPr>
              <a:t>	</a:t>
            </a:r>
            <a:r>
              <a:rPr sz="4100" spc="-10" dirty="0">
                <a:latin typeface="Georgia"/>
                <a:cs typeface="Georgia"/>
              </a:rPr>
              <a:t>following</a:t>
            </a:r>
            <a:r>
              <a:rPr sz="4100" dirty="0">
                <a:latin typeface="Georgia"/>
                <a:cs typeface="Georgia"/>
              </a:rPr>
              <a:t>	</a:t>
            </a:r>
            <a:r>
              <a:rPr sz="4100" spc="-10" dirty="0">
                <a:latin typeface="Georgia"/>
                <a:cs typeface="Georgia"/>
              </a:rPr>
              <a:t>functions </a:t>
            </a:r>
            <a:r>
              <a:rPr sz="4100" dirty="0">
                <a:latin typeface="Georgia"/>
                <a:cs typeface="Georgia"/>
              </a:rPr>
              <a:t>to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remove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list</a:t>
            </a:r>
            <a:r>
              <a:rPr sz="4100" spc="-10" dirty="0">
                <a:latin typeface="Georgia"/>
                <a:cs typeface="Georgia"/>
              </a:rPr>
              <a:t> elements.</a:t>
            </a:r>
            <a:endParaRPr sz="410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9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solidFill>
                  <a:srgbClr val="FF0000"/>
                </a:solidFill>
                <a:latin typeface="Georgia"/>
                <a:cs typeface="Georgia"/>
              </a:rPr>
              <a:t>remove()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6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removeAt()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42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removeLast()</a:t>
            </a:r>
            <a:endParaRPr sz="3950">
              <a:latin typeface="Georgia"/>
              <a:cs typeface="Georgia"/>
            </a:endParaRPr>
          </a:p>
          <a:p>
            <a:pPr marL="765810" lvl="1" indent="-439420">
              <a:lnSpc>
                <a:spcPct val="100000"/>
              </a:lnSpc>
              <a:spcBef>
                <a:spcPts val="2345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3950" spc="-10" dirty="0">
                <a:latin typeface="Georgia"/>
                <a:cs typeface="Georgia"/>
              </a:rPr>
              <a:t>removeRange()</a:t>
            </a:r>
            <a:endParaRPr sz="39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943155" y="2580729"/>
            <a:ext cx="8569325" cy="6351270"/>
          </a:xfrm>
          <a:prstGeom prst="rect">
            <a:avLst/>
          </a:prstGeom>
        </p:spPr>
        <p:txBody>
          <a:bodyPr vert="horz" wrap="square" lIns="0" tIns="259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sz="3950" b="1" dirty="0">
                <a:solidFill>
                  <a:srgbClr val="EE220D"/>
                </a:solidFill>
                <a:latin typeface="Arial"/>
                <a:cs typeface="Arial"/>
              </a:rPr>
              <a:t>void</a:t>
            </a:r>
            <a:r>
              <a:rPr sz="3950" b="1" spc="15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main(){</a:t>
            </a:r>
            <a:endParaRPr sz="3950">
              <a:latin typeface="Arial MT"/>
              <a:cs typeface="Arial MT"/>
            </a:endParaRPr>
          </a:p>
          <a:p>
            <a:pPr marL="852805">
              <a:lnSpc>
                <a:spcPct val="100000"/>
              </a:lnSpc>
              <a:spcBef>
                <a:spcPts val="1950"/>
              </a:spcBef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list1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 [10,15,20,25,30];</a:t>
            </a:r>
            <a:endParaRPr sz="3950">
              <a:latin typeface="Arial MT"/>
              <a:cs typeface="Arial MT"/>
            </a:endParaRPr>
          </a:p>
          <a:p>
            <a:pPr marL="852805">
              <a:lnSpc>
                <a:spcPts val="4725"/>
              </a:lnSpc>
              <a:spcBef>
                <a:spcPts val="2005"/>
              </a:spcBef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print("List</a:t>
            </a:r>
            <a:r>
              <a:rPr sz="395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before remove</a:t>
            </a:r>
            <a:r>
              <a:rPr sz="3950" spc="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element</a:t>
            </a:r>
            <a:r>
              <a:rPr sz="395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Arial MT"/>
                <a:cs typeface="Arial MT"/>
              </a:rPr>
              <a:t>:</a:t>
            </a:r>
            <a:endParaRPr sz="3950">
              <a:latin typeface="Arial MT"/>
              <a:cs typeface="Arial MT"/>
            </a:endParaRPr>
          </a:p>
          <a:p>
            <a:pPr marL="12700">
              <a:lnSpc>
                <a:spcPts val="4725"/>
              </a:lnSpc>
            </a:pP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${list1}");</a:t>
            </a:r>
            <a:endParaRPr sz="3950">
              <a:latin typeface="Arial MT"/>
              <a:cs typeface="Arial MT"/>
            </a:endParaRPr>
          </a:p>
          <a:p>
            <a:pPr marL="852805">
              <a:lnSpc>
                <a:spcPct val="100000"/>
              </a:lnSpc>
              <a:spcBef>
                <a:spcPts val="2030"/>
              </a:spcBef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list1.remove(20)</a:t>
            </a:r>
            <a:r>
              <a:rPr sz="3950" spc="-2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Arial MT"/>
                <a:cs typeface="Arial MT"/>
              </a:rPr>
              <a:t>;</a:t>
            </a:r>
            <a:endParaRPr sz="3950">
              <a:latin typeface="Arial MT"/>
              <a:cs typeface="Arial MT"/>
            </a:endParaRPr>
          </a:p>
          <a:p>
            <a:pPr marL="852805">
              <a:lnSpc>
                <a:spcPts val="4725"/>
              </a:lnSpc>
              <a:spcBef>
                <a:spcPts val="2005"/>
              </a:spcBef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print("List</a:t>
            </a:r>
            <a:r>
              <a:rPr sz="395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after removing</a:t>
            </a:r>
            <a:r>
              <a:rPr sz="395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element</a:t>
            </a:r>
            <a:r>
              <a:rPr sz="395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Arial MT"/>
                <a:cs typeface="Arial MT"/>
              </a:rPr>
              <a:t>:</a:t>
            </a:r>
            <a:endParaRPr sz="3950">
              <a:latin typeface="Arial MT"/>
              <a:cs typeface="Arial MT"/>
            </a:endParaRPr>
          </a:p>
          <a:p>
            <a:pPr marL="12700">
              <a:lnSpc>
                <a:spcPts val="4725"/>
              </a:lnSpc>
            </a:pP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${list1}");</a:t>
            </a:r>
            <a:endParaRPr sz="3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10"/>
              </a:spcBef>
            </a:pPr>
            <a:r>
              <a:rPr sz="395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362" y="0"/>
              <a:ext cx="9011662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379855">
              <a:lnSpc>
                <a:spcPct val="100000"/>
              </a:lnSpc>
              <a:spcBef>
                <a:spcPts val="114"/>
              </a:spcBef>
            </a:pPr>
            <a:r>
              <a:rPr sz="6250" dirty="0"/>
              <a:t>Dart</a:t>
            </a:r>
            <a:r>
              <a:rPr sz="6250" spc="-25" dirty="0"/>
              <a:t> </a:t>
            </a:r>
            <a:r>
              <a:rPr sz="6250" dirty="0"/>
              <a:t>Data</a:t>
            </a:r>
            <a:r>
              <a:rPr sz="6250" spc="-25" dirty="0"/>
              <a:t> </a:t>
            </a:r>
            <a:r>
              <a:rPr sz="6250" dirty="0"/>
              <a:t>Type:</a:t>
            </a:r>
            <a:r>
              <a:rPr sz="6250" spc="-20" dirty="0"/>
              <a:t> Sets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1095119" y="2713919"/>
            <a:ext cx="17931130" cy="6353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4025" marR="5080" indent="-441959">
              <a:lnSpc>
                <a:spcPct val="149900"/>
              </a:lnSpc>
              <a:spcBef>
                <a:spcPts val="95"/>
              </a:spcBef>
              <a:buClr>
                <a:srgbClr val="245796"/>
              </a:buClr>
              <a:buChar char="•"/>
              <a:tabLst>
                <a:tab pos="454025" algn="l"/>
                <a:tab pos="1500505" algn="l"/>
                <a:tab pos="2708910" algn="l"/>
                <a:tab pos="3606165" algn="l"/>
                <a:tab pos="4169410" algn="l"/>
                <a:tab pos="5078095" algn="l"/>
                <a:tab pos="7609840" algn="l"/>
                <a:tab pos="9956165" algn="l"/>
                <a:tab pos="10588625" algn="l"/>
                <a:tab pos="11497310" algn="l"/>
                <a:tab pos="13623925" algn="l"/>
                <a:tab pos="15219680" algn="l"/>
                <a:tab pos="15852140" algn="l"/>
                <a:tab pos="16761460" algn="l"/>
              </a:tabLst>
            </a:pPr>
            <a:r>
              <a:rPr sz="3950" spc="-25" dirty="0">
                <a:latin typeface="Georgia"/>
                <a:cs typeface="Georgia"/>
              </a:rPr>
              <a:t>The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0" dirty="0">
                <a:latin typeface="Georgia"/>
                <a:cs typeface="Georgia"/>
              </a:rPr>
              <a:t>Dart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Set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is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the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unordered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collection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of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the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different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values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of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the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0" dirty="0">
                <a:solidFill>
                  <a:srgbClr val="EE220D"/>
                </a:solidFill>
                <a:latin typeface="Georgia"/>
                <a:cs typeface="Georgia"/>
              </a:rPr>
              <a:t>same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type.</a:t>
            </a:r>
            <a:endParaRPr sz="395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425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950" dirty="0">
                <a:latin typeface="Georgia"/>
                <a:cs typeface="Georgia"/>
              </a:rPr>
              <a:t>It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has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much</a:t>
            </a:r>
            <a:r>
              <a:rPr sz="3950" spc="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functionality,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which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is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same as an array, but it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is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unordered</a:t>
            </a:r>
            <a:r>
              <a:rPr sz="3950" spc="-10" dirty="0">
                <a:latin typeface="Georgia"/>
                <a:cs typeface="Georgia"/>
              </a:rPr>
              <a:t>.</a:t>
            </a:r>
            <a:endParaRPr sz="395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36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950" dirty="0">
                <a:latin typeface="Georgia"/>
                <a:cs typeface="Georgia"/>
              </a:rPr>
              <a:t>Set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doesn't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allow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storing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duplicate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latin typeface="Georgia"/>
                <a:cs typeface="Georgia"/>
              </a:rPr>
              <a:t>values.</a:t>
            </a:r>
            <a:endParaRPr sz="395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345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950" dirty="0">
                <a:latin typeface="Georgia"/>
                <a:cs typeface="Georgia"/>
              </a:rPr>
              <a:t>The</a:t>
            </a:r>
            <a:r>
              <a:rPr sz="3950" spc="-2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set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must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contain</a:t>
            </a:r>
            <a:r>
              <a:rPr sz="3950" spc="-2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unique</a:t>
            </a:r>
            <a:r>
              <a:rPr sz="3950" spc="-20" dirty="0">
                <a:latin typeface="Georgia"/>
                <a:cs typeface="Georgia"/>
              </a:rPr>
              <a:t> </a:t>
            </a:r>
            <a:r>
              <a:rPr sz="3950" spc="-10" dirty="0">
                <a:latin typeface="Georgia"/>
                <a:cs typeface="Georgia"/>
              </a:rPr>
              <a:t>values.</a:t>
            </a:r>
            <a:endParaRPr sz="3950">
              <a:latin typeface="Georgia"/>
              <a:cs typeface="Georgia"/>
            </a:endParaRPr>
          </a:p>
          <a:p>
            <a:pPr marL="454025" marR="5080" indent="-441959">
              <a:lnSpc>
                <a:spcPct val="149900"/>
              </a:lnSpc>
              <a:spcBef>
                <a:spcPts val="60"/>
              </a:spcBef>
              <a:buClr>
                <a:srgbClr val="245796"/>
              </a:buClr>
              <a:buChar char="•"/>
              <a:tabLst>
                <a:tab pos="454025" algn="l"/>
                <a:tab pos="1539875" algn="l"/>
                <a:tab pos="2411730" algn="l"/>
                <a:tab pos="3428365" algn="l"/>
                <a:tab pos="4190365" algn="l"/>
                <a:tab pos="6324600" algn="l"/>
                <a:tab pos="7091045" algn="l"/>
                <a:tab pos="8536305" algn="l"/>
                <a:tab pos="9484360" algn="l"/>
                <a:tab pos="10153650" algn="l"/>
                <a:tab pos="11504930" algn="l"/>
                <a:tab pos="13171805" algn="l"/>
                <a:tab pos="15709265" algn="l"/>
                <a:tab pos="16475075" algn="l"/>
                <a:tab pos="16966565" algn="l"/>
              </a:tabLst>
            </a:pPr>
            <a:r>
              <a:rPr sz="3950" spc="-25" dirty="0">
                <a:latin typeface="Georgia"/>
                <a:cs typeface="Georgia"/>
              </a:rPr>
              <a:t>The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set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can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35" dirty="0">
                <a:latin typeface="Georgia"/>
                <a:cs typeface="Georgia"/>
              </a:rPr>
              <a:t>be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declared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by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using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the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solidFill>
                  <a:srgbClr val="EE220D"/>
                </a:solidFill>
                <a:latin typeface="Georgia"/>
                <a:cs typeface="Georgia"/>
              </a:rPr>
              <a:t>{}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	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curly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	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braces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	</a:t>
            </a:r>
            <a:r>
              <a:rPr sz="3950" spc="-10" dirty="0">
                <a:latin typeface="Georgia"/>
                <a:cs typeface="Georgia"/>
              </a:rPr>
              <a:t>proceeded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5" dirty="0">
                <a:latin typeface="Georgia"/>
                <a:cs typeface="Georgia"/>
              </a:rPr>
              <a:t>by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50" dirty="0">
                <a:latin typeface="Georgia"/>
                <a:cs typeface="Georgia"/>
              </a:rPr>
              <a:t>a</a:t>
            </a:r>
            <a:r>
              <a:rPr sz="3950" dirty="0">
                <a:latin typeface="Georgia"/>
                <a:cs typeface="Georgia"/>
              </a:rPr>
              <a:t>	</a:t>
            </a:r>
            <a:r>
              <a:rPr sz="3950" spc="-20" dirty="0">
                <a:latin typeface="Georgia"/>
                <a:cs typeface="Georgia"/>
              </a:rPr>
              <a:t>type </a:t>
            </a:r>
            <a:r>
              <a:rPr sz="3950" dirty="0">
                <a:latin typeface="Georgia"/>
                <a:cs typeface="Georgia"/>
              </a:rPr>
              <a:t>argument,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or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declare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variable type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Set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with curly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braces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spc="-25" dirty="0">
                <a:latin typeface="Georgia"/>
                <a:cs typeface="Georgia"/>
              </a:rPr>
              <a:t>{}</a:t>
            </a:r>
            <a:endParaRPr sz="39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3362" y="0"/>
              <a:ext cx="9011662" cy="21938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267" rIns="0" bIns="0" rtlCol="0">
            <a:spAutoFit/>
          </a:bodyPr>
          <a:lstStyle/>
          <a:p>
            <a:pPr marL="1379855">
              <a:lnSpc>
                <a:spcPct val="100000"/>
              </a:lnSpc>
              <a:spcBef>
                <a:spcPts val="114"/>
              </a:spcBef>
            </a:pPr>
            <a:r>
              <a:rPr sz="6250" dirty="0"/>
              <a:t>Dart</a:t>
            </a:r>
            <a:r>
              <a:rPr sz="6250" spc="-25" dirty="0"/>
              <a:t> </a:t>
            </a:r>
            <a:r>
              <a:rPr sz="6250" dirty="0"/>
              <a:t>Data</a:t>
            </a:r>
            <a:r>
              <a:rPr sz="6250" spc="-25" dirty="0"/>
              <a:t> </a:t>
            </a:r>
            <a:r>
              <a:rPr sz="6250" dirty="0"/>
              <a:t>Type:</a:t>
            </a:r>
            <a:r>
              <a:rPr sz="6250" spc="-20" dirty="0"/>
              <a:t> Sets</a:t>
            </a:r>
            <a:endParaRPr sz="6250"/>
          </a:p>
        </p:txBody>
      </p:sp>
      <p:sp>
        <p:nvSpPr>
          <p:cNvPr id="7" name="object 7"/>
          <p:cNvSpPr txBox="1"/>
          <p:nvPr/>
        </p:nvSpPr>
        <p:spPr>
          <a:xfrm>
            <a:off x="1076272" y="2713919"/>
            <a:ext cx="8299450" cy="450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3075" marR="5080" indent="-441959">
              <a:lnSpc>
                <a:spcPct val="149900"/>
              </a:lnSpc>
              <a:spcBef>
                <a:spcPts val="95"/>
              </a:spcBef>
              <a:buClr>
                <a:srgbClr val="245796"/>
              </a:buClr>
              <a:buChar char="•"/>
              <a:tabLst>
                <a:tab pos="473075" algn="l"/>
              </a:tabLst>
            </a:pPr>
            <a:r>
              <a:rPr sz="3950" dirty="0">
                <a:latin typeface="Georgia"/>
                <a:cs typeface="Georgia"/>
              </a:rPr>
              <a:t>The</a:t>
            </a:r>
            <a:r>
              <a:rPr sz="3950" spc="10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syntax</a:t>
            </a:r>
            <a:r>
              <a:rPr sz="3950" spc="114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of</a:t>
            </a:r>
            <a:r>
              <a:rPr sz="3950" spc="1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declaring</a:t>
            </a:r>
            <a:r>
              <a:rPr sz="3950" spc="10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set</a:t>
            </a:r>
            <a:r>
              <a:rPr sz="3950" spc="12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is</a:t>
            </a:r>
            <a:r>
              <a:rPr sz="3950" spc="110" dirty="0">
                <a:latin typeface="Georgia"/>
                <a:cs typeface="Georgia"/>
              </a:rPr>
              <a:t> </a:t>
            </a:r>
            <a:r>
              <a:rPr sz="3950" spc="-10" dirty="0">
                <a:latin typeface="Georgia"/>
                <a:cs typeface="Georgia"/>
              </a:rPr>
              <a:t>given below.</a:t>
            </a:r>
            <a:endParaRPr sz="3950">
              <a:latin typeface="Georgia"/>
              <a:cs typeface="Georgia"/>
            </a:endParaRPr>
          </a:p>
          <a:p>
            <a:pPr marL="12700" marR="2400935" indent="439420">
              <a:lnSpc>
                <a:spcPct val="142800"/>
              </a:lnSpc>
              <a:spcBef>
                <a:spcPts val="810"/>
              </a:spcBef>
              <a:buClr>
                <a:srgbClr val="000000"/>
              </a:buClr>
              <a:buFont typeface="Wingdings"/>
              <a:buChar char=""/>
              <a:tabLst>
                <a:tab pos="452120" algn="l"/>
              </a:tabLst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950" spc="-1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setName</a:t>
            </a:r>
            <a:r>
              <a:rPr sz="395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950" spc="-1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Arial MT"/>
                <a:cs typeface="Arial MT"/>
              </a:rPr>
              <a:t>&lt;type&gt;{}; </a:t>
            </a:r>
            <a:r>
              <a:rPr sz="3950" spc="-25" dirty="0">
                <a:latin typeface="Arial MT"/>
                <a:cs typeface="Arial MT"/>
              </a:rPr>
              <a:t>Or</a:t>
            </a:r>
            <a:endParaRPr sz="3950">
              <a:latin typeface="Arial MT"/>
              <a:cs typeface="Arial MT"/>
            </a:endParaRPr>
          </a:p>
          <a:p>
            <a:pPr marL="451484" indent="-438784">
              <a:lnSpc>
                <a:spcPct val="100000"/>
              </a:lnSpc>
              <a:spcBef>
                <a:spcPts val="2010"/>
              </a:spcBef>
              <a:buClr>
                <a:srgbClr val="000000"/>
              </a:buClr>
              <a:buFont typeface="Wingdings"/>
              <a:buChar char=""/>
              <a:tabLst>
                <a:tab pos="451484" algn="l"/>
              </a:tabLst>
            </a:pP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Set&lt;type&gt;</a:t>
            </a:r>
            <a:r>
              <a:rPr sz="395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setname</a:t>
            </a:r>
            <a:r>
              <a:rPr sz="3950" spc="-3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950" spc="-4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950" spc="-25" dirty="0">
                <a:solidFill>
                  <a:srgbClr val="EE220D"/>
                </a:solidFill>
                <a:latin typeface="Arial MT"/>
                <a:cs typeface="Arial MT"/>
              </a:rPr>
              <a:t>{};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059989" y="2793498"/>
            <a:ext cx="6962775" cy="4601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6875" marR="1285240" indent="-384810">
              <a:lnSpc>
                <a:spcPct val="147000"/>
              </a:lnSpc>
              <a:spcBef>
                <a:spcPts val="95"/>
              </a:spcBef>
            </a:pPr>
            <a:r>
              <a:rPr sz="3600" b="1" dirty="0">
                <a:solidFill>
                  <a:srgbClr val="EE220D"/>
                </a:solidFill>
                <a:latin typeface="Arial"/>
                <a:cs typeface="Arial"/>
              </a:rPr>
              <a:t>void 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main(){ </a:t>
            </a: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print("Initializing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the</a:t>
            </a:r>
            <a:r>
              <a:rPr sz="360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Set");</a:t>
            </a:r>
            <a:endParaRPr sz="3600">
              <a:latin typeface="Arial MT"/>
              <a:cs typeface="Arial MT"/>
            </a:endParaRPr>
          </a:p>
          <a:p>
            <a:pPr marL="12700" marR="5080" indent="384810">
              <a:lnSpc>
                <a:spcPct val="101200"/>
              </a:lnSpc>
              <a:spcBef>
                <a:spcPts val="1880"/>
              </a:spcBef>
            </a:pP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names =</a:t>
            </a:r>
            <a:r>
              <a:rPr sz="3600" spc="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&lt;String&gt;{"James"," </a:t>
            </a: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Ricky",</a:t>
            </a:r>
            <a:r>
              <a:rPr sz="3600" spc="-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"Devansh","Adam"};</a:t>
            </a:r>
            <a:endParaRPr sz="3600">
              <a:latin typeface="Arial MT"/>
              <a:cs typeface="Arial MT"/>
            </a:endParaRPr>
          </a:p>
          <a:p>
            <a:pPr marL="396875">
              <a:lnSpc>
                <a:spcPct val="100000"/>
              </a:lnSpc>
              <a:spcBef>
                <a:spcPts val="2030"/>
              </a:spcBef>
            </a:pP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print(names);</a:t>
            </a: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035"/>
              </a:spcBef>
            </a:pPr>
            <a:r>
              <a:rPr sz="360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46400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Set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84396"/>
            <a:ext cx="15326360" cy="7564755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483234" indent="-470534">
              <a:lnSpc>
                <a:spcPct val="100000"/>
              </a:lnSpc>
              <a:spcBef>
                <a:spcPts val="2595"/>
              </a:spcBef>
              <a:buClr>
                <a:srgbClr val="245796"/>
              </a:buClr>
              <a:buFont typeface="Georgia"/>
              <a:buChar char="●"/>
              <a:tabLst>
                <a:tab pos="483234" algn="l"/>
              </a:tabLst>
            </a:pPr>
            <a:r>
              <a:rPr sz="4100" b="1" dirty="0">
                <a:latin typeface="Georgia"/>
                <a:cs typeface="Georgia"/>
              </a:rPr>
              <a:t>Set</a:t>
            </a:r>
            <a:r>
              <a:rPr sz="4100" b="1" spc="10" dirty="0">
                <a:latin typeface="Georgia"/>
                <a:cs typeface="Georgia"/>
              </a:rPr>
              <a:t> </a:t>
            </a:r>
            <a:r>
              <a:rPr sz="4100" b="1" spc="-10" dirty="0">
                <a:latin typeface="Georgia"/>
                <a:cs typeface="Georgia"/>
              </a:rPr>
              <a:t>Properties: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first</a:t>
            </a:r>
            <a:r>
              <a:rPr sz="4100" b="1" spc="-8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first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element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spc="-20" dirty="0">
                <a:latin typeface="Georgia"/>
                <a:cs typeface="Georgia"/>
              </a:rPr>
              <a:t>case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isEmpty</a:t>
            </a:r>
            <a:r>
              <a:rPr sz="4100" b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true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if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list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is</a:t>
            </a:r>
            <a:r>
              <a:rPr sz="4100" spc="-10" dirty="0">
                <a:latin typeface="Georgia"/>
                <a:cs typeface="Georgia"/>
              </a:rPr>
              <a:t> empty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isNotEmpty</a:t>
            </a:r>
            <a:r>
              <a:rPr sz="4100" b="1" spc="-7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true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if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list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has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at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least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one</a:t>
            </a:r>
            <a:r>
              <a:rPr sz="4100" spc="-10" dirty="0">
                <a:latin typeface="Georgia"/>
                <a:cs typeface="Georgia"/>
              </a:rPr>
              <a:t> element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length</a:t>
            </a:r>
            <a:r>
              <a:rPr sz="4100" b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length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of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spc="-25" dirty="0">
                <a:latin typeface="Georgia"/>
                <a:cs typeface="Georgia"/>
              </a:rPr>
              <a:t>set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last</a:t>
            </a:r>
            <a:r>
              <a:rPr sz="4100" b="1" spc="-6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last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element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of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spc="-25" dirty="0">
                <a:latin typeface="Georgia"/>
                <a:cs typeface="Georgia"/>
              </a:rPr>
              <a:t>set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hashcode</a:t>
            </a:r>
            <a:r>
              <a:rPr sz="4100" b="1" spc="-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hashcode</a:t>
            </a:r>
            <a:r>
              <a:rPr sz="4100" spc="-2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for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corresponding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spc="-10" dirty="0">
                <a:latin typeface="Georgia"/>
                <a:cs typeface="Georgia"/>
              </a:rPr>
              <a:t>object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b="1" dirty="0">
                <a:solidFill>
                  <a:srgbClr val="FF0000"/>
                </a:solidFill>
                <a:latin typeface="Georgia"/>
                <a:cs typeface="Georgia"/>
              </a:rPr>
              <a:t>Single</a:t>
            </a:r>
            <a:r>
              <a:rPr sz="4100" b="1" spc="-6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-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it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checks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if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the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list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has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only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one</a:t>
            </a:r>
            <a:r>
              <a:rPr sz="4100" spc="-15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element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and</a:t>
            </a:r>
            <a:r>
              <a:rPr sz="4100" spc="-10" dirty="0">
                <a:latin typeface="Georgia"/>
                <a:cs typeface="Georgia"/>
              </a:rPr>
              <a:t> </a:t>
            </a:r>
            <a:r>
              <a:rPr sz="4100" dirty="0">
                <a:latin typeface="Georgia"/>
                <a:cs typeface="Georgia"/>
              </a:rPr>
              <a:t>returns</a:t>
            </a:r>
            <a:r>
              <a:rPr sz="4100" spc="-5" dirty="0">
                <a:latin typeface="Georgia"/>
                <a:cs typeface="Georgia"/>
              </a:rPr>
              <a:t> </a:t>
            </a:r>
            <a:r>
              <a:rPr sz="4100" spc="-25" dirty="0">
                <a:latin typeface="Georgia"/>
                <a:cs typeface="Georgia"/>
              </a:rPr>
              <a:t>it</a:t>
            </a:r>
            <a:endParaRPr sz="41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46400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Set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84396"/>
            <a:ext cx="4017645" cy="5680075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483234" indent="-470534">
              <a:lnSpc>
                <a:spcPct val="100000"/>
              </a:lnSpc>
              <a:spcBef>
                <a:spcPts val="2595"/>
              </a:spcBef>
              <a:buClr>
                <a:srgbClr val="245796"/>
              </a:buClr>
              <a:buFont typeface="Georgia"/>
              <a:buChar char="●"/>
              <a:tabLst>
                <a:tab pos="483234" algn="l"/>
              </a:tabLst>
            </a:pPr>
            <a:r>
              <a:rPr sz="4100" b="1" dirty="0">
                <a:latin typeface="Georgia"/>
                <a:cs typeface="Georgia"/>
              </a:rPr>
              <a:t>Set </a:t>
            </a:r>
            <a:r>
              <a:rPr sz="4100" b="1" spc="-10" dirty="0">
                <a:latin typeface="Georgia"/>
                <a:cs typeface="Georgia"/>
              </a:rPr>
              <a:t>Methods: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solidFill>
                  <a:srgbClr val="EE220D"/>
                </a:solidFill>
                <a:latin typeface="Georgia"/>
                <a:cs typeface="Georgia"/>
              </a:rPr>
              <a:t>add()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solidFill>
                  <a:srgbClr val="EE220D"/>
                </a:solidFill>
                <a:latin typeface="Georgia"/>
                <a:cs typeface="Georgia"/>
              </a:rPr>
              <a:t>addAll()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elementAt()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remove()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clear()</a:t>
            </a:r>
            <a:endParaRPr sz="41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467002" y="2380524"/>
            <a:ext cx="8294370" cy="6893559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800" b="1" dirty="0">
                <a:solidFill>
                  <a:srgbClr val="EE220D"/>
                </a:solidFill>
                <a:latin typeface="Arial"/>
                <a:cs typeface="Arial"/>
              </a:rPr>
              <a:t>void</a:t>
            </a:r>
            <a:r>
              <a:rPr sz="2800" b="1" spc="-30" dirty="0">
                <a:solidFill>
                  <a:srgbClr val="EE220D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EE220D"/>
                </a:solidFill>
                <a:latin typeface="Arial MT"/>
                <a:cs typeface="Arial MT"/>
              </a:rPr>
              <a:t>main(){</a:t>
            </a:r>
            <a:endParaRPr sz="2800">
              <a:latin typeface="Arial MT"/>
              <a:cs typeface="Arial MT"/>
            </a:endParaRPr>
          </a:p>
          <a:p>
            <a:pPr marL="310515">
              <a:lnSpc>
                <a:spcPct val="100000"/>
              </a:lnSpc>
              <a:spcBef>
                <a:spcPts val="1330"/>
              </a:spcBef>
            </a:pP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print("Insert</a:t>
            </a:r>
            <a:r>
              <a:rPr sz="2800" spc="-8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element</a:t>
            </a:r>
            <a:r>
              <a:rPr sz="2800" spc="-8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into</a:t>
            </a:r>
            <a:r>
              <a:rPr sz="2800" spc="-8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the</a:t>
            </a:r>
            <a:r>
              <a:rPr sz="2800" spc="-8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EE220D"/>
                </a:solidFill>
                <a:latin typeface="Arial MT"/>
                <a:cs typeface="Arial MT"/>
              </a:rPr>
              <a:t>Set");</a:t>
            </a:r>
            <a:endParaRPr sz="2800">
              <a:latin typeface="Arial MT"/>
              <a:cs typeface="Arial MT"/>
            </a:endParaRPr>
          </a:p>
          <a:p>
            <a:pPr marL="310515">
              <a:lnSpc>
                <a:spcPct val="100000"/>
              </a:lnSpc>
              <a:spcBef>
                <a:spcPts val="1270"/>
              </a:spcBef>
            </a:pP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280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names</a:t>
            </a:r>
            <a:r>
              <a:rPr sz="2800" spc="-5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2800" spc="-4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EE220D"/>
                </a:solidFill>
                <a:latin typeface="Arial MT"/>
                <a:cs typeface="Arial MT"/>
              </a:rPr>
              <a:t>{"James","Ricky","Devansh","Adam"};</a:t>
            </a:r>
            <a:endParaRPr sz="2800">
              <a:latin typeface="Arial MT"/>
              <a:cs typeface="Arial MT"/>
            </a:endParaRPr>
          </a:p>
          <a:p>
            <a:pPr marL="310515" marR="4531995" algn="just">
              <a:lnSpc>
                <a:spcPct val="139200"/>
              </a:lnSpc>
              <a:spcBef>
                <a:spcPts val="2645"/>
              </a:spcBef>
            </a:pP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//</a:t>
            </a:r>
            <a:r>
              <a:rPr sz="2800" spc="-6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Declaring</a:t>
            </a:r>
            <a:r>
              <a:rPr sz="2800" spc="-6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empty</a:t>
            </a:r>
            <a:r>
              <a:rPr sz="2800" spc="-6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EE220D"/>
                </a:solidFill>
                <a:latin typeface="Arial MT"/>
                <a:cs typeface="Arial MT"/>
              </a:rPr>
              <a:t>set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2800" spc="-3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emp</a:t>
            </a:r>
            <a:r>
              <a:rPr sz="2800" spc="-3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2800" spc="-3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EE220D"/>
                </a:solidFill>
                <a:latin typeface="Arial MT"/>
                <a:cs typeface="Arial MT"/>
              </a:rPr>
              <a:t>&lt;String&gt;{}; emp.add("Jonathan"); print(emp);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20"/>
              </a:spcBef>
            </a:pPr>
            <a:endParaRPr sz="2800">
              <a:latin typeface="Arial MT"/>
              <a:cs typeface="Arial MT"/>
            </a:endParaRPr>
          </a:p>
          <a:p>
            <a:pPr marL="310515" marR="3702050">
              <a:lnSpc>
                <a:spcPct val="138700"/>
              </a:lnSpc>
            </a:pP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//</a:t>
            </a:r>
            <a:r>
              <a:rPr sz="2800" spc="-6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Adding</a:t>
            </a:r>
            <a:r>
              <a:rPr sz="2800" spc="-6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EE220D"/>
                </a:solidFill>
                <a:latin typeface="Arial MT"/>
                <a:cs typeface="Arial MT"/>
              </a:rPr>
              <a:t>multiple</a:t>
            </a:r>
            <a:r>
              <a:rPr sz="2800" spc="-6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EE220D"/>
                </a:solidFill>
                <a:latin typeface="Arial MT"/>
                <a:cs typeface="Arial MT"/>
              </a:rPr>
              <a:t>elements emp.addAll(names); print(emp);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467002" y="9416960"/>
            <a:ext cx="14478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46400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Set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484396"/>
            <a:ext cx="4017645" cy="5680075"/>
          </a:xfrm>
          <a:prstGeom prst="rect">
            <a:avLst/>
          </a:prstGeom>
        </p:spPr>
        <p:txBody>
          <a:bodyPr vert="horz" wrap="square" lIns="0" tIns="329565" rIns="0" bIns="0" rtlCol="0">
            <a:spAutoFit/>
          </a:bodyPr>
          <a:lstStyle/>
          <a:p>
            <a:pPr marL="483234" indent="-470534">
              <a:lnSpc>
                <a:spcPct val="100000"/>
              </a:lnSpc>
              <a:spcBef>
                <a:spcPts val="2595"/>
              </a:spcBef>
              <a:buClr>
                <a:srgbClr val="245796"/>
              </a:buClr>
              <a:buFont typeface="Georgia"/>
              <a:buChar char="●"/>
              <a:tabLst>
                <a:tab pos="483234" algn="l"/>
              </a:tabLst>
            </a:pPr>
            <a:r>
              <a:rPr sz="4100" b="1" dirty="0">
                <a:latin typeface="Georgia"/>
                <a:cs typeface="Georgia"/>
              </a:rPr>
              <a:t>Set </a:t>
            </a:r>
            <a:r>
              <a:rPr sz="4100" b="1" spc="-10" dirty="0">
                <a:latin typeface="Georgia"/>
                <a:cs typeface="Georgia"/>
              </a:rPr>
              <a:t>Methods: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add()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addAll()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solidFill>
                  <a:srgbClr val="EE220D"/>
                </a:solidFill>
                <a:latin typeface="Georgia"/>
                <a:cs typeface="Georgia"/>
              </a:rPr>
              <a:t>elementAt()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remove()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500"/>
              </a:spcBef>
              <a:buClr>
                <a:srgbClr val="245796"/>
              </a:buClr>
              <a:buFont typeface="Times New Roman"/>
              <a:buChar char="○"/>
              <a:tabLst>
                <a:tab pos="765810" algn="l"/>
              </a:tabLst>
            </a:pPr>
            <a:r>
              <a:rPr sz="4100" spc="-10" dirty="0">
                <a:latin typeface="Georgia"/>
                <a:cs typeface="Georgia"/>
              </a:rPr>
              <a:t>clear()</a:t>
            </a:r>
            <a:endParaRPr sz="41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7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05"/>
              </a:spcBef>
            </a:pPr>
            <a:r>
              <a:rPr b="1" dirty="0">
                <a:latin typeface="Arial"/>
                <a:cs typeface="Arial"/>
              </a:rPr>
              <a:t>void </a:t>
            </a:r>
            <a:r>
              <a:rPr spc="-10" dirty="0"/>
              <a:t>main(){</a:t>
            </a:r>
          </a:p>
          <a:p>
            <a:pPr marL="396875">
              <a:lnSpc>
                <a:spcPct val="100000"/>
              </a:lnSpc>
              <a:spcBef>
                <a:spcPts val="2010"/>
              </a:spcBef>
            </a:pPr>
            <a:r>
              <a:rPr dirty="0"/>
              <a:t>print("Access element from</a:t>
            </a:r>
            <a:r>
              <a:rPr spc="-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0" dirty="0"/>
              <a:t>Set");</a:t>
            </a:r>
          </a:p>
          <a:p>
            <a:pPr marL="396875" marR="5080">
              <a:lnSpc>
                <a:spcPts val="6350"/>
              </a:lnSpc>
              <a:spcBef>
                <a:spcPts val="275"/>
              </a:spcBef>
            </a:pPr>
            <a:r>
              <a:rPr dirty="0"/>
              <a:t>var</a:t>
            </a:r>
            <a:r>
              <a:rPr spc="-10" dirty="0"/>
              <a:t> </a:t>
            </a:r>
            <a:r>
              <a:rPr dirty="0"/>
              <a:t>names =</a:t>
            </a:r>
            <a:r>
              <a:rPr spc="10" dirty="0"/>
              <a:t> </a:t>
            </a:r>
            <a:r>
              <a:rPr spc="-10" dirty="0"/>
              <a:t>{"James","Ricky","Devansh","Adam"}; print(names);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548213" y="6620815"/>
            <a:ext cx="5828665" cy="163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6600"/>
              </a:lnSpc>
              <a:spcBef>
                <a:spcPts val="90"/>
              </a:spcBef>
            </a:pP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var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x</a:t>
            </a:r>
            <a:r>
              <a:rPr sz="3600" spc="5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EE220D"/>
                </a:solidFill>
                <a:latin typeface="Arial MT"/>
                <a:cs typeface="Arial MT"/>
              </a:rPr>
              <a:t>=</a:t>
            </a:r>
            <a:r>
              <a:rPr sz="3600" spc="10" dirty="0">
                <a:solidFill>
                  <a:srgbClr val="EE220D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Arial MT"/>
                <a:cs typeface="Arial MT"/>
              </a:rPr>
              <a:t>names.elementAt(3); print(x);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63407" y="8472905"/>
            <a:ext cx="179705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50" dirty="0">
                <a:solidFill>
                  <a:srgbClr val="EE220D"/>
                </a:solidFill>
                <a:latin typeface="Arial MT"/>
                <a:cs typeface="Arial MT"/>
              </a:rPr>
              <a:t>}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678149" y="2227895"/>
            <a:ext cx="12748260" cy="8575040"/>
            <a:chOff x="3678149" y="2227895"/>
            <a:chExt cx="12748260" cy="8575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83547" y="2233293"/>
              <a:ext cx="12737009" cy="856421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83547" y="2233293"/>
              <a:ext cx="12737465" cy="8564245"/>
            </a:xfrm>
            <a:custGeom>
              <a:avLst/>
              <a:gdLst/>
              <a:ahLst/>
              <a:cxnLst/>
              <a:rect l="l" t="t" r="r" b="b"/>
              <a:pathLst>
                <a:path w="12737465" h="8564245">
                  <a:moveTo>
                    <a:pt x="0" y="0"/>
                  </a:moveTo>
                  <a:lnTo>
                    <a:pt x="12737005" y="0"/>
                  </a:lnTo>
                  <a:lnTo>
                    <a:pt x="12737005" y="8564219"/>
                  </a:lnTo>
                  <a:lnTo>
                    <a:pt x="0" y="8564219"/>
                  </a:lnTo>
                  <a:lnTo>
                    <a:pt x="0" y="0"/>
                  </a:lnTo>
                  <a:close/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746225" y="2285450"/>
            <a:ext cx="4832985" cy="8359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dirty="0">
                <a:latin typeface="Arial MT"/>
                <a:cs typeface="Arial MT"/>
              </a:rPr>
              <a:t>void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main()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{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3200">
              <a:latin typeface="Arial MT"/>
              <a:cs typeface="Arial MT"/>
            </a:endParaRPr>
          </a:p>
          <a:p>
            <a:pPr marL="240029">
              <a:lnSpc>
                <a:spcPts val="3810"/>
              </a:lnSpc>
            </a:pPr>
            <a:r>
              <a:rPr sz="3200" dirty="0">
                <a:latin typeface="Arial MT"/>
                <a:cs typeface="Arial MT"/>
              </a:rPr>
              <a:t>var</a:t>
            </a:r>
            <a:r>
              <a:rPr sz="3200" spc="-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x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=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{"A","B","C"};</a:t>
            </a:r>
            <a:endParaRPr sz="3200">
              <a:latin typeface="Arial MT"/>
              <a:cs typeface="Arial MT"/>
            </a:endParaRPr>
          </a:p>
          <a:p>
            <a:pPr marL="240029" marR="2611120">
              <a:lnSpc>
                <a:spcPts val="3879"/>
              </a:lnSpc>
              <a:spcBef>
                <a:spcPts val="65"/>
              </a:spcBef>
            </a:pPr>
            <a:r>
              <a:rPr sz="3200" spc="-10" dirty="0">
                <a:latin typeface="Arial MT"/>
                <a:cs typeface="Arial MT"/>
              </a:rPr>
              <a:t>x.add("D"); print(x);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200">
              <a:latin typeface="Arial MT"/>
              <a:cs typeface="Arial MT"/>
            </a:endParaRPr>
          </a:p>
          <a:p>
            <a:pPr marL="240029" marR="1253490">
              <a:lnSpc>
                <a:spcPct val="101000"/>
              </a:lnSpc>
              <a:spcBef>
                <a:spcPts val="5"/>
              </a:spcBef>
            </a:pPr>
            <a:r>
              <a:rPr sz="3200" spc="-10" dirty="0">
                <a:latin typeface="Arial MT"/>
                <a:cs typeface="Arial MT"/>
              </a:rPr>
              <a:t>x.addAll({"E","F"}); print(x);</a:t>
            </a:r>
            <a:endParaRPr sz="3200">
              <a:latin typeface="Arial MT"/>
              <a:cs typeface="Arial MT"/>
            </a:endParaRPr>
          </a:p>
          <a:p>
            <a:pPr marL="240029" marR="5080">
              <a:lnSpc>
                <a:spcPts val="3879"/>
              </a:lnSpc>
              <a:spcBef>
                <a:spcPts val="35"/>
              </a:spcBef>
            </a:pPr>
            <a:r>
              <a:rPr sz="3200" dirty="0">
                <a:latin typeface="Arial MT"/>
                <a:cs typeface="Arial MT"/>
              </a:rPr>
              <a:t>var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elem=x.elementAt(3); print(elem);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3200">
              <a:latin typeface="Arial MT"/>
              <a:cs typeface="Arial MT"/>
            </a:endParaRPr>
          </a:p>
          <a:p>
            <a:pPr marL="240029" marR="1953260">
              <a:lnSpc>
                <a:spcPct val="101000"/>
              </a:lnSpc>
            </a:pPr>
            <a:r>
              <a:rPr sz="3200" spc="-10" dirty="0">
                <a:latin typeface="Arial MT"/>
                <a:cs typeface="Arial MT"/>
              </a:rPr>
              <a:t>x.remove("E"); print(x);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3200">
              <a:latin typeface="Arial MT"/>
              <a:cs typeface="Arial MT"/>
            </a:endParaRPr>
          </a:p>
          <a:p>
            <a:pPr marL="240029">
              <a:lnSpc>
                <a:spcPct val="100000"/>
              </a:lnSpc>
            </a:pPr>
            <a:r>
              <a:rPr sz="3200" spc="-10" dirty="0">
                <a:latin typeface="Arial MT"/>
                <a:cs typeface="Arial MT"/>
              </a:rPr>
              <a:t>x.clear();</a:t>
            </a:r>
            <a:endParaRPr sz="3200">
              <a:latin typeface="Arial MT"/>
              <a:cs typeface="Arial MT"/>
            </a:endParaRPr>
          </a:p>
          <a:p>
            <a:pPr marL="240029">
              <a:lnSpc>
                <a:spcPct val="100000"/>
              </a:lnSpc>
              <a:spcBef>
                <a:spcPts val="40"/>
              </a:spcBef>
            </a:pPr>
            <a:r>
              <a:rPr sz="3200" spc="-10" dirty="0">
                <a:latin typeface="Arial MT"/>
                <a:cs typeface="Arial MT"/>
              </a:rPr>
              <a:t>print(x);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3200" spc="-50" dirty="0">
                <a:latin typeface="Arial MT"/>
                <a:cs typeface="Arial MT"/>
              </a:rPr>
              <a:t>}</a:t>
            </a:r>
            <a:endParaRPr sz="32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0"/>
            <a:ext cx="20104100" cy="2350135"/>
            <a:chOff x="0" y="0"/>
            <a:chExt cx="20104100" cy="235013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0101586" cy="234966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8648" y="0"/>
              <a:ext cx="9903782" cy="22868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20104098" cy="203489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88440">
              <a:lnSpc>
                <a:spcPct val="100000"/>
              </a:lnSpc>
              <a:spcBef>
                <a:spcPts val="125"/>
              </a:spcBef>
            </a:pPr>
            <a:r>
              <a:rPr dirty="0"/>
              <a:t>Dart</a:t>
            </a:r>
            <a:r>
              <a:rPr spc="-10" dirty="0"/>
              <a:t> </a:t>
            </a:r>
            <a:r>
              <a:rPr dirty="0"/>
              <a:t>Data Type:</a:t>
            </a:r>
            <a:r>
              <a:rPr spc="5" dirty="0"/>
              <a:t> </a:t>
            </a:r>
            <a:r>
              <a:rPr spc="-20" dirty="0"/>
              <a:t>Sets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95119" y="2705541"/>
            <a:ext cx="17548225" cy="7504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4025" marR="139065" indent="-441959">
              <a:lnSpc>
                <a:spcPct val="153000"/>
              </a:lnSpc>
              <a:spcBef>
                <a:spcPts val="9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The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type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used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to</a:t>
            </a:r>
            <a:r>
              <a:rPr sz="3600" spc="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store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key-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value</a:t>
            </a:r>
            <a:r>
              <a:rPr sz="360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pairs</a:t>
            </a:r>
            <a:r>
              <a:rPr sz="3600" dirty="0">
                <a:latin typeface="Georgia"/>
                <a:cs typeface="Georgia"/>
              </a:rPr>
              <a:t>.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associated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with 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40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value.</a:t>
            </a:r>
            <a:endParaRPr sz="3600">
              <a:latin typeface="Georgia"/>
              <a:cs typeface="Georgia"/>
            </a:endParaRPr>
          </a:p>
          <a:p>
            <a:pPr marL="454025" marR="241300" indent="-441959">
              <a:lnSpc>
                <a:spcPct val="150700"/>
              </a:lnSpc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The key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and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 can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be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any type</a:t>
            </a:r>
            <a:r>
              <a:rPr sz="3600" dirty="0">
                <a:latin typeface="Georgia"/>
                <a:cs typeface="Georgia"/>
              </a:rPr>
              <a:t>.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Map, 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must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be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unique</a:t>
            </a:r>
            <a:r>
              <a:rPr sz="3600" dirty="0">
                <a:latin typeface="Georgia"/>
                <a:cs typeface="Georgia"/>
              </a:rPr>
              <a:t>,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but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 value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can </a:t>
            </a:r>
            <a:r>
              <a:rPr sz="3600" dirty="0">
                <a:latin typeface="Georgia"/>
                <a:cs typeface="Georgia"/>
              </a:rPr>
              <a:t>occur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multiple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times.</a:t>
            </a:r>
            <a:endParaRPr sz="360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defined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by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using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curly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braces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({}),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and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comma separates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pair.</a:t>
            </a:r>
            <a:endParaRPr sz="360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Dart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object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that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stores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data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form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of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key-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pair.</a:t>
            </a:r>
            <a:endParaRPr sz="360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29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Each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associated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with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key,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and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used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to</a:t>
            </a:r>
            <a:r>
              <a:rPr sz="3600" spc="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access</a:t>
            </a:r>
            <a:r>
              <a:rPr sz="3600" spc="2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corresponding</a:t>
            </a:r>
            <a:r>
              <a:rPr sz="360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value</a:t>
            </a:r>
            <a:r>
              <a:rPr sz="3600" spc="-10" dirty="0">
                <a:latin typeface="Georgia"/>
                <a:cs typeface="Georgia"/>
              </a:rPr>
              <a:t>.</a:t>
            </a:r>
            <a:endParaRPr sz="360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Both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keys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and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values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can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any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type.</a:t>
            </a:r>
            <a:endParaRPr sz="3600">
              <a:latin typeface="Georgia"/>
              <a:cs typeface="Georgia"/>
            </a:endParaRPr>
          </a:p>
          <a:p>
            <a:pPr marL="454025" indent="-441325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Char char="•"/>
              <a:tabLst>
                <a:tab pos="454025" algn="l"/>
              </a:tabLst>
            </a:pPr>
            <a:r>
              <a:rPr sz="3600" dirty="0">
                <a:latin typeface="Georgia"/>
                <a:cs typeface="Georgia"/>
              </a:rPr>
              <a:t>In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Dart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Map,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must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unique,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but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same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can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occur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multiple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times.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519813"/>
            <a:ext cx="17725390" cy="7231380"/>
          </a:xfrm>
          <a:prstGeom prst="rect">
            <a:avLst/>
          </a:prstGeom>
        </p:spPr>
        <p:txBody>
          <a:bodyPr vert="horz" wrap="square" lIns="0" tIns="280670" rIns="0" bIns="0" rtlCol="0">
            <a:spAutoFit/>
          </a:bodyPr>
          <a:lstStyle/>
          <a:p>
            <a:pPr marL="483234" indent="-470534">
              <a:lnSpc>
                <a:spcPct val="100000"/>
              </a:lnSpc>
              <a:spcBef>
                <a:spcPts val="2210"/>
              </a:spcBef>
              <a:buClr>
                <a:srgbClr val="245796"/>
              </a:buClr>
              <a:buSzPct val="103797"/>
              <a:buChar char="●"/>
              <a:tabLst>
                <a:tab pos="483234" algn="l"/>
              </a:tabLst>
            </a:pPr>
            <a:r>
              <a:rPr sz="3950" dirty="0">
                <a:latin typeface="Georgia"/>
                <a:cs typeface="Georgia"/>
              </a:rPr>
              <a:t>Dart Map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can be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defined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in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two </a:t>
            </a:r>
            <a:r>
              <a:rPr sz="3950" spc="-10" dirty="0">
                <a:latin typeface="Georgia"/>
                <a:cs typeface="Georgia"/>
              </a:rPr>
              <a:t>methods.</a:t>
            </a:r>
            <a:endParaRPr sz="395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360"/>
              </a:spcBef>
              <a:buClr>
                <a:srgbClr val="245796"/>
              </a:buClr>
              <a:buSzPct val="103797"/>
              <a:buFont typeface="Times New Roman"/>
              <a:buChar char="○"/>
              <a:tabLst>
                <a:tab pos="765810" algn="l"/>
              </a:tabLst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Using</a:t>
            </a:r>
            <a:r>
              <a:rPr sz="3950" spc="-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Map</a:t>
            </a:r>
            <a:r>
              <a:rPr sz="3950" spc="-2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Literal</a:t>
            </a:r>
            <a:endParaRPr sz="3950">
              <a:latin typeface="Georgia"/>
              <a:cs typeface="Georgia"/>
            </a:endParaRPr>
          </a:p>
          <a:p>
            <a:pPr marL="1143000" marR="5080" lvl="2" indent="-440055">
              <a:lnSpc>
                <a:spcPct val="149400"/>
              </a:lnSpc>
              <a:spcBef>
                <a:spcPts val="85"/>
              </a:spcBef>
              <a:buClr>
                <a:srgbClr val="245796"/>
              </a:buClr>
              <a:buChar char="•"/>
              <a:tabLst>
                <a:tab pos="1143000" algn="l"/>
              </a:tabLst>
            </a:pPr>
            <a:r>
              <a:rPr sz="3950" dirty="0">
                <a:latin typeface="Georgia"/>
                <a:cs typeface="Georgia"/>
              </a:rPr>
              <a:t>To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declare a Map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using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map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literal,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 </a:t>
            </a:r>
            <a:r>
              <a:rPr sz="3950" spc="-10" dirty="0">
                <a:latin typeface="Georgia"/>
                <a:cs typeface="Georgia"/>
              </a:rPr>
              <a:t>key-</a:t>
            </a:r>
            <a:r>
              <a:rPr sz="3950" dirty="0">
                <a:latin typeface="Georgia"/>
                <a:cs typeface="Georgia"/>
              </a:rPr>
              <a:t>value pairs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are enclosed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spc="-10" dirty="0">
                <a:latin typeface="Georgia"/>
                <a:cs typeface="Georgia"/>
              </a:rPr>
              <a:t>within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curly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braces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"{}"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and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separated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by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10" dirty="0">
                <a:latin typeface="Georgia"/>
                <a:cs typeface="Georgia"/>
              </a:rPr>
              <a:t> commas.</a:t>
            </a:r>
            <a:endParaRPr sz="3950">
              <a:latin typeface="Georgia"/>
              <a:cs typeface="Georgia"/>
            </a:endParaRPr>
          </a:p>
          <a:p>
            <a:pPr lvl="2">
              <a:lnSpc>
                <a:spcPct val="100000"/>
              </a:lnSpc>
              <a:buClr>
                <a:srgbClr val="245796"/>
              </a:buClr>
              <a:buFont typeface="Georgia"/>
              <a:buChar char="•"/>
            </a:pPr>
            <a:endParaRPr sz="3950">
              <a:latin typeface="Georgia"/>
              <a:cs typeface="Georgia"/>
            </a:endParaRPr>
          </a:p>
          <a:p>
            <a:pPr lvl="2">
              <a:lnSpc>
                <a:spcPct val="100000"/>
              </a:lnSpc>
              <a:spcBef>
                <a:spcPts val="550"/>
              </a:spcBef>
              <a:buClr>
                <a:srgbClr val="245796"/>
              </a:buClr>
              <a:buFont typeface="Georgia"/>
              <a:buChar char="•"/>
            </a:pPr>
            <a:endParaRPr sz="395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buClr>
                <a:srgbClr val="245796"/>
              </a:buClr>
              <a:buSzPct val="103797"/>
              <a:buFont typeface="Times New Roman"/>
              <a:buChar char="○"/>
              <a:tabLst>
                <a:tab pos="765810" algn="l"/>
              </a:tabLst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Using</a:t>
            </a:r>
            <a:r>
              <a:rPr sz="3950" spc="-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Map</a:t>
            </a:r>
            <a:r>
              <a:rPr sz="3950" spc="-2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Constructor</a:t>
            </a:r>
            <a:endParaRPr sz="3950">
              <a:latin typeface="Georgia"/>
              <a:cs typeface="Georgia"/>
            </a:endParaRPr>
          </a:p>
          <a:p>
            <a:pPr marL="1143000" lvl="2" indent="-439420">
              <a:lnSpc>
                <a:spcPct val="100000"/>
              </a:lnSpc>
              <a:spcBef>
                <a:spcPts val="2365"/>
              </a:spcBef>
              <a:buClr>
                <a:srgbClr val="245796"/>
              </a:buClr>
              <a:buChar char="•"/>
              <a:tabLst>
                <a:tab pos="1143000" algn="l"/>
              </a:tabLst>
            </a:pPr>
            <a:r>
              <a:rPr sz="3950" dirty="0">
                <a:latin typeface="Georgia"/>
                <a:cs typeface="Georgia"/>
              </a:rPr>
              <a:t>To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declare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 Dart Map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using</a:t>
            </a:r>
            <a:r>
              <a:rPr sz="3950" spc="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map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constructor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can be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done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in two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spc="-20" dirty="0">
                <a:latin typeface="Georgia"/>
                <a:cs typeface="Georgia"/>
              </a:rPr>
              <a:t>ways.</a:t>
            </a:r>
            <a:endParaRPr sz="3950">
              <a:latin typeface="Georgia"/>
              <a:cs typeface="Georgia"/>
            </a:endParaRPr>
          </a:p>
          <a:p>
            <a:pPr marL="1143000" lvl="2" indent="-439420">
              <a:lnSpc>
                <a:spcPct val="100000"/>
              </a:lnSpc>
              <a:spcBef>
                <a:spcPts val="2420"/>
              </a:spcBef>
              <a:buClr>
                <a:srgbClr val="245796"/>
              </a:buClr>
              <a:buChar char="•"/>
              <a:tabLst>
                <a:tab pos="1143000" algn="l"/>
              </a:tabLst>
            </a:pPr>
            <a:r>
              <a:rPr sz="3950" dirty="0">
                <a:latin typeface="Georgia"/>
                <a:cs typeface="Georgia"/>
              </a:rPr>
              <a:t>First,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declare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a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map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using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map()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constructor.</a:t>
            </a:r>
            <a:r>
              <a:rPr sz="3950" spc="-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Second,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initialize</a:t>
            </a:r>
            <a:r>
              <a:rPr sz="3950" spc="-15" dirty="0">
                <a:latin typeface="Georgia"/>
                <a:cs typeface="Georgia"/>
              </a:rPr>
              <a:t> </a:t>
            </a:r>
            <a:r>
              <a:rPr sz="3950" dirty="0">
                <a:latin typeface="Georgia"/>
                <a:cs typeface="Georgia"/>
              </a:rPr>
              <a:t>the</a:t>
            </a:r>
            <a:r>
              <a:rPr sz="3950" spc="-10" dirty="0">
                <a:latin typeface="Georgia"/>
                <a:cs typeface="Georgia"/>
              </a:rPr>
              <a:t> </a:t>
            </a:r>
            <a:r>
              <a:rPr sz="3950" spc="-20" dirty="0">
                <a:latin typeface="Georgia"/>
                <a:cs typeface="Georgia"/>
              </a:rPr>
              <a:t>map.</a:t>
            </a:r>
            <a:endParaRPr sz="39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3" y="2631181"/>
            <a:ext cx="8655685" cy="79648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83234" indent="-470534" algn="just">
              <a:lnSpc>
                <a:spcPct val="100000"/>
              </a:lnSpc>
              <a:spcBef>
                <a:spcPts val="525"/>
              </a:spcBef>
              <a:buClr>
                <a:srgbClr val="245796"/>
              </a:buClr>
              <a:buSzPct val="122388"/>
              <a:buChar char="●"/>
              <a:tabLst>
                <a:tab pos="483234" algn="l"/>
              </a:tabLst>
            </a:pPr>
            <a:r>
              <a:rPr sz="3350" dirty="0">
                <a:latin typeface="Georgia"/>
                <a:cs typeface="Georgia"/>
              </a:rPr>
              <a:t>Dart</a:t>
            </a:r>
            <a:r>
              <a:rPr sz="3350" spc="-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can</a:t>
            </a:r>
            <a:r>
              <a:rPr sz="3350" spc="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be</a:t>
            </a:r>
            <a:r>
              <a:rPr sz="3350" spc="1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defined</a:t>
            </a:r>
            <a:r>
              <a:rPr sz="3350" spc="-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in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two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spc="-10" dirty="0">
                <a:latin typeface="Georgia"/>
                <a:cs typeface="Georgia"/>
              </a:rPr>
              <a:t>methods.</a:t>
            </a:r>
            <a:endParaRPr sz="3350">
              <a:latin typeface="Georgia"/>
              <a:cs typeface="Georgia"/>
            </a:endParaRPr>
          </a:p>
          <a:p>
            <a:pPr marL="765810" lvl="1" indent="-449580" algn="just">
              <a:lnSpc>
                <a:spcPct val="100000"/>
              </a:lnSpc>
              <a:spcBef>
                <a:spcPts val="1265"/>
              </a:spcBef>
              <a:buClr>
                <a:srgbClr val="245796"/>
              </a:buClr>
              <a:buSzPct val="122388"/>
              <a:buFont typeface="Times New Roman"/>
              <a:buChar char="○"/>
              <a:tabLst>
                <a:tab pos="765810" algn="l"/>
              </a:tabLst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Using</a:t>
            </a:r>
            <a:r>
              <a:rPr sz="335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Map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 Literal</a:t>
            </a:r>
            <a:endParaRPr sz="3350">
              <a:latin typeface="Georgia"/>
              <a:cs typeface="Georgia"/>
            </a:endParaRPr>
          </a:p>
          <a:p>
            <a:pPr marL="1141095" marR="5715" lvl="2" indent="-438150" algn="just">
              <a:lnSpc>
                <a:spcPct val="131300"/>
              </a:lnSpc>
              <a:spcBef>
                <a:spcPts val="5"/>
              </a:spcBef>
              <a:buClr>
                <a:srgbClr val="245796"/>
              </a:buClr>
              <a:buSzPct val="117910"/>
              <a:buChar char="•"/>
              <a:tabLst>
                <a:tab pos="1143000" algn="l"/>
              </a:tabLst>
            </a:pPr>
            <a:r>
              <a:rPr sz="3350" dirty="0">
                <a:latin typeface="Georgia"/>
                <a:cs typeface="Georgia"/>
              </a:rPr>
              <a:t>To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declare</a:t>
            </a:r>
            <a:r>
              <a:rPr sz="3350" spc="14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a</a:t>
            </a:r>
            <a:r>
              <a:rPr sz="3350" spc="13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using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literal,</a:t>
            </a:r>
            <a:r>
              <a:rPr sz="3350" spc="130" dirty="0">
                <a:latin typeface="Georgia"/>
                <a:cs typeface="Georgia"/>
              </a:rPr>
              <a:t> </a:t>
            </a:r>
            <a:r>
              <a:rPr sz="3350" spc="-25" dirty="0">
                <a:latin typeface="Georgia"/>
                <a:cs typeface="Georgia"/>
              </a:rPr>
              <a:t>the 	</a:t>
            </a: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key-value</a:t>
            </a:r>
            <a:r>
              <a:rPr sz="3350" spc="2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pairs</a:t>
            </a:r>
            <a:r>
              <a:rPr sz="3350" spc="229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are</a:t>
            </a:r>
            <a:r>
              <a:rPr sz="3350" spc="229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enclosed</a:t>
            </a:r>
            <a:r>
              <a:rPr sz="3350" spc="22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within</a:t>
            </a:r>
            <a:r>
              <a:rPr sz="3350" spc="225" dirty="0">
                <a:latin typeface="Georgia"/>
                <a:cs typeface="Georgia"/>
              </a:rPr>
              <a:t> </a:t>
            </a:r>
            <a:r>
              <a:rPr sz="3350" spc="-25" dirty="0">
                <a:latin typeface="Georgia"/>
                <a:cs typeface="Georgia"/>
              </a:rPr>
              <a:t>the 	</a:t>
            </a:r>
            <a:r>
              <a:rPr sz="3350" dirty="0">
                <a:latin typeface="Georgia"/>
                <a:cs typeface="Georgia"/>
              </a:rPr>
              <a:t>curly</a:t>
            </a:r>
            <a:r>
              <a:rPr sz="3350" spc="47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braces</a:t>
            </a:r>
            <a:r>
              <a:rPr sz="3350" spc="49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"{}"</a:t>
            </a:r>
            <a:r>
              <a:rPr sz="3350" spc="484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and</a:t>
            </a:r>
            <a:r>
              <a:rPr sz="3350" spc="48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separated</a:t>
            </a:r>
            <a:r>
              <a:rPr sz="3350" spc="48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by</a:t>
            </a:r>
            <a:r>
              <a:rPr sz="3350" spc="484" dirty="0">
                <a:latin typeface="Georgia"/>
                <a:cs typeface="Georgia"/>
              </a:rPr>
              <a:t> </a:t>
            </a:r>
            <a:r>
              <a:rPr sz="3350" spc="-25" dirty="0">
                <a:latin typeface="Georgia"/>
                <a:cs typeface="Georgia"/>
              </a:rPr>
              <a:t>the 	</a:t>
            </a:r>
            <a:r>
              <a:rPr sz="3350" spc="-10" dirty="0">
                <a:latin typeface="Georgia"/>
                <a:cs typeface="Georgia"/>
              </a:rPr>
              <a:t>commas.</a:t>
            </a:r>
            <a:endParaRPr sz="3350">
              <a:latin typeface="Georgia"/>
              <a:cs typeface="Georgia"/>
            </a:endParaRPr>
          </a:p>
          <a:p>
            <a:pPr lvl="2">
              <a:lnSpc>
                <a:spcPct val="100000"/>
              </a:lnSpc>
              <a:spcBef>
                <a:spcPts val="2720"/>
              </a:spcBef>
              <a:buClr>
                <a:srgbClr val="245796"/>
              </a:buClr>
              <a:buFont typeface="Georgia"/>
              <a:buChar char="•"/>
            </a:pPr>
            <a:endParaRPr sz="335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buClr>
                <a:srgbClr val="245796"/>
              </a:buClr>
              <a:buSzPct val="122388"/>
              <a:buFont typeface="Times New Roman"/>
              <a:buChar char="○"/>
              <a:tabLst>
                <a:tab pos="765810" algn="l"/>
              </a:tabLst>
            </a:pPr>
            <a:r>
              <a:rPr sz="3350" dirty="0">
                <a:latin typeface="Georgia"/>
                <a:cs typeface="Georgia"/>
              </a:rPr>
              <a:t>Using</a:t>
            </a:r>
            <a:r>
              <a:rPr sz="3350" spc="-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-10" dirty="0">
                <a:latin typeface="Georgia"/>
                <a:cs typeface="Georgia"/>
              </a:rPr>
              <a:t> Constructor</a:t>
            </a:r>
            <a:endParaRPr sz="3350">
              <a:latin typeface="Georgia"/>
              <a:cs typeface="Georgia"/>
            </a:endParaRPr>
          </a:p>
          <a:p>
            <a:pPr marL="1143000" marR="5080" lvl="2" indent="-440055">
              <a:lnSpc>
                <a:spcPct val="130900"/>
              </a:lnSpc>
              <a:spcBef>
                <a:spcPts val="20"/>
              </a:spcBef>
              <a:buClr>
                <a:srgbClr val="245796"/>
              </a:buClr>
              <a:buSzPct val="117910"/>
              <a:buChar char="•"/>
              <a:tabLst>
                <a:tab pos="1143000" algn="l"/>
                <a:tab pos="1879600" algn="l"/>
                <a:tab pos="3489960" algn="l"/>
                <a:tab pos="4335145" algn="l"/>
                <a:tab pos="5434965" algn="l"/>
                <a:tab pos="6532245" algn="l"/>
                <a:tab pos="7802880" algn="l"/>
              </a:tabLst>
            </a:pPr>
            <a:r>
              <a:rPr sz="3350" spc="-25" dirty="0">
                <a:latin typeface="Georgia"/>
                <a:cs typeface="Georgia"/>
              </a:rPr>
              <a:t>To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declare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the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0" dirty="0">
                <a:latin typeface="Georgia"/>
                <a:cs typeface="Georgia"/>
              </a:rPr>
              <a:t>Dart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Map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using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map </a:t>
            </a:r>
            <a:r>
              <a:rPr sz="3350" dirty="0">
                <a:latin typeface="Georgia"/>
                <a:cs typeface="Georgia"/>
              </a:rPr>
              <a:t>constructor</a:t>
            </a:r>
            <a:r>
              <a:rPr sz="3350" spc="2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can</a:t>
            </a:r>
            <a:r>
              <a:rPr sz="3350" spc="2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be</a:t>
            </a:r>
            <a:r>
              <a:rPr sz="3350" spc="3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done</a:t>
            </a:r>
            <a:r>
              <a:rPr sz="3350" spc="3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in</a:t>
            </a:r>
            <a:r>
              <a:rPr sz="3350" spc="2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two</a:t>
            </a:r>
            <a:r>
              <a:rPr sz="3350" spc="25" dirty="0">
                <a:latin typeface="Georgia"/>
                <a:cs typeface="Georgia"/>
              </a:rPr>
              <a:t> </a:t>
            </a:r>
            <a:r>
              <a:rPr sz="3350" spc="-10" dirty="0">
                <a:latin typeface="Georgia"/>
                <a:cs typeface="Georgia"/>
              </a:rPr>
              <a:t>ways.</a:t>
            </a:r>
            <a:endParaRPr sz="3350">
              <a:latin typeface="Georgia"/>
              <a:cs typeface="Georgia"/>
            </a:endParaRPr>
          </a:p>
          <a:p>
            <a:pPr marL="1143000" marR="5080" lvl="2" indent="-440055">
              <a:lnSpc>
                <a:spcPct val="131400"/>
              </a:lnSpc>
              <a:buClr>
                <a:srgbClr val="245796"/>
              </a:buClr>
              <a:buSzPct val="117910"/>
              <a:buChar char="•"/>
              <a:tabLst>
                <a:tab pos="1143000" algn="l"/>
                <a:tab pos="2525395" algn="l"/>
                <a:tab pos="4271645" algn="l"/>
                <a:tab pos="4861560" algn="l"/>
                <a:tab pos="6075045" algn="l"/>
                <a:tab pos="7480934" algn="l"/>
              </a:tabLst>
            </a:pPr>
            <a:r>
              <a:rPr sz="3350" spc="-10" dirty="0">
                <a:latin typeface="Georgia"/>
                <a:cs typeface="Georgia"/>
              </a:rPr>
              <a:t>First,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declare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50" dirty="0">
                <a:latin typeface="Georgia"/>
                <a:cs typeface="Georgia"/>
              </a:rPr>
              <a:t>a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map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using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map() </a:t>
            </a:r>
            <a:r>
              <a:rPr sz="3350" dirty="0">
                <a:latin typeface="Georgia"/>
                <a:cs typeface="Georgia"/>
              </a:rPr>
              <a:t>constructor.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Second,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initialize</a:t>
            </a:r>
            <a:r>
              <a:rPr sz="3350" spc="1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the</a:t>
            </a:r>
            <a:r>
              <a:rPr sz="3350" spc="15" dirty="0">
                <a:latin typeface="Georgia"/>
                <a:cs typeface="Georgia"/>
              </a:rPr>
              <a:t> </a:t>
            </a:r>
            <a:r>
              <a:rPr sz="3350" spc="-20" dirty="0">
                <a:latin typeface="Georgia"/>
                <a:cs typeface="Georgia"/>
              </a:rPr>
              <a:t>map.</a:t>
            </a:r>
            <a:endParaRPr sz="33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4914" y="2525861"/>
            <a:ext cx="8223250" cy="1367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400"/>
              </a:lnSpc>
              <a:spcBef>
                <a:spcPts val="95"/>
              </a:spcBef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var</a:t>
            </a:r>
            <a:r>
              <a:rPr sz="3350" spc="3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map_name</a:t>
            </a:r>
            <a:r>
              <a:rPr sz="3350" spc="4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350" spc="3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{key1:value1,</a:t>
            </a:r>
            <a:r>
              <a:rPr sz="3350" spc="3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key2:value2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[.......,key_n:</a:t>
            </a:r>
            <a:r>
              <a:rPr sz="3350" spc="5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value_n]}</a:t>
            </a:r>
            <a:endParaRPr sz="33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74914" y="5880733"/>
            <a:ext cx="7646670" cy="270446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void</a:t>
            </a:r>
            <a:r>
              <a:rPr sz="335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main()</a:t>
            </a:r>
            <a:r>
              <a:rPr sz="3350" spc="2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50" dirty="0">
                <a:solidFill>
                  <a:srgbClr val="EE220D"/>
                </a:solidFill>
                <a:latin typeface="Georgia"/>
                <a:cs typeface="Georgia"/>
              </a:rPr>
              <a:t>{</a:t>
            </a:r>
            <a:endParaRPr sz="3350">
              <a:latin typeface="Georgia"/>
              <a:cs typeface="Georgia"/>
            </a:endParaRPr>
          </a:p>
          <a:p>
            <a:pPr marL="322580" marR="5080">
              <a:lnSpc>
                <a:spcPts val="5280"/>
              </a:lnSpc>
              <a:spcBef>
                <a:spcPts val="370"/>
              </a:spcBef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var</a:t>
            </a:r>
            <a:r>
              <a:rPr sz="335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student</a:t>
            </a:r>
            <a:r>
              <a:rPr sz="335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35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{'name':'Tom','age':'23'}; print(student);</a:t>
            </a:r>
            <a:endParaRPr sz="3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80"/>
              </a:spcBef>
            </a:pPr>
            <a:r>
              <a:rPr sz="3350" spc="-50" dirty="0">
                <a:solidFill>
                  <a:srgbClr val="EE220D"/>
                </a:solidFill>
                <a:latin typeface="Georgia"/>
                <a:cs typeface="Georgia"/>
              </a:rPr>
              <a:t>}</a:t>
            </a:r>
            <a:endParaRPr sz="3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3" y="2631181"/>
            <a:ext cx="8655685" cy="79648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483234" indent="-470534" algn="just">
              <a:lnSpc>
                <a:spcPct val="100000"/>
              </a:lnSpc>
              <a:spcBef>
                <a:spcPts val="525"/>
              </a:spcBef>
              <a:buClr>
                <a:srgbClr val="245796"/>
              </a:buClr>
              <a:buSzPct val="122388"/>
              <a:buChar char="●"/>
              <a:tabLst>
                <a:tab pos="483234" algn="l"/>
              </a:tabLst>
            </a:pPr>
            <a:r>
              <a:rPr sz="3350" dirty="0">
                <a:latin typeface="Georgia"/>
                <a:cs typeface="Georgia"/>
              </a:rPr>
              <a:t>Dart</a:t>
            </a:r>
            <a:r>
              <a:rPr sz="3350" spc="-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can</a:t>
            </a:r>
            <a:r>
              <a:rPr sz="3350" spc="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be</a:t>
            </a:r>
            <a:r>
              <a:rPr sz="3350" spc="1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defined</a:t>
            </a:r>
            <a:r>
              <a:rPr sz="3350" spc="-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in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two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spc="-10" dirty="0">
                <a:latin typeface="Georgia"/>
                <a:cs typeface="Georgia"/>
              </a:rPr>
              <a:t>methods.</a:t>
            </a:r>
            <a:endParaRPr sz="3350">
              <a:latin typeface="Georgia"/>
              <a:cs typeface="Georgia"/>
            </a:endParaRPr>
          </a:p>
          <a:p>
            <a:pPr marL="765810" lvl="1" indent="-449580" algn="just">
              <a:lnSpc>
                <a:spcPct val="100000"/>
              </a:lnSpc>
              <a:spcBef>
                <a:spcPts val="1265"/>
              </a:spcBef>
              <a:buClr>
                <a:srgbClr val="245796"/>
              </a:buClr>
              <a:buSzPct val="122388"/>
              <a:buFont typeface="Times New Roman"/>
              <a:buChar char="○"/>
              <a:tabLst>
                <a:tab pos="765810" algn="l"/>
              </a:tabLst>
            </a:pPr>
            <a:r>
              <a:rPr sz="3350" dirty="0">
                <a:latin typeface="Georgia"/>
                <a:cs typeface="Georgia"/>
              </a:rPr>
              <a:t>Using</a:t>
            </a:r>
            <a:r>
              <a:rPr sz="3350" spc="-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-10" dirty="0">
                <a:latin typeface="Georgia"/>
                <a:cs typeface="Georgia"/>
              </a:rPr>
              <a:t> Literal</a:t>
            </a:r>
            <a:endParaRPr sz="3350">
              <a:latin typeface="Georgia"/>
              <a:cs typeface="Georgia"/>
            </a:endParaRPr>
          </a:p>
          <a:p>
            <a:pPr marL="1141095" marR="5715" lvl="2" indent="-438150" algn="just">
              <a:lnSpc>
                <a:spcPct val="131300"/>
              </a:lnSpc>
              <a:spcBef>
                <a:spcPts val="5"/>
              </a:spcBef>
              <a:buClr>
                <a:srgbClr val="245796"/>
              </a:buClr>
              <a:buSzPct val="117910"/>
              <a:buChar char="•"/>
              <a:tabLst>
                <a:tab pos="1143000" algn="l"/>
              </a:tabLst>
            </a:pPr>
            <a:r>
              <a:rPr sz="3350" dirty="0">
                <a:latin typeface="Georgia"/>
                <a:cs typeface="Georgia"/>
              </a:rPr>
              <a:t>To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declare</a:t>
            </a:r>
            <a:r>
              <a:rPr sz="3350" spc="14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a</a:t>
            </a:r>
            <a:r>
              <a:rPr sz="3350" spc="13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using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map</a:t>
            </a:r>
            <a:r>
              <a:rPr sz="3350" spc="13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literal,</a:t>
            </a:r>
            <a:r>
              <a:rPr sz="3350" spc="130" dirty="0">
                <a:latin typeface="Georgia"/>
                <a:cs typeface="Georgia"/>
              </a:rPr>
              <a:t> </a:t>
            </a:r>
            <a:r>
              <a:rPr sz="3350" spc="-25" dirty="0">
                <a:latin typeface="Georgia"/>
                <a:cs typeface="Georgia"/>
              </a:rPr>
              <a:t>the 	</a:t>
            </a:r>
            <a:r>
              <a:rPr sz="3350" dirty="0">
                <a:latin typeface="Georgia"/>
                <a:cs typeface="Georgia"/>
              </a:rPr>
              <a:t>key-value</a:t>
            </a:r>
            <a:r>
              <a:rPr sz="3350" spc="22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pairs</a:t>
            </a:r>
            <a:r>
              <a:rPr sz="3350" spc="229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are</a:t>
            </a:r>
            <a:r>
              <a:rPr sz="3350" spc="229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enclosed</a:t>
            </a:r>
            <a:r>
              <a:rPr sz="3350" spc="22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within</a:t>
            </a:r>
            <a:r>
              <a:rPr sz="3350" spc="225" dirty="0">
                <a:latin typeface="Georgia"/>
                <a:cs typeface="Georgia"/>
              </a:rPr>
              <a:t> </a:t>
            </a:r>
            <a:r>
              <a:rPr sz="3350" spc="-25" dirty="0">
                <a:latin typeface="Georgia"/>
                <a:cs typeface="Georgia"/>
              </a:rPr>
              <a:t>the 	</a:t>
            </a:r>
            <a:r>
              <a:rPr sz="3350" dirty="0">
                <a:latin typeface="Georgia"/>
                <a:cs typeface="Georgia"/>
              </a:rPr>
              <a:t>curly</a:t>
            </a:r>
            <a:r>
              <a:rPr sz="3350" spc="47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braces</a:t>
            </a:r>
            <a:r>
              <a:rPr sz="3350" spc="49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"{}"</a:t>
            </a:r>
            <a:r>
              <a:rPr sz="3350" spc="484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and</a:t>
            </a:r>
            <a:r>
              <a:rPr sz="3350" spc="48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separated</a:t>
            </a:r>
            <a:r>
              <a:rPr sz="3350" spc="48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by</a:t>
            </a:r>
            <a:r>
              <a:rPr sz="3350" spc="484" dirty="0">
                <a:latin typeface="Georgia"/>
                <a:cs typeface="Georgia"/>
              </a:rPr>
              <a:t> </a:t>
            </a:r>
            <a:r>
              <a:rPr sz="3350" spc="-25" dirty="0">
                <a:latin typeface="Georgia"/>
                <a:cs typeface="Georgia"/>
              </a:rPr>
              <a:t>the 	</a:t>
            </a:r>
            <a:r>
              <a:rPr sz="3350" spc="-10" dirty="0">
                <a:latin typeface="Georgia"/>
                <a:cs typeface="Georgia"/>
              </a:rPr>
              <a:t>commas.</a:t>
            </a:r>
            <a:endParaRPr sz="3350">
              <a:latin typeface="Georgia"/>
              <a:cs typeface="Georgia"/>
            </a:endParaRPr>
          </a:p>
          <a:p>
            <a:pPr lvl="2">
              <a:lnSpc>
                <a:spcPct val="100000"/>
              </a:lnSpc>
              <a:spcBef>
                <a:spcPts val="2720"/>
              </a:spcBef>
              <a:buClr>
                <a:srgbClr val="245796"/>
              </a:buClr>
              <a:buFont typeface="Georgia"/>
              <a:buChar char="•"/>
            </a:pPr>
            <a:endParaRPr sz="335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buClr>
                <a:srgbClr val="245796"/>
              </a:buClr>
              <a:buSzPct val="122388"/>
              <a:buFont typeface="Times New Roman"/>
              <a:buChar char="○"/>
              <a:tabLst>
                <a:tab pos="765810" algn="l"/>
              </a:tabLst>
            </a:pP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Using</a:t>
            </a:r>
            <a:r>
              <a:rPr sz="3350" spc="-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Map</a:t>
            </a:r>
            <a:r>
              <a:rPr sz="3350" spc="-10" dirty="0">
                <a:solidFill>
                  <a:srgbClr val="FF0000"/>
                </a:solidFill>
                <a:latin typeface="Georgia"/>
                <a:cs typeface="Georgia"/>
              </a:rPr>
              <a:t> Constructor</a:t>
            </a:r>
            <a:endParaRPr sz="3350">
              <a:latin typeface="Georgia"/>
              <a:cs typeface="Georgia"/>
            </a:endParaRPr>
          </a:p>
          <a:p>
            <a:pPr marL="1143000" marR="5080" lvl="2" indent="-440055">
              <a:lnSpc>
                <a:spcPct val="130900"/>
              </a:lnSpc>
              <a:spcBef>
                <a:spcPts val="20"/>
              </a:spcBef>
              <a:buClr>
                <a:srgbClr val="245796"/>
              </a:buClr>
              <a:buSzPct val="117910"/>
              <a:buChar char="•"/>
              <a:tabLst>
                <a:tab pos="1143000" algn="l"/>
                <a:tab pos="1879600" algn="l"/>
                <a:tab pos="3489960" algn="l"/>
                <a:tab pos="4335145" algn="l"/>
                <a:tab pos="5434965" algn="l"/>
                <a:tab pos="6532245" algn="l"/>
                <a:tab pos="7802880" algn="l"/>
              </a:tabLst>
            </a:pPr>
            <a:r>
              <a:rPr sz="3350" spc="-25" dirty="0">
                <a:latin typeface="Georgia"/>
                <a:cs typeface="Georgia"/>
              </a:rPr>
              <a:t>To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declare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the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0" dirty="0">
                <a:latin typeface="Georgia"/>
                <a:cs typeface="Georgia"/>
              </a:rPr>
              <a:t>Dart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Map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using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map </a:t>
            </a:r>
            <a:r>
              <a:rPr sz="3350" dirty="0">
                <a:latin typeface="Georgia"/>
                <a:cs typeface="Georgia"/>
              </a:rPr>
              <a:t>constructor</a:t>
            </a:r>
            <a:r>
              <a:rPr sz="3350" spc="2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can</a:t>
            </a:r>
            <a:r>
              <a:rPr sz="3350" spc="2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be</a:t>
            </a:r>
            <a:r>
              <a:rPr sz="3350" spc="3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done</a:t>
            </a:r>
            <a:r>
              <a:rPr sz="3350" spc="3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in</a:t>
            </a:r>
            <a:r>
              <a:rPr sz="3350" spc="20" dirty="0"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FF0000"/>
                </a:solidFill>
                <a:latin typeface="Georgia"/>
                <a:cs typeface="Georgia"/>
              </a:rPr>
              <a:t>two</a:t>
            </a:r>
            <a:r>
              <a:rPr sz="3350" spc="25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FF0000"/>
                </a:solidFill>
                <a:latin typeface="Georgia"/>
                <a:cs typeface="Georgia"/>
              </a:rPr>
              <a:t>ways</a:t>
            </a:r>
            <a:r>
              <a:rPr sz="3350" spc="-10" dirty="0">
                <a:latin typeface="Georgia"/>
                <a:cs typeface="Georgia"/>
              </a:rPr>
              <a:t>.</a:t>
            </a:r>
            <a:endParaRPr sz="3350">
              <a:latin typeface="Georgia"/>
              <a:cs typeface="Georgia"/>
            </a:endParaRPr>
          </a:p>
          <a:p>
            <a:pPr marL="1143000" marR="5080" lvl="2" indent="-440055">
              <a:lnSpc>
                <a:spcPct val="131400"/>
              </a:lnSpc>
              <a:buClr>
                <a:srgbClr val="245796"/>
              </a:buClr>
              <a:buSzPct val="117910"/>
              <a:buChar char="•"/>
              <a:tabLst>
                <a:tab pos="1143000" algn="l"/>
                <a:tab pos="2525395" algn="l"/>
                <a:tab pos="4271645" algn="l"/>
                <a:tab pos="4861560" algn="l"/>
                <a:tab pos="6075045" algn="l"/>
                <a:tab pos="7480934" algn="l"/>
              </a:tabLst>
            </a:pPr>
            <a:r>
              <a:rPr sz="3350" spc="-10" dirty="0">
                <a:latin typeface="Georgia"/>
                <a:cs typeface="Georgia"/>
              </a:rPr>
              <a:t>First,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declare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50" dirty="0">
                <a:latin typeface="Georgia"/>
                <a:cs typeface="Georgia"/>
              </a:rPr>
              <a:t>a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25" dirty="0">
                <a:latin typeface="Georgia"/>
                <a:cs typeface="Georgia"/>
              </a:rPr>
              <a:t>map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using</a:t>
            </a:r>
            <a:r>
              <a:rPr sz="3350" dirty="0">
                <a:latin typeface="Georgia"/>
                <a:cs typeface="Georgia"/>
              </a:rPr>
              <a:t>	</a:t>
            </a:r>
            <a:r>
              <a:rPr sz="3350" spc="-10" dirty="0">
                <a:latin typeface="Georgia"/>
                <a:cs typeface="Georgia"/>
              </a:rPr>
              <a:t>map() </a:t>
            </a:r>
            <a:r>
              <a:rPr sz="3350" dirty="0">
                <a:latin typeface="Georgia"/>
                <a:cs typeface="Georgia"/>
              </a:rPr>
              <a:t>constructor.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Second,</a:t>
            </a:r>
            <a:r>
              <a:rPr sz="3350" spc="10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initialize</a:t>
            </a:r>
            <a:r>
              <a:rPr sz="3350" spc="15" dirty="0">
                <a:latin typeface="Georgia"/>
                <a:cs typeface="Georgia"/>
              </a:rPr>
              <a:t> </a:t>
            </a:r>
            <a:r>
              <a:rPr sz="3350" dirty="0">
                <a:latin typeface="Georgia"/>
                <a:cs typeface="Georgia"/>
              </a:rPr>
              <a:t>the</a:t>
            </a:r>
            <a:r>
              <a:rPr sz="3350" spc="15" dirty="0">
                <a:latin typeface="Georgia"/>
                <a:cs typeface="Georgia"/>
              </a:rPr>
              <a:t> </a:t>
            </a:r>
            <a:r>
              <a:rPr sz="3350" spc="-20" dirty="0">
                <a:latin typeface="Georgia"/>
                <a:cs typeface="Georgia"/>
              </a:rPr>
              <a:t>map.</a:t>
            </a:r>
            <a:endParaRPr sz="335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977321" y="2484396"/>
            <a:ext cx="8514715" cy="70497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var</a:t>
            </a:r>
            <a:r>
              <a:rPr sz="360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map_name</a:t>
            </a:r>
            <a:r>
              <a:rPr sz="360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new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map()</a:t>
            </a:r>
            <a:endParaRPr sz="3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970"/>
              </a:spcBef>
            </a:pPr>
            <a:endParaRPr sz="36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void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main()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50" dirty="0">
                <a:solidFill>
                  <a:srgbClr val="EE220D"/>
                </a:solidFill>
                <a:latin typeface="Georgia"/>
                <a:cs typeface="Georgia"/>
              </a:rPr>
              <a:t>{</a:t>
            </a:r>
            <a:endParaRPr sz="3600">
              <a:latin typeface="Georgia"/>
              <a:cs typeface="Georgia"/>
            </a:endParaRPr>
          </a:p>
          <a:p>
            <a:pPr marL="346075">
              <a:lnSpc>
                <a:spcPct val="100000"/>
              </a:lnSpc>
              <a:spcBef>
                <a:spcPts val="1280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var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student</a:t>
            </a:r>
            <a:r>
              <a:rPr sz="360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new</a:t>
            </a:r>
            <a:r>
              <a:rPr sz="360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Map();</a:t>
            </a:r>
            <a:endParaRPr sz="3600">
              <a:latin typeface="Georgia"/>
              <a:cs typeface="Georgia"/>
            </a:endParaRPr>
          </a:p>
          <a:p>
            <a:pPr marL="346075" marR="2595245">
              <a:lnSpc>
                <a:spcPct val="130800"/>
              </a:lnSpc>
              <a:spcBef>
                <a:spcPts val="45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student['name']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'Tom';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student['age']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25" dirty="0">
                <a:solidFill>
                  <a:srgbClr val="EE220D"/>
                </a:solidFill>
                <a:latin typeface="Georgia"/>
                <a:cs typeface="Georgia"/>
              </a:rPr>
              <a:t>23;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student['course']</a:t>
            </a:r>
            <a:r>
              <a:rPr sz="360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'B.tech';</a:t>
            </a:r>
            <a:endParaRPr sz="3600">
              <a:latin typeface="Georgia"/>
              <a:cs typeface="Georgia"/>
            </a:endParaRPr>
          </a:p>
          <a:p>
            <a:pPr marL="370205">
              <a:lnSpc>
                <a:spcPct val="100000"/>
              </a:lnSpc>
              <a:spcBef>
                <a:spcPts val="1360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student['Branch']</a:t>
            </a:r>
            <a:r>
              <a:rPr sz="3600" spc="7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7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'Computer</a:t>
            </a:r>
            <a:r>
              <a:rPr sz="3600" spc="7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Science';</a:t>
            </a:r>
            <a:endParaRPr sz="3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890"/>
              </a:spcBef>
            </a:pPr>
            <a:endParaRPr sz="3600">
              <a:latin typeface="Georgia"/>
              <a:cs typeface="Georgia"/>
            </a:endParaRPr>
          </a:p>
          <a:p>
            <a:pPr marL="346075">
              <a:lnSpc>
                <a:spcPct val="100000"/>
              </a:lnSpc>
            </a:pP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print(student);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7321" y="9676638"/>
            <a:ext cx="224154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50" dirty="0">
                <a:solidFill>
                  <a:srgbClr val="EE220D"/>
                </a:solidFill>
                <a:latin typeface="Georgia"/>
                <a:cs typeface="Georgia"/>
              </a:rPr>
              <a:t>}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2617"/>
            <a:ext cx="20104100" cy="2666365"/>
            <a:chOff x="0" y="22617"/>
            <a:chExt cx="20104100" cy="2666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617"/>
              <a:ext cx="20101586" cy="26663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8648" y="143241"/>
              <a:ext cx="9856035" cy="24828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338053"/>
              <a:ext cx="20104098" cy="203489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5131" rIns="0" bIns="0" rtlCol="0">
            <a:spAutoFit/>
          </a:bodyPr>
          <a:lstStyle/>
          <a:p>
            <a:pPr marL="148844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2" y="2557273"/>
            <a:ext cx="12236450" cy="5039360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483234" indent="-470534">
              <a:lnSpc>
                <a:spcPct val="100000"/>
              </a:lnSpc>
              <a:spcBef>
                <a:spcPts val="1839"/>
              </a:spcBef>
              <a:buClr>
                <a:srgbClr val="245796"/>
              </a:buClr>
              <a:buFont typeface="Georgia"/>
              <a:buChar char="●"/>
              <a:tabLst>
                <a:tab pos="483234" algn="l"/>
              </a:tabLst>
            </a:pPr>
            <a:r>
              <a:rPr sz="4100" b="1" spc="-10" dirty="0">
                <a:latin typeface="Georgia"/>
                <a:cs typeface="Georgia"/>
              </a:rPr>
              <a:t>Properties</a:t>
            </a:r>
            <a:endParaRPr sz="41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250"/>
              </a:spcBef>
              <a:buClr>
                <a:srgbClr val="245796"/>
              </a:buClr>
              <a:buSzPct val="113888"/>
              <a:buFont typeface="Times New Roman"/>
              <a:buChar char="○"/>
              <a:tabLst>
                <a:tab pos="765810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keys</a:t>
            </a:r>
            <a:r>
              <a:rPr sz="3600" b="1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Returns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iterable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object</a:t>
            </a:r>
            <a:r>
              <a:rPr sz="3600" spc="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representing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keys</a:t>
            </a:r>
            <a:endParaRPr sz="36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290"/>
              </a:spcBef>
              <a:buClr>
                <a:srgbClr val="245796"/>
              </a:buClr>
              <a:buSzPct val="113888"/>
              <a:buFont typeface="Times New Roman"/>
              <a:buChar char="○"/>
              <a:tabLst>
                <a:tab pos="765810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values</a:t>
            </a:r>
            <a:r>
              <a:rPr sz="3600" b="1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Returns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iterable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object</a:t>
            </a:r>
            <a:r>
              <a:rPr sz="3600" spc="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representing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values</a:t>
            </a:r>
            <a:endParaRPr sz="36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SzPct val="113888"/>
              <a:buFont typeface="Times New Roman"/>
              <a:buChar char="○"/>
              <a:tabLst>
                <a:tab pos="765810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length</a:t>
            </a:r>
            <a:r>
              <a:rPr sz="3600" b="1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Returns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size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of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Map</a:t>
            </a:r>
            <a:endParaRPr sz="36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SzPct val="113888"/>
              <a:buFont typeface="Times New Roman"/>
              <a:buChar char="○"/>
              <a:tabLst>
                <a:tab pos="765810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isEmpty</a:t>
            </a:r>
            <a:r>
              <a:rPr sz="3600" b="1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 </a:t>
            </a:r>
            <a:r>
              <a:rPr sz="3600" dirty="0">
                <a:latin typeface="Georgia"/>
                <a:cs typeface="Georgia"/>
              </a:rPr>
              <a:t>Returns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true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if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empty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Map</a:t>
            </a:r>
            <a:endParaRPr sz="3600">
              <a:latin typeface="Georgia"/>
              <a:cs typeface="Georgia"/>
            </a:endParaRPr>
          </a:p>
          <a:p>
            <a:pPr marL="765810" lvl="1" indent="-449580">
              <a:lnSpc>
                <a:spcPct val="100000"/>
              </a:lnSpc>
              <a:spcBef>
                <a:spcPts val="2190"/>
              </a:spcBef>
              <a:buClr>
                <a:srgbClr val="245796"/>
              </a:buClr>
              <a:buSzPct val="113888"/>
              <a:buFont typeface="Times New Roman"/>
              <a:buChar char="○"/>
              <a:tabLst>
                <a:tab pos="765810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isNotEmpty</a:t>
            </a:r>
            <a:r>
              <a:rPr sz="3600" b="1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-4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Returns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true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if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Map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is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an</a:t>
            </a:r>
            <a:r>
              <a:rPr sz="3600" spc="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empty</a:t>
            </a:r>
            <a:r>
              <a:rPr sz="3600" spc="1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Map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3" y="2532423"/>
            <a:ext cx="8457565" cy="852678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483234" indent="-470534" algn="just">
              <a:lnSpc>
                <a:spcPct val="100000"/>
              </a:lnSpc>
              <a:spcBef>
                <a:spcPts val="1505"/>
              </a:spcBef>
              <a:buSzPct val="107894"/>
              <a:buFont typeface="Georgia"/>
              <a:buChar char="●"/>
              <a:tabLst>
                <a:tab pos="483234" algn="l"/>
              </a:tabLst>
            </a:pPr>
            <a:r>
              <a:rPr sz="3800" b="1" spc="-10" dirty="0">
                <a:solidFill>
                  <a:srgbClr val="245796"/>
                </a:solidFill>
                <a:latin typeface="Georgia"/>
                <a:cs typeface="Georgia"/>
              </a:rPr>
              <a:t>Methods</a:t>
            </a:r>
            <a:endParaRPr sz="38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ct val="141100"/>
              </a:lnSpc>
              <a:spcBef>
                <a:spcPts val="60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solidFill>
                  <a:srgbClr val="FF0000"/>
                </a:solidFill>
                <a:latin typeface="Georgia"/>
                <a:cs typeface="Georgia"/>
              </a:rPr>
              <a:t>addAll()</a:t>
            </a:r>
            <a:r>
              <a:rPr sz="3600" b="1" spc="254" dirty="0">
                <a:solidFill>
                  <a:srgbClr val="FF0000"/>
                </a:solidFill>
                <a:latin typeface="Georgia"/>
                <a:cs typeface="Georgia"/>
              </a:rPr>
              <a:t>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1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adds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multiple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pairs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of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other.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3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syntax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spc="-25" dirty="0">
                <a:latin typeface="Georgia"/>
                <a:cs typeface="Georgia"/>
              </a:rPr>
              <a:t>is 	</a:t>
            </a: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below.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110"/>
              </a:lnSpc>
              <a:spcBef>
                <a:spcPts val="40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clear()</a:t>
            </a:r>
            <a:r>
              <a:rPr sz="3600" b="1" spc="645" dirty="0">
                <a:latin typeface="Georgia"/>
                <a:cs typeface="Georgia"/>
              </a:rPr>
              <a:t> 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6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eliminates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all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10" dirty="0">
                <a:latin typeface="Georgia"/>
                <a:cs typeface="Georgia"/>
              </a:rPr>
              <a:t>pairs 	</a:t>
            </a:r>
            <a:r>
              <a:rPr sz="3600" dirty="0">
                <a:latin typeface="Georgia"/>
                <a:cs typeface="Georgia"/>
              </a:rPr>
              <a:t>from the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090"/>
              </a:lnSpc>
              <a:spcBef>
                <a:spcPts val="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remove()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409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removes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40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and 	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associated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3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if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3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exists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the</a:t>
            </a:r>
            <a:endParaRPr sz="3600">
              <a:latin typeface="Georgia"/>
              <a:cs typeface="Georgia"/>
            </a:endParaRPr>
          </a:p>
          <a:p>
            <a:pPr marL="934085" algn="just">
              <a:lnSpc>
                <a:spcPct val="100000"/>
              </a:lnSpc>
              <a:spcBef>
                <a:spcPts val="1305"/>
              </a:spcBef>
            </a:pP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715" lvl="1" indent="-459740" algn="just">
              <a:lnSpc>
                <a:spcPct val="141100"/>
              </a:lnSpc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forEach()</a:t>
            </a:r>
            <a:r>
              <a:rPr sz="3600" b="1" spc="605" dirty="0"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6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Applies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f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to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 pair of 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02070" y="3023438"/>
            <a:ext cx="7818120" cy="7238365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0"/>
              </a:spcBef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void</a:t>
            </a:r>
            <a:r>
              <a:rPr sz="335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main()</a:t>
            </a:r>
            <a:r>
              <a:rPr sz="3350" spc="2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50" dirty="0">
                <a:solidFill>
                  <a:srgbClr val="EE220D"/>
                </a:solidFill>
                <a:latin typeface="Georgia"/>
                <a:cs typeface="Georgia"/>
              </a:rPr>
              <a:t>{</a:t>
            </a:r>
            <a:endParaRPr sz="3350">
              <a:latin typeface="Georgia"/>
              <a:cs typeface="Georgia"/>
            </a:endParaRPr>
          </a:p>
          <a:p>
            <a:pPr marL="322580">
              <a:lnSpc>
                <a:spcPct val="100000"/>
              </a:lnSpc>
              <a:spcBef>
                <a:spcPts val="1660"/>
              </a:spcBef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Map</a:t>
            </a:r>
            <a:r>
              <a:rPr sz="335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student</a:t>
            </a:r>
            <a:r>
              <a:rPr sz="335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35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{'name':'Tom','age':</a:t>
            </a:r>
            <a:r>
              <a:rPr sz="3350" spc="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20" dirty="0">
                <a:solidFill>
                  <a:srgbClr val="EE220D"/>
                </a:solidFill>
                <a:latin typeface="Georgia"/>
                <a:cs typeface="Georgia"/>
              </a:rPr>
              <a:t>23};</a:t>
            </a:r>
            <a:endParaRPr sz="3350">
              <a:latin typeface="Georgia"/>
              <a:cs typeface="Georgia"/>
            </a:endParaRPr>
          </a:p>
          <a:p>
            <a:pPr marL="322580" marR="170815">
              <a:lnSpc>
                <a:spcPts val="11380"/>
              </a:lnSpc>
              <a:spcBef>
                <a:spcPts val="1525"/>
              </a:spcBef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print('Map</a:t>
            </a:r>
            <a:r>
              <a:rPr sz="3350" spc="-2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:${student}'); student.addAll({'dept':'Civil','email':'to</a:t>
            </a:r>
            <a:endParaRPr sz="3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  <a:hlinkClick r:id="rId6"/>
              </a:rPr>
              <a:t>m@xyz.com'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});</a:t>
            </a:r>
            <a:endParaRPr sz="3350">
              <a:latin typeface="Georgia"/>
              <a:cs typeface="Georgia"/>
            </a:endParaRPr>
          </a:p>
          <a:p>
            <a:pPr marL="12700" marR="2009775" indent="309880">
              <a:lnSpc>
                <a:spcPct val="141300"/>
              </a:lnSpc>
              <a:spcBef>
                <a:spcPts val="20"/>
              </a:spcBef>
              <a:tabLst>
                <a:tab pos="4989830" algn="l"/>
              </a:tabLst>
            </a:pP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print('Map</a:t>
            </a:r>
            <a:r>
              <a:rPr sz="335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after</a:t>
            </a:r>
            <a:r>
              <a:rPr sz="335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adding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	</a:t>
            </a:r>
            <a:r>
              <a:rPr sz="3350" spc="-20" dirty="0">
                <a:solidFill>
                  <a:srgbClr val="EE220D"/>
                </a:solidFill>
                <a:latin typeface="Georgia"/>
                <a:cs typeface="Georgia"/>
              </a:rPr>
              <a:t>key- </a:t>
            </a:r>
            <a:r>
              <a:rPr sz="3350" dirty="0">
                <a:solidFill>
                  <a:srgbClr val="EE220D"/>
                </a:solidFill>
                <a:latin typeface="Georgia"/>
                <a:cs typeface="Georgia"/>
              </a:rPr>
              <a:t>values</a:t>
            </a:r>
            <a:r>
              <a:rPr sz="335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350" spc="-10" dirty="0">
                <a:solidFill>
                  <a:srgbClr val="EE220D"/>
                </a:solidFill>
                <a:latin typeface="Georgia"/>
                <a:cs typeface="Georgia"/>
              </a:rPr>
              <a:t>:${student}');</a:t>
            </a:r>
            <a:endParaRPr sz="33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3350" spc="-50" dirty="0">
                <a:solidFill>
                  <a:srgbClr val="EE220D"/>
                </a:solidFill>
                <a:latin typeface="Georgia"/>
                <a:cs typeface="Georgia"/>
              </a:rPr>
              <a:t>}</a:t>
            </a:r>
            <a:endParaRPr sz="33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3" y="2532423"/>
            <a:ext cx="8457565" cy="852678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483234" indent="-470534" algn="just">
              <a:lnSpc>
                <a:spcPct val="100000"/>
              </a:lnSpc>
              <a:spcBef>
                <a:spcPts val="1505"/>
              </a:spcBef>
              <a:buSzPct val="107894"/>
              <a:buFont typeface="Georgia"/>
              <a:buChar char="●"/>
              <a:tabLst>
                <a:tab pos="483234" algn="l"/>
              </a:tabLst>
            </a:pPr>
            <a:r>
              <a:rPr sz="3800" b="1" spc="-10" dirty="0">
                <a:solidFill>
                  <a:srgbClr val="245796"/>
                </a:solidFill>
                <a:latin typeface="Georgia"/>
                <a:cs typeface="Georgia"/>
              </a:rPr>
              <a:t>Methods</a:t>
            </a:r>
            <a:endParaRPr sz="38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ct val="141100"/>
              </a:lnSpc>
              <a:spcBef>
                <a:spcPts val="60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addAll()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1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adds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multiple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pairs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of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other.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3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syntax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spc="-25" dirty="0">
                <a:latin typeface="Georgia"/>
                <a:cs typeface="Georgia"/>
              </a:rPr>
              <a:t>is 	</a:t>
            </a: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below.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110"/>
              </a:lnSpc>
              <a:spcBef>
                <a:spcPts val="40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clear()</a:t>
            </a:r>
            <a:r>
              <a:rPr sz="3600" b="1" spc="645" dirty="0">
                <a:solidFill>
                  <a:srgbClr val="EE220D"/>
                </a:solidFill>
                <a:latin typeface="Georgia"/>
                <a:cs typeface="Georgia"/>
              </a:rPr>
              <a:t> 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6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eliminates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all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10" dirty="0">
                <a:latin typeface="Georgia"/>
                <a:cs typeface="Georgia"/>
              </a:rPr>
              <a:t>pairs 	</a:t>
            </a:r>
            <a:r>
              <a:rPr sz="3600" dirty="0">
                <a:latin typeface="Georgia"/>
                <a:cs typeface="Georgia"/>
              </a:rPr>
              <a:t>from the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090"/>
              </a:lnSpc>
              <a:spcBef>
                <a:spcPts val="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remove()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409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removes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40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and 	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associated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3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if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3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exists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the</a:t>
            </a:r>
            <a:endParaRPr sz="3600">
              <a:latin typeface="Georgia"/>
              <a:cs typeface="Georgia"/>
            </a:endParaRPr>
          </a:p>
          <a:p>
            <a:pPr marL="934085" algn="just">
              <a:lnSpc>
                <a:spcPct val="100000"/>
              </a:lnSpc>
              <a:spcBef>
                <a:spcPts val="1305"/>
              </a:spcBef>
            </a:pP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715" lvl="1" indent="-459740" algn="just">
              <a:lnSpc>
                <a:spcPct val="141100"/>
              </a:lnSpc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forEach()</a:t>
            </a:r>
            <a:r>
              <a:rPr sz="3600" b="1" spc="605" dirty="0"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6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Applies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f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to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 pair of 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02070" y="3014642"/>
            <a:ext cx="7788275" cy="5788025"/>
          </a:xfrm>
          <a:prstGeom prst="rect">
            <a:avLst/>
          </a:prstGeom>
        </p:spPr>
        <p:txBody>
          <a:bodyPr vert="horz" wrap="square" lIns="0" tIns="186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void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main()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50" dirty="0">
                <a:solidFill>
                  <a:srgbClr val="EE220D"/>
                </a:solidFill>
                <a:latin typeface="Georgia"/>
                <a:cs typeface="Georgia"/>
              </a:rPr>
              <a:t>{</a:t>
            </a:r>
            <a:endParaRPr sz="3600">
              <a:latin typeface="Georgia"/>
              <a:cs typeface="Georgia"/>
            </a:endParaRPr>
          </a:p>
          <a:p>
            <a:pPr marL="12700" marR="5080" indent="333375">
              <a:lnSpc>
                <a:spcPct val="131500"/>
              </a:lnSpc>
              <a:spcBef>
                <a:spcPts val="20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Map student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60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{'name':'Tom','age': </a:t>
            </a:r>
            <a:r>
              <a:rPr sz="3600" spc="-50" dirty="0">
                <a:solidFill>
                  <a:srgbClr val="EE220D"/>
                </a:solidFill>
                <a:latin typeface="Georgia"/>
                <a:cs typeface="Georgia"/>
              </a:rPr>
              <a:t>2 </a:t>
            </a:r>
            <a:r>
              <a:rPr sz="3600" spc="-25" dirty="0">
                <a:solidFill>
                  <a:srgbClr val="EE220D"/>
                </a:solidFill>
                <a:latin typeface="Georgia"/>
                <a:cs typeface="Georgia"/>
              </a:rPr>
              <a:t>3};</a:t>
            </a:r>
            <a:endParaRPr sz="3600">
              <a:latin typeface="Georgia"/>
              <a:cs typeface="Georgia"/>
            </a:endParaRPr>
          </a:p>
          <a:p>
            <a:pPr marL="346075">
              <a:lnSpc>
                <a:spcPct val="100000"/>
              </a:lnSpc>
              <a:spcBef>
                <a:spcPts val="1300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print('Map</a:t>
            </a:r>
            <a:r>
              <a:rPr sz="360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:${student}');</a:t>
            </a:r>
            <a:endParaRPr sz="36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2965"/>
              </a:spcBef>
            </a:pPr>
            <a:endParaRPr sz="3600">
              <a:latin typeface="Georgia"/>
              <a:cs typeface="Georgia"/>
            </a:endParaRPr>
          </a:p>
          <a:p>
            <a:pPr marL="346075">
              <a:lnSpc>
                <a:spcPct val="100000"/>
              </a:lnSpc>
            </a:pP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student.clear();</a:t>
            </a:r>
            <a:endParaRPr sz="3600">
              <a:latin typeface="Georgia"/>
              <a:cs typeface="Georgia"/>
            </a:endParaRPr>
          </a:p>
          <a:p>
            <a:pPr marL="12700" marR="524510" indent="333375">
              <a:lnSpc>
                <a:spcPts val="5700"/>
              </a:lnSpc>
              <a:spcBef>
                <a:spcPts val="120"/>
              </a:spcBef>
            </a:pP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print('Map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after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removing</a:t>
            </a:r>
            <a:r>
              <a:rPr sz="3600" spc="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all</a:t>
            </a:r>
            <a:r>
              <a:rPr sz="3600" spc="2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20" dirty="0">
                <a:solidFill>
                  <a:srgbClr val="EE220D"/>
                </a:solidFill>
                <a:latin typeface="Georgia"/>
                <a:cs typeface="Georgia"/>
              </a:rPr>
              <a:t>key- </a:t>
            </a:r>
            <a:r>
              <a:rPr sz="3600" dirty="0">
                <a:solidFill>
                  <a:srgbClr val="EE220D"/>
                </a:solidFill>
                <a:latin typeface="Georgia"/>
                <a:cs typeface="Georgia"/>
              </a:rPr>
              <a:t>values</a:t>
            </a:r>
            <a:r>
              <a:rPr sz="3600" spc="3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spc="-10" dirty="0">
                <a:solidFill>
                  <a:srgbClr val="EE220D"/>
                </a:solidFill>
                <a:latin typeface="Georgia"/>
                <a:cs typeface="Georgia"/>
              </a:rPr>
              <a:t>:${student}');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02070" y="9656534"/>
            <a:ext cx="224154" cy="578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600" spc="-50" dirty="0">
                <a:solidFill>
                  <a:srgbClr val="EE220D"/>
                </a:solidFill>
                <a:latin typeface="Georgia"/>
                <a:cs typeface="Georgia"/>
              </a:rPr>
              <a:t>}</a:t>
            </a:r>
            <a:endParaRPr sz="36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3" y="2532423"/>
            <a:ext cx="8457565" cy="852678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483234" indent="-470534" algn="just">
              <a:lnSpc>
                <a:spcPct val="100000"/>
              </a:lnSpc>
              <a:spcBef>
                <a:spcPts val="1505"/>
              </a:spcBef>
              <a:buSzPct val="107894"/>
              <a:buFont typeface="Georgia"/>
              <a:buChar char="●"/>
              <a:tabLst>
                <a:tab pos="483234" algn="l"/>
              </a:tabLst>
            </a:pPr>
            <a:r>
              <a:rPr sz="3800" b="1" spc="-10" dirty="0">
                <a:solidFill>
                  <a:srgbClr val="245796"/>
                </a:solidFill>
                <a:latin typeface="Georgia"/>
                <a:cs typeface="Georgia"/>
              </a:rPr>
              <a:t>Methods</a:t>
            </a:r>
            <a:endParaRPr sz="38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ct val="141100"/>
              </a:lnSpc>
              <a:spcBef>
                <a:spcPts val="60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addAll()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1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adds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multiple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pairs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of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other.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3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syntax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spc="-25" dirty="0">
                <a:latin typeface="Georgia"/>
                <a:cs typeface="Georgia"/>
              </a:rPr>
              <a:t>is 	</a:t>
            </a: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below.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110"/>
              </a:lnSpc>
              <a:spcBef>
                <a:spcPts val="40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clear()</a:t>
            </a:r>
            <a:r>
              <a:rPr sz="3600" b="1" spc="645" dirty="0">
                <a:latin typeface="Georgia"/>
                <a:cs typeface="Georgia"/>
              </a:rPr>
              <a:t> 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6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eliminates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all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10" dirty="0">
                <a:latin typeface="Georgia"/>
                <a:cs typeface="Georgia"/>
              </a:rPr>
              <a:t>pairs 	</a:t>
            </a:r>
            <a:r>
              <a:rPr sz="3600" dirty="0">
                <a:latin typeface="Georgia"/>
                <a:cs typeface="Georgia"/>
              </a:rPr>
              <a:t>from the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090"/>
              </a:lnSpc>
              <a:spcBef>
                <a:spcPts val="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solidFill>
                  <a:srgbClr val="FF0000"/>
                </a:solidFill>
                <a:latin typeface="Georgia"/>
                <a:cs typeface="Georgia"/>
              </a:rPr>
              <a:t>remove()</a:t>
            </a:r>
            <a:r>
              <a:rPr sz="3600" b="1" spc="350" dirty="0">
                <a:solidFill>
                  <a:srgbClr val="FF0000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409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removes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40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and 	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associated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3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if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3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exists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the</a:t>
            </a:r>
            <a:endParaRPr sz="3600">
              <a:latin typeface="Georgia"/>
              <a:cs typeface="Georgia"/>
            </a:endParaRPr>
          </a:p>
          <a:p>
            <a:pPr marL="934085" algn="just">
              <a:lnSpc>
                <a:spcPct val="100000"/>
              </a:lnSpc>
              <a:spcBef>
                <a:spcPts val="1305"/>
              </a:spcBef>
            </a:pP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715" lvl="1" indent="-459740" algn="just">
              <a:lnSpc>
                <a:spcPct val="141100"/>
              </a:lnSpc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forEach()</a:t>
            </a:r>
            <a:r>
              <a:rPr sz="3600" b="1" spc="605" dirty="0"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6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Applies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f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to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 pair of 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25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/>
              <a:t>void</a:t>
            </a:r>
            <a:r>
              <a:rPr spc="-10" dirty="0"/>
              <a:t> </a:t>
            </a:r>
            <a:r>
              <a:rPr dirty="0"/>
              <a:t>main()</a:t>
            </a:r>
            <a:r>
              <a:rPr spc="-10" dirty="0"/>
              <a:t> </a:t>
            </a:r>
            <a:r>
              <a:rPr spc="-50" dirty="0"/>
              <a:t>{</a:t>
            </a:r>
          </a:p>
          <a:p>
            <a:pPr marL="377825">
              <a:lnSpc>
                <a:spcPct val="100000"/>
              </a:lnSpc>
              <a:spcBef>
                <a:spcPts val="1930"/>
              </a:spcBef>
            </a:pPr>
            <a:r>
              <a:rPr dirty="0"/>
              <a:t>Map</a:t>
            </a:r>
            <a:r>
              <a:rPr spc="-10" dirty="0"/>
              <a:t> </a:t>
            </a:r>
            <a:r>
              <a:rPr dirty="0"/>
              <a:t>student</a:t>
            </a:r>
            <a:r>
              <a:rPr spc="5" dirty="0"/>
              <a:t> </a:t>
            </a:r>
            <a:r>
              <a:rPr dirty="0"/>
              <a:t>=</a:t>
            </a:r>
            <a:r>
              <a:rPr spc="-5" dirty="0"/>
              <a:t> </a:t>
            </a:r>
            <a:r>
              <a:rPr spc="-10" dirty="0"/>
              <a:t>{'name':'Tom','age'</a:t>
            </a:r>
          </a:p>
          <a:p>
            <a:pPr marL="12700">
              <a:lnSpc>
                <a:spcPct val="100000"/>
              </a:lnSpc>
              <a:spcBef>
                <a:spcPts val="1945"/>
              </a:spcBef>
            </a:pPr>
            <a:r>
              <a:rPr dirty="0"/>
              <a:t>:</a:t>
            </a:r>
            <a:r>
              <a:rPr spc="-10" dirty="0"/>
              <a:t> </a:t>
            </a:r>
            <a:r>
              <a:rPr spc="-20" dirty="0"/>
              <a:t>23};</a:t>
            </a:r>
          </a:p>
          <a:p>
            <a:pPr marL="377825">
              <a:lnSpc>
                <a:spcPct val="100000"/>
              </a:lnSpc>
              <a:spcBef>
                <a:spcPts val="1850"/>
              </a:spcBef>
            </a:pPr>
            <a:r>
              <a:rPr dirty="0"/>
              <a:t>print('Map</a:t>
            </a:r>
            <a:r>
              <a:rPr spc="-95" dirty="0"/>
              <a:t> </a:t>
            </a:r>
            <a:r>
              <a:rPr spc="-10" dirty="0"/>
              <a:t>:${student}');</a:t>
            </a:r>
          </a:p>
          <a:p>
            <a:pPr>
              <a:lnSpc>
                <a:spcPct val="100000"/>
              </a:lnSpc>
              <a:spcBef>
                <a:spcPts val="4130"/>
              </a:spcBef>
            </a:pPr>
            <a:endParaRPr spc="-10" dirty="0"/>
          </a:p>
          <a:p>
            <a:pPr marL="377825">
              <a:lnSpc>
                <a:spcPct val="100000"/>
              </a:lnSpc>
            </a:pPr>
            <a:r>
              <a:rPr spc="-10" dirty="0"/>
              <a:t>student.remove('age');</a:t>
            </a:r>
          </a:p>
          <a:p>
            <a:pPr marL="12700" marR="40005" indent="365125">
              <a:lnSpc>
                <a:spcPts val="6670"/>
              </a:lnSpc>
              <a:spcBef>
                <a:spcPts val="484"/>
              </a:spcBef>
            </a:pPr>
            <a:r>
              <a:rPr dirty="0"/>
              <a:t>print('Map</a:t>
            </a:r>
            <a:r>
              <a:rPr spc="-25" dirty="0"/>
              <a:t> </a:t>
            </a:r>
            <a:r>
              <a:rPr dirty="0"/>
              <a:t>after</a:t>
            </a:r>
            <a:r>
              <a:rPr spc="-20" dirty="0"/>
              <a:t> </a:t>
            </a:r>
            <a:r>
              <a:rPr dirty="0"/>
              <a:t>removing</a:t>
            </a:r>
            <a:r>
              <a:rPr spc="-15" dirty="0"/>
              <a:t> </a:t>
            </a:r>
            <a:r>
              <a:rPr dirty="0"/>
              <a:t>given</a:t>
            </a:r>
            <a:r>
              <a:rPr spc="-25" dirty="0"/>
              <a:t> </a:t>
            </a:r>
            <a:r>
              <a:rPr spc="-50" dirty="0"/>
              <a:t>k </a:t>
            </a:r>
            <a:r>
              <a:rPr dirty="0"/>
              <a:t>ey</a:t>
            </a:r>
            <a:r>
              <a:rPr spc="-40" dirty="0"/>
              <a:t> </a:t>
            </a:r>
            <a:r>
              <a:rPr spc="-10" dirty="0"/>
              <a:t>:${student}');</a:t>
            </a: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pc="-50" dirty="0"/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985603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 Type:</a:t>
            </a:r>
            <a:r>
              <a:rPr spc="5" dirty="0"/>
              <a:t> </a:t>
            </a:r>
            <a:r>
              <a:rPr spc="-25" dirty="0"/>
              <a:t>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76273" y="2532423"/>
            <a:ext cx="8457565" cy="852678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483234" indent="-470534" algn="just">
              <a:lnSpc>
                <a:spcPct val="100000"/>
              </a:lnSpc>
              <a:spcBef>
                <a:spcPts val="1505"/>
              </a:spcBef>
              <a:buSzPct val="107894"/>
              <a:buFont typeface="Georgia"/>
              <a:buChar char="●"/>
              <a:tabLst>
                <a:tab pos="483234" algn="l"/>
              </a:tabLst>
            </a:pPr>
            <a:r>
              <a:rPr sz="3800" b="1" spc="-10" dirty="0">
                <a:solidFill>
                  <a:srgbClr val="245796"/>
                </a:solidFill>
                <a:latin typeface="Georgia"/>
                <a:cs typeface="Georgia"/>
              </a:rPr>
              <a:t>Methods</a:t>
            </a:r>
            <a:endParaRPr sz="38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ct val="141100"/>
              </a:lnSpc>
              <a:spcBef>
                <a:spcPts val="60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addAll()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54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1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adds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multiple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pairs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of</a:t>
            </a:r>
            <a:r>
              <a:rPr sz="3600" spc="2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other.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3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syntax</a:t>
            </a:r>
            <a:r>
              <a:rPr sz="3600" spc="30" dirty="0">
                <a:latin typeface="Georgia"/>
                <a:cs typeface="Georgia"/>
              </a:rPr>
              <a:t>  </a:t>
            </a:r>
            <a:r>
              <a:rPr sz="3600" spc="-25" dirty="0">
                <a:latin typeface="Georgia"/>
                <a:cs typeface="Georgia"/>
              </a:rPr>
              <a:t>is 	</a:t>
            </a: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10" dirty="0">
                <a:latin typeface="Georgia"/>
                <a:cs typeface="Georgia"/>
              </a:rPr>
              <a:t>below.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110"/>
              </a:lnSpc>
              <a:spcBef>
                <a:spcPts val="40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clear()</a:t>
            </a:r>
            <a:r>
              <a:rPr sz="3600" b="1" spc="645" dirty="0">
                <a:latin typeface="Georgia"/>
                <a:cs typeface="Georgia"/>
              </a:rPr>
              <a:t>  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26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eliminates</a:t>
            </a:r>
            <a:r>
              <a:rPr sz="3600" spc="300" dirty="0">
                <a:latin typeface="Georgia"/>
                <a:cs typeface="Georgia"/>
              </a:rPr>
              <a:t>  </a:t>
            </a:r>
            <a:r>
              <a:rPr sz="3600" dirty="0">
                <a:latin typeface="Georgia"/>
                <a:cs typeface="Georgia"/>
              </a:rPr>
              <a:t>all</a:t>
            </a:r>
            <a:r>
              <a:rPr sz="3600" spc="305" dirty="0">
                <a:latin typeface="Georgia"/>
                <a:cs typeface="Georgia"/>
              </a:rPr>
              <a:t>  </a:t>
            </a:r>
            <a:r>
              <a:rPr sz="3600" spc="-10" dirty="0">
                <a:latin typeface="Georgia"/>
                <a:cs typeface="Georgia"/>
              </a:rPr>
              <a:t>pairs 	</a:t>
            </a:r>
            <a:r>
              <a:rPr sz="3600" dirty="0">
                <a:latin typeface="Georgia"/>
                <a:cs typeface="Georgia"/>
              </a:rPr>
              <a:t>from the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080" lvl="1" indent="-459740" algn="just">
              <a:lnSpc>
                <a:spcPts val="6090"/>
              </a:lnSpc>
              <a:spcBef>
                <a:spcPts val="5"/>
              </a:spcBef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latin typeface="Georgia"/>
                <a:cs typeface="Georgia"/>
              </a:rPr>
              <a:t>remove()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3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409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removes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the</a:t>
            </a:r>
            <a:r>
              <a:rPr sz="3600" spc="40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key</a:t>
            </a:r>
            <a:r>
              <a:rPr sz="3600" spc="395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and 	</a:t>
            </a:r>
            <a:r>
              <a:rPr sz="3600" dirty="0">
                <a:latin typeface="Georgia"/>
                <a:cs typeface="Georgia"/>
              </a:rPr>
              <a:t>its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associated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value</a:t>
            </a:r>
            <a:r>
              <a:rPr sz="3600" spc="32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if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it</a:t>
            </a:r>
            <a:r>
              <a:rPr sz="3600" spc="33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exists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in</a:t>
            </a:r>
            <a:r>
              <a:rPr sz="3600" spc="330" dirty="0">
                <a:latin typeface="Georgia"/>
                <a:cs typeface="Georgia"/>
              </a:rPr>
              <a:t> </a:t>
            </a:r>
            <a:r>
              <a:rPr sz="3600" spc="-25" dirty="0">
                <a:latin typeface="Georgia"/>
                <a:cs typeface="Georgia"/>
              </a:rPr>
              <a:t>the</a:t>
            </a:r>
            <a:endParaRPr sz="3600">
              <a:latin typeface="Georgia"/>
              <a:cs typeface="Georgia"/>
            </a:endParaRPr>
          </a:p>
          <a:p>
            <a:pPr marL="934085" algn="just">
              <a:lnSpc>
                <a:spcPct val="100000"/>
              </a:lnSpc>
              <a:spcBef>
                <a:spcPts val="1305"/>
              </a:spcBef>
            </a:pPr>
            <a:r>
              <a:rPr sz="3600" dirty="0">
                <a:latin typeface="Georgia"/>
                <a:cs typeface="Georgia"/>
              </a:rPr>
              <a:t>given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  <a:p>
            <a:pPr marL="932815" marR="5715" lvl="1" indent="-459740" algn="just">
              <a:lnSpc>
                <a:spcPct val="141100"/>
              </a:lnSpc>
              <a:buClr>
                <a:srgbClr val="245796"/>
              </a:buClr>
              <a:buSzPct val="109722"/>
              <a:buFont typeface="Times New Roman"/>
              <a:buChar char="○"/>
              <a:tabLst>
                <a:tab pos="934085" algn="l"/>
              </a:tabLst>
            </a:pPr>
            <a:r>
              <a:rPr sz="3600" b="1" dirty="0">
                <a:solidFill>
                  <a:srgbClr val="EE220D"/>
                </a:solidFill>
                <a:latin typeface="Georgia"/>
                <a:cs typeface="Georgia"/>
              </a:rPr>
              <a:t>forEach()</a:t>
            </a:r>
            <a:r>
              <a:rPr sz="3600" b="1" spc="60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600" b="1" dirty="0">
                <a:latin typeface="Georgia"/>
                <a:cs typeface="Georgia"/>
              </a:rPr>
              <a:t>-</a:t>
            </a:r>
            <a:r>
              <a:rPr sz="3600" b="1" spc="61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Applies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f</a:t>
            </a:r>
            <a:r>
              <a:rPr sz="3600" spc="650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to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dirty="0">
                <a:latin typeface="Georgia"/>
                <a:cs typeface="Georgia"/>
              </a:rPr>
              <a:t>each</a:t>
            </a:r>
            <a:r>
              <a:rPr sz="3600" spc="65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key- 	</a:t>
            </a:r>
            <a:r>
              <a:rPr sz="3600" dirty="0">
                <a:latin typeface="Georgia"/>
                <a:cs typeface="Georgia"/>
              </a:rPr>
              <a:t>value pair of the</a:t>
            </a:r>
            <a:r>
              <a:rPr sz="3600" spc="5" dirty="0">
                <a:latin typeface="Georgia"/>
                <a:cs typeface="Georgia"/>
              </a:rPr>
              <a:t> </a:t>
            </a:r>
            <a:r>
              <a:rPr sz="3600" spc="-20" dirty="0">
                <a:latin typeface="Georgia"/>
                <a:cs typeface="Georgia"/>
              </a:rPr>
              <a:t>map.</a:t>
            </a:r>
            <a:endParaRPr sz="3600">
              <a:latin typeface="Georgia"/>
              <a:cs typeface="Georg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02691" y="336743"/>
            <a:ext cx="1364565" cy="136456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0802070" y="2995376"/>
            <a:ext cx="7996555" cy="5448935"/>
          </a:xfrm>
          <a:prstGeom prst="rect">
            <a:avLst/>
          </a:prstGeom>
        </p:spPr>
        <p:txBody>
          <a:bodyPr vert="horz" wrap="square" lIns="0" tIns="309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40"/>
              </a:spcBef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void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main()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50" dirty="0">
                <a:solidFill>
                  <a:srgbClr val="EE220D"/>
                </a:solidFill>
                <a:latin typeface="Georgia"/>
                <a:cs typeface="Georgia"/>
              </a:rPr>
              <a:t>{</a:t>
            </a:r>
            <a:endParaRPr sz="3950">
              <a:latin typeface="Georgia"/>
              <a:cs typeface="Georgia"/>
            </a:endParaRPr>
          </a:p>
          <a:p>
            <a:pPr marL="377825">
              <a:lnSpc>
                <a:spcPct val="100000"/>
              </a:lnSpc>
              <a:spcBef>
                <a:spcPts val="2345"/>
              </a:spcBef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Map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student</a:t>
            </a:r>
            <a:r>
              <a:rPr sz="3950" spc="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=</a:t>
            </a:r>
            <a:r>
              <a:rPr sz="3950" spc="-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{'name':'Tom','age'</a:t>
            </a:r>
            <a:endParaRPr sz="39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: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20" dirty="0">
                <a:solidFill>
                  <a:srgbClr val="EE220D"/>
                </a:solidFill>
                <a:latin typeface="Georgia"/>
                <a:cs typeface="Georgia"/>
              </a:rPr>
              <a:t>23};</a:t>
            </a:r>
            <a:endParaRPr sz="3950">
              <a:latin typeface="Georgia"/>
              <a:cs typeface="Georgia"/>
            </a:endParaRPr>
          </a:p>
          <a:p>
            <a:pPr marL="377825" marR="5080">
              <a:lnSpc>
                <a:spcPct val="149400"/>
              </a:lnSpc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print('Map</a:t>
            </a:r>
            <a:r>
              <a:rPr sz="3950" spc="-9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:${student}');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student.forEach((k,v)</a:t>
            </a:r>
            <a:r>
              <a:rPr sz="3950" spc="-20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=&gt;</a:t>
            </a:r>
            <a:r>
              <a:rPr sz="3950" spc="-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print('${</a:t>
            </a:r>
            <a:endParaRPr sz="39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445"/>
              </a:spcBef>
            </a:pPr>
            <a:r>
              <a:rPr sz="3950" dirty="0">
                <a:solidFill>
                  <a:srgbClr val="EE220D"/>
                </a:solidFill>
                <a:latin typeface="Georgia"/>
                <a:cs typeface="Georgia"/>
              </a:rPr>
              <a:t>k}:</a:t>
            </a:r>
            <a:r>
              <a:rPr sz="3950" spc="-15" dirty="0">
                <a:solidFill>
                  <a:srgbClr val="EE220D"/>
                </a:solidFill>
                <a:latin typeface="Georgia"/>
                <a:cs typeface="Georgia"/>
              </a:rPr>
              <a:t> </a:t>
            </a:r>
            <a:r>
              <a:rPr sz="3950" spc="-10" dirty="0">
                <a:solidFill>
                  <a:srgbClr val="EE220D"/>
                </a:solidFill>
                <a:latin typeface="Georgia"/>
                <a:cs typeface="Georgia"/>
              </a:rPr>
              <a:t>${v}'));</a:t>
            </a:r>
            <a:endParaRPr sz="39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02070" y="9627216"/>
            <a:ext cx="24193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50" dirty="0">
                <a:solidFill>
                  <a:srgbClr val="EE220D"/>
                </a:solidFill>
                <a:latin typeface="Georgia"/>
                <a:cs typeface="Georgia"/>
              </a:rPr>
              <a:t>}</a:t>
            </a:r>
            <a:endParaRPr sz="395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2195" cy="2352675"/>
            <a:chOff x="0" y="0"/>
            <a:chExt cx="20102195" cy="2352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1586" cy="235217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3414" y="0"/>
              <a:ext cx="14110565" cy="228935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675"/>
              <a:ext cx="20058204" cy="2034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42720">
              <a:lnSpc>
                <a:spcPct val="100000"/>
              </a:lnSpc>
              <a:spcBef>
                <a:spcPts val="125"/>
              </a:spcBef>
            </a:pPr>
            <a:r>
              <a:rPr dirty="0"/>
              <a:t>Dart Data</a:t>
            </a:r>
            <a:r>
              <a:rPr spc="5" dirty="0"/>
              <a:t> </a:t>
            </a:r>
            <a:r>
              <a:rPr dirty="0"/>
              <a:t>Type: Runes,</a:t>
            </a:r>
            <a:r>
              <a:rPr spc="5" dirty="0"/>
              <a:t> </a:t>
            </a:r>
            <a:r>
              <a:rPr spc="-10" dirty="0"/>
              <a:t>Symbol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1002691" y="336743"/>
            <a:ext cx="16156305" cy="9283065"/>
            <a:chOff x="1002691" y="336743"/>
            <a:chExt cx="16156305" cy="928306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02691" y="336743"/>
              <a:ext cx="1364565" cy="13645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26098" y="2035540"/>
              <a:ext cx="14532751" cy="7584271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522022" y="9622190"/>
            <a:ext cx="4089400" cy="930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5900" b="1" dirty="0">
                <a:latin typeface="Arial"/>
                <a:cs typeface="Arial"/>
              </a:rPr>
              <a:t>Home</a:t>
            </a:r>
            <a:r>
              <a:rPr sz="5900" b="1" spc="5" dirty="0">
                <a:latin typeface="Arial"/>
                <a:cs typeface="Arial"/>
              </a:rPr>
              <a:t> </a:t>
            </a:r>
            <a:r>
              <a:rPr sz="5900" b="1" spc="-20" dirty="0">
                <a:latin typeface="Arial"/>
                <a:cs typeface="Arial"/>
              </a:rPr>
              <a:t>work</a:t>
            </a:r>
            <a:endParaRPr sz="5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45018" y="5113426"/>
            <a:ext cx="9752330" cy="2526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400" dirty="0">
                <a:solidFill>
                  <a:srgbClr val="000000"/>
                </a:solidFill>
              </a:rPr>
              <a:t>Thank</a:t>
            </a:r>
            <a:r>
              <a:rPr sz="16400" spc="-300" dirty="0">
                <a:solidFill>
                  <a:srgbClr val="000000"/>
                </a:solidFill>
              </a:rPr>
              <a:t> </a:t>
            </a:r>
            <a:r>
              <a:rPr sz="16400" spc="-25" dirty="0">
                <a:solidFill>
                  <a:srgbClr val="000000"/>
                </a:solidFill>
              </a:rPr>
              <a:t>you</a:t>
            </a:r>
            <a:endParaRPr sz="16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E220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1249</Words>
  <Application>Microsoft Office PowerPoint</Application>
  <PresentationFormat>Custom</PresentationFormat>
  <Paragraphs>259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Mobile Learning Application Development</vt:lpstr>
      <vt:lpstr>Dart Data Type: List</vt:lpstr>
      <vt:lpstr>Dart Data Type: List</vt:lpstr>
      <vt:lpstr>Dart Data Type: List</vt:lpstr>
      <vt:lpstr>Dart Data Type: List</vt:lpstr>
      <vt:lpstr>Dart Data Type: List</vt:lpstr>
      <vt:lpstr>Dart Data Type: List</vt:lpstr>
      <vt:lpstr>Dart Data Type: List</vt:lpstr>
      <vt:lpstr>Dart Data Type: Sets</vt:lpstr>
      <vt:lpstr>Dart Data Type: Sets</vt:lpstr>
      <vt:lpstr>Dart Data Type: Set</vt:lpstr>
      <vt:lpstr>Dart Data Type: Set</vt:lpstr>
      <vt:lpstr>Dart Data Type: Set</vt:lpstr>
      <vt:lpstr>Dart Data Type: Sets</vt:lpstr>
      <vt:lpstr>Dart Data Type: Map</vt:lpstr>
      <vt:lpstr>Dart Data Type: Map</vt:lpstr>
      <vt:lpstr>Dart Data Type: Map</vt:lpstr>
      <vt:lpstr>Dart Data Type: Map</vt:lpstr>
      <vt:lpstr>Dart Data Type: Map</vt:lpstr>
      <vt:lpstr>Dart Data Type: Map</vt:lpstr>
      <vt:lpstr>Dart Data Type: Map</vt:lpstr>
      <vt:lpstr>Dart Data Type: Map</vt:lpstr>
      <vt:lpstr>Dart Data Type: Map</vt:lpstr>
      <vt:lpstr>Dart Data Type: Runes, Symbol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</dc:title>
  <cp:lastModifiedBy>Windows User</cp:lastModifiedBy>
  <cp:revision>1</cp:revision>
  <dcterms:created xsi:type="dcterms:W3CDTF">2025-08-22T08:37:49Z</dcterms:created>
  <dcterms:modified xsi:type="dcterms:W3CDTF">2025-08-22T08:39:32Z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2024-09-28T00:00:00Z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2025-08-22T00:00:00Z</vt:filetime>
  </property>
  <property fmtid="{D5CDD505-2E9C-101B-9397-08002B2CF9AE}" pid="5" name="Producer">
    <vt:lpwstr>macOS Version 14.6.1 (Build 23G93) Quartz PDFContext</vt:lpwstr>
  </property>
</Properties>
</file>