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20104100" cy="11309350"/>
  <p:notesSz cx="20104100" cy="1130935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42" d="100"/>
          <a:sy n="42" d="100"/>
        </p:scale>
        <p:origin x="756" y="72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1507807" y="3505898"/>
            <a:ext cx="17088486" cy="2374963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7900" b="1" i="0">
                <a:solidFill>
                  <a:srgbClr val="0070C0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3015615" y="6333236"/>
            <a:ext cx="14072870" cy="282733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5250" b="0" i="0">
                <a:solidFill>
                  <a:schemeClr val="tx1"/>
                </a:solidFill>
                <a:latin typeface="Arial MT"/>
                <a:cs typeface="Arial MT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9/26/2025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7900" b="1" i="0">
                <a:solidFill>
                  <a:srgbClr val="0070C0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5250" b="0" i="0">
                <a:solidFill>
                  <a:schemeClr val="tx1"/>
                </a:solidFill>
                <a:latin typeface="Arial MT"/>
                <a:cs typeface="Arial MT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9/26/2025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7900" b="1" i="0">
                <a:solidFill>
                  <a:srgbClr val="0070C0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1005205" y="2601150"/>
            <a:ext cx="8745284" cy="746417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10353611" y="2601150"/>
            <a:ext cx="8745284" cy="746417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9/26/2025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7900" b="1" i="0">
                <a:solidFill>
                  <a:srgbClr val="0070C0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9/26/2025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9/26/2025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image" Target="../media/image1.pn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bg object 16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0" y="0"/>
            <a:ext cx="20104098" cy="11308555"/>
          </a:xfrm>
          <a:prstGeom prst="rect">
            <a:avLst/>
          </a:prstGeom>
        </p:spPr>
      </p:pic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3226755" y="55151"/>
            <a:ext cx="13650589" cy="1231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7900" b="1" i="0">
                <a:solidFill>
                  <a:srgbClr val="0070C0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1640615" y="4134608"/>
            <a:ext cx="16822869" cy="699706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5250" b="0" i="0">
                <a:solidFill>
                  <a:schemeClr val="tx1"/>
                </a:solidFill>
                <a:latin typeface="Arial MT"/>
                <a:cs typeface="Arial MT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6835394" y="10517696"/>
            <a:ext cx="6433312" cy="56546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1005205" y="10517696"/>
            <a:ext cx="4623943" cy="56546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9/26/2025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14474953" y="10517696"/>
            <a:ext cx="4623943" cy="56546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376142" y="934705"/>
            <a:ext cx="16262985" cy="108140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6900" b="0" dirty="0">
                <a:solidFill>
                  <a:srgbClr val="000000"/>
                </a:solidFill>
                <a:latin typeface="Arial MT"/>
                <a:cs typeface="Arial MT"/>
              </a:rPr>
              <a:t>Mobile</a:t>
            </a:r>
            <a:r>
              <a:rPr sz="6900" b="0" spc="-5" dirty="0">
                <a:solidFill>
                  <a:srgbClr val="000000"/>
                </a:solidFill>
                <a:latin typeface="Arial MT"/>
                <a:cs typeface="Arial MT"/>
              </a:rPr>
              <a:t> </a:t>
            </a:r>
            <a:r>
              <a:rPr sz="6900" b="0" dirty="0">
                <a:solidFill>
                  <a:srgbClr val="000000"/>
                </a:solidFill>
                <a:latin typeface="Arial MT"/>
                <a:cs typeface="Arial MT"/>
              </a:rPr>
              <a:t>Learning</a:t>
            </a:r>
            <a:r>
              <a:rPr sz="6900" b="0" spc="-5" dirty="0">
                <a:solidFill>
                  <a:srgbClr val="000000"/>
                </a:solidFill>
                <a:latin typeface="Arial MT"/>
                <a:cs typeface="Arial MT"/>
              </a:rPr>
              <a:t> </a:t>
            </a:r>
            <a:r>
              <a:rPr sz="6900" b="0" dirty="0">
                <a:solidFill>
                  <a:srgbClr val="000000"/>
                </a:solidFill>
                <a:latin typeface="Arial MT"/>
                <a:cs typeface="Arial MT"/>
              </a:rPr>
              <a:t>Application </a:t>
            </a:r>
            <a:r>
              <a:rPr sz="6900" b="0" spc="-10" dirty="0">
                <a:solidFill>
                  <a:srgbClr val="000000"/>
                </a:solidFill>
                <a:latin typeface="Arial MT"/>
                <a:cs typeface="Arial MT"/>
              </a:rPr>
              <a:t>Development</a:t>
            </a:r>
            <a:endParaRPr sz="6900">
              <a:latin typeface="Arial MT"/>
              <a:cs typeface="Arial MT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8315558" y="2656254"/>
            <a:ext cx="4385206" cy="1271584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="" xmlns:a16="http://schemas.microsoft.com/office/drawing/2014/main" id="{751CAEAF-FE33-118E-43C0-622BE178A760}"/>
              </a:ext>
            </a:extLst>
          </p:cNvPr>
          <p:cNvSpPr txBox="1"/>
          <p:nvPr/>
        </p:nvSpPr>
        <p:spPr>
          <a:xfrm>
            <a:off x="2018665" y="5510490"/>
            <a:ext cx="16262985" cy="387798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 algn="ctr">
              <a:spcBef>
                <a:spcPts val="0"/>
              </a:spcBef>
              <a:buNone/>
            </a:pPr>
            <a:r>
              <a:rPr lang="en-US" sz="4800" dirty="0">
                <a:solidFill>
                  <a:schemeClr val="tx1"/>
                </a:solidFill>
                <a:latin typeface="Georgia" panose="02040502050405020303" pitchFamily="18" charset="0"/>
              </a:rPr>
              <a:t>Presented By: </a:t>
            </a:r>
          </a:p>
          <a:p>
            <a:pPr marL="0" indent="0" algn="ctr">
              <a:spcBef>
                <a:spcPts val="0"/>
              </a:spcBef>
              <a:buNone/>
            </a:pPr>
            <a:endParaRPr lang="en-US" sz="4800" dirty="0">
              <a:solidFill>
                <a:schemeClr val="tx1"/>
              </a:solidFill>
              <a:latin typeface="Georgia" panose="02040502050405020303" pitchFamily="18" charset="0"/>
            </a:endParaRPr>
          </a:p>
          <a:p>
            <a:pPr marL="0" indent="0" algn="ctr">
              <a:spcBef>
                <a:spcPts val="0"/>
              </a:spcBef>
              <a:buNone/>
            </a:pPr>
            <a:r>
              <a:rPr lang="en-US" sz="5400" b="1" dirty="0">
                <a:solidFill>
                  <a:schemeClr val="tx1"/>
                </a:solidFill>
                <a:latin typeface="Georgia" panose="02040502050405020303" pitchFamily="18" charset="0"/>
              </a:rPr>
              <a:t>Rakib Hossen </a:t>
            </a:r>
          </a:p>
          <a:p>
            <a:pPr marL="0" indent="0" algn="ctr">
              <a:spcBef>
                <a:spcPts val="0"/>
              </a:spcBef>
              <a:buNone/>
            </a:pPr>
            <a:r>
              <a:rPr lang="en-US" sz="4800" dirty="0">
                <a:solidFill>
                  <a:schemeClr val="tx1"/>
                </a:solidFill>
                <a:latin typeface="Georgia" panose="02040502050405020303" pitchFamily="18" charset="0"/>
              </a:rPr>
              <a:t>Assistant Professor</a:t>
            </a:r>
          </a:p>
          <a:p>
            <a:pPr marL="0" indent="0" algn="ctr">
              <a:spcBef>
                <a:spcPts val="0"/>
              </a:spcBef>
              <a:buNone/>
            </a:pPr>
            <a:r>
              <a:rPr lang="en-US" sz="4800" dirty="0">
                <a:solidFill>
                  <a:schemeClr val="tx1"/>
                </a:solidFill>
                <a:latin typeface="Georgia" panose="02040502050405020303" pitchFamily="18" charset="0"/>
              </a:rPr>
              <a:t>Dept. of Cyber Security Engineering (</a:t>
            </a:r>
            <a:r>
              <a:rPr lang="en-US" sz="4800" dirty="0" err="1">
                <a:solidFill>
                  <a:schemeClr val="tx1"/>
                </a:solidFill>
                <a:latin typeface="Georgia" panose="02040502050405020303" pitchFamily="18" charset="0"/>
              </a:rPr>
              <a:t>CySE</a:t>
            </a:r>
            <a:r>
              <a:rPr lang="en-US" sz="4800" dirty="0">
                <a:solidFill>
                  <a:schemeClr val="tx1"/>
                </a:solidFill>
                <a:latin typeface="Georgia" panose="02040502050405020303" pitchFamily="18" charset="0"/>
              </a:rPr>
              <a:t>), </a:t>
            </a:r>
            <a:r>
              <a:rPr lang="en-US" sz="4800" dirty="0" smtClean="0">
                <a:solidFill>
                  <a:schemeClr val="tx1"/>
                </a:solidFill>
                <a:latin typeface="Georgia" panose="02040502050405020303" pitchFamily="18" charset="0"/>
              </a:rPr>
              <a:t>UFTB</a:t>
            </a:r>
            <a:endParaRPr lang="en-US" sz="4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20104098" cy="2187435"/>
          </a:xfrm>
          <a:prstGeom prst="rect">
            <a:avLst/>
          </a:prstGeom>
        </p:spPr>
      </p:pic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4605" rIns="0" bIns="0" rtlCol="0">
            <a:spAutoFit/>
          </a:bodyPr>
          <a:lstStyle/>
          <a:p>
            <a:pPr marL="2693035">
              <a:lnSpc>
                <a:spcPct val="100000"/>
              </a:lnSpc>
              <a:spcBef>
                <a:spcPts val="115"/>
              </a:spcBef>
            </a:pPr>
            <a:r>
              <a:rPr dirty="0"/>
              <a:t>Activity</a:t>
            </a:r>
            <a:r>
              <a:rPr spc="-20" dirty="0"/>
              <a:t> </a:t>
            </a:r>
            <a:r>
              <a:rPr dirty="0"/>
              <a:t>&amp;</a:t>
            </a:r>
            <a:r>
              <a:rPr spc="-15" dirty="0"/>
              <a:t> </a:t>
            </a:r>
            <a:r>
              <a:rPr spc="-10" dirty="0"/>
              <a:t>Widgets</a:t>
            </a:r>
          </a:p>
        </p:txBody>
      </p:sp>
      <p:grpSp>
        <p:nvGrpSpPr>
          <p:cNvPr id="4" name="object 4"/>
          <p:cNvGrpSpPr/>
          <p:nvPr/>
        </p:nvGrpSpPr>
        <p:grpSpPr>
          <a:xfrm>
            <a:off x="1163154" y="2156147"/>
            <a:ext cx="17778095" cy="8522335"/>
            <a:chOff x="1163154" y="2156147"/>
            <a:chExt cx="17778095" cy="8522335"/>
          </a:xfrm>
        </p:grpSpPr>
        <p:pic>
          <p:nvPicPr>
            <p:cNvPr id="5" name="object 5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173576" y="2166216"/>
              <a:ext cx="3917786" cy="8481417"/>
            </a:xfrm>
            <a:prstGeom prst="rect">
              <a:avLst/>
            </a:prstGeom>
          </p:spPr>
        </p:pic>
        <p:sp>
          <p:nvSpPr>
            <p:cNvPr id="6" name="object 6"/>
            <p:cNvSpPr/>
            <p:nvPr/>
          </p:nvSpPr>
          <p:spPr>
            <a:xfrm>
              <a:off x="1168389" y="2161403"/>
              <a:ext cx="3926840" cy="8491220"/>
            </a:xfrm>
            <a:custGeom>
              <a:avLst/>
              <a:gdLst/>
              <a:ahLst/>
              <a:cxnLst/>
              <a:rect l="l" t="t" r="r" b="b"/>
              <a:pathLst>
                <a:path w="3926840" h="8491220">
                  <a:moveTo>
                    <a:pt x="0" y="0"/>
                  </a:moveTo>
                  <a:lnTo>
                    <a:pt x="3926825" y="0"/>
                  </a:lnTo>
                  <a:lnTo>
                    <a:pt x="3926825" y="8490673"/>
                  </a:lnTo>
                  <a:lnTo>
                    <a:pt x="0" y="8490673"/>
                  </a:lnTo>
                  <a:lnTo>
                    <a:pt x="0" y="0"/>
                  </a:lnTo>
                  <a:close/>
                </a:path>
              </a:pathLst>
            </a:custGeom>
            <a:ln w="1047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7" name="object 7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5699512" y="2186320"/>
              <a:ext cx="3920299" cy="8481417"/>
            </a:xfrm>
            <a:prstGeom prst="rect">
              <a:avLst/>
            </a:prstGeom>
          </p:spPr>
        </p:pic>
        <p:sp>
          <p:nvSpPr>
            <p:cNvPr id="8" name="object 8"/>
            <p:cNvSpPr/>
            <p:nvPr/>
          </p:nvSpPr>
          <p:spPr>
            <a:xfrm>
              <a:off x="5696553" y="2182199"/>
              <a:ext cx="3926840" cy="8491220"/>
            </a:xfrm>
            <a:custGeom>
              <a:avLst/>
              <a:gdLst/>
              <a:ahLst/>
              <a:cxnLst/>
              <a:rect l="l" t="t" r="r" b="b"/>
              <a:pathLst>
                <a:path w="3926840" h="8491220">
                  <a:moveTo>
                    <a:pt x="0" y="0"/>
                  </a:moveTo>
                  <a:lnTo>
                    <a:pt x="3926830" y="0"/>
                  </a:lnTo>
                  <a:lnTo>
                    <a:pt x="3926830" y="8490673"/>
                  </a:lnTo>
                  <a:lnTo>
                    <a:pt x="0" y="8490673"/>
                  </a:lnTo>
                  <a:lnTo>
                    <a:pt x="0" y="0"/>
                  </a:lnTo>
                  <a:close/>
                </a:path>
              </a:pathLst>
            </a:custGeom>
            <a:ln w="1047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9" name="object 9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10227960" y="2186320"/>
              <a:ext cx="4176626" cy="8481417"/>
            </a:xfrm>
            <a:prstGeom prst="rect">
              <a:avLst/>
            </a:prstGeom>
          </p:spPr>
        </p:pic>
        <p:sp>
          <p:nvSpPr>
            <p:cNvPr id="10" name="object 10"/>
            <p:cNvSpPr/>
            <p:nvPr/>
          </p:nvSpPr>
          <p:spPr>
            <a:xfrm>
              <a:off x="10224715" y="2182200"/>
              <a:ext cx="4183379" cy="8491220"/>
            </a:xfrm>
            <a:custGeom>
              <a:avLst/>
              <a:gdLst/>
              <a:ahLst/>
              <a:cxnLst/>
              <a:rect l="l" t="t" r="r" b="b"/>
              <a:pathLst>
                <a:path w="4183380" h="8491220">
                  <a:moveTo>
                    <a:pt x="0" y="0"/>
                  </a:moveTo>
                  <a:lnTo>
                    <a:pt x="4182835" y="0"/>
                  </a:lnTo>
                  <a:lnTo>
                    <a:pt x="4182835" y="8490671"/>
                  </a:lnTo>
                  <a:lnTo>
                    <a:pt x="0" y="8490671"/>
                  </a:lnTo>
                  <a:lnTo>
                    <a:pt x="0" y="0"/>
                  </a:lnTo>
                  <a:close/>
                </a:path>
              </a:pathLst>
            </a:custGeom>
            <a:ln w="1047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1" name="object 11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15012736" y="2166216"/>
              <a:ext cx="3917786" cy="8481417"/>
            </a:xfrm>
            <a:prstGeom prst="rect">
              <a:avLst/>
            </a:prstGeom>
          </p:spPr>
        </p:pic>
        <p:sp>
          <p:nvSpPr>
            <p:cNvPr id="12" name="object 12"/>
            <p:cNvSpPr/>
            <p:nvPr/>
          </p:nvSpPr>
          <p:spPr>
            <a:xfrm>
              <a:off x="15008882" y="2161382"/>
              <a:ext cx="3926840" cy="8491220"/>
            </a:xfrm>
            <a:custGeom>
              <a:avLst/>
              <a:gdLst/>
              <a:ahLst/>
              <a:cxnLst/>
              <a:rect l="l" t="t" r="r" b="b"/>
              <a:pathLst>
                <a:path w="3926840" h="8491220">
                  <a:moveTo>
                    <a:pt x="0" y="0"/>
                  </a:moveTo>
                  <a:lnTo>
                    <a:pt x="3926830" y="0"/>
                  </a:lnTo>
                  <a:lnTo>
                    <a:pt x="3926830" y="8490727"/>
                  </a:lnTo>
                  <a:lnTo>
                    <a:pt x="0" y="8490727"/>
                  </a:lnTo>
                  <a:lnTo>
                    <a:pt x="0" y="0"/>
                  </a:lnTo>
                  <a:close/>
                </a:path>
              </a:pathLst>
            </a:custGeom>
            <a:ln w="1047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20104098" cy="1988314"/>
          </a:xfrm>
          <a:prstGeom prst="rect">
            <a:avLst/>
          </a:prstGeom>
        </p:spPr>
      </p:pic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460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5"/>
              </a:spcBef>
            </a:pPr>
            <a:r>
              <a:rPr dirty="0"/>
              <a:t>Flutter</a:t>
            </a:r>
            <a:r>
              <a:rPr spc="-10" dirty="0"/>
              <a:t> </a:t>
            </a:r>
            <a:r>
              <a:rPr dirty="0"/>
              <a:t>Main</a:t>
            </a:r>
            <a:r>
              <a:rPr spc="-10" dirty="0"/>
              <a:t> </a:t>
            </a:r>
            <a:r>
              <a:rPr dirty="0"/>
              <a:t>Source</a:t>
            </a:r>
            <a:r>
              <a:rPr spc="-5" dirty="0"/>
              <a:t> </a:t>
            </a:r>
            <a:r>
              <a:rPr dirty="0"/>
              <a:t>Code</a:t>
            </a:r>
            <a:r>
              <a:rPr spc="-5" dirty="0"/>
              <a:t> </a:t>
            </a:r>
            <a:r>
              <a:rPr spc="-20" dirty="0"/>
              <a:t>Flow</a:t>
            </a:r>
          </a:p>
        </p:txBody>
      </p:sp>
      <p:pic>
        <p:nvPicPr>
          <p:cNvPr id="4" name="object 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5646739" y="2435109"/>
            <a:ext cx="8300480" cy="8594502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20104098" cy="1554697"/>
          </a:xfrm>
          <a:prstGeom prst="rect">
            <a:avLst/>
          </a:prstGeom>
        </p:spPr>
      </p:pic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4605" rIns="0" bIns="0" rtlCol="0">
            <a:spAutoFit/>
          </a:bodyPr>
          <a:lstStyle/>
          <a:p>
            <a:pPr marL="2636520">
              <a:lnSpc>
                <a:spcPct val="100000"/>
              </a:lnSpc>
              <a:spcBef>
                <a:spcPts val="115"/>
              </a:spcBef>
            </a:pPr>
            <a:r>
              <a:rPr dirty="0"/>
              <a:t>Material</a:t>
            </a:r>
            <a:r>
              <a:rPr spc="-15" dirty="0"/>
              <a:t> </a:t>
            </a:r>
            <a:r>
              <a:rPr dirty="0"/>
              <a:t>App</a:t>
            </a:r>
            <a:r>
              <a:rPr spc="-10" dirty="0"/>
              <a:t> Class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1193511" y="1532384"/>
            <a:ext cx="16085185" cy="8044815"/>
          </a:xfrm>
          <a:prstGeom prst="rect">
            <a:avLst/>
          </a:prstGeom>
        </p:spPr>
        <p:txBody>
          <a:bodyPr vert="horz" wrap="square" lIns="0" tIns="278130" rIns="0" bIns="0" rtlCol="0">
            <a:spAutoFit/>
          </a:bodyPr>
          <a:lstStyle/>
          <a:p>
            <a:pPr marL="739775" indent="-727075">
              <a:lnSpc>
                <a:spcPct val="100000"/>
              </a:lnSpc>
              <a:spcBef>
                <a:spcPts val="2190"/>
              </a:spcBef>
              <a:buFont typeface="Calibri"/>
              <a:buChar char="●"/>
              <a:tabLst>
                <a:tab pos="739775" algn="l"/>
              </a:tabLst>
            </a:pPr>
            <a:r>
              <a:rPr sz="3550" dirty="0">
                <a:latin typeface="Times New Roman"/>
                <a:cs typeface="Times New Roman"/>
              </a:rPr>
              <a:t>Predefined</a:t>
            </a:r>
            <a:r>
              <a:rPr sz="3550" spc="-75" dirty="0">
                <a:latin typeface="Times New Roman"/>
                <a:cs typeface="Times New Roman"/>
              </a:rPr>
              <a:t> </a:t>
            </a:r>
            <a:r>
              <a:rPr sz="3550" dirty="0">
                <a:latin typeface="Times New Roman"/>
                <a:cs typeface="Times New Roman"/>
              </a:rPr>
              <a:t>class</a:t>
            </a:r>
            <a:r>
              <a:rPr sz="3550" spc="-70" dirty="0">
                <a:latin typeface="Times New Roman"/>
                <a:cs typeface="Times New Roman"/>
              </a:rPr>
              <a:t> </a:t>
            </a:r>
            <a:r>
              <a:rPr sz="3550" dirty="0">
                <a:latin typeface="Times New Roman"/>
                <a:cs typeface="Times New Roman"/>
              </a:rPr>
              <a:t>in</a:t>
            </a:r>
            <a:r>
              <a:rPr sz="3550" spc="-70" dirty="0">
                <a:latin typeface="Times New Roman"/>
                <a:cs typeface="Times New Roman"/>
              </a:rPr>
              <a:t> </a:t>
            </a:r>
            <a:r>
              <a:rPr sz="3550" dirty="0">
                <a:latin typeface="Times New Roman"/>
                <a:cs typeface="Times New Roman"/>
              </a:rPr>
              <a:t>a</a:t>
            </a:r>
            <a:r>
              <a:rPr sz="3550" spc="-70" dirty="0">
                <a:latin typeface="Times New Roman"/>
                <a:cs typeface="Times New Roman"/>
              </a:rPr>
              <a:t> </a:t>
            </a:r>
            <a:r>
              <a:rPr sz="3550" spc="-10" dirty="0">
                <a:latin typeface="Times New Roman"/>
                <a:cs typeface="Times New Roman"/>
              </a:rPr>
              <a:t>flutter.</a:t>
            </a:r>
            <a:endParaRPr sz="3550">
              <a:latin typeface="Times New Roman"/>
              <a:cs typeface="Times New Roman"/>
            </a:endParaRPr>
          </a:p>
          <a:p>
            <a:pPr marL="739775" indent="-727075">
              <a:lnSpc>
                <a:spcPct val="100000"/>
              </a:lnSpc>
              <a:spcBef>
                <a:spcPts val="2095"/>
              </a:spcBef>
              <a:buFont typeface="Calibri"/>
              <a:buChar char="●"/>
              <a:tabLst>
                <a:tab pos="739775" algn="l"/>
              </a:tabLst>
            </a:pPr>
            <a:r>
              <a:rPr sz="3550" dirty="0">
                <a:latin typeface="Times New Roman"/>
                <a:cs typeface="Times New Roman"/>
              </a:rPr>
              <a:t>Core</a:t>
            </a:r>
            <a:r>
              <a:rPr sz="3550" spc="-80" dirty="0">
                <a:latin typeface="Times New Roman"/>
                <a:cs typeface="Times New Roman"/>
              </a:rPr>
              <a:t> </a:t>
            </a:r>
            <a:r>
              <a:rPr sz="3550" dirty="0">
                <a:latin typeface="Times New Roman"/>
                <a:cs typeface="Times New Roman"/>
              </a:rPr>
              <a:t>component</a:t>
            </a:r>
            <a:r>
              <a:rPr sz="3550" spc="-80" dirty="0">
                <a:latin typeface="Times New Roman"/>
                <a:cs typeface="Times New Roman"/>
              </a:rPr>
              <a:t> </a:t>
            </a:r>
            <a:r>
              <a:rPr sz="3550" dirty="0">
                <a:latin typeface="Times New Roman"/>
                <a:cs typeface="Times New Roman"/>
              </a:rPr>
              <a:t>of</a:t>
            </a:r>
            <a:r>
              <a:rPr sz="3550" spc="-80" dirty="0">
                <a:latin typeface="Times New Roman"/>
                <a:cs typeface="Times New Roman"/>
              </a:rPr>
              <a:t> </a:t>
            </a:r>
            <a:r>
              <a:rPr sz="3550" spc="-10" dirty="0">
                <a:latin typeface="Times New Roman"/>
                <a:cs typeface="Times New Roman"/>
              </a:rPr>
              <a:t>flutter.</a:t>
            </a:r>
            <a:endParaRPr sz="3550">
              <a:latin typeface="Times New Roman"/>
              <a:cs typeface="Times New Roman"/>
            </a:endParaRPr>
          </a:p>
          <a:p>
            <a:pPr marL="739775" indent="-727075">
              <a:lnSpc>
                <a:spcPct val="100000"/>
              </a:lnSpc>
              <a:spcBef>
                <a:spcPts val="2170"/>
              </a:spcBef>
              <a:buFont typeface="Calibri"/>
              <a:buChar char="●"/>
              <a:tabLst>
                <a:tab pos="739775" algn="l"/>
              </a:tabLst>
            </a:pPr>
            <a:r>
              <a:rPr sz="3550" dirty="0">
                <a:latin typeface="Times New Roman"/>
                <a:cs typeface="Times New Roman"/>
              </a:rPr>
              <a:t>Some</a:t>
            </a:r>
            <a:r>
              <a:rPr sz="3550" spc="-100" dirty="0">
                <a:latin typeface="Times New Roman"/>
                <a:cs typeface="Times New Roman"/>
              </a:rPr>
              <a:t> </a:t>
            </a:r>
            <a:r>
              <a:rPr sz="3550" dirty="0">
                <a:latin typeface="Times New Roman"/>
                <a:cs typeface="Times New Roman"/>
              </a:rPr>
              <a:t>Essential</a:t>
            </a:r>
            <a:r>
              <a:rPr sz="3550" spc="-100" dirty="0">
                <a:latin typeface="Times New Roman"/>
                <a:cs typeface="Times New Roman"/>
              </a:rPr>
              <a:t> </a:t>
            </a:r>
            <a:r>
              <a:rPr sz="3550" spc="-10" dirty="0">
                <a:latin typeface="Times New Roman"/>
                <a:cs typeface="Times New Roman"/>
              </a:rPr>
              <a:t>Properties</a:t>
            </a:r>
            <a:endParaRPr sz="3550">
              <a:latin typeface="Times New Roman"/>
              <a:cs typeface="Times New Roman"/>
            </a:endParaRPr>
          </a:p>
          <a:p>
            <a:pPr marL="1744980" lvl="1" indent="-695960">
              <a:lnSpc>
                <a:spcPct val="100000"/>
              </a:lnSpc>
              <a:spcBef>
                <a:spcPts val="1940"/>
              </a:spcBef>
              <a:buFont typeface="Tahoma"/>
              <a:buChar char="○"/>
              <a:tabLst>
                <a:tab pos="1744980" algn="l"/>
              </a:tabLst>
            </a:pPr>
            <a:r>
              <a:rPr sz="3050" dirty="0">
                <a:solidFill>
                  <a:srgbClr val="0070C0"/>
                </a:solidFill>
                <a:latin typeface="Times New Roman"/>
                <a:cs typeface="Times New Roman"/>
              </a:rPr>
              <a:t>color:</a:t>
            </a:r>
            <a:r>
              <a:rPr sz="3050" spc="-40" dirty="0">
                <a:solidFill>
                  <a:srgbClr val="0070C0"/>
                </a:solidFill>
                <a:latin typeface="Times New Roman"/>
                <a:cs typeface="Times New Roman"/>
              </a:rPr>
              <a:t> </a:t>
            </a:r>
            <a:r>
              <a:rPr sz="3050" dirty="0">
                <a:latin typeface="Times New Roman"/>
                <a:cs typeface="Times New Roman"/>
              </a:rPr>
              <a:t>It</a:t>
            </a:r>
            <a:r>
              <a:rPr sz="3050" spc="-40" dirty="0">
                <a:latin typeface="Times New Roman"/>
                <a:cs typeface="Times New Roman"/>
              </a:rPr>
              <a:t> </a:t>
            </a:r>
            <a:r>
              <a:rPr sz="3050" dirty="0">
                <a:latin typeface="Times New Roman"/>
                <a:cs typeface="Times New Roman"/>
              </a:rPr>
              <a:t>controls</a:t>
            </a:r>
            <a:r>
              <a:rPr sz="3050" spc="-40" dirty="0">
                <a:latin typeface="Times New Roman"/>
                <a:cs typeface="Times New Roman"/>
              </a:rPr>
              <a:t> </a:t>
            </a:r>
            <a:r>
              <a:rPr sz="3050" dirty="0">
                <a:latin typeface="Times New Roman"/>
                <a:cs typeface="Times New Roman"/>
              </a:rPr>
              <a:t>the</a:t>
            </a:r>
            <a:r>
              <a:rPr sz="3050" spc="-35" dirty="0">
                <a:latin typeface="Times New Roman"/>
                <a:cs typeface="Times New Roman"/>
              </a:rPr>
              <a:t> </a:t>
            </a:r>
            <a:r>
              <a:rPr sz="3050" dirty="0">
                <a:latin typeface="Times New Roman"/>
                <a:cs typeface="Times New Roman"/>
              </a:rPr>
              <a:t>primary</a:t>
            </a:r>
            <a:r>
              <a:rPr sz="3050" spc="-35" dirty="0">
                <a:latin typeface="Times New Roman"/>
                <a:cs typeface="Times New Roman"/>
              </a:rPr>
              <a:t> </a:t>
            </a:r>
            <a:r>
              <a:rPr sz="3050" dirty="0">
                <a:latin typeface="Times New Roman"/>
                <a:cs typeface="Times New Roman"/>
              </a:rPr>
              <a:t>color</a:t>
            </a:r>
            <a:r>
              <a:rPr sz="3050" spc="-35" dirty="0">
                <a:latin typeface="Times New Roman"/>
                <a:cs typeface="Times New Roman"/>
              </a:rPr>
              <a:t> </a:t>
            </a:r>
            <a:r>
              <a:rPr sz="3050" dirty="0">
                <a:latin typeface="Times New Roman"/>
                <a:cs typeface="Times New Roman"/>
              </a:rPr>
              <a:t>used</a:t>
            </a:r>
            <a:r>
              <a:rPr sz="3050" spc="-35" dirty="0">
                <a:latin typeface="Times New Roman"/>
                <a:cs typeface="Times New Roman"/>
              </a:rPr>
              <a:t> </a:t>
            </a:r>
            <a:r>
              <a:rPr sz="3050" dirty="0">
                <a:latin typeface="Times New Roman"/>
                <a:cs typeface="Times New Roman"/>
              </a:rPr>
              <a:t>in</a:t>
            </a:r>
            <a:r>
              <a:rPr sz="3050" spc="-35" dirty="0">
                <a:latin typeface="Times New Roman"/>
                <a:cs typeface="Times New Roman"/>
              </a:rPr>
              <a:t> </a:t>
            </a:r>
            <a:r>
              <a:rPr sz="3050" dirty="0">
                <a:latin typeface="Times New Roman"/>
                <a:cs typeface="Times New Roman"/>
              </a:rPr>
              <a:t>the</a:t>
            </a:r>
            <a:r>
              <a:rPr sz="3050" spc="-35" dirty="0">
                <a:latin typeface="Times New Roman"/>
                <a:cs typeface="Times New Roman"/>
              </a:rPr>
              <a:t> </a:t>
            </a:r>
            <a:r>
              <a:rPr sz="3050" spc="-10" dirty="0">
                <a:latin typeface="Times New Roman"/>
                <a:cs typeface="Times New Roman"/>
              </a:rPr>
              <a:t>application.</a:t>
            </a:r>
            <a:endParaRPr sz="3050">
              <a:latin typeface="Times New Roman"/>
              <a:cs typeface="Times New Roman"/>
            </a:endParaRPr>
          </a:p>
          <a:p>
            <a:pPr marL="1744980" lvl="1" indent="-695960">
              <a:lnSpc>
                <a:spcPct val="100000"/>
              </a:lnSpc>
              <a:spcBef>
                <a:spcPts val="1860"/>
              </a:spcBef>
              <a:buFont typeface="Tahoma"/>
              <a:buChar char="○"/>
              <a:tabLst>
                <a:tab pos="1744980" algn="l"/>
              </a:tabLst>
            </a:pPr>
            <a:r>
              <a:rPr sz="3050" dirty="0">
                <a:solidFill>
                  <a:srgbClr val="0070C0"/>
                </a:solidFill>
                <a:latin typeface="Times New Roman"/>
                <a:cs typeface="Times New Roman"/>
              </a:rPr>
              <a:t>darkTheme:</a:t>
            </a:r>
            <a:r>
              <a:rPr sz="3050" spc="-30" dirty="0">
                <a:solidFill>
                  <a:srgbClr val="0070C0"/>
                </a:solidFill>
                <a:latin typeface="Times New Roman"/>
                <a:cs typeface="Times New Roman"/>
              </a:rPr>
              <a:t> </a:t>
            </a:r>
            <a:r>
              <a:rPr sz="3050" dirty="0">
                <a:latin typeface="Times New Roman"/>
                <a:cs typeface="Times New Roman"/>
              </a:rPr>
              <a:t>It</a:t>
            </a:r>
            <a:r>
              <a:rPr sz="3050" spc="-30" dirty="0">
                <a:latin typeface="Times New Roman"/>
                <a:cs typeface="Times New Roman"/>
              </a:rPr>
              <a:t> </a:t>
            </a:r>
            <a:r>
              <a:rPr sz="3050" dirty="0">
                <a:latin typeface="Times New Roman"/>
                <a:cs typeface="Times New Roman"/>
              </a:rPr>
              <a:t>provided</a:t>
            </a:r>
            <a:r>
              <a:rPr sz="3050" spc="-25" dirty="0">
                <a:latin typeface="Times New Roman"/>
                <a:cs typeface="Times New Roman"/>
              </a:rPr>
              <a:t> </a:t>
            </a:r>
            <a:r>
              <a:rPr sz="3050" dirty="0">
                <a:latin typeface="Times New Roman"/>
                <a:cs typeface="Times New Roman"/>
              </a:rPr>
              <a:t>theme</a:t>
            </a:r>
            <a:r>
              <a:rPr sz="3050" spc="-25" dirty="0">
                <a:latin typeface="Times New Roman"/>
                <a:cs typeface="Times New Roman"/>
              </a:rPr>
              <a:t> </a:t>
            </a:r>
            <a:r>
              <a:rPr sz="3050" dirty="0">
                <a:latin typeface="Times New Roman"/>
                <a:cs typeface="Times New Roman"/>
              </a:rPr>
              <a:t>data</a:t>
            </a:r>
            <a:r>
              <a:rPr sz="3050" spc="-30" dirty="0">
                <a:latin typeface="Times New Roman"/>
                <a:cs typeface="Times New Roman"/>
              </a:rPr>
              <a:t> </a:t>
            </a:r>
            <a:r>
              <a:rPr sz="3050" dirty="0">
                <a:latin typeface="Times New Roman"/>
                <a:cs typeface="Times New Roman"/>
              </a:rPr>
              <a:t>for</a:t>
            </a:r>
            <a:r>
              <a:rPr sz="3050" spc="-25" dirty="0">
                <a:latin typeface="Times New Roman"/>
                <a:cs typeface="Times New Roman"/>
              </a:rPr>
              <a:t> </a:t>
            </a:r>
            <a:r>
              <a:rPr sz="3050" dirty="0">
                <a:latin typeface="Times New Roman"/>
                <a:cs typeface="Times New Roman"/>
              </a:rPr>
              <a:t>the</a:t>
            </a:r>
            <a:r>
              <a:rPr sz="3050" spc="-30" dirty="0">
                <a:latin typeface="Times New Roman"/>
                <a:cs typeface="Times New Roman"/>
              </a:rPr>
              <a:t> </a:t>
            </a:r>
            <a:r>
              <a:rPr sz="3050" dirty="0">
                <a:latin typeface="Times New Roman"/>
                <a:cs typeface="Times New Roman"/>
              </a:rPr>
              <a:t>dark</a:t>
            </a:r>
            <a:r>
              <a:rPr sz="3050" spc="-20" dirty="0">
                <a:latin typeface="Times New Roman"/>
                <a:cs typeface="Times New Roman"/>
              </a:rPr>
              <a:t> </a:t>
            </a:r>
            <a:r>
              <a:rPr sz="3050" dirty="0">
                <a:latin typeface="Times New Roman"/>
                <a:cs typeface="Times New Roman"/>
              </a:rPr>
              <a:t>theme</a:t>
            </a:r>
            <a:r>
              <a:rPr sz="3050" spc="-30" dirty="0">
                <a:latin typeface="Times New Roman"/>
                <a:cs typeface="Times New Roman"/>
              </a:rPr>
              <a:t> </a:t>
            </a:r>
            <a:r>
              <a:rPr sz="3050" dirty="0">
                <a:latin typeface="Times New Roman"/>
                <a:cs typeface="Times New Roman"/>
              </a:rPr>
              <a:t>for</a:t>
            </a:r>
            <a:r>
              <a:rPr sz="3050" spc="-25" dirty="0">
                <a:latin typeface="Times New Roman"/>
                <a:cs typeface="Times New Roman"/>
              </a:rPr>
              <a:t> </a:t>
            </a:r>
            <a:r>
              <a:rPr sz="3050" dirty="0">
                <a:latin typeface="Times New Roman"/>
                <a:cs typeface="Times New Roman"/>
              </a:rPr>
              <a:t>the</a:t>
            </a:r>
            <a:r>
              <a:rPr sz="3050" spc="-25" dirty="0">
                <a:latin typeface="Times New Roman"/>
                <a:cs typeface="Times New Roman"/>
              </a:rPr>
              <a:t> </a:t>
            </a:r>
            <a:r>
              <a:rPr sz="3050" spc="-10" dirty="0">
                <a:latin typeface="Times New Roman"/>
                <a:cs typeface="Times New Roman"/>
              </a:rPr>
              <a:t>application.</a:t>
            </a:r>
            <a:endParaRPr sz="3050">
              <a:latin typeface="Times New Roman"/>
              <a:cs typeface="Times New Roman"/>
            </a:endParaRPr>
          </a:p>
          <a:p>
            <a:pPr marL="1745614" marR="410209" lvl="1" indent="-696595">
              <a:lnSpc>
                <a:spcPts val="5520"/>
              </a:lnSpc>
              <a:spcBef>
                <a:spcPts val="415"/>
              </a:spcBef>
              <a:buFont typeface="Tahoma"/>
              <a:buChar char="○"/>
              <a:tabLst>
                <a:tab pos="1745614" algn="l"/>
              </a:tabLst>
            </a:pPr>
            <a:r>
              <a:rPr sz="3050" spc="-10" dirty="0">
                <a:solidFill>
                  <a:srgbClr val="0070C0"/>
                </a:solidFill>
                <a:latin typeface="Times New Roman"/>
                <a:cs typeface="Times New Roman"/>
              </a:rPr>
              <a:t>debugShowCheckedModeBanner:</a:t>
            </a:r>
            <a:r>
              <a:rPr sz="3050" spc="-30" dirty="0">
                <a:solidFill>
                  <a:srgbClr val="0070C0"/>
                </a:solidFill>
                <a:latin typeface="Times New Roman"/>
                <a:cs typeface="Times New Roman"/>
              </a:rPr>
              <a:t> </a:t>
            </a:r>
            <a:r>
              <a:rPr sz="3050" dirty="0">
                <a:latin typeface="Times New Roman"/>
                <a:cs typeface="Times New Roman"/>
              </a:rPr>
              <a:t>This</a:t>
            </a:r>
            <a:r>
              <a:rPr sz="3050" spc="-25" dirty="0">
                <a:latin typeface="Times New Roman"/>
                <a:cs typeface="Times New Roman"/>
              </a:rPr>
              <a:t> </a:t>
            </a:r>
            <a:r>
              <a:rPr sz="3050" dirty="0">
                <a:latin typeface="Times New Roman"/>
                <a:cs typeface="Times New Roman"/>
              </a:rPr>
              <a:t>property</a:t>
            </a:r>
            <a:r>
              <a:rPr sz="3050" spc="-25" dirty="0">
                <a:latin typeface="Times New Roman"/>
                <a:cs typeface="Times New Roman"/>
              </a:rPr>
              <a:t> </a:t>
            </a:r>
            <a:r>
              <a:rPr sz="3050" dirty="0">
                <a:latin typeface="Times New Roman"/>
                <a:cs typeface="Times New Roman"/>
              </a:rPr>
              <a:t>takes</a:t>
            </a:r>
            <a:r>
              <a:rPr sz="3050" spc="-30" dirty="0">
                <a:latin typeface="Times New Roman"/>
                <a:cs typeface="Times New Roman"/>
              </a:rPr>
              <a:t> </a:t>
            </a:r>
            <a:r>
              <a:rPr sz="3050" dirty="0">
                <a:latin typeface="Times New Roman"/>
                <a:cs typeface="Times New Roman"/>
              </a:rPr>
              <a:t>in</a:t>
            </a:r>
            <a:r>
              <a:rPr sz="3050" spc="-20" dirty="0">
                <a:latin typeface="Times New Roman"/>
                <a:cs typeface="Times New Roman"/>
              </a:rPr>
              <a:t> </a:t>
            </a:r>
            <a:r>
              <a:rPr sz="3050" dirty="0">
                <a:latin typeface="Times New Roman"/>
                <a:cs typeface="Times New Roman"/>
              </a:rPr>
              <a:t>a</a:t>
            </a:r>
            <a:r>
              <a:rPr sz="3050" spc="-35" dirty="0">
                <a:latin typeface="Times New Roman"/>
                <a:cs typeface="Times New Roman"/>
              </a:rPr>
              <a:t> </a:t>
            </a:r>
            <a:r>
              <a:rPr sz="3050" dirty="0">
                <a:latin typeface="Times New Roman"/>
                <a:cs typeface="Times New Roman"/>
              </a:rPr>
              <a:t>boolean</a:t>
            </a:r>
            <a:r>
              <a:rPr sz="3050" spc="-25" dirty="0">
                <a:latin typeface="Times New Roman"/>
                <a:cs typeface="Times New Roman"/>
              </a:rPr>
              <a:t> </a:t>
            </a:r>
            <a:r>
              <a:rPr sz="3050" dirty="0">
                <a:latin typeface="Times New Roman"/>
                <a:cs typeface="Times New Roman"/>
              </a:rPr>
              <a:t>as</a:t>
            </a:r>
            <a:r>
              <a:rPr sz="3050" spc="-30" dirty="0">
                <a:latin typeface="Times New Roman"/>
                <a:cs typeface="Times New Roman"/>
              </a:rPr>
              <a:t> </a:t>
            </a:r>
            <a:r>
              <a:rPr sz="3050" dirty="0">
                <a:latin typeface="Times New Roman"/>
                <a:cs typeface="Times New Roman"/>
              </a:rPr>
              <a:t>the</a:t>
            </a:r>
            <a:r>
              <a:rPr sz="3050" spc="-25" dirty="0">
                <a:latin typeface="Times New Roman"/>
                <a:cs typeface="Times New Roman"/>
              </a:rPr>
              <a:t> </a:t>
            </a:r>
            <a:r>
              <a:rPr sz="3050" dirty="0">
                <a:latin typeface="Times New Roman"/>
                <a:cs typeface="Times New Roman"/>
              </a:rPr>
              <a:t>object</a:t>
            </a:r>
            <a:r>
              <a:rPr sz="3050" spc="-30" dirty="0">
                <a:latin typeface="Times New Roman"/>
                <a:cs typeface="Times New Roman"/>
              </a:rPr>
              <a:t> </a:t>
            </a:r>
            <a:r>
              <a:rPr sz="3050" dirty="0">
                <a:latin typeface="Times New Roman"/>
                <a:cs typeface="Times New Roman"/>
              </a:rPr>
              <a:t>to</a:t>
            </a:r>
            <a:r>
              <a:rPr sz="3050" spc="-20" dirty="0">
                <a:latin typeface="Times New Roman"/>
                <a:cs typeface="Times New Roman"/>
              </a:rPr>
              <a:t> </a:t>
            </a:r>
            <a:r>
              <a:rPr sz="3050" spc="-10" dirty="0">
                <a:latin typeface="Times New Roman"/>
                <a:cs typeface="Times New Roman"/>
              </a:rPr>
              <a:t>decide </a:t>
            </a:r>
            <a:r>
              <a:rPr sz="3050" dirty="0">
                <a:latin typeface="Times New Roman"/>
                <a:cs typeface="Times New Roman"/>
              </a:rPr>
              <a:t>whether</a:t>
            </a:r>
            <a:r>
              <a:rPr sz="3050" spc="-15" dirty="0">
                <a:latin typeface="Times New Roman"/>
                <a:cs typeface="Times New Roman"/>
              </a:rPr>
              <a:t> </a:t>
            </a:r>
            <a:r>
              <a:rPr sz="3050" dirty="0">
                <a:latin typeface="Times New Roman"/>
                <a:cs typeface="Times New Roman"/>
              </a:rPr>
              <a:t>to</a:t>
            </a:r>
            <a:r>
              <a:rPr sz="3050" spc="-15" dirty="0">
                <a:latin typeface="Times New Roman"/>
                <a:cs typeface="Times New Roman"/>
              </a:rPr>
              <a:t> </a:t>
            </a:r>
            <a:r>
              <a:rPr sz="3050" dirty="0">
                <a:latin typeface="Times New Roman"/>
                <a:cs typeface="Times New Roman"/>
              </a:rPr>
              <a:t>show</a:t>
            </a:r>
            <a:r>
              <a:rPr sz="3050" spc="-10" dirty="0">
                <a:latin typeface="Times New Roman"/>
                <a:cs typeface="Times New Roman"/>
              </a:rPr>
              <a:t> </a:t>
            </a:r>
            <a:r>
              <a:rPr sz="3050" dirty="0">
                <a:latin typeface="Times New Roman"/>
                <a:cs typeface="Times New Roman"/>
              </a:rPr>
              <a:t>the</a:t>
            </a:r>
            <a:r>
              <a:rPr sz="3050" spc="-20" dirty="0">
                <a:latin typeface="Times New Roman"/>
                <a:cs typeface="Times New Roman"/>
              </a:rPr>
              <a:t> </a:t>
            </a:r>
            <a:r>
              <a:rPr sz="3050" dirty="0">
                <a:latin typeface="Times New Roman"/>
                <a:cs typeface="Times New Roman"/>
              </a:rPr>
              <a:t>debug</a:t>
            </a:r>
            <a:r>
              <a:rPr sz="3050" spc="-15" dirty="0">
                <a:latin typeface="Times New Roman"/>
                <a:cs typeface="Times New Roman"/>
              </a:rPr>
              <a:t> </a:t>
            </a:r>
            <a:r>
              <a:rPr sz="3050" dirty="0">
                <a:latin typeface="Times New Roman"/>
                <a:cs typeface="Times New Roman"/>
              </a:rPr>
              <a:t>banner</a:t>
            </a:r>
            <a:r>
              <a:rPr sz="3050" spc="-10" dirty="0">
                <a:latin typeface="Times New Roman"/>
                <a:cs typeface="Times New Roman"/>
              </a:rPr>
              <a:t> </a:t>
            </a:r>
            <a:r>
              <a:rPr sz="3050" dirty="0">
                <a:latin typeface="Times New Roman"/>
                <a:cs typeface="Times New Roman"/>
              </a:rPr>
              <a:t>or</a:t>
            </a:r>
            <a:r>
              <a:rPr sz="3050" spc="-15" dirty="0">
                <a:latin typeface="Times New Roman"/>
                <a:cs typeface="Times New Roman"/>
              </a:rPr>
              <a:t> </a:t>
            </a:r>
            <a:r>
              <a:rPr sz="3050" spc="-20" dirty="0">
                <a:latin typeface="Times New Roman"/>
                <a:cs typeface="Times New Roman"/>
              </a:rPr>
              <a:t>not.</a:t>
            </a:r>
            <a:endParaRPr sz="3050">
              <a:latin typeface="Times New Roman"/>
              <a:cs typeface="Times New Roman"/>
            </a:endParaRPr>
          </a:p>
          <a:p>
            <a:pPr marL="1744980" lvl="1" indent="-695960">
              <a:lnSpc>
                <a:spcPct val="100000"/>
              </a:lnSpc>
              <a:spcBef>
                <a:spcPts val="1365"/>
              </a:spcBef>
              <a:buFont typeface="Tahoma"/>
              <a:buChar char="○"/>
              <a:tabLst>
                <a:tab pos="1744980" algn="l"/>
              </a:tabLst>
            </a:pPr>
            <a:r>
              <a:rPr sz="3050" dirty="0">
                <a:solidFill>
                  <a:srgbClr val="0070C0"/>
                </a:solidFill>
                <a:latin typeface="Times New Roman"/>
                <a:cs typeface="Times New Roman"/>
              </a:rPr>
              <a:t>home:</a:t>
            </a:r>
            <a:r>
              <a:rPr sz="3050" spc="-35" dirty="0">
                <a:solidFill>
                  <a:srgbClr val="0070C0"/>
                </a:solidFill>
                <a:latin typeface="Times New Roman"/>
                <a:cs typeface="Times New Roman"/>
              </a:rPr>
              <a:t> </a:t>
            </a:r>
            <a:r>
              <a:rPr sz="3050" dirty="0">
                <a:latin typeface="Times New Roman"/>
                <a:cs typeface="Times New Roman"/>
              </a:rPr>
              <a:t>This</a:t>
            </a:r>
            <a:r>
              <a:rPr sz="3050" spc="-30" dirty="0">
                <a:latin typeface="Times New Roman"/>
                <a:cs typeface="Times New Roman"/>
              </a:rPr>
              <a:t> </a:t>
            </a:r>
            <a:r>
              <a:rPr sz="3050" dirty="0">
                <a:latin typeface="Times New Roman"/>
                <a:cs typeface="Times New Roman"/>
              </a:rPr>
              <a:t>property</a:t>
            </a:r>
            <a:r>
              <a:rPr sz="3050" spc="-30" dirty="0">
                <a:latin typeface="Times New Roman"/>
                <a:cs typeface="Times New Roman"/>
              </a:rPr>
              <a:t> </a:t>
            </a:r>
            <a:r>
              <a:rPr sz="3050" dirty="0">
                <a:latin typeface="Times New Roman"/>
                <a:cs typeface="Times New Roman"/>
              </a:rPr>
              <a:t>takes</a:t>
            </a:r>
            <a:r>
              <a:rPr sz="3050" spc="-30" dirty="0">
                <a:latin typeface="Times New Roman"/>
                <a:cs typeface="Times New Roman"/>
              </a:rPr>
              <a:t> </a:t>
            </a:r>
            <a:r>
              <a:rPr sz="3050" dirty="0">
                <a:latin typeface="Times New Roman"/>
                <a:cs typeface="Times New Roman"/>
              </a:rPr>
              <a:t>in</a:t>
            </a:r>
            <a:r>
              <a:rPr sz="3050" spc="-30" dirty="0">
                <a:latin typeface="Times New Roman"/>
                <a:cs typeface="Times New Roman"/>
              </a:rPr>
              <a:t> </a:t>
            </a:r>
            <a:r>
              <a:rPr sz="3050" dirty="0">
                <a:latin typeface="Times New Roman"/>
                <a:cs typeface="Times New Roman"/>
              </a:rPr>
              <a:t>widget</a:t>
            </a:r>
            <a:r>
              <a:rPr sz="3050" spc="-30" dirty="0">
                <a:latin typeface="Times New Roman"/>
                <a:cs typeface="Times New Roman"/>
              </a:rPr>
              <a:t> </a:t>
            </a:r>
            <a:r>
              <a:rPr sz="3050" dirty="0">
                <a:latin typeface="Times New Roman"/>
                <a:cs typeface="Times New Roman"/>
              </a:rPr>
              <a:t>as</a:t>
            </a:r>
            <a:r>
              <a:rPr sz="3050" spc="-30" dirty="0">
                <a:latin typeface="Times New Roman"/>
                <a:cs typeface="Times New Roman"/>
              </a:rPr>
              <a:t> </a:t>
            </a:r>
            <a:r>
              <a:rPr sz="3050" dirty="0">
                <a:latin typeface="Times New Roman"/>
                <a:cs typeface="Times New Roman"/>
              </a:rPr>
              <a:t>the</a:t>
            </a:r>
            <a:r>
              <a:rPr sz="3050" spc="-35" dirty="0">
                <a:latin typeface="Times New Roman"/>
                <a:cs typeface="Times New Roman"/>
              </a:rPr>
              <a:t> </a:t>
            </a:r>
            <a:r>
              <a:rPr sz="3050" dirty="0">
                <a:latin typeface="Times New Roman"/>
                <a:cs typeface="Times New Roman"/>
              </a:rPr>
              <a:t>object</a:t>
            </a:r>
            <a:r>
              <a:rPr sz="3050" spc="-30" dirty="0">
                <a:latin typeface="Times New Roman"/>
                <a:cs typeface="Times New Roman"/>
              </a:rPr>
              <a:t> </a:t>
            </a:r>
            <a:r>
              <a:rPr sz="3050" dirty="0">
                <a:latin typeface="Times New Roman"/>
                <a:cs typeface="Times New Roman"/>
              </a:rPr>
              <a:t>to</a:t>
            </a:r>
            <a:r>
              <a:rPr sz="3050" spc="-30" dirty="0">
                <a:latin typeface="Times New Roman"/>
                <a:cs typeface="Times New Roman"/>
              </a:rPr>
              <a:t> </a:t>
            </a:r>
            <a:r>
              <a:rPr sz="3050" dirty="0">
                <a:latin typeface="Times New Roman"/>
                <a:cs typeface="Times New Roman"/>
              </a:rPr>
              <a:t>show</a:t>
            </a:r>
            <a:r>
              <a:rPr sz="3050" spc="-25" dirty="0">
                <a:latin typeface="Times New Roman"/>
                <a:cs typeface="Times New Roman"/>
              </a:rPr>
              <a:t> </a:t>
            </a:r>
            <a:r>
              <a:rPr sz="3050" dirty="0">
                <a:latin typeface="Times New Roman"/>
                <a:cs typeface="Times New Roman"/>
              </a:rPr>
              <a:t>on</a:t>
            </a:r>
            <a:r>
              <a:rPr sz="3050" spc="-25" dirty="0">
                <a:latin typeface="Times New Roman"/>
                <a:cs typeface="Times New Roman"/>
              </a:rPr>
              <a:t> </a:t>
            </a:r>
            <a:r>
              <a:rPr sz="3050" dirty="0">
                <a:latin typeface="Times New Roman"/>
                <a:cs typeface="Times New Roman"/>
              </a:rPr>
              <a:t>the</a:t>
            </a:r>
            <a:r>
              <a:rPr sz="3050" spc="-35" dirty="0">
                <a:latin typeface="Times New Roman"/>
                <a:cs typeface="Times New Roman"/>
              </a:rPr>
              <a:t> </a:t>
            </a:r>
            <a:r>
              <a:rPr sz="3050" dirty="0">
                <a:latin typeface="Times New Roman"/>
                <a:cs typeface="Times New Roman"/>
              </a:rPr>
              <a:t>default</a:t>
            </a:r>
            <a:r>
              <a:rPr sz="3050" spc="-30" dirty="0">
                <a:latin typeface="Times New Roman"/>
                <a:cs typeface="Times New Roman"/>
              </a:rPr>
              <a:t> </a:t>
            </a:r>
            <a:r>
              <a:rPr sz="3050" dirty="0">
                <a:latin typeface="Times New Roman"/>
                <a:cs typeface="Times New Roman"/>
              </a:rPr>
              <a:t>route</a:t>
            </a:r>
            <a:r>
              <a:rPr sz="3050" spc="-35" dirty="0">
                <a:latin typeface="Times New Roman"/>
                <a:cs typeface="Times New Roman"/>
              </a:rPr>
              <a:t> </a:t>
            </a:r>
            <a:r>
              <a:rPr sz="3050" dirty="0">
                <a:latin typeface="Times New Roman"/>
                <a:cs typeface="Times New Roman"/>
              </a:rPr>
              <a:t>of</a:t>
            </a:r>
            <a:r>
              <a:rPr sz="3050" spc="-25" dirty="0">
                <a:latin typeface="Times New Roman"/>
                <a:cs typeface="Times New Roman"/>
              </a:rPr>
              <a:t> </a:t>
            </a:r>
            <a:r>
              <a:rPr sz="3050" dirty="0">
                <a:latin typeface="Times New Roman"/>
                <a:cs typeface="Times New Roman"/>
              </a:rPr>
              <a:t>the</a:t>
            </a:r>
            <a:r>
              <a:rPr sz="3050" spc="-30" dirty="0">
                <a:latin typeface="Times New Roman"/>
                <a:cs typeface="Times New Roman"/>
              </a:rPr>
              <a:t> </a:t>
            </a:r>
            <a:r>
              <a:rPr sz="3050" spc="-20" dirty="0">
                <a:latin typeface="Times New Roman"/>
                <a:cs typeface="Times New Roman"/>
              </a:rPr>
              <a:t>app.</a:t>
            </a:r>
            <a:endParaRPr sz="3050">
              <a:latin typeface="Times New Roman"/>
              <a:cs typeface="Times New Roman"/>
            </a:endParaRPr>
          </a:p>
          <a:p>
            <a:pPr marL="1745614" marR="5080" lvl="1" indent="-696595">
              <a:lnSpc>
                <a:spcPts val="5520"/>
              </a:lnSpc>
              <a:spcBef>
                <a:spcPts val="415"/>
              </a:spcBef>
              <a:buFont typeface="Tahoma"/>
              <a:buChar char="○"/>
              <a:tabLst>
                <a:tab pos="1745614" algn="l"/>
              </a:tabLst>
            </a:pPr>
            <a:r>
              <a:rPr sz="3050" dirty="0">
                <a:solidFill>
                  <a:srgbClr val="0070C0"/>
                </a:solidFill>
                <a:latin typeface="Times New Roman"/>
                <a:cs typeface="Times New Roman"/>
              </a:rPr>
              <a:t>title:</a:t>
            </a:r>
            <a:r>
              <a:rPr sz="3050" spc="-35" dirty="0">
                <a:solidFill>
                  <a:srgbClr val="0070C0"/>
                </a:solidFill>
                <a:latin typeface="Times New Roman"/>
                <a:cs typeface="Times New Roman"/>
              </a:rPr>
              <a:t> </a:t>
            </a:r>
            <a:r>
              <a:rPr sz="3050" dirty="0">
                <a:latin typeface="Times New Roman"/>
                <a:cs typeface="Times New Roman"/>
              </a:rPr>
              <a:t>The</a:t>
            </a:r>
            <a:r>
              <a:rPr sz="3050" spc="-35" dirty="0">
                <a:latin typeface="Times New Roman"/>
                <a:cs typeface="Times New Roman"/>
              </a:rPr>
              <a:t> </a:t>
            </a:r>
            <a:r>
              <a:rPr sz="3050" dirty="0">
                <a:latin typeface="Times New Roman"/>
                <a:cs typeface="Times New Roman"/>
              </a:rPr>
              <a:t>title</a:t>
            </a:r>
            <a:r>
              <a:rPr sz="3050" spc="-30" dirty="0">
                <a:latin typeface="Times New Roman"/>
                <a:cs typeface="Times New Roman"/>
              </a:rPr>
              <a:t> </a:t>
            </a:r>
            <a:r>
              <a:rPr sz="3050" dirty="0">
                <a:latin typeface="Times New Roman"/>
                <a:cs typeface="Times New Roman"/>
              </a:rPr>
              <a:t>property</a:t>
            </a:r>
            <a:r>
              <a:rPr sz="3050" spc="-30" dirty="0">
                <a:latin typeface="Times New Roman"/>
                <a:cs typeface="Times New Roman"/>
              </a:rPr>
              <a:t> </a:t>
            </a:r>
            <a:r>
              <a:rPr sz="3050" dirty="0">
                <a:latin typeface="Times New Roman"/>
                <a:cs typeface="Times New Roman"/>
              </a:rPr>
              <a:t>takes</a:t>
            </a:r>
            <a:r>
              <a:rPr sz="3050" spc="-30" dirty="0">
                <a:latin typeface="Times New Roman"/>
                <a:cs typeface="Times New Roman"/>
              </a:rPr>
              <a:t> </a:t>
            </a:r>
            <a:r>
              <a:rPr sz="3050" dirty="0">
                <a:latin typeface="Times New Roman"/>
                <a:cs typeface="Times New Roman"/>
              </a:rPr>
              <a:t>in</a:t>
            </a:r>
            <a:r>
              <a:rPr sz="3050" spc="-30" dirty="0">
                <a:latin typeface="Times New Roman"/>
                <a:cs typeface="Times New Roman"/>
              </a:rPr>
              <a:t> </a:t>
            </a:r>
            <a:r>
              <a:rPr sz="3050" dirty="0">
                <a:latin typeface="Times New Roman"/>
                <a:cs typeface="Times New Roman"/>
              </a:rPr>
              <a:t>a</a:t>
            </a:r>
            <a:r>
              <a:rPr sz="3050" spc="-30" dirty="0">
                <a:latin typeface="Times New Roman"/>
                <a:cs typeface="Times New Roman"/>
              </a:rPr>
              <a:t> </a:t>
            </a:r>
            <a:r>
              <a:rPr sz="3050" dirty="0">
                <a:latin typeface="Times New Roman"/>
                <a:cs typeface="Times New Roman"/>
              </a:rPr>
              <a:t>string</a:t>
            </a:r>
            <a:r>
              <a:rPr sz="3050" spc="-30" dirty="0">
                <a:latin typeface="Times New Roman"/>
                <a:cs typeface="Times New Roman"/>
              </a:rPr>
              <a:t> </a:t>
            </a:r>
            <a:r>
              <a:rPr sz="3050" dirty="0">
                <a:latin typeface="Times New Roman"/>
                <a:cs typeface="Times New Roman"/>
              </a:rPr>
              <a:t>as</a:t>
            </a:r>
            <a:r>
              <a:rPr sz="3050" spc="-30" dirty="0">
                <a:latin typeface="Times New Roman"/>
                <a:cs typeface="Times New Roman"/>
              </a:rPr>
              <a:t> </a:t>
            </a:r>
            <a:r>
              <a:rPr sz="3050" dirty="0">
                <a:latin typeface="Times New Roman"/>
                <a:cs typeface="Times New Roman"/>
              </a:rPr>
              <a:t>the</a:t>
            </a:r>
            <a:r>
              <a:rPr sz="3050" spc="-35" dirty="0">
                <a:latin typeface="Times New Roman"/>
                <a:cs typeface="Times New Roman"/>
              </a:rPr>
              <a:t> </a:t>
            </a:r>
            <a:r>
              <a:rPr sz="3050" dirty="0">
                <a:latin typeface="Times New Roman"/>
                <a:cs typeface="Times New Roman"/>
              </a:rPr>
              <a:t>object</a:t>
            </a:r>
            <a:r>
              <a:rPr sz="3050" spc="-30" dirty="0">
                <a:latin typeface="Times New Roman"/>
                <a:cs typeface="Times New Roman"/>
              </a:rPr>
              <a:t> </a:t>
            </a:r>
            <a:r>
              <a:rPr sz="3050" dirty="0">
                <a:latin typeface="Times New Roman"/>
                <a:cs typeface="Times New Roman"/>
              </a:rPr>
              <a:t>to</a:t>
            </a:r>
            <a:r>
              <a:rPr sz="3050" spc="-30" dirty="0">
                <a:latin typeface="Times New Roman"/>
                <a:cs typeface="Times New Roman"/>
              </a:rPr>
              <a:t> </a:t>
            </a:r>
            <a:r>
              <a:rPr sz="3050" dirty="0">
                <a:latin typeface="Times New Roman"/>
                <a:cs typeface="Times New Roman"/>
              </a:rPr>
              <a:t>decide</a:t>
            </a:r>
            <a:r>
              <a:rPr sz="3050" spc="-30" dirty="0">
                <a:latin typeface="Times New Roman"/>
                <a:cs typeface="Times New Roman"/>
              </a:rPr>
              <a:t> </a:t>
            </a:r>
            <a:r>
              <a:rPr sz="3050" dirty="0">
                <a:latin typeface="Times New Roman"/>
                <a:cs typeface="Times New Roman"/>
              </a:rPr>
              <a:t>the</a:t>
            </a:r>
            <a:r>
              <a:rPr sz="3050" spc="-35" dirty="0">
                <a:latin typeface="Times New Roman"/>
                <a:cs typeface="Times New Roman"/>
              </a:rPr>
              <a:t> </a:t>
            </a:r>
            <a:r>
              <a:rPr sz="3050" spc="-10" dirty="0">
                <a:latin typeface="Times New Roman"/>
                <a:cs typeface="Times New Roman"/>
              </a:rPr>
              <a:t>one-</a:t>
            </a:r>
            <a:r>
              <a:rPr sz="3050" dirty="0">
                <a:latin typeface="Times New Roman"/>
                <a:cs typeface="Times New Roman"/>
              </a:rPr>
              <a:t>line</a:t>
            </a:r>
            <a:r>
              <a:rPr sz="3050" spc="-30" dirty="0">
                <a:latin typeface="Times New Roman"/>
                <a:cs typeface="Times New Roman"/>
              </a:rPr>
              <a:t> </a:t>
            </a:r>
            <a:r>
              <a:rPr sz="3050" dirty="0">
                <a:latin typeface="Times New Roman"/>
                <a:cs typeface="Times New Roman"/>
              </a:rPr>
              <a:t>description</a:t>
            </a:r>
            <a:r>
              <a:rPr sz="3050" spc="-30" dirty="0">
                <a:latin typeface="Times New Roman"/>
                <a:cs typeface="Times New Roman"/>
              </a:rPr>
              <a:t> </a:t>
            </a:r>
            <a:r>
              <a:rPr sz="3050" dirty="0">
                <a:latin typeface="Times New Roman"/>
                <a:cs typeface="Times New Roman"/>
              </a:rPr>
              <a:t>of</a:t>
            </a:r>
            <a:r>
              <a:rPr sz="3050" spc="-25" dirty="0">
                <a:latin typeface="Times New Roman"/>
                <a:cs typeface="Times New Roman"/>
              </a:rPr>
              <a:t> the </a:t>
            </a:r>
            <a:r>
              <a:rPr sz="3050" dirty="0">
                <a:latin typeface="Times New Roman"/>
                <a:cs typeface="Times New Roman"/>
              </a:rPr>
              <a:t>app</a:t>
            </a:r>
            <a:r>
              <a:rPr sz="3050" spc="-10" dirty="0">
                <a:latin typeface="Times New Roman"/>
                <a:cs typeface="Times New Roman"/>
              </a:rPr>
              <a:t> </a:t>
            </a:r>
            <a:r>
              <a:rPr sz="3050" dirty="0">
                <a:latin typeface="Times New Roman"/>
                <a:cs typeface="Times New Roman"/>
              </a:rPr>
              <a:t>for</a:t>
            </a:r>
            <a:r>
              <a:rPr sz="3050" spc="-5" dirty="0">
                <a:latin typeface="Times New Roman"/>
                <a:cs typeface="Times New Roman"/>
              </a:rPr>
              <a:t> </a:t>
            </a:r>
            <a:r>
              <a:rPr sz="3050" dirty="0">
                <a:latin typeface="Times New Roman"/>
                <a:cs typeface="Times New Roman"/>
              </a:rPr>
              <a:t>the</a:t>
            </a:r>
            <a:r>
              <a:rPr sz="3050" spc="-10" dirty="0">
                <a:latin typeface="Times New Roman"/>
                <a:cs typeface="Times New Roman"/>
              </a:rPr>
              <a:t> device.</a:t>
            </a:r>
            <a:endParaRPr sz="3050">
              <a:latin typeface="Times New Roman"/>
              <a:cs typeface="Times New Roman"/>
            </a:endParaRPr>
          </a:p>
          <a:p>
            <a:pPr marL="739775" indent="-695960">
              <a:lnSpc>
                <a:spcPct val="100000"/>
              </a:lnSpc>
              <a:spcBef>
                <a:spcPts val="1290"/>
              </a:spcBef>
              <a:buFont typeface="Calibri"/>
              <a:buChar char="●"/>
              <a:tabLst>
                <a:tab pos="739775" algn="l"/>
              </a:tabLst>
            </a:pPr>
            <a:r>
              <a:rPr sz="3050" dirty="0">
                <a:latin typeface="Times New Roman"/>
                <a:cs typeface="Times New Roman"/>
              </a:rPr>
              <a:t>Official</a:t>
            </a:r>
            <a:r>
              <a:rPr sz="3050" spc="-100" dirty="0">
                <a:latin typeface="Times New Roman"/>
                <a:cs typeface="Times New Roman"/>
              </a:rPr>
              <a:t> </a:t>
            </a:r>
            <a:r>
              <a:rPr sz="3050" dirty="0">
                <a:latin typeface="Times New Roman"/>
                <a:cs typeface="Times New Roman"/>
              </a:rPr>
              <a:t>Documentation:</a:t>
            </a:r>
            <a:r>
              <a:rPr sz="3050" spc="-100" dirty="0">
                <a:latin typeface="Times New Roman"/>
                <a:cs typeface="Times New Roman"/>
              </a:rPr>
              <a:t> </a:t>
            </a:r>
            <a:r>
              <a:rPr sz="3050" u="heavy" spc="-10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Times New Roman"/>
                <a:cs typeface="Times New Roman"/>
              </a:rPr>
              <a:t>https://api.flutter.dev/flutter/material/MaterialApp-class.html</a:t>
            </a:r>
            <a:endParaRPr sz="305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20104098" cy="1659397"/>
          </a:xfrm>
          <a:prstGeom prst="rect">
            <a:avLst/>
          </a:prstGeom>
        </p:spPr>
      </p:pic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4605" rIns="0" bIns="0" rtlCol="0">
            <a:spAutoFit/>
          </a:bodyPr>
          <a:lstStyle/>
          <a:p>
            <a:pPr marL="2636520">
              <a:lnSpc>
                <a:spcPct val="100000"/>
              </a:lnSpc>
              <a:spcBef>
                <a:spcPts val="115"/>
              </a:spcBef>
            </a:pPr>
            <a:r>
              <a:rPr dirty="0"/>
              <a:t>Material</a:t>
            </a:r>
            <a:r>
              <a:rPr spc="-15" dirty="0"/>
              <a:t> </a:t>
            </a:r>
            <a:r>
              <a:rPr dirty="0"/>
              <a:t>App</a:t>
            </a:r>
            <a:r>
              <a:rPr spc="-10" dirty="0"/>
              <a:t> Class</a:t>
            </a:r>
          </a:p>
        </p:txBody>
      </p:sp>
      <p:grpSp>
        <p:nvGrpSpPr>
          <p:cNvPr id="4" name="object 4"/>
          <p:cNvGrpSpPr/>
          <p:nvPr/>
        </p:nvGrpSpPr>
        <p:grpSpPr>
          <a:xfrm>
            <a:off x="5553495" y="1931642"/>
            <a:ext cx="8997315" cy="9382760"/>
            <a:chOff x="5553495" y="1931642"/>
            <a:chExt cx="8997315" cy="9382760"/>
          </a:xfrm>
        </p:grpSpPr>
        <p:pic>
          <p:nvPicPr>
            <p:cNvPr id="5" name="object 5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5563809" y="1940045"/>
              <a:ext cx="8976480" cy="9368510"/>
            </a:xfrm>
            <a:prstGeom prst="rect">
              <a:avLst/>
            </a:prstGeom>
          </p:spPr>
        </p:pic>
        <p:sp>
          <p:nvSpPr>
            <p:cNvPr id="6" name="object 6"/>
            <p:cNvSpPr/>
            <p:nvPr/>
          </p:nvSpPr>
          <p:spPr>
            <a:xfrm>
              <a:off x="5558730" y="1936877"/>
              <a:ext cx="8987155" cy="9371965"/>
            </a:xfrm>
            <a:custGeom>
              <a:avLst/>
              <a:gdLst/>
              <a:ahLst/>
              <a:cxnLst/>
              <a:rect l="l" t="t" r="r" b="b"/>
              <a:pathLst>
                <a:path w="8987155" h="9371965">
                  <a:moveTo>
                    <a:pt x="0" y="9371678"/>
                  </a:moveTo>
                  <a:lnTo>
                    <a:pt x="0" y="0"/>
                  </a:lnTo>
                  <a:lnTo>
                    <a:pt x="8986637" y="0"/>
                  </a:lnTo>
                  <a:lnTo>
                    <a:pt x="8986637" y="9371678"/>
                  </a:lnTo>
                </a:path>
              </a:pathLst>
            </a:custGeom>
            <a:ln w="1047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20104098" cy="1554691"/>
          </a:xfrm>
          <a:prstGeom prst="rect">
            <a:avLst/>
          </a:prstGeom>
        </p:spPr>
      </p:pic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4605" rIns="0" bIns="0" rtlCol="0">
            <a:spAutoFit/>
          </a:bodyPr>
          <a:lstStyle/>
          <a:p>
            <a:pPr marL="3794760">
              <a:lnSpc>
                <a:spcPct val="100000"/>
              </a:lnSpc>
              <a:spcBef>
                <a:spcPts val="115"/>
              </a:spcBef>
            </a:pPr>
            <a:r>
              <a:rPr dirty="0"/>
              <a:t>Scaffold</a:t>
            </a:r>
            <a:r>
              <a:rPr spc="-30" dirty="0"/>
              <a:t> </a:t>
            </a:r>
            <a:r>
              <a:rPr spc="-10" dirty="0"/>
              <a:t>Class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1193526" y="1532384"/>
            <a:ext cx="15523844" cy="3262629"/>
          </a:xfrm>
          <a:prstGeom prst="rect">
            <a:avLst/>
          </a:prstGeom>
        </p:spPr>
        <p:txBody>
          <a:bodyPr vert="horz" wrap="square" lIns="0" tIns="278130" rIns="0" bIns="0" rtlCol="0">
            <a:spAutoFit/>
          </a:bodyPr>
          <a:lstStyle/>
          <a:p>
            <a:pPr marL="739775" indent="-727075">
              <a:lnSpc>
                <a:spcPct val="100000"/>
              </a:lnSpc>
              <a:spcBef>
                <a:spcPts val="2190"/>
              </a:spcBef>
              <a:buFont typeface="Calibri"/>
              <a:buChar char="●"/>
              <a:tabLst>
                <a:tab pos="739775" algn="l"/>
              </a:tabLst>
            </a:pPr>
            <a:r>
              <a:rPr sz="3550" dirty="0">
                <a:latin typeface="Times New Roman"/>
                <a:cs typeface="Times New Roman"/>
              </a:rPr>
              <a:t>Predefined</a:t>
            </a:r>
            <a:r>
              <a:rPr sz="3550" spc="-75" dirty="0">
                <a:latin typeface="Times New Roman"/>
                <a:cs typeface="Times New Roman"/>
              </a:rPr>
              <a:t> </a:t>
            </a:r>
            <a:r>
              <a:rPr sz="3550" dirty="0">
                <a:latin typeface="Times New Roman"/>
                <a:cs typeface="Times New Roman"/>
              </a:rPr>
              <a:t>class</a:t>
            </a:r>
            <a:r>
              <a:rPr sz="3550" spc="-70" dirty="0">
                <a:latin typeface="Times New Roman"/>
                <a:cs typeface="Times New Roman"/>
              </a:rPr>
              <a:t> </a:t>
            </a:r>
            <a:r>
              <a:rPr sz="3550" dirty="0">
                <a:latin typeface="Times New Roman"/>
                <a:cs typeface="Times New Roman"/>
              </a:rPr>
              <a:t>in</a:t>
            </a:r>
            <a:r>
              <a:rPr sz="3550" spc="-70" dirty="0">
                <a:latin typeface="Times New Roman"/>
                <a:cs typeface="Times New Roman"/>
              </a:rPr>
              <a:t> </a:t>
            </a:r>
            <a:r>
              <a:rPr sz="3550" dirty="0">
                <a:latin typeface="Times New Roman"/>
                <a:cs typeface="Times New Roman"/>
              </a:rPr>
              <a:t>a</a:t>
            </a:r>
            <a:r>
              <a:rPr sz="3550" spc="-70" dirty="0">
                <a:latin typeface="Times New Roman"/>
                <a:cs typeface="Times New Roman"/>
              </a:rPr>
              <a:t> </a:t>
            </a:r>
            <a:r>
              <a:rPr sz="3550" spc="-10" dirty="0">
                <a:latin typeface="Times New Roman"/>
                <a:cs typeface="Times New Roman"/>
              </a:rPr>
              <a:t>flutter.</a:t>
            </a:r>
            <a:endParaRPr sz="3550">
              <a:latin typeface="Times New Roman"/>
              <a:cs typeface="Times New Roman"/>
            </a:endParaRPr>
          </a:p>
          <a:p>
            <a:pPr marL="739775" indent="-727075">
              <a:lnSpc>
                <a:spcPct val="100000"/>
              </a:lnSpc>
              <a:spcBef>
                <a:spcPts val="2095"/>
              </a:spcBef>
              <a:buFont typeface="Calibri"/>
              <a:buChar char="●"/>
              <a:tabLst>
                <a:tab pos="739775" algn="l"/>
              </a:tabLst>
            </a:pPr>
            <a:r>
              <a:rPr sz="3550" dirty="0">
                <a:latin typeface="Times New Roman"/>
                <a:cs typeface="Times New Roman"/>
              </a:rPr>
              <a:t>Core</a:t>
            </a:r>
            <a:r>
              <a:rPr sz="3550" spc="-80" dirty="0">
                <a:latin typeface="Times New Roman"/>
                <a:cs typeface="Times New Roman"/>
              </a:rPr>
              <a:t> </a:t>
            </a:r>
            <a:r>
              <a:rPr sz="3550" dirty="0">
                <a:latin typeface="Times New Roman"/>
                <a:cs typeface="Times New Roman"/>
              </a:rPr>
              <a:t>component</a:t>
            </a:r>
            <a:r>
              <a:rPr sz="3550" spc="-80" dirty="0">
                <a:latin typeface="Times New Roman"/>
                <a:cs typeface="Times New Roman"/>
              </a:rPr>
              <a:t> </a:t>
            </a:r>
            <a:r>
              <a:rPr sz="3550" dirty="0">
                <a:latin typeface="Times New Roman"/>
                <a:cs typeface="Times New Roman"/>
              </a:rPr>
              <a:t>of</a:t>
            </a:r>
            <a:r>
              <a:rPr sz="3550" spc="-80" dirty="0">
                <a:latin typeface="Times New Roman"/>
                <a:cs typeface="Times New Roman"/>
              </a:rPr>
              <a:t> </a:t>
            </a:r>
            <a:r>
              <a:rPr sz="3550" spc="-10" dirty="0">
                <a:latin typeface="Times New Roman"/>
                <a:cs typeface="Times New Roman"/>
              </a:rPr>
              <a:t>flutter.</a:t>
            </a:r>
            <a:endParaRPr sz="3550">
              <a:latin typeface="Times New Roman"/>
              <a:cs typeface="Times New Roman"/>
            </a:endParaRPr>
          </a:p>
          <a:p>
            <a:pPr marL="739775" indent="-727075">
              <a:lnSpc>
                <a:spcPct val="100000"/>
              </a:lnSpc>
              <a:spcBef>
                <a:spcPts val="2170"/>
              </a:spcBef>
              <a:buFont typeface="Calibri"/>
              <a:buChar char="●"/>
              <a:tabLst>
                <a:tab pos="739775" algn="l"/>
              </a:tabLst>
            </a:pPr>
            <a:r>
              <a:rPr sz="3550" dirty="0">
                <a:latin typeface="Times New Roman"/>
                <a:cs typeface="Times New Roman"/>
              </a:rPr>
              <a:t>Scaffold</a:t>
            </a:r>
            <a:r>
              <a:rPr sz="3550" spc="-90" dirty="0">
                <a:latin typeface="Times New Roman"/>
                <a:cs typeface="Times New Roman"/>
              </a:rPr>
              <a:t> </a:t>
            </a:r>
            <a:r>
              <a:rPr sz="3550" dirty="0">
                <a:latin typeface="Times New Roman"/>
                <a:cs typeface="Times New Roman"/>
              </a:rPr>
              <a:t>will</a:t>
            </a:r>
            <a:r>
              <a:rPr sz="3550" spc="-80" dirty="0">
                <a:latin typeface="Times New Roman"/>
                <a:cs typeface="Times New Roman"/>
              </a:rPr>
              <a:t> </a:t>
            </a:r>
            <a:r>
              <a:rPr sz="3550" dirty="0">
                <a:latin typeface="Times New Roman"/>
                <a:cs typeface="Times New Roman"/>
              </a:rPr>
              <a:t>expand</a:t>
            </a:r>
            <a:r>
              <a:rPr sz="3550" spc="-85" dirty="0">
                <a:latin typeface="Times New Roman"/>
                <a:cs typeface="Times New Roman"/>
              </a:rPr>
              <a:t> </a:t>
            </a:r>
            <a:r>
              <a:rPr sz="3550" dirty="0">
                <a:latin typeface="Times New Roman"/>
                <a:cs typeface="Times New Roman"/>
              </a:rPr>
              <a:t>or</a:t>
            </a:r>
            <a:r>
              <a:rPr sz="3550" spc="-80" dirty="0">
                <a:latin typeface="Times New Roman"/>
                <a:cs typeface="Times New Roman"/>
              </a:rPr>
              <a:t> </a:t>
            </a:r>
            <a:r>
              <a:rPr sz="3550" dirty="0">
                <a:latin typeface="Times New Roman"/>
                <a:cs typeface="Times New Roman"/>
              </a:rPr>
              <a:t>occupy</a:t>
            </a:r>
            <a:r>
              <a:rPr sz="3550" spc="-85" dirty="0">
                <a:latin typeface="Times New Roman"/>
                <a:cs typeface="Times New Roman"/>
              </a:rPr>
              <a:t> </a:t>
            </a:r>
            <a:r>
              <a:rPr sz="3550" dirty="0">
                <a:latin typeface="Times New Roman"/>
                <a:cs typeface="Times New Roman"/>
              </a:rPr>
              <a:t>the</a:t>
            </a:r>
            <a:r>
              <a:rPr sz="3550" spc="-85" dirty="0">
                <a:latin typeface="Times New Roman"/>
                <a:cs typeface="Times New Roman"/>
              </a:rPr>
              <a:t> </a:t>
            </a:r>
            <a:r>
              <a:rPr sz="3550" dirty="0">
                <a:latin typeface="Times New Roman"/>
                <a:cs typeface="Times New Roman"/>
              </a:rPr>
              <a:t>whole</a:t>
            </a:r>
            <a:r>
              <a:rPr sz="3550" spc="-80" dirty="0">
                <a:latin typeface="Times New Roman"/>
                <a:cs typeface="Times New Roman"/>
              </a:rPr>
              <a:t> </a:t>
            </a:r>
            <a:r>
              <a:rPr sz="3550" dirty="0">
                <a:latin typeface="Times New Roman"/>
                <a:cs typeface="Times New Roman"/>
              </a:rPr>
              <a:t>device</a:t>
            </a:r>
            <a:r>
              <a:rPr sz="3550" spc="-80" dirty="0">
                <a:latin typeface="Times New Roman"/>
                <a:cs typeface="Times New Roman"/>
              </a:rPr>
              <a:t> </a:t>
            </a:r>
            <a:r>
              <a:rPr sz="3550" spc="-10" dirty="0">
                <a:latin typeface="Times New Roman"/>
                <a:cs typeface="Times New Roman"/>
              </a:rPr>
              <a:t>screen.</a:t>
            </a:r>
            <a:endParaRPr sz="3550">
              <a:latin typeface="Times New Roman"/>
              <a:cs typeface="Times New Roman"/>
            </a:endParaRPr>
          </a:p>
          <a:p>
            <a:pPr marL="739775" indent="-727075">
              <a:lnSpc>
                <a:spcPct val="100000"/>
              </a:lnSpc>
              <a:spcBef>
                <a:spcPts val="2090"/>
              </a:spcBef>
              <a:buFont typeface="Calibri"/>
              <a:buChar char="●"/>
              <a:tabLst>
                <a:tab pos="739775" algn="l"/>
              </a:tabLst>
            </a:pPr>
            <a:r>
              <a:rPr sz="3550" dirty="0">
                <a:latin typeface="Times New Roman"/>
                <a:cs typeface="Times New Roman"/>
              </a:rPr>
              <a:t>Official</a:t>
            </a:r>
            <a:r>
              <a:rPr sz="3550" spc="45" dirty="0">
                <a:latin typeface="Times New Roman"/>
                <a:cs typeface="Times New Roman"/>
              </a:rPr>
              <a:t> </a:t>
            </a:r>
            <a:r>
              <a:rPr sz="3550" spc="-10" dirty="0">
                <a:latin typeface="Times New Roman"/>
                <a:cs typeface="Times New Roman"/>
              </a:rPr>
              <a:t>Documentation:</a:t>
            </a:r>
            <a:r>
              <a:rPr sz="3550" spc="50" dirty="0">
                <a:latin typeface="Times New Roman"/>
                <a:cs typeface="Times New Roman"/>
              </a:rPr>
              <a:t> </a:t>
            </a:r>
            <a:r>
              <a:rPr sz="3550" u="heavy" spc="-20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Times New Roman"/>
                <a:cs typeface="Times New Roman"/>
              </a:rPr>
              <a:t>https://api.flutter.dev/flutter/material/Scaffold-</a:t>
            </a:r>
            <a:r>
              <a:rPr sz="3550" u="heavy" spc="-10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Times New Roman"/>
                <a:cs typeface="Times New Roman"/>
              </a:rPr>
              <a:t>class.html</a:t>
            </a:r>
            <a:endParaRPr sz="3550">
              <a:latin typeface="Times New Roman"/>
              <a:cs typeface="Times New Roman"/>
            </a:endParaRPr>
          </a:p>
        </p:txBody>
      </p:sp>
      <p:pic>
        <p:nvPicPr>
          <p:cNvPr id="5" name="object 5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6589118" y="5053668"/>
            <a:ext cx="7184702" cy="542308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20104098" cy="1554692"/>
          </a:xfrm>
          <a:prstGeom prst="rect">
            <a:avLst/>
          </a:prstGeom>
        </p:spPr>
      </p:pic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4605" rIns="0" bIns="0" rtlCol="0">
            <a:spAutoFit/>
          </a:bodyPr>
          <a:lstStyle/>
          <a:p>
            <a:pPr marL="3552190">
              <a:lnSpc>
                <a:spcPct val="100000"/>
              </a:lnSpc>
              <a:spcBef>
                <a:spcPts val="115"/>
              </a:spcBef>
            </a:pPr>
            <a:r>
              <a:rPr dirty="0">
                <a:latin typeface="Roboto"/>
                <a:cs typeface="Roboto"/>
              </a:rPr>
              <a:t>Scaffold</a:t>
            </a:r>
            <a:r>
              <a:rPr spc="-105" dirty="0">
                <a:latin typeface="Roboto"/>
                <a:cs typeface="Roboto"/>
              </a:rPr>
              <a:t> </a:t>
            </a:r>
            <a:r>
              <a:rPr spc="-10" dirty="0">
                <a:latin typeface="Roboto"/>
                <a:cs typeface="Roboto"/>
              </a:rPr>
              <a:t>Class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679972" y="1512552"/>
            <a:ext cx="18615025" cy="7145020"/>
          </a:xfrm>
          <a:prstGeom prst="rect">
            <a:avLst/>
          </a:prstGeom>
        </p:spPr>
        <p:txBody>
          <a:bodyPr vert="horz" wrap="square" lIns="0" tIns="297815" rIns="0" bIns="0" rtlCol="0">
            <a:spAutoFit/>
          </a:bodyPr>
          <a:lstStyle/>
          <a:p>
            <a:pPr marL="739775" indent="-727075">
              <a:lnSpc>
                <a:spcPct val="100000"/>
              </a:lnSpc>
              <a:spcBef>
                <a:spcPts val="2345"/>
              </a:spcBef>
              <a:buFont typeface="Calibri"/>
              <a:buChar char="●"/>
              <a:tabLst>
                <a:tab pos="739775" algn="l"/>
              </a:tabLst>
            </a:pPr>
            <a:r>
              <a:rPr sz="3550" dirty="0">
                <a:latin typeface="Times New Roman"/>
                <a:cs typeface="Times New Roman"/>
              </a:rPr>
              <a:t>Some</a:t>
            </a:r>
            <a:r>
              <a:rPr sz="3550" spc="-100" dirty="0">
                <a:latin typeface="Times New Roman"/>
                <a:cs typeface="Times New Roman"/>
              </a:rPr>
              <a:t> </a:t>
            </a:r>
            <a:r>
              <a:rPr sz="3550" dirty="0">
                <a:latin typeface="Times New Roman"/>
                <a:cs typeface="Times New Roman"/>
              </a:rPr>
              <a:t>Essential</a:t>
            </a:r>
            <a:r>
              <a:rPr sz="3550" spc="-100" dirty="0">
                <a:latin typeface="Times New Roman"/>
                <a:cs typeface="Times New Roman"/>
              </a:rPr>
              <a:t> </a:t>
            </a:r>
            <a:r>
              <a:rPr sz="3550" spc="-10" dirty="0">
                <a:latin typeface="Times New Roman"/>
                <a:cs typeface="Times New Roman"/>
              </a:rPr>
              <a:t>Properties</a:t>
            </a:r>
            <a:endParaRPr sz="3550">
              <a:latin typeface="Times New Roman"/>
              <a:cs typeface="Times New Roman"/>
            </a:endParaRPr>
          </a:p>
          <a:p>
            <a:pPr marL="1645920" lvl="1" indent="-696595">
              <a:lnSpc>
                <a:spcPct val="100000"/>
              </a:lnSpc>
              <a:spcBef>
                <a:spcPts val="1939"/>
              </a:spcBef>
              <a:buFont typeface="Microsoft Sans Serif"/>
              <a:buChar char="●"/>
              <a:tabLst>
                <a:tab pos="1645920" algn="l"/>
              </a:tabLst>
            </a:pPr>
            <a:r>
              <a:rPr sz="3050" dirty="0">
                <a:solidFill>
                  <a:srgbClr val="0070C0"/>
                </a:solidFill>
                <a:latin typeface="Times New Roman"/>
                <a:cs typeface="Times New Roman"/>
              </a:rPr>
              <a:t>appBar:</a:t>
            </a:r>
            <a:r>
              <a:rPr sz="3050" spc="-30" dirty="0">
                <a:solidFill>
                  <a:srgbClr val="0070C0"/>
                </a:solidFill>
                <a:latin typeface="Times New Roman"/>
                <a:cs typeface="Times New Roman"/>
              </a:rPr>
              <a:t> </a:t>
            </a:r>
            <a:r>
              <a:rPr sz="3050" dirty="0">
                <a:latin typeface="Times New Roman"/>
                <a:cs typeface="Times New Roman"/>
              </a:rPr>
              <a:t>An</a:t>
            </a:r>
            <a:r>
              <a:rPr sz="3050" spc="-20" dirty="0">
                <a:latin typeface="Times New Roman"/>
                <a:cs typeface="Times New Roman"/>
              </a:rPr>
              <a:t> </a:t>
            </a:r>
            <a:r>
              <a:rPr sz="3050" dirty="0">
                <a:latin typeface="Times New Roman"/>
                <a:cs typeface="Times New Roman"/>
              </a:rPr>
              <a:t>app</a:t>
            </a:r>
            <a:r>
              <a:rPr sz="3050" spc="-20" dirty="0">
                <a:latin typeface="Times New Roman"/>
                <a:cs typeface="Times New Roman"/>
              </a:rPr>
              <a:t> </a:t>
            </a:r>
            <a:r>
              <a:rPr sz="3050" dirty="0">
                <a:latin typeface="Times New Roman"/>
                <a:cs typeface="Times New Roman"/>
              </a:rPr>
              <a:t>bar</a:t>
            </a:r>
            <a:r>
              <a:rPr sz="3050" spc="-20" dirty="0">
                <a:latin typeface="Times New Roman"/>
                <a:cs typeface="Times New Roman"/>
              </a:rPr>
              <a:t> </a:t>
            </a:r>
            <a:r>
              <a:rPr sz="3050" dirty="0">
                <a:latin typeface="Times New Roman"/>
                <a:cs typeface="Times New Roman"/>
              </a:rPr>
              <a:t>to</a:t>
            </a:r>
            <a:r>
              <a:rPr sz="3050" spc="-25" dirty="0">
                <a:latin typeface="Times New Roman"/>
                <a:cs typeface="Times New Roman"/>
              </a:rPr>
              <a:t> </a:t>
            </a:r>
            <a:r>
              <a:rPr sz="3050" dirty="0">
                <a:latin typeface="Times New Roman"/>
                <a:cs typeface="Times New Roman"/>
              </a:rPr>
              <a:t>display</a:t>
            </a:r>
            <a:r>
              <a:rPr sz="3050" spc="-20" dirty="0">
                <a:latin typeface="Times New Roman"/>
                <a:cs typeface="Times New Roman"/>
              </a:rPr>
              <a:t> </a:t>
            </a:r>
            <a:r>
              <a:rPr sz="3050" dirty="0">
                <a:latin typeface="Times New Roman"/>
                <a:cs typeface="Times New Roman"/>
              </a:rPr>
              <a:t>at</a:t>
            </a:r>
            <a:r>
              <a:rPr sz="3050" spc="-25" dirty="0">
                <a:latin typeface="Times New Roman"/>
                <a:cs typeface="Times New Roman"/>
              </a:rPr>
              <a:t> </a:t>
            </a:r>
            <a:r>
              <a:rPr sz="3050" dirty="0">
                <a:latin typeface="Times New Roman"/>
                <a:cs typeface="Times New Roman"/>
              </a:rPr>
              <a:t>the</a:t>
            </a:r>
            <a:r>
              <a:rPr sz="3050" spc="-25" dirty="0">
                <a:latin typeface="Times New Roman"/>
                <a:cs typeface="Times New Roman"/>
              </a:rPr>
              <a:t> </a:t>
            </a:r>
            <a:r>
              <a:rPr sz="3050" dirty="0">
                <a:latin typeface="Times New Roman"/>
                <a:cs typeface="Times New Roman"/>
              </a:rPr>
              <a:t>top</a:t>
            </a:r>
            <a:r>
              <a:rPr sz="3050" spc="-20" dirty="0">
                <a:latin typeface="Times New Roman"/>
                <a:cs typeface="Times New Roman"/>
              </a:rPr>
              <a:t> </a:t>
            </a:r>
            <a:r>
              <a:rPr sz="3050" dirty="0">
                <a:latin typeface="Times New Roman"/>
                <a:cs typeface="Times New Roman"/>
              </a:rPr>
              <a:t>of</a:t>
            </a:r>
            <a:r>
              <a:rPr sz="3050" spc="-25" dirty="0">
                <a:latin typeface="Times New Roman"/>
                <a:cs typeface="Times New Roman"/>
              </a:rPr>
              <a:t> </a:t>
            </a:r>
            <a:r>
              <a:rPr sz="3050" dirty="0">
                <a:latin typeface="Times New Roman"/>
                <a:cs typeface="Times New Roman"/>
              </a:rPr>
              <a:t>the</a:t>
            </a:r>
            <a:r>
              <a:rPr sz="3050" spc="-25" dirty="0">
                <a:latin typeface="Times New Roman"/>
                <a:cs typeface="Times New Roman"/>
              </a:rPr>
              <a:t> </a:t>
            </a:r>
            <a:r>
              <a:rPr sz="3050" spc="-10" dirty="0">
                <a:latin typeface="Times New Roman"/>
                <a:cs typeface="Times New Roman"/>
              </a:rPr>
              <a:t>scaffold.</a:t>
            </a:r>
            <a:endParaRPr sz="3050">
              <a:latin typeface="Times New Roman"/>
              <a:cs typeface="Times New Roman"/>
            </a:endParaRPr>
          </a:p>
          <a:p>
            <a:pPr marL="1645920" lvl="1" indent="-696595">
              <a:lnSpc>
                <a:spcPct val="100000"/>
              </a:lnSpc>
              <a:spcBef>
                <a:spcPts val="1860"/>
              </a:spcBef>
              <a:buFont typeface="Microsoft Sans Serif"/>
              <a:buChar char="●"/>
              <a:tabLst>
                <a:tab pos="1645920" algn="l"/>
              </a:tabLst>
            </a:pPr>
            <a:r>
              <a:rPr sz="3050" dirty="0">
                <a:solidFill>
                  <a:srgbClr val="0070C0"/>
                </a:solidFill>
                <a:latin typeface="Times New Roman"/>
                <a:cs typeface="Times New Roman"/>
              </a:rPr>
              <a:t>backgroundColor:</a:t>
            </a:r>
            <a:r>
              <a:rPr sz="3050" spc="-45" dirty="0">
                <a:solidFill>
                  <a:srgbClr val="0070C0"/>
                </a:solidFill>
                <a:latin typeface="Times New Roman"/>
                <a:cs typeface="Times New Roman"/>
              </a:rPr>
              <a:t> </a:t>
            </a:r>
            <a:r>
              <a:rPr sz="3050" dirty="0">
                <a:latin typeface="Times New Roman"/>
                <a:cs typeface="Times New Roman"/>
              </a:rPr>
              <a:t>The</a:t>
            </a:r>
            <a:r>
              <a:rPr sz="3050" spc="-45" dirty="0">
                <a:latin typeface="Times New Roman"/>
                <a:cs typeface="Times New Roman"/>
              </a:rPr>
              <a:t> </a:t>
            </a:r>
            <a:r>
              <a:rPr sz="3050" dirty="0">
                <a:latin typeface="Times New Roman"/>
                <a:cs typeface="Times New Roman"/>
              </a:rPr>
              <a:t>color</a:t>
            </a:r>
            <a:r>
              <a:rPr sz="3050" spc="-40" dirty="0">
                <a:latin typeface="Times New Roman"/>
                <a:cs typeface="Times New Roman"/>
              </a:rPr>
              <a:t> </a:t>
            </a:r>
            <a:r>
              <a:rPr sz="3050" dirty="0">
                <a:latin typeface="Times New Roman"/>
                <a:cs typeface="Times New Roman"/>
              </a:rPr>
              <a:t>of</a:t>
            </a:r>
            <a:r>
              <a:rPr sz="3050" spc="-40" dirty="0">
                <a:latin typeface="Times New Roman"/>
                <a:cs typeface="Times New Roman"/>
              </a:rPr>
              <a:t> </a:t>
            </a:r>
            <a:r>
              <a:rPr sz="3050" dirty="0">
                <a:latin typeface="Times New Roman"/>
                <a:cs typeface="Times New Roman"/>
              </a:rPr>
              <a:t>the</a:t>
            </a:r>
            <a:r>
              <a:rPr sz="3050" spc="-40" dirty="0">
                <a:latin typeface="Times New Roman"/>
                <a:cs typeface="Times New Roman"/>
              </a:rPr>
              <a:t> </a:t>
            </a:r>
            <a:r>
              <a:rPr sz="3050" dirty="0">
                <a:latin typeface="Times New Roman"/>
                <a:cs typeface="Times New Roman"/>
              </a:rPr>
              <a:t>Material</a:t>
            </a:r>
            <a:r>
              <a:rPr sz="3050" spc="-45" dirty="0">
                <a:latin typeface="Times New Roman"/>
                <a:cs typeface="Times New Roman"/>
              </a:rPr>
              <a:t> </a:t>
            </a:r>
            <a:r>
              <a:rPr sz="3050" dirty="0">
                <a:latin typeface="Times New Roman"/>
                <a:cs typeface="Times New Roman"/>
              </a:rPr>
              <a:t>widget</a:t>
            </a:r>
            <a:r>
              <a:rPr sz="3050" spc="-45" dirty="0">
                <a:latin typeface="Times New Roman"/>
                <a:cs typeface="Times New Roman"/>
              </a:rPr>
              <a:t> </a:t>
            </a:r>
            <a:r>
              <a:rPr sz="3050" dirty="0">
                <a:latin typeface="Times New Roman"/>
                <a:cs typeface="Times New Roman"/>
              </a:rPr>
              <a:t>that</a:t>
            </a:r>
            <a:r>
              <a:rPr sz="3050" spc="-45" dirty="0">
                <a:latin typeface="Times New Roman"/>
                <a:cs typeface="Times New Roman"/>
              </a:rPr>
              <a:t> </a:t>
            </a:r>
            <a:r>
              <a:rPr sz="3050" dirty="0">
                <a:latin typeface="Times New Roman"/>
                <a:cs typeface="Times New Roman"/>
              </a:rPr>
              <a:t>underlies</a:t>
            </a:r>
            <a:r>
              <a:rPr sz="3050" spc="-40" dirty="0">
                <a:latin typeface="Times New Roman"/>
                <a:cs typeface="Times New Roman"/>
              </a:rPr>
              <a:t> </a:t>
            </a:r>
            <a:r>
              <a:rPr sz="3050" dirty="0">
                <a:latin typeface="Times New Roman"/>
                <a:cs typeface="Times New Roman"/>
              </a:rPr>
              <a:t>the</a:t>
            </a:r>
            <a:r>
              <a:rPr sz="3050" spc="-45" dirty="0">
                <a:latin typeface="Times New Roman"/>
                <a:cs typeface="Times New Roman"/>
              </a:rPr>
              <a:t> </a:t>
            </a:r>
            <a:r>
              <a:rPr sz="3050" dirty="0">
                <a:latin typeface="Times New Roman"/>
                <a:cs typeface="Times New Roman"/>
              </a:rPr>
              <a:t>entire</a:t>
            </a:r>
            <a:r>
              <a:rPr sz="3050" spc="-45" dirty="0">
                <a:latin typeface="Times New Roman"/>
                <a:cs typeface="Times New Roman"/>
              </a:rPr>
              <a:t> </a:t>
            </a:r>
            <a:r>
              <a:rPr sz="3050" spc="-10" dirty="0">
                <a:latin typeface="Times New Roman"/>
                <a:cs typeface="Times New Roman"/>
              </a:rPr>
              <a:t>Scaffold.</a:t>
            </a:r>
            <a:endParaRPr sz="3050">
              <a:latin typeface="Times New Roman"/>
              <a:cs typeface="Times New Roman"/>
            </a:endParaRPr>
          </a:p>
          <a:p>
            <a:pPr marL="1645920" lvl="1" indent="-696595">
              <a:lnSpc>
                <a:spcPct val="100000"/>
              </a:lnSpc>
              <a:spcBef>
                <a:spcPts val="1865"/>
              </a:spcBef>
              <a:buFont typeface="Microsoft Sans Serif"/>
              <a:buChar char="●"/>
              <a:tabLst>
                <a:tab pos="1645920" algn="l"/>
              </a:tabLst>
            </a:pPr>
            <a:r>
              <a:rPr sz="3050" dirty="0">
                <a:solidFill>
                  <a:srgbClr val="0070C0"/>
                </a:solidFill>
                <a:latin typeface="Times New Roman"/>
                <a:cs typeface="Times New Roman"/>
              </a:rPr>
              <a:t>body:</a:t>
            </a:r>
            <a:r>
              <a:rPr sz="3050" spc="-40" dirty="0">
                <a:solidFill>
                  <a:srgbClr val="0070C0"/>
                </a:solidFill>
                <a:latin typeface="Times New Roman"/>
                <a:cs typeface="Times New Roman"/>
              </a:rPr>
              <a:t> </a:t>
            </a:r>
            <a:r>
              <a:rPr sz="3050" dirty="0">
                <a:latin typeface="Times New Roman"/>
                <a:cs typeface="Times New Roman"/>
              </a:rPr>
              <a:t>The</a:t>
            </a:r>
            <a:r>
              <a:rPr sz="3050" spc="-40" dirty="0">
                <a:latin typeface="Times New Roman"/>
                <a:cs typeface="Times New Roman"/>
              </a:rPr>
              <a:t> </a:t>
            </a:r>
            <a:r>
              <a:rPr sz="3050" dirty="0">
                <a:latin typeface="Times New Roman"/>
                <a:cs typeface="Times New Roman"/>
              </a:rPr>
              <a:t>primary</a:t>
            </a:r>
            <a:r>
              <a:rPr sz="3050" spc="-35" dirty="0">
                <a:latin typeface="Times New Roman"/>
                <a:cs typeface="Times New Roman"/>
              </a:rPr>
              <a:t> </a:t>
            </a:r>
            <a:r>
              <a:rPr sz="3050" dirty="0">
                <a:latin typeface="Times New Roman"/>
                <a:cs typeface="Times New Roman"/>
              </a:rPr>
              <a:t>content</a:t>
            </a:r>
            <a:r>
              <a:rPr sz="3050" spc="-40" dirty="0">
                <a:latin typeface="Times New Roman"/>
                <a:cs typeface="Times New Roman"/>
              </a:rPr>
              <a:t> </a:t>
            </a:r>
            <a:r>
              <a:rPr sz="3050" dirty="0">
                <a:latin typeface="Times New Roman"/>
                <a:cs typeface="Times New Roman"/>
              </a:rPr>
              <a:t>of</a:t>
            </a:r>
            <a:r>
              <a:rPr sz="3050" spc="-35" dirty="0">
                <a:latin typeface="Times New Roman"/>
                <a:cs typeface="Times New Roman"/>
              </a:rPr>
              <a:t> </a:t>
            </a:r>
            <a:r>
              <a:rPr sz="3050" dirty="0">
                <a:latin typeface="Times New Roman"/>
                <a:cs typeface="Times New Roman"/>
              </a:rPr>
              <a:t>the</a:t>
            </a:r>
            <a:r>
              <a:rPr sz="3050" spc="-40" dirty="0">
                <a:latin typeface="Times New Roman"/>
                <a:cs typeface="Times New Roman"/>
              </a:rPr>
              <a:t> </a:t>
            </a:r>
            <a:r>
              <a:rPr sz="3050" spc="-10" dirty="0">
                <a:latin typeface="Times New Roman"/>
                <a:cs typeface="Times New Roman"/>
              </a:rPr>
              <a:t>scaffold.</a:t>
            </a:r>
            <a:endParaRPr sz="3050">
              <a:latin typeface="Times New Roman"/>
              <a:cs typeface="Times New Roman"/>
            </a:endParaRPr>
          </a:p>
          <a:p>
            <a:pPr marL="1645920" lvl="1" indent="-696595">
              <a:lnSpc>
                <a:spcPct val="100000"/>
              </a:lnSpc>
              <a:spcBef>
                <a:spcPts val="1780"/>
              </a:spcBef>
              <a:buFont typeface="Microsoft Sans Serif"/>
              <a:buChar char="●"/>
              <a:tabLst>
                <a:tab pos="1645920" algn="l"/>
              </a:tabLst>
            </a:pPr>
            <a:r>
              <a:rPr sz="3050" spc="-10" dirty="0">
                <a:solidFill>
                  <a:srgbClr val="0070C0"/>
                </a:solidFill>
                <a:latin typeface="Times New Roman"/>
                <a:cs typeface="Times New Roman"/>
              </a:rPr>
              <a:t>bottomNavigationBar:</a:t>
            </a:r>
            <a:r>
              <a:rPr sz="3050" spc="-45" dirty="0">
                <a:solidFill>
                  <a:srgbClr val="0070C0"/>
                </a:solidFill>
                <a:latin typeface="Times New Roman"/>
                <a:cs typeface="Times New Roman"/>
              </a:rPr>
              <a:t> </a:t>
            </a:r>
            <a:r>
              <a:rPr sz="3050" dirty="0">
                <a:latin typeface="Times New Roman"/>
                <a:cs typeface="Times New Roman"/>
              </a:rPr>
              <a:t>A</a:t>
            </a:r>
            <a:r>
              <a:rPr sz="3050" spc="-35" dirty="0">
                <a:latin typeface="Times New Roman"/>
                <a:cs typeface="Times New Roman"/>
              </a:rPr>
              <a:t> </a:t>
            </a:r>
            <a:r>
              <a:rPr sz="3050" dirty="0">
                <a:latin typeface="Times New Roman"/>
                <a:cs typeface="Times New Roman"/>
              </a:rPr>
              <a:t>bottom</a:t>
            </a:r>
            <a:r>
              <a:rPr sz="3050" spc="-40" dirty="0">
                <a:latin typeface="Times New Roman"/>
                <a:cs typeface="Times New Roman"/>
              </a:rPr>
              <a:t> </a:t>
            </a:r>
            <a:r>
              <a:rPr sz="3050" dirty="0">
                <a:latin typeface="Times New Roman"/>
                <a:cs typeface="Times New Roman"/>
              </a:rPr>
              <a:t>navigation</a:t>
            </a:r>
            <a:r>
              <a:rPr sz="3050" spc="-35" dirty="0">
                <a:latin typeface="Times New Roman"/>
                <a:cs typeface="Times New Roman"/>
              </a:rPr>
              <a:t> </a:t>
            </a:r>
            <a:r>
              <a:rPr sz="3050" dirty="0">
                <a:latin typeface="Times New Roman"/>
                <a:cs typeface="Times New Roman"/>
              </a:rPr>
              <a:t>bar</a:t>
            </a:r>
            <a:r>
              <a:rPr sz="3050" spc="-40" dirty="0">
                <a:latin typeface="Times New Roman"/>
                <a:cs typeface="Times New Roman"/>
              </a:rPr>
              <a:t> </a:t>
            </a:r>
            <a:r>
              <a:rPr sz="3050" dirty="0">
                <a:latin typeface="Times New Roman"/>
                <a:cs typeface="Times New Roman"/>
              </a:rPr>
              <a:t>to</a:t>
            </a:r>
            <a:r>
              <a:rPr sz="3050" spc="-35" dirty="0">
                <a:latin typeface="Times New Roman"/>
                <a:cs typeface="Times New Roman"/>
              </a:rPr>
              <a:t> </a:t>
            </a:r>
            <a:r>
              <a:rPr sz="3050" dirty="0">
                <a:latin typeface="Times New Roman"/>
                <a:cs typeface="Times New Roman"/>
              </a:rPr>
              <a:t>display</a:t>
            </a:r>
            <a:r>
              <a:rPr sz="3050" spc="-35" dirty="0">
                <a:latin typeface="Times New Roman"/>
                <a:cs typeface="Times New Roman"/>
              </a:rPr>
              <a:t> </a:t>
            </a:r>
            <a:r>
              <a:rPr sz="3050" dirty="0">
                <a:latin typeface="Times New Roman"/>
                <a:cs typeface="Times New Roman"/>
              </a:rPr>
              <a:t>at</a:t>
            </a:r>
            <a:r>
              <a:rPr sz="3050" spc="-40" dirty="0">
                <a:latin typeface="Times New Roman"/>
                <a:cs typeface="Times New Roman"/>
              </a:rPr>
              <a:t> </a:t>
            </a:r>
            <a:r>
              <a:rPr sz="3050" dirty="0">
                <a:latin typeface="Times New Roman"/>
                <a:cs typeface="Times New Roman"/>
              </a:rPr>
              <a:t>the</a:t>
            </a:r>
            <a:r>
              <a:rPr sz="3050" spc="-45" dirty="0">
                <a:latin typeface="Times New Roman"/>
                <a:cs typeface="Times New Roman"/>
              </a:rPr>
              <a:t> </a:t>
            </a:r>
            <a:r>
              <a:rPr sz="3050" dirty="0">
                <a:latin typeface="Times New Roman"/>
                <a:cs typeface="Times New Roman"/>
              </a:rPr>
              <a:t>bottom</a:t>
            </a:r>
            <a:r>
              <a:rPr sz="3050" spc="-40" dirty="0">
                <a:latin typeface="Times New Roman"/>
                <a:cs typeface="Times New Roman"/>
              </a:rPr>
              <a:t> </a:t>
            </a:r>
            <a:r>
              <a:rPr sz="3050" dirty="0">
                <a:latin typeface="Times New Roman"/>
                <a:cs typeface="Times New Roman"/>
              </a:rPr>
              <a:t>of</a:t>
            </a:r>
            <a:r>
              <a:rPr sz="3050" spc="-35" dirty="0">
                <a:latin typeface="Times New Roman"/>
                <a:cs typeface="Times New Roman"/>
              </a:rPr>
              <a:t> </a:t>
            </a:r>
            <a:r>
              <a:rPr sz="3050" dirty="0">
                <a:latin typeface="Times New Roman"/>
                <a:cs typeface="Times New Roman"/>
              </a:rPr>
              <a:t>the</a:t>
            </a:r>
            <a:r>
              <a:rPr sz="3050" spc="-40" dirty="0">
                <a:latin typeface="Times New Roman"/>
                <a:cs typeface="Times New Roman"/>
              </a:rPr>
              <a:t> </a:t>
            </a:r>
            <a:r>
              <a:rPr sz="3050" spc="-10" dirty="0">
                <a:latin typeface="Times New Roman"/>
                <a:cs typeface="Times New Roman"/>
              </a:rPr>
              <a:t>scaffold.</a:t>
            </a:r>
            <a:endParaRPr sz="3050">
              <a:latin typeface="Times New Roman"/>
              <a:cs typeface="Times New Roman"/>
            </a:endParaRPr>
          </a:p>
          <a:p>
            <a:pPr marL="1645920" marR="5080" lvl="1" indent="-696595">
              <a:lnSpc>
                <a:spcPct val="148700"/>
              </a:lnSpc>
              <a:spcBef>
                <a:spcPts val="75"/>
              </a:spcBef>
              <a:buFont typeface="Microsoft Sans Serif"/>
              <a:buChar char="●"/>
              <a:tabLst>
                <a:tab pos="1645920" algn="l"/>
              </a:tabLst>
            </a:pPr>
            <a:r>
              <a:rPr sz="3050" dirty="0">
                <a:solidFill>
                  <a:srgbClr val="0070C0"/>
                </a:solidFill>
                <a:latin typeface="Times New Roman"/>
                <a:cs typeface="Times New Roman"/>
              </a:rPr>
              <a:t>drawer:</a:t>
            </a:r>
            <a:r>
              <a:rPr sz="3050" spc="-35" dirty="0">
                <a:solidFill>
                  <a:srgbClr val="0070C0"/>
                </a:solidFill>
                <a:latin typeface="Times New Roman"/>
                <a:cs typeface="Times New Roman"/>
              </a:rPr>
              <a:t> </a:t>
            </a:r>
            <a:r>
              <a:rPr sz="3050" dirty="0">
                <a:latin typeface="Times New Roman"/>
                <a:cs typeface="Times New Roman"/>
              </a:rPr>
              <a:t>A</a:t>
            </a:r>
            <a:r>
              <a:rPr sz="3050" spc="-30" dirty="0">
                <a:latin typeface="Times New Roman"/>
                <a:cs typeface="Times New Roman"/>
              </a:rPr>
              <a:t> </a:t>
            </a:r>
            <a:r>
              <a:rPr sz="3050" dirty="0">
                <a:latin typeface="Times New Roman"/>
                <a:cs typeface="Times New Roman"/>
              </a:rPr>
              <a:t>panel</a:t>
            </a:r>
            <a:r>
              <a:rPr sz="3050" spc="-30" dirty="0">
                <a:latin typeface="Times New Roman"/>
                <a:cs typeface="Times New Roman"/>
              </a:rPr>
              <a:t> </a:t>
            </a:r>
            <a:r>
              <a:rPr sz="3050" dirty="0">
                <a:latin typeface="Times New Roman"/>
                <a:cs typeface="Times New Roman"/>
              </a:rPr>
              <a:t>displayed</a:t>
            </a:r>
            <a:r>
              <a:rPr sz="3050" spc="-30" dirty="0">
                <a:latin typeface="Times New Roman"/>
                <a:cs typeface="Times New Roman"/>
              </a:rPr>
              <a:t> </a:t>
            </a:r>
            <a:r>
              <a:rPr sz="3050" dirty="0">
                <a:latin typeface="Times New Roman"/>
                <a:cs typeface="Times New Roman"/>
              </a:rPr>
              <a:t>to</a:t>
            </a:r>
            <a:r>
              <a:rPr sz="3050" spc="-25" dirty="0">
                <a:latin typeface="Times New Roman"/>
                <a:cs typeface="Times New Roman"/>
              </a:rPr>
              <a:t> </a:t>
            </a:r>
            <a:r>
              <a:rPr sz="3050" dirty="0">
                <a:latin typeface="Times New Roman"/>
                <a:cs typeface="Times New Roman"/>
              </a:rPr>
              <a:t>the</a:t>
            </a:r>
            <a:r>
              <a:rPr sz="3050" spc="-35" dirty="0">
                <a:latin typeface="Times New Roman"/>
                <a:cs typeface="Times New Roman"/>
              </a:rPr>
              <a:t> </a:t>
            </a:r>
            <a:r>
              <a:rPr sz="3050" dirty="0">
                <a:latin typeface="Times New Roman"/>
                <a:cs typeface="Times New Roman"/>
              </a:rPr>
              <a:t>side</a:t>
            </a:r>
            <a:r>
              <a:rPr sz="3050" spc="-30" dirty="0">
                <a:latin typeface="Times New Roman"/>
                <a:cs typeface="Times New Roman"/>
              </a:rPr>
              <a:t> </a:t>
            </a:r>
            <a:r>
              <a:rPr sz="3050" dirty="0">
                <a:latin typeface="Times New Roman"/>
                <a:cs typeface="Times New Roman"/>
              </a:rPr>
              <a:t>of</a:t>
            </a:r>
            <a:r>
              <a:rPr sz="3050" spc="-30" dirty="0">
                <a:latin typeface="Times New Roman"/>
                <a:cs typeface="Times New Roman"/>
              </a:rPr>
              <a:t> </a:t>
            </a:r>
            <a:r>
              <a:rPr sz="3050" dirty="0">
                <a:latin typeface="Times New Roman"/>
                <a:cs typeface="Times New Roman"/>
              </a:rPr>
              <a:t>the</a:t>
            </a:r>
            <a:r>
              <a:rPr sz="3050" spc="-30" dirty="0">
                <a:latin typeface="Times New Roman"/>
                <a:cs typeface="Times New Roman"/>
              </a:rPr>
              <a:t> </a:t>
            </a:r>
            <a:r>
              <a:rPr sz="3050" dirty="0">
                <a:latin typeface="Times New Roman"/>
                <a:cs typeface="Times New Roman"/>
              </a:rPr>
              <a:t>body,</a:t>
            </a:r>
            <a:r>
              <a:rPr sz="3050" spc="-30" dirty="0">
                <a:latin typeface="Times New Roman"/>
                <a:cs typeface="Times New Roman"/>
              </a:rPr>
              <a:t> </a:t>
            </a:r>
            <a:r>
              <a:rPr sz="3050" dirty="0">
                <a:latin typeface="Times New Roman"/>
                <a:cs typeface="Times New Roman"/>
              </a:rPr>
              <a:t>often</a:t>
            </a:r>
            <a:r>
              <a:rPr sz="3050" spc="-30" dirty="0">
                <a:latin typeface="Times New Roman"/>
                <a:cs typeface="Times New Roman"/>
              </a:rPr>
              <a:t> </a:t>
            </a:r>
            <a:r>
              <a:rPr sz="3050" dirty="0">
                <a:latin typeface="Times New Roman"/>
                <a:cs typeface="Times New Roman"/>
              </a:rPr>
              <a:t>hidden</a:t>
            </a:r>
            <a:r>
              <a:rPr sz="3050" spc="-25" dirty="0">
                <a:latin typeface="Times New Roman"/>
                <a:cs typeface="Times New Roman"/>
              </a:rPr>
              <a:t> </a:t>
            </a:r>
            <a:r>
              <a:rPr sz="3050" dirty="0">
                <a:latin typeface="Times New Roman"/>
                <a:cs typeface="Times New Roman"/>
              </a:rPr>
              <a:t>on</a:t>
            </a:r>
            <a:r>
              <a:rPr sz="3050" spc="-30" dirty="0">
                <a:latin typeface="Times New Roman"/>
                <a:cs typeface="Times New Roman"/>
              </a:rPr>
              <a:t> </a:t>
            </a:r>
            <a:r>
              <a:rPr sz="3050" dirty="0">
                <a:latin typeface="Times New Roman"/>
                <a:cs typeface="Times New Roman"/>
              </a:rPr>
              <a:t>mobile</a:t>
            </a:r>
            <a:r>
              <a:rPr sz="3050" spc="-30" dirty="0">
                <a:latin typeface="Times New Roman"/>
                <a:cs typeface="Times New Roman"/>
              </a:rPr>
              <a:t> </a:t>
            </a:r>
            <a:r>
              <a:rPr sz="3050" dirty="0">
                <a:latin typeface="Times New Roman"/>
                <a:cs typeface="Times New Roman"/>
              </a:rPr>
              <a:t>devices.</a:t>
            </a:r>
            <a:r>
              <a:rPr sz="3050" spc="-30" dirty="0">
                <a:latin typeface="Times New Roman"/>
                <a:cs typeface="Times New Roman"/>
              </a:rPr>
              <a:t> </a:t>
            </a:r>
            <a:r>
              <a:rPr sz="3050" dirty="0">
                <a:latin typeface="Times New Roman"/>
                <a:cs typeface="Times New Roman"/>
              </a:rPr>
              <a:t>Swipes</a:t>
            </a:r>
            <a:r>
              <a:rPr sz="3050" spc="-30" dirty="0">
                <a:latin typeface="Times New Roman"/>
                <a:cs typeface="Times New Roman"/>
              </a:rPr>
              <a:t> </a:t>
            </a:r>
            <a:r>
              <a:rPr sz="3050" dirty="0">
                <a:latin typeface="Times New Roman"/>
                <a:cs typeface="Times New Roman"/>
              </a:rPr>
              <a:t>in</a:t>
            </a:r>
            <a:r>
              <a:rPr sz="3050" spc="-30" dirty="0">
                <a:latin typeface="Times New Roman"/>
                <a:cs typeface="Times New Roman"/>
              </a:rPr>
              <a:t> </a:t>
            </a:r>
            <a:r>
              <a:rPr sz="3050" dirty="0">
                <a:latin typeface="Times New Roman"/>
                <a:cs typeface="Times New Roman"/>
              </a:rPr>
              <a:t>from</a:t>
            </a:r>
            <a:r>
              <a:rPr sz="3050" spc="-35" dirty="0">
                <a:latin typeface="Times New Roman"/>
                <a:cs typeface="Times New Roman"/>
              </a:rPr>
              <a:t> </a:t>
            </a:r>
            <a:r>
              <a:rPr sz="3050" dirty="0">
                <a:latin typeface="Times New Roman"/>
                <a:cs typeface="Times New Roman"/>
              </a:rPr>
              <a:t>either</a:t>
            </a:r>
            <a:r>
              <a:rPr sz="3050" spc="-25" dirty="0">
                <a:latin typeface="Times New Roman"/>
                <a:cs typeface="Times New Roman"/>
              </a:rPr>
              <a:t> </a:t>
            </a:r>
            <a:r>
              <a:rPr sz="3050" spc="-20" dirty="0">
                <a:latin typeface="Times New Roman"/>
                <a:cs typeface="Times New Roman"/>
              </a:rPr>
              <a:t>left- </a:t>
            </a:r>
            <a:r>
              <a:rPr sz="3050" spc="-10" dirty="0">
                <a:latin typeface="Times New Roman"/>
                <a:cs typeface="Times New Roman"/>
              </a:rPr>
              <a:t>to-</a:t>
            </a:r>
            <a:r>
              <a:rPr sz="3050" dirty="0">
                <a:latin typeface="Times New Roman"/>
                <a:cs typeface="Times New Roman"/>
              </a:rPr>
              <a:t>right</a:t>
            </a:r>
            <a:r>
              <a:rPr sz="3050" spc="-30" dirty="0">
                <a:latin typeface="Times New Roman"/>
                <a:cs typeface="Times New Roman"/>
              </a:rPr>
              <a:t> </a:t>
            </a:r>
            <a:r>
              <a:rPr sz="3050" dirty="0">
                <a:latin typeface="Times New Roman"/>
                <a:cs typeface="Times New Roman"/>
              </a:rPr>
              <a:t>or</a:t>
            </a:r>
            <a:r>
              <a:rPr sz="3050" spc="-25" dirty="0">
                <a:latin typeface="Times New Roman"/>
                <a:cs typeface="Times New Roman"/>
              </a:rPr>
              <a:t> </a:t>
            </a:r>
            <a:r>
              <a:rPr sz="3050" spc="-10" dirty="0">
                <a:latin typeface="Times New Roman"/>
                <a:cs typeface="Times New Roman"/>
              </a:rPr>
              <a:t>right-to-</a:t>
            </a:r>
            <a:r>
              <a:rPr sz="3050" spc="-20" dirty="0">
                <a:latin typeface="Times New Roman"/>
                <a:cs typeface="Times New Roman"/>
              </a:rPr>
              <a:t>left</a:t>
            </a:r>
            <a:endParaRPr sz="3050">
              <a:latin typeface="Times New Roman"/>
              <a:cs typeface="Times New Roman"/>
            </a:endParaRPr>
          </a:p>
          <a:p>
            <a:pPr marL="1645920" marR="121285" lvl="1" indent="-696595">
              <a:lnSpc>
                <a:spcPts val="5540"/>
              </a:lnSpc>
              <a:spcBef>
                <a:spcPts val="480"/>
              </a:spcBef>
              <a:buFont typeface="Microsoft Sans Serif"/>
              <a:buChar char="●"/>
              <a:tabLst>
                <a:tab pos="1645920" algn="l"/>
              </a:tabLst>
            </a:pPr>
            <a:r>
              <a:rPr sz="3050" dirty="0">
                <a:solidFill>
                  <a:srgbClr val="0070C0"/>
                </a:solidFill>
                <a:latin typeface="Times New Roman"/>
                <a:cs typeface="Times New Roman"/>
              </a:rPr>
              <a:t>endDrawer:</a:t>
            </a:r>
            <a:r>
              <a:rPr sz="3050" spc="-35" dirty="0">
                <a:solidFill>
                  <a:srgbClr val="0070C0"/>
                </a:solidFill>
                <a:latin typeface="Times New Roman"/>
                <a:cs typeface="Times New Roman"/>
              </a:rPr>
              <a:t> </a:t>
            </a:r>
            <a:r>
              <a:rPr sz="3050" dirty="0">
                <a:latin typeface="Times New Roman"/>
                <a:cs typeface="Times New Roman"/>
              </a:rPr>
              <a:t>A</a:t>
            </a:r>
            <a:r>
              <a:rPr sz="3050" spc="-30" dirty="0">
                <a:latin typeface="Times New Roman"/>
                <a:cs typeface="Times New Roman"/>
              </a:rPr>
              <a:t> </a:t>
            </a:r>
            <a:r>
              <a:rPr sz="3050" dirty="0">
                <a:latin typeface="Times New Roman"/>
                <a:cs typeface="Times New Roman"/>
              </a:rPr>
              <a:t>panel</a:t>
            </a:r>
            <a:r>
              <a:rPr sz="3050" spc="-30" dirty="0">
                <a:latin typeface="Times New Roman"/>
                <a:cs typeface="Times New Roman"/>
              </a:rPr>
              <a:t> </a:t>
            </a:r>
            <a:r>
              <a:rPr sz="3050" dirty="0">
                <a:latin typeface="Times New Roman"/>
                <a:cs typeface="Times New Roman"/>
              </a:rPr>
              <a:t>displayed</a:t>
            </a:r>
            <a:r>
              <a:rPr sz="3050" spc="-30" dirty="0">
                <a:latin typeface="Times New Roman"/>
                <a:cs typeface="Times New Roman"/>
              </a:rPr>
              <a:t> </a:t>
            </a:r>
            <a:r>
              <a:rPr sz="3050" dirty="0">
                <a:latin typeface="Times New Roman"/>
                <a:cs typeface="Times New Roman"/>
              </a:rPr>
              <a:t>to</a:t>
            </a:r>
            <a:r>
              <a:rPr sz="3050" spc="-30" dirty="0">
                <a:latin typeface="Times New Roman"/>
                <a:cs typeface="Times New Roman"/>
              </a:rPr>
              <a:t> </a:t>
            </a:r>
            <a:r>
              <a:rPr sz="3050" dirty="0">
                <a:latin typeface="Times New Roman"/>
                <a:cs typeface="Times New Roman"/>
              </a:rPr>
              <a:t>the</a:t>
            </a:r>
            <a:r>
              <a:rPr sz="3050" spc="-30" dirty="0">
                <a:latin typeface="Times New Roman"/>
                <a:cs typeface="Times New Roman"/>
              </a:rPr>
              <a:t> </a:t>
            </a:r>
            <a:r>
              <a:rPr sz="3050" dirty="0">
                <a:latin typeface="Times New Roman"/>
                <a:cs typeface="Times New Roman"/>
              </a:rPr>
              <a:t>side</a:t>
            </a:r>
            <a:r>
              <a:rPr sz="3050" spc="-35" dirty="0">
                <a:latin typeface="Times New Roman"/>
                <a:cs typeface="Times New Roman"/>
              </a:rPr>
              <a:t> </a:t>
            </a:r>
            <a:r>
              <a:rPr sz="3050" dirty="0">
                <a:latin typeface="Times New Roman"/>
                <a:cs typeface="Times New Roman"/>
              </a:rPr>
              <a:t>of</a:t>
            </a:r>
            <a:r>
              <a:rPr sz="3050" spc="-25" dirty="0">
                <a:latin typeface="Times New Roman"/>
                <a:cs typeface="Times New Roman"/>
              </a:rPr>
              <a:t> </a:t>
            </a:r>
            <a:r>
              <a:rPr sz="3050" dirty="0">
                <a:latin typeface="Times New Roman"/>
                <a:cs typeface="Times New Roman"/>
              </a:rPr>
              <a:t>the</a:t>
            </a:r>
            <a:r>
              <a:rPr sz="3050" spc="-35" dirty="0">
                <a:latin typeface="Times New Roman"/>
                <a:cs typeface="Times New Roman"/>
              </a:rPr>
              <a:t> </a:t>
            </a:r>
            <a:r>
              <a:rPr sz="3050" dirty="0">
                <a:latin typeface="Times New Roman"/>
                <a:cs typeface="Times New Roman"/>
              </a:rPr>
              <a:t>body,</a:t>
            </a:r>
            <a:r>
              <a:rPr sz="3050" spc="-30" dirty="0">
                <a:latin typeface="Times New Roman"/>
                <a:cs typeface="Times New Roman"/>
              </a:rPr>
              <a:t> </a:t>
            </a:r>
            <a:r>
              <a:rPr sz="3050" dirty="0">
                <a:latin typeface="Times New Roman"/>
                <a:cs typeface="Times New Roman"/>
              </a:rPr>
              <a:t>often</a:t>
            </a:r>
            <a:r>
              <a:rPr sz="3050" spc="-25" dirty="0">
                <a:latin typeface="Times New Roman"/>
                <a:cs typeface="Times New Roman"/>
              </a:rPr>
              <a:t> </a:t>
            </a:r>
            <a:r>
              <a:rPr sz="3050" dirty="0">
                <a:latin typeface="Times New Roman"/>
                <a:cs typeface="Times New Roman"/>
              </a:rPr>
              <a:t>hidden</a:t>
            </a:r>
            <a:r>
              <a:rPr sz="3050" spc="-30" dirty="0">
                <a:latin typeface="Times New Roman"/>
                <a:cs typeface="Times New Roman"/>
              </a:rPr>
              <a:t> </a:t>
            </a:r>
            <a:r>
              <a:rPr sz="3050" dirty="0">
                <a:latin typeface="Times New Roman"/>
                <a:cs typeface="Times New Roman"/>
              </a:rPr>
              <a:t>on</a:t>
            </a:r>
            <a:r>
              <a:rPr sz="3050" spc="-30" dirty="0">
                <a:latin typeface="Times New Roman"/>
                <a:cs typeface="Times New Roman"/>
              </a:rPr>
              <a:t> </a:t>
            </a:r>
            <a:r>
              <a:rPr sz="3050" dirty="0">
                <a:latin typeface="Times New Roman"/>
                <a:cs typeface="Times New Roman"/>
              </a:rPr>
              <a:t>mobile</a:t>
            </a:r>
            <a:r>
              <a:rPr sz="3050" spc="-30" dirty="0">
                <a:latin typeface="Times New Roman"/>
                <a:cs typeface="Times New Roman"/>
              </a:rPr>
              <a:t> </a:t>
            </a:r>
            <a:r>
              <a:rPr sz="3050" dirty="0">
                <a:latin typeface="Times New Roman"/>
                <a:cs typeface="Times New Roman"/>
              </a:rPr>
              <a:t>devices.</a:t>
            </a:r>
            <a:r>
              <a:rPr sz="3050" spc="-30" dirty="0">
                <a:latin typeface="Times New Roman"/>
                <a:cs typeface="Times New Roman"/>
              </a:rPr>
              <a:t> </a:t>
            </a:r>
            <a:r>
              <a:rPr sz="3050" dirty="0">
                <a:latin typeface="Times New Roman"/>
                <a:cs typeface="Times New Roman"/>
              </a:rPr>
              <a:t>Swipes</a:t>
            </a:r>
            <a:r>
              <a:rPr sz="3050" spc="-30" dirty="0">
                <a:latin typeface="Times New Roman"/>
                <a:cs typeface="Times New Roman"/>
              </a:rPr>
              <a:t> </a:t>
            </a:r>
            <a:r>
              <a:rPr sz="3050" dirty="0">
                <a:latin typeface="Times New Roman"/>
                <a:cs typeface="Times New Roman"/>
              </a:rPr>
              <a:t>in</a:t>
            </a:r>
            <a:r>
              <a:rPr sz="3050" spc="-30" dirty="0">
                <a:latin typeface="Times New Roman"/>
                <a:cs typeface="Times New Roman"/>
              </a:rPr>
              <a:t> </a:t>
            </a:r>
            <a:r>
              <a:rPr sz="3050" dirty="0">
                <a:latin typeface="Times New Roman"/>
                <a:cs typeface="Times New Roman"/>
              </a:rPr>
              <a:t>from</a:t>
            </a:r>
            <a:r>
              <a:rPr sz="3050" spc="-35" dirty="0">
                <a:latin typeface="Times New Roman"/>
                <a:cs typeface="Times New Roman"/>
              </a:rPr>
              <a:t> </a:t>
            </a:r>
            <a:r>
              <a:rPr sz="3050" spc="-10" dirty="0">
                <a:latin typeface="Times New Roman"/>
                <a:cs typeface="Times New Roman"/>
              </a:rPr>
              <a:t>right- to-</a:t>
            </a:r>
            <a:r>
              <a:rPr sz="3050" dirty="0">
                <a:latin typeface="Times New Roman"/>
                <a:cs typeface="Times New Roman"/>
              </a:rPr>
              <a:t>left</a:t>
            </a:r>
            <a:r>
              <a:rPr sz="3050" spc="-10" dirty="0">
                <a:latin typeface="Times New Roman"/>
                <a:cs typeface="Times New Roman"/>
              </a:rPr>
              <a:t> </a:t>
            </a:r>
            <a:r>
              <a:rPr sz="3050" dirty="0">
                <a:latin typeface="Times New Roman"/>
                <a:cs typeface="Times New Roman"/>
              </a:rPr>
              <a:t>or</a:t>
            </a:r>
            <a:r>
              <a:rPr sz="3050" spc="-5" dirty="0">
                <a:latin typeface="Times New Roman"/>
                <a:cs typeface="Times New Roman"/>
              </a:rPr>
              <a:t> </a:t>
            </a:r>
            <a:r>
              <a:rPr sz="3050" spc="-10" dirty="0">
                <a:latin typeface="Times New Roman"/>
                <a:cs typeface="Times New Roman"/>
              </a:rPr>
              <a:t>left-to-</a:t>
            </a:r>
            <a:r>
              <a:rPr sz="3050" spc="-20" dirty="0">
                <a:latin typeface="Times New Roman"/>
                <a:cs typeface="Times New Roman"/>
              </a:rPr>
              <a:t>right</a:t>
            </a:r>
            <a:endParaRPr sz="3050">
              <a:latin typeface="Times New Roman"/>
              <a:cs typeface="Times New Roman"/>
            </a:endParaRPr>
          </a:p>
          <a:p>
            <a:pPr marL="1645920" lvl="1" indent="-696595">
              <a:lnSpc>
                <a:spcPct val="100000"/>
              </a:lnSpc>
              <a:spcBef>
                <a:spcPts val="1285"/>
              </a:spcBef>
              <a:buFont typeface="Microsoft Sans Serif"/>
              <a:buChar char="●"/>
              <a:tabLst>
                <a:tab pos="1645920" algn="l"/>
              </a:tabLst>
            </a:pPr>
            <a:r>
              <a:rPr sz="3050" spc="-10" dirty="0">
                <a:solidFill>
                  <a:srgbClr val="0070C0"/>
                </a:solidFill>
                <a:latin typeface="Times New Roman"/>
                <a:cs typeface="Times New Roman"/>
              </a:rPr>
              <a:t>floatingActionButton:</a:t>
            </a:r>
            <a:r>
              <a:rPr sz="3050" spc="-45" dirty="0">
                <a:solidFill>
                  <a:srgbClr val="0070C0"/>
                </a:solidFill>
                <a:latin typeface="Times New Roman"/>
                <a:cs typeface="Times New Roman"/>
              </a:rPr>
              <a:t> </a:t>
            </a:r>
            <a:r>
              <a:rPr sz="3050" dirty="0">
                <a:latin typeface="Times New Roman"/>
                <a:cs typeface="Times New Roman"/>
              </a:rPr>
              <a:t>Animator</a:t>
            </a:r>
            <a:r>
              <a:rPr sz="3050" spc="-35" dirty="0">
                <a:latin typeface="Times New Roman"/>
                <a:cs typeface="Times New Roman"/>
              </a:rPr>
              <a:t> </a:t>
            </a:r>
            <a:r>
              <a:rPr sz="3050" dirty="0">
                <a:latin typeface="Times New Roman"/>
                <a:cs typeface="Times New Roman"/>
              </a:rPr>
              <a:t>to</a:t>
            </a:r>
            <a:r>
              <a:rPr sz="3050" spc="-35" dirty="0">
                <a:latin typeface="Times New Roman"/>
                <a:cs typeface="Times New Roman"/>
              </a:rPr>
              <a:t> </a:t>
            </a:r>
            <a:r>
              <a:rPr sz="3050" dirty="0">
                <a:latin typeface="Times New Roman"/>
                <a:cs typeface="Times New Roman"/>
              </a:rPr>
              <a:t>move</a:t>
            </a:r>
            <a:r>
              <a:rPr sz="3050" spc="-40" dirty="0">
                <a:latin typeface="Times New Roman"/>
                <a:cs typeface="Times New Roman"/>
              </a:rPr>
              <a:t> </a:t>
            </a:r>
            <a:r>
              <a:rPr sz="3050" dirty="0">
                <a:latin typeface="Times New Roman"/>
                <a:cs typeface="Times New Roman"/>
              </a:rPr>
              <a:t>the</a:t>
            </a:r>
            <a:r>
              <a:rPr sz="3050" spc="-45" dirty="0">
                <a:latin typeface="Times New Roman"/>
                <a:cs typeface="Times New Roman"/>
              </a:rPr>
              <a:t> </a:t>
            </a:r>
            <a:r>
              <a:rPr sz="3050" dirty="0">
                <a:latin typeface="Times New Roman"/>
                <a:cs typeface="Times New Roman"/>
              </a:rPr>
              <a:t>floatingActionButton</a:t>
            </a:r>
            <a:r>
              <a:rPr sz="3050" spc="-35" dirty="0">
                <a:latin typeface="Times New Roman"/>
                <a:cs typeface="Times New Roman"/>
              </a:rPr>
              <a:t> </a:t>
            </a:r>
            <a:r>
              <a:rPr sz="3050" dirty="0">
                <a:latin typeface="Times New Roman"/>
                <a:cs typeface="Times New Roman"/>
              </a:rPr>
              <a:t>to</a:t>
            </a:r>
            <a:r>
              <a:rPr sz="3050" spc="-35" dirty="0">
                <a:latin typeface="Times New Roman"/>
                <a:cs typeface="Times New Roman"/>
              </a:rPr>
              <a:t> </a:t>
            </a:r>
            <a:r>
              <a:rPr sz="3050" dirty="0">
                <a:latin typeface="Times New Roman"/>
                <a:cs typeface="Times New Roman"/>
              </a:rPr>
              <a:t>a</a:t>
            </a:r>
            <a:r>
              <a:rPr sz="3050" spc="-40" dirty="0">
                <a:latin typeface="Times New Roman"/>
                <a:cs typeface="Times New Roman"/>
              </a:rPr>
              <a:t> </a:t>
            </a:r>
            <a:r>
              <a:rPr sz="3050" dirty="0">
                <a:latin typeface="Times New Roman"/>
                <a:cs typeface="Times New Roman"/>
              </a:rPr>
              <a:t>new</a:t>
            </a:r>
            <a:r>
              <a:rPr sz="3050" spc="-35" dirty="0">
                <a:latin typeface="Times New Roman"/>
                <a:cs typeface="Times New Roman"/>
              </a:rPr>
              <a:t> </a:t>
            </a:r>
            <a:r>
              <a:rPr sz="3050" spc="-10" dirty="0">
                <a:latin typeface="Times New Roman"/>
                <a:cs typeface="Times New Roman"/>
              </a:rPr>
              <a:t>floatingActionButtonLocation.</a:t>
            </a:r>
            <a:endParaRPr sz="305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20104098" cy="1554692"/>
          </a:xfrm>
          <a:prstGeom prst="rect">
            <a:avLst/>
          </a:prstGeom>
        </p:spPr>
      </p:pic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4605" rIns="0" bIns="0" rtlCol="0">
            <a:spAutoFit/>
          </a:bodyPr>
          <a:lstStyle/>
          <a:p>
            <a:pPr marL="3403600">
              <a:lnSpc>
                <a:spcPct val="100000"/>
              </a:lnSpc>
              <a:spcBef>
                <a:spcPts val="115"/>
              </a:spcBef>
            </a:pPr>
            <a:r>
              <a:rPr dirty="0"/>
              <a:t>AppBar</a:t>
            </a:r>
            <a:r>
              <a:rPr spc="-15" dirty="0"/>
              <a:t> </a:t>
            </a:r>
            <a:r>
              <a:rPr spc="-10" dirty="0"/>
              <a:t>Widget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679972" y="1532384"/>
            <a:ext cx="18515965" cy="6748145"/>
          </a:xfrm>
          <a:prstGeom prst="rect">
            <a:avLst/>
          </a:prstGeom>
        </p:spPr>
        <p:txBody>
          <a:bodyPr vert="horz" wrap="square" lIns="0" tIns="278130" rIns="0" bIns="0" rtlCol="0">
            <a:spAutoFit/>
          </a:bodyPr>
          <a:lstStyle/>
          <a:p>
            <a:pPr marL="425450" indent="-412750">
              <a:lnSpc>
                <a:spcPct val="100000"/>
              </a:lnSpc>
              <a:spcBef>
                <a:spcPts val="2190"/>
              </a:spcBef>
              <a:buFont typeface="Calibri"/>
              <a:buChar char="●"/>
              <a:tabLst>
                <a:tab pos="425450" algn="l"/>
              </a:tabLst>
            </a:pPr>
            <a:r>
              <a:rPr sz="3550" dirty="0">
                <a:latin typeface="Times New Roman"/>
                <a:cs typeface="Times New Roman"/>
              </a:rPr>
              <a:t>AppBar</a:t>
            </a:r>
            <a:r>
              <a:rPr sz="3550" spc="-80" dirty="0">
                <a:latin typeface="Times New Roman"/>
                <a:cs typeface="Times New Roman"/>
              </a:rPr>
              <a:t> </a:t>
            </a:r>
            <a:r>
              <a:rPr sz="3550" dirty="0">
                <a:latin typeface="Times New Roman"/>
                <a:cs typeface="Times New Roman"/>
              </a:rPr>
              <a:t>is</a:t>
            </a:r>
            <a:r>
              <a:rPr sz="3550" spc="-80" dirty="0">
                <a:latin typeface="Times New Roman"/>
                <a:cs typeface="Times New Roman"/>
              </a:rPr>
              <a:t> </a:t>
            </a:r>
            <a:r>
              <a:rPr sz="3550" dirty="0">
                <a:latin typeface="Times New Roman"/>
                <a:cs typeface="Times New Roman"/>
              </a:rPr>
              <a:t>usually</a:t>
            </a:r>
            <a:r>
              <a:rPr sz="3550" spc="-80" dirty="0">
                <a:latin typeface="Times New Roman"/>
                <a:cs typeface="Times New Roman"/>
              </a:rPr>
              <a:t> </a:t>
            </a:r>
            <a:r>
              <a:rPr sz="3550" dirty="0">
                <a:latin typeface="Times New Roman"/>
                <a:cs typeface="Times New Roman"/>
              </a:rPr>
              <a:t>the</a:t>
            </a:r>
            <a:r>
              <a:rPr sz="3550" spc="-80" dirty="0">
                <a:latin typeface="Times New Roman"/>
                <a:cs typeface="Times New Roman"/>
              </a:rPr>
              <a:t> </a:t>
            </a:r>
            <a:r>
              <a:rPr sz="3550" dirty="0">
                <a:latin typeface="Times New Roman"/>
                <a:cs typeface="Times New Roman"/>
              </a:rPr>
              <a:t>topmost</a:t>
            </a:r>
            <a:r>
              <a:rPr sz="3550" spc="-75" dirty="0">
                <a:latin typeface="Times New Roman"/>
                <a:cs typeface="Times New Roman"/>
              </a:rPr>
              <a:t> </a:t>
            </a:r>
            <a:r>
              <a:rPr sz="3550" dirty="0">
                <a:latin typeface="Times New Roman"/>
                <a:cs typeface="Times New Roman"/>
              </a:rPr>
              <a:t>component</a:t>
            </a:r>
            <a:r>
              <a:rPr sz="3550" spc="-80" dirty="0">
                <a:latin typeface="Times New Roman"/>
                <a:cs typeface="Times New Roman"/>
              </a:rPr>
              <a:t> </a:t>
            </a:r>
            <a:r>
              <a:rPr sz="3550" dirty="0">
                <a:latin typeface="Times New Roman"/>
                <a:cs typeface="Times New Roman"/>
              </a:rPr>
              <a:t>of</a:t>
            </a:r>
            <a:r>
              <a:rPr sz="3550" spc="-75" dirty="0">
                <a:latin typeface="Times New Roman"/>
                <a:cs typeface="Times New Roman"/>
              </a:rPr>
              <a:t> </a:t>
            </a:r>
            <a:r>
              <a:rPr sz="3550" dirty="0">
                <a:latin typeface="Times New Roman"/>
                <a:cs typeface="Times New Roman"/>
              </a:rPr>
              <a:t>the</a:t>
            </a:r>
            <a:r>
              <a:rPr sz="3550" spc="-80" dirty="0">
                <a:latin typeface="Times New Roman"/>
                <a:cs typeface="Times New Roman"/>
              </a:rPr>
              <a:t> </a:t>
            </a:r>
            <a:r>
              <a:rPr sz="3550" dirty="0">
                <a:latin typeface="Times New Roman"/>
                <a:cs typeface="Times New Roman"/>
              </a:rPr>
              <a:t>app</a:t>
            </a:r>
            <a:r>
              <a:rPr sz="3550" spc="-80" dirty="0">
                <a:latin typeface="Times New Roman"/>
                <a:cs typeface="Times New Roman"/>
              </a:rPr>
              <a:t> </a:t>
            </a:r>
            <a:r>
              <a:rPr sz="3550" spc="-50" dirty="0">
                <a:latin typeface="Times New Roman"/>
                <a:cs typeface="Times New Roman"/>
              </a:rPr>
              <a:t>.</a:t>
            </a:r>
            <a:endParaRPr sz="3550">
              <a:latin typeface="Times New Roman"/>
              <a:cs typeface="Times New Roman"/>
            </a:endParaRPr>
          </a:p>
          <a:p>
            <a:pPr marL="425450" indent="-412750">
              <a:lnSpc>
                <a:spcPct val="100000"/>
              </a:lnSpc>
              <a:spcBef>
                <a:spcPts val="2095"/>
              </a:spcBef>
              <a:buFont typeface="Calibri"/>
              <a:buChar char="●"/>
              <a:tabLst>
                <a:tab pos="425450" algn="l"/>
              </a:tabLst>
            </a:pPr>
            <a:r>
              <a:rPr sz="3550" dirty="0">
                <a:latin typeface="Times New Roman"/>
                <a:cs typeface="Times New Roman"/>
              </a:rPr>
              <a:t>It</a:t>
            </a:r>
            <a:r>
              <a:rPr sz="3550" spc="-80" dirty="0">
                <a:latin typeface="Times New Roman"/>
                <a:cs typeface="Times New Roman"/>
              </a:rPr>
              <a:t> </a:t>
            </a:r>
            <a:r>
              <a:rPr sz="3550" dirty="0">
                <a:latin typeface="Times New Roman"/>
                <a:cs typeface="Times New Roman"/>
              </a:rPr>
              <a:t>contains</a:t>
            </a:r>
            <a:r>
              <a:rPr sz="3550" spc="-80" dirty="0">
                <a:latin typeface="Times New Roman"/>
                <a:cs typeface="Times New Roman"/>
              </a:rPr>
              <a:t> </a:t>
            </a:r>
            <a:r>
              <a:rPr sz="3550" dirty="0">
                <a:latin typeface="Times New Roman"/>
                <a:cs typeface="Times New Roman"/>
              </a:rPr>
              <a:t>the</a:t>
            </a:r>
            <a:r>
              <a:rPr sz="3550" spc="-75" dirty="0">
                <a:latin typeface="Times New Roman"/>
                <a:cs typeface="Times New Roman"/>
              </a:rPr>
              <a:t> </a:t>
            </a:r>
            <a:r>
              <a:rPr sz="3550" dirty="0">
                <a:latin typeface="Times New Roman"/>
                <a:cs typeface="Times New Roman"/>
              </a:rPr>
              <a:t>toolbar</a:t>
            </a:r>
            <a:r>
              <a:rPr sz="3550" spc="-80" dirty="0">
                <a:latin typeface="Times New Roman"/>
                <a:cs typeface="Times New Roman"/>
              </a:rPr>
              <a:t> </a:t>
            </a:r>
            <a:r>
              <a:rPr sz="3550" dirty="0">
                <a:latin typeface="Times New Roman"/>
                <a:cs typeface="Times New Roman"/>
              </a:rPr>
              <a:t>and</a:t>
            </a:r>
            <a:r>
              <a:rPr sz="3550" spc="-80" dirty="0">
                <a:latin typeface="Times New Roman"/>
                <a:cs typeface="Times New Roman"/>
              </a:rPr>
              <a:t> </a:t>
            </a:r>
            <a:r>
              <a:rPr sz="3550" dirty="0">
                <a:latin typeface="Times New Roman"/>
                <a:cs typeface="Times New Roman"/>
              </a:rPr>
              <a:t>some</a:t>
            </a:r>
            <a:r>
              <a:rPr sz="3550" spc="-80" dirty="0">
                <a:latin typeface="Times New Roman"/>
                <a:cs typeface="Times New Roman"/>
              </a:rPr>
              <a:t> </a:t>
            </a:r>
            <a:r>
              <a:rPr sz="3550" dirty="0">
                <a:latin typeface="Times New Roman"/>
                <a:cs typeface="Times New Roman"/>
              </a:rPr>
              <a:t>other</a:t>
            </a:r>
            <a:r>
              <a:rPr sz="3550" spc="-75" dirty="0">
                <a:latin typeface="Times New Roman"/>
                <a:cs typeface="Times New Roman"/>
              </a:rPr>
              <a:t> </a:t>
            </a:r>
            <a:r>
              <a:rPr sz="3550" dirty="0">
                <a:latin typeface="Times New Roman"/>
                <a:cs typeface="Times New Roman"/>
              </a:rPr>
              <a:t>common</a:t>
            </a:r>
            <a:r>
              <a:rPr sz="3550" spc="-85" dirty="0">
                <a:latin typeface="Times New Roman"/>
                <a:cs typeface="Times New Roman"/>
              </a:rPr>
              <a:t> </a:t>
            </a:r>
            <a:r>
              <a:rPr sz="3550" dirty="0">
                <a:latin typeface="Times New Roman"/>
                <a:cs typeface="Times New Roman"/>
              </a:rPr>
              <a:t>action</a:t>
            </a:r>
            <a:r>
              <a:rPr sz="3550" spc="-80" dirty="0">
                <a:latin typeface="Times New Roman"/>
                <a:cs typeface="Times New Roman"/>
              </a:rPr>
              <a:t> </a:t>
            </a:r>
            <a:r>
              <a:rPr sz="3550" spc="-10" dirty="0">
                <a:latin typeface="Times New Roman"/>
                <a:cs typeface="Times New Roman"/>
              </a:rPr>
              <a:t>buttons.</a:t>
            </a:r>
            <a:endParaRPr sz="3550">
              <a:latin typeface="Times New Roman"/>
              <a:cs typeface="Times New Roman"/>
            </a:endParaRPr>
          </a:p>
          <a:p>
            <a:pPr marL="425450" indent="-412750">
              <a:lnSpc>
                <a:spcPct val="100000"/>
              </a:lnSpc>
              <a:spcBef>
                <a:spcPts val="2170"/>
              </a:spcBef>
              <a:buFont typeface="Calibri"/>
              <a:buChar char="●"/>
              <a:tabLst>
                <a:tab pos="425450" algn="l"/>
              </a:tabLst>
            </a:pPr>
            <a:r>
              <a:rPr sz="3550" dirty="0">
                <a:latin typeface="Times New Roman"/>
                <a:cs typeface="Times New Roman"/>
              </a:rPr>
              <a:t>Some</a:t>
            </a:r>
            <a:r>
              <a:rPr sz="3550" spc="-105" dirty="0">
                <a:latin typeface="Times New Roman"/>
                <a:cs typeface="Times New Roman"/>
              </a:rPr>
              <a:t> </a:t>
            </a:r>
            <a:r>
              <a:rPr sz="3550" dirty="0">
                <a:latin typeface="Times New Roman"/>
                <a:cs typeface="Times New Roman"/>
              </a:rPr>
              <a:t>essential</a:t>
            </a:r>
            <a:r>
              <a:rPr sz="3550" spc="-105" dirty="0">
                <a:latin typeface="Times New Roman"/>
                <a:cs typeface="Times New Roman"/>
              </a:rPr>
              <a:t> </a:t>
            </a:r>
            <a:r>
              <a:rPr sz="3550" spc="-10" dirty="0">
                <a:latin typeface="Times New Roman"/>
                <a:cs typeface="Times New Roman"/>
              </a:rPr>
              <a:t>properties</a:t>
            </a:r>
            <a:endParaRPr sz="3550">
              <a:latin typeface="Times New Roman"/>
              <a:cs typeface="Times New Roman"/>
            </a:endParaRPr>
          </a:p>
          <a:p>
            <a:pPr marL="765175" lvl="1" indent="-381000">
              <a:lnSpc>
                <a:spcPct val="100000"/>
              </a:lnSpc>
              <a:spcBef>
                <a:spcPts val="1940"/>
              </a:spcBef>
              <a:buFont typeface="Tahoma"/>
              <a:buChar char="○"/>
              <a:tabLst>
                <a:tab pos="765175" algn="l"/>
              </a:tabLst>
            </a:pPr>
            <a:r>
              <a:rPr sz="3050" dirty="0">
                <a:solidFill>
                  <a:srgbClr val="0070C0"/>
                </a:solidFill>
                <a:latin typeface="Times New Roman"/>
                <a:cs typeface="Times New Roman"/>
              </a:rPr>
              <a:t>actions:</a:t>
            </a:r>
            <a:r>
              <a:rPr sz="3050" spc="-35" dirty="0">
                <a:solidFill>
                  <a:srgbClr val="0070C0"/>
                </a:solidFill>
                <a:latin typeface="Times New Roman"/>
                <a:cs typeface="Times New Roman"/>
              </a:rPr>
              <a:t> </a:t>
            </a:r>
            <a:r>
              <a:rPr sz="3050" dirty="0">
                <a:latin typeface="Times New Roman"/>
                <a:cs typeface="Times New Roman"/>
              </a:rPr>
              <a:t>This</a:t>
            </a:r>
            <a:r>
              <a:rPr sz="3050" spc="-35" dirty="0">
                <a:latin typeface="Times New Roman"/>
                <a:cs typeface="Times New Roman"/>
              </a:rPr>
              <a:t> </a:t>
            </a:r>
            <a:r>
              <a:rPr sz="3050" dirty="0">
                <a:latin typeface="Times New Roman"/>
                <a:cs typeface="Times New Roman"/>
              </a:rPr>
              <a:t>property</a:t>
            </a:r>
            <a:r>
              <a:rPr sz="3050" spc="-30" dirty="0">
                <a:latin typeface="Times New Roman"/>
                <a:cs typeface="Times New Roman"/>
              </a:rPr>
              <a:t> </a:t>
            </a:r>
            <a:r>
              <a:rPr sz="3050" dirty="0">
                <a:latin typeface="Times New Roman"/>
                <a:cs typeface="Times New Roman"/>
              </a:rPr>
              <a:t>takes</a:t>
            </a:r>
            <a:r>
              <a:rPr sz="3050" spc="-35" dirty="0">
                <a:latin typeface="Times New Roman"/>
                <a:cs typeface="Times New Roman"/>
              </a:rPr>
              <a:t> </a:t>
            </a:r>
            <a:r>
              <a:rPr sz="3050" dirty="0">
                <a:latin typeface="Times New Roman"/>
                <a:cs typeface="Times New Roman"/>
              </a:rPr>
              <a:t>in</a:t>
            </a:r>
            <a:r>
              <a:rPr sz="3050" spc="-30" dirty="0">
                <a:latin typeface="Times New Roman"/>
                <a:cs typeface="Times New Roman"/>
              </a:rPr>
              <a:t> </a:t>
            </a:r>
            <a:r>
              <a:rPr sz="3050" dirty="0">
                <a:latin typeface="Times New Roman"/>
                <a:cs typeface="Times New Roman"/>
              </a:rPr>
              <a:t>a</a:t>
            </a:r>
            <a:r>
              <a:rPr sz="3050" spc="-35" dirty="0">
                <a:latin typeface="Times New Roman"/>
                <a:cs typeface="Times New Roman"/>
              </a:rPr>
              <a:t> </a:t>
            </a:r>
            <a:r>
              <a:rPr sz="3050" dirty="0">
                <a:latin typeface="Times New Roman"/>
                <a:cs typeface="Times New Roman"/>
              </a:rPr>
              <a:t>list</a:t>
            </a:r>
            <a:r>
              <a:rPr sz="3050" spc="-35" dirty="0">
                <a:latin typeface="Times New Roman"/>
                <a:cs typeface="Times New Roman"/>
              </a:rPr>
              <a:t> </a:t>
            </a:r>
            <a:r>
              <a:rPr sz="3050" dirty="0">
                <a:latin typeface="Times New Roman"/>
                <a:cs typeface="Times New Roman"/>
              </a:rPr>
              <a:t>of</a:t>
            </a:r>
            <a:r>
              <a:rPr sz="3050" spc="-30" dirty="0">
                <a:latin typeface="Times New Roman"/>
                <a:cs typeface="Times New Roman"/>
              </a:rPr>
              <a:t> </a:t>
            </a:r>
            <a:r>
              <a:rPr sz="3050" dirty="0">
                <a:latin typeface="Times New Roman"/>
                <a:cs typeface="Times New Roman"/>
              </a:rPr>
              <a:t>widgets</a:t>
            </a:r>
            <a:r>
              <a:rPr sz="3050" spc="-35" dirty="0">
                <a:latin typeface="Times New Roman"/>
                <a:cs typeface="Times New Roman"/>
              </a:rPr>
              <a:t> </a:t>
            </a:r>
            <a:r>
              <a:rPr sz="3050" dirty="0">
                <a:latin typeface="Times New Roman"/>
                <a:cs typeface="Times New Roman"/>
              </a:rPr>
              <a:t>as</a:t>
            </a:r>
            <a:r>
              <a:rPr sz="3050" spc="-35" dirty="0">
                <a:latin typeface="Times New Roman"/>
                <a:cs typeface="Times New Roman"/>
              </a:rPr>
              <a:t> </a:t>
            </a:r>
            <a:r>
              <a:rPr sz="3050" dirty="0">
                <a:latin typeface="Times New Roman"/>
                <a:cs typeface="Times New Roman"/>
              </a:rPr>
              <a:t>a</a:t>
            </a:r>
            <a:r>
              <a:rPr sz="3050" spc="-35" dirty="0">
                <a:latin typeface="Times New Roman"/>
                <a:cs typeface="Times New Roman"/>
              </a:rPr>
              <a:t> </a:t>
            </a:r>
            <a:r>
              <a:rPr sz="3050" dirty="0">
                <a:latin typeface="Times New Roman"/>
                <a:cs typeface="Times New Roman"/>
              </a:rPr>
              <a:t>parameter</a:t>
            </a:r>
            <a:r>
              <a:rPr sz="3050" spc="-30" dirty="0">
                <a:latin typeface="Times New Roman"/>
                <a:cs typeface="Times New Roman"/>
              </a:rPr>
              <a:t> </a:t>
            </a:r>
            <a:r>
              <a:rPr sz="3050" dirty="0">
                <a:latin typeface="Times New Roman"/>
                <a:cs typeface="Times New Roman"/>
              </a:rPr>
              <a:t>to</a:t>
            </a:r>
            <a:r>
              <a:rPr sz="3050" spc="-30" dirty="0">
                <a:latin typeface="Times New Roman"/>
                <a:cs typeface="Times New Roman"/>
              </a:rPr>
              <a:t> </a:t>
            </a:r>
            <a:r>
              <a:rPr sz="3050" dirty="0">
                <a:latin typeface="Times New Roman"/>
                <a:cs typeface="Times New Roman"/>
              </a:rPr>
              <a:t>be</a:t>
            </a:r>
            <a:r>
              <a:rPr sz="3050" spc="-35" dirty="0">
                <a:latin typeface="Times New Roman"/>
                <a:cs typeface="Times New Roman"/>
              </a:rPr>
              <a:t> </a:t>
            </a:r>
            <a:r>
              <a:rPr sz="3050" dirty="0">
                <a:latin typeface="Times New Roman"/>
                <a:cs typeface="Times New Roman"/>
              </a:rPr>
              <a:t>displayed</a:t>
            </a:r>
            <a:r>
              <a:rPr sz="3050" spc="-30" dirty="0">
                <a:latin typeface="Times New Roman"/>
                <a:cs typeface="Times New Roman"/>
              </a:rPr>
              <a:t> </a:t>
            </a:r>
            <a:r>
              <a:rPr sz="3050" dirty="0">
                <a:latin typeface="Times New Roman"/>
                <a:cs typeface="Times New Roman"/>
              </a:rPr>
              <a:t>after</a:t>
            </a:r>
            <a:r>
              <a:rPr sz="3050" spc="-30" dirty="0">
                <a:latin typeface="Times New Roman"/>
                <a:cs typeface="Times New Roman"/>
              </a:rPr>
              <a:t> </a:t>
            </a:r>
            <a:r>
              <a:rPr sz="3050" dirty="0">
                <a:latin typeface="Times New Roman"/>
                <a:cs typeface="Times New Roman"/>
              </a:rPr>
              <a:t>the</a:t>
            </a:r>
            <a:r>
              <a:rPr sz="3050" spc="-35" dirty="0">
                <a:latin typeface="Times New Roman"/>
                <a:cs typeface="Times New Roman"/>
              </a:rPr>
              <a:t> </a:t>
            </a:r>
            <a:r>
              <a:rPr sz="3050" dirty="0">
                <a:latin typeface="Times New Roman"/>
                <a:cs typeface="Times New Roman"/>
              </a:rPr>
              <a:t>title</a:t>
            </a:r>
            <a:r>
              <a:rPr sz="3050" spc="-35" dirty="0">
                <a:latin typeface="Times New Roman"/>
                <a:cs typeface="Times New Roman"/>
              </a:rPr>
              <a:t> </a:t>
            </a:r>
            <a:r>
              <a:rPr sz="3050" dirty="0">
                <a:latin typeface="Times New Roman"/>
                <a:cs typeface="Times New Roman"/>
              </a:rPr>
              <a:t>if</a:t>
            </a:r>
            <a:r>
              <a:rPr sz="3050" spc="-30" dirty="0">
                <a:latin typeface="Times New Roman"/>
                <a:cs typeface="Times New Roman"/>
              </a:rPr>
              <a:t> </a:t>
            </a:r>
            <a:r>
              <a:rPr sz="3050" dirty="0">
                <a:latin typeface="Times New Roman"/>
                <a:cs typeface="Times New Roman"/>
              </a:rPr>
              <a:t>the</a:t>
            </a:r>
            <a:r>
              <a:rPr sz="3050" spc="-45" dirty="0">
                <a:latin typeface="Times New Roman"/>
                <a:cs typeface="Times New Roman"/>
              </a:rPr>
              <a:t> </a:t>
            </a:r>
            <a:r>
              <a:rPr sz="3050" dirty="0">
                <a:latin typeface="Times New Roman"/>
                <a:cs typeface="Times New Roman"/>
              </a:rPr>
              <a:t>AppBar</a:t>
            </a:r>
            <a:r>
              <a:rPr sz="3050" spc="-30" dirty="0">
                <a:latin typeface="Times New Roman"/>
                <a:cs typeface="Times New Roman"/>
              </a:rPr>
              <a:t> </a:t>
            </a:r>
            <a:r>
              <a:rPr sz="3050" dirty="0">
                <a:latin typeface="Times New Roman"/>
                <a:cs typeface="Times New Roman"/>
              </a:rPr>
              <a:t>is</a:t>
            </a:r>
            <a:r>
              <a:rPr sz="3050" spc="-35" dirty="0">
                <a:latin typeface="Times New Roman"/>
                <a:cs typeface="Times New Roman"/>
              </a:rPr>
              <a:t> </a:t>
            </a:r>
            <a:r>
              <a:rPr sz="3050" dirty="0">
                <a:latin typeface="Times New Roman"/>
                <a:cs typeface="Times New Roman"/>
              </a:rPr>
              <a:t>a</a:t>
            </a:r>
            <a:r>
              <a:rPr sz="3050" spc="-35" dirty="0">
                <a:latin typeface="Times New Roman"/>
                <a:cs typeface="Times New Roman"/>
              </a:rPr>
              <a:t> </a:t>
            </a:r>
            <a:r>
              <a:rPr sz="3050" spc="-20" dirty="0">
                <a:latin typeface="Times New Roman"/>
                <a:cs typeface="Times New Roman"/>
              </a:rPr>
              <a:t>row.</a:t>
            </a:r>
            <a:endParaRPr sz="3050">
              <a:latin typeface="Times New Roman"/>
              <a:cs typeface="Times New Roman"/>
            </a:endParaRPr>
          </a:p>
          <a:p>
            <a:pPr marL="765175" lvl="1" indent="-381000">
              <a:lnSpc>
                <a:spcPct val="100000"/>
              </a:lnSpc>
              <a:spcBef>
                <a:spcPts val="1860"/>
              </a:spcBef>
              <a:buFont typeface="Tahoma"/>
              <a:buChar char="○"/>
              <a:tabLst>
                <a:tab pos="765175" algn="l"/>
              </a:tabLst>
            </a:pPr>
            <a:r>
              <a:rPr sz="3050" dirty="0">
                <a:solidFill>
                  <a:srgbClr val="0070C0"/>
                </a:solidFill>
                <a:latin typeface="Times New Roman"/>
                <a:cs typeface="Times New Roman"/>
              </a:rPr>
              <a:t>title:</a:t>
            </a:r>
            <a:r>
              <a:rPr sz="3050" spc="-40" dirty="0">
                <a:solidFill>
                  <a:srgbClr val="0070C0"/>
                </a:solidFill>
                <a:latin typeface="Times New Roman"/>
                <a:cs typeface="Times New Roman"/>
              </a:rPr>
              <a:t> </a:t>
            </a:r>
            <a:r>
              <a:rPr sz="3050" dirty="0">
                <a:latin typeface="Times New Roman"/>
                <a:cs typeface="Times New Roman"/>
              </a:rPr>
              <a:t>This</a:t>
            </a:r>
            <a:r>
              <a:rPr sz="3050" spc="-35" dirty="0">
                <a:latin typeface="Times New Roman"/>
                <a:cs typeface="Times New Roman"/>
              </a:rPr>
              <a:t> </a:t>
            </a:r>
            <a:r>
              <a:rPr sz="3050" dirty="0">
                <a:latin typeface="Times New Roman"/>
                <a:cs typeface="Times New Roman"/>
              </a:rPr>
              <a:t>property</a:t>
            </a:r>
            <a:r>
              <a:rPr sz="3050" spc="-35" dirty="0">
                <a:latin typeface="Times New Roman"/>
                <a:cs typeface="Times New Roman"/>
              </a:rPr>
              <a:t> </a:t>
            </a:r>
            <a:r>
              <a:rPr sz="3050" dirty="0">
                <a:latin typeface="Times New Roman"/>
                <a:cs typeface="Times New Roman"/>
              </a:rPr>
              <a:t>usually</a:t>
            </a:r>
            <a:r>
              <a:rPr sz="3050" spc="-30" dirty="0">
                <a:latin typeface="Times New Roman"/>
                <a:cs typeface="Times New Roman"/>
              </a:rPr>
              <a:t> </a:t>
            </a:r>
            <a:r>
              <a:rPr sz="3050" dirty="0">
                <a:latin typeface="Times New Roman"/>
                <a:cs typeface="Times New Roman"/>
              </a:rPr>
              <a:t>takes</a:t>
            </a:r>
            <a:r>
              <a:rPr sz="3050" spc="-40" dirty="0">
                <a:latin typeface="Times New Roman"/>
                <a:cs typeface="Times New Roman"/>
              </a:rPr>
              <a:t> </a:t>
            </a:r>
            <a:r>
              <a:rPr sz="3050" dirty="0">
                <a:latin typeface="Times New Roman"/>
                <a:cs typeface="Times New Roman"/>
              </a:rPr>
              <a:t>in</a:t>
            </a:r>
            <a:r>
              <a:rPr sz="3050" spc="-30" dirty="0">
                <a:latin typeface="Times New Roman"/>
                <a:cs typeface="Times New Roman"/>
              </a:rPr>
              <a:t> </a:t>
            </a:r>
            <a:r>
              <a:rPr sz="3050" dirty="0">
                <a:latin typeface="Times New Roman"/>
                <a:cs typeface="Times New Roman"/>
              </a:rPr>
              <a:t>the</a:t>
            </a:r>
            <a:r>
              <a:rPr sz="3050" spc="-40" dirty="0">
                <a:latin typeface="Times New Roman"/>
                <a:cs typeface="Times New Roman"/>
              </a:rPr>
              <a:t> </a:t>
            </a:r>
            <a:r>
              <a:rPr sz="3050" dirty="0">
                <a:latin typeface="Times New Roman"/>
                <a:cs typeface="Times New Roman"/>
              </a:rPr>
              <a:t>main</a:t>
            </a:r>
            <a:r>
              <a:rPr sz="3050" spc="-30" dirty="0">
                <a:latin typeface="Times New Roman"/>
                <a:cs typeface="Times New Roman"/>
              </a:rPr>
              <a:t> </a:t>
            </a:r>
            <a:r>
              <a:rPr sz="3050" dirty="0">
                <a:latin typeface="Times New Roman"/>
                <a:cs typeface="Times New Roman"/>
              </a:rPr>
              <a:t>widget</a:t>
            </a:r>
            <a:r>
              <a:rPr sz="3050" spc="-40" dirty="0">
                <a:latin typeface="Times New Roman"/>
                <a:cs typeface="Times New Roman"/>
              </a:rPr>
              <a:t> </a:t>
            </a:r>
            <a:r>
              <a:rPr sz="3050" dirty="0">
                <a:latin typeface="Times New Roman"/>
                <a:cs typeface="Times New Roman"/>
              </a:rPr>
              <a:t>as</a:t>
            </a:r>
            <a:r>
              <a:rPr sz="3050" spc="-35" dirty="0">
                <a:latin typeface="Times New Roman"/>
                <a:cs typeface="Times New Roman"/>
              </a:rPr>
              <a:t> </a:t>
            </a:r>
            <a:r>
              <a:rPr sz="3050" dirty="0">
                <a:latin typeface="Times New Roman"/>
                <a:cs typeface="Times New Roman"/>
              </a:rPr>
              <a:t>a</a:t>
            </a:r>
            <a:r>
              <a:rPr sz="3050" spc="-40" dirty="0">
                <a:latin typeface="Times New Roman"/>
                <a:cs typeface="Times New Roman"/>
              </a:rPr>
              <a:t> </a:t>
            </a:r>
            <a:r>
              <a:rPr sz="3050" dirty="0">
                <a:latin typeface="Times New Roman"/>
                <a:cs typeface="Times New Roman"/>
              </a:rPr>
              <a:t>parameter</a:t>
            </a:r>
            <a:r>
              <a:rPr sz="3050" spc="-30" dirty="0">
                <a:latin typeface="Times New Roman"/>
                <a:cs typeface="Times New Roman"/>
              </a:rPr>
              <a:t> </a:t>
            </a:r>
            <a:r>
              <a:rPr sz="3050" dirty="0">
                <a:latin typeface="Times New Roman"/>
                <a:cs typeface="Times New Roman"/>
              </a:rPr>
              <a:t>to</a:t>
            </a:r>
            <a:r>
              <a:rPr sz="3050" spc="-35" dirty="0">
                <a:latin typeface="Times New Roman"/>
                <a:cs typeface="Times New Roman"/>
              </a:rPr>
              <a:t> </a:t>
            </a:r>
            <a:r>
              <a:rPr sz="3050" dirty="0">
                <a:latin typeface="Times New Roman"/>
                <a:cs typeface="Times New Roman"/>
              </a:rPr>
              <a:t>be</a:t>
            </a:r>
            <a:r>
              <a:rPr sz="3050" spc="-35" dirty="0">
                <a:latin typeface="Times New Roman"/>
                <a:cs typeface="Times New Roman"/>
              </a:rPr>
              <a:t> </a:t>
            </a:r>
            <a:r>
              <a:rPr sz="3050" dirty="0">
                <a:latin typeface="Times New Roman"/>
                <a:cs typeface="Times New Roman"/>
              </a:rPr>
              <a:t>displayed</a:t>
            </a:r>
            <a:r>
              <a:rPr sz="3050" spc="-35" dirty="0">
                <a:latin typeface="Times New Roman"/>
                <a:cs typeface="Times New Roman"/>
              </a:rPr>
              <a:t> </a:t>
            </a:r>
            <a:r>
              <a:rPr sz="3050" dirty="0">
                <a:latin typeface="Times New Roman"/>
                <a:cs typeface="Times New Roman"/>
              </a:rPr>
              <a:t>in</a:t>
            </a:r>
            <a:r>
              <a:rPr sz="3050" spc="-30" dirty="0">
                <a:latin typeface="Times New Roman"/>
                <a:cs typeface="Times New Roman"/>
              </a:rPr>
              <a:t> </a:t>
            </a:r>
            <a:r>
              <a:rPr sz="3050" dirty="0">
                <a:latin typeface="Times New Roman"/>
                <a:cs typeface="Times New Roman"/>
              </a:rPr>
              <a:t>the</a:t>
            </a:r>
            <a:r>
              <a:rPr sz="3050" spc="-45" dirty="0">
                <a:latin typeface="Times New Roman"/>
                <a:cs typeface="Times New Roman"/>
              </a:rPr>
              <a:t> </a:t>
            </a:r>
            <a:r>
              <a:rPr sz="3050" spc="-10" dirty="0">
                <a:latin typeface="Times New Roman"/>
                <a:cs typeface="Times New Roman"/>
              </a:rPr>
              <a:t>AppBar.</a:t>
            </a:r>
            <a:endParaRPr sz="3050">
              <a:latin typeface="Times New Roman"/>
              <a:cs typeface="Times New Roman"/>
            </a:endParaRPr>
          </a:p>
          <a:p>
            <a:pPr marL="765175" lvl="1" indent="-381000">
              <a:lnSpc>
                <a:spcPct val="100000"/>
              </a:lnSpc>
              <a:spcBef>
                <a:spcPts val="1780"/>
              </a:spcBef>
              <a:buFont typeface="Tahoma"/>
              <a:buChar char="○"/>
              <a:tabLst>
                <a:tab pos="765175" algn="l"/>
              </a:tabLst>
            </a:pPr>
            <a:r>
              <a:rPr sz="3050" dirty="0">
                <a:solidFill>
                  <a:srgbClr val="0070C0"/>
                </a:solidFill>
                <a:latin typeface="Times New Roman"/>
                <a:cs typeface="Times New Roman"/>
              </a:rPr>
              <a:t>backgroundColor:</a:t>
            </a:r>
            <a:r>
              <a:rPr sz="3050" spc="-35" dirty="0">
                <a:solidFill>
                  <a:srgbClr val="0070C0"/>
                </a:solidFill>
                <a:latin typeface="Times New Roman"/>
                <a:cs typeface="Times New Roman"/>
              </a:rPr>
              <a:t> </a:t>
            </a:r>
            <a:r>
              <a:rPr sz="3050" dirty="0">
                <a:latin typeface="Times New Roman"/>
                <a:cs typeface="Times New Roman"/>
              </a:rPr>
              <a:t>This</a:t>
            </a:r>
            <a:r>
              <a:rPr sz="3050" spc="-35" dirty="0">
                <a:latin typeface="Times New Roman"/>
                <a:cs typeface="Times New Roman"/>
              </a:rPr>
              <a:t> </a:t>
            </a:r>
            <a:r>
              <a:rPr sz="3050" dirty="0">
                <a:latin typeface="Times New Roman"/>
                <a:cs typeface="Times New Roman"/>
              </a:rPr>
              <a:t>property</a:t>
            </a:r>
            <a:r>
              <a:rPr sz="3050" spc="-30" dirty="0">
                <a:latin typeface="Times New Roman"/>
                <a:cs typeface="Times New Roman"/>
              </a:rPr>
              <a:t> </a:t>
            </a:r>
            <a:r>
              <a:rPr sz="3050" dirty="0">
                <a:latin typeface="Times New Roman"/>
                <a:cs typeface="Times New Roman"/>
              </a:rPr>
              <a:t>is</a:t>
            </a:r>
            <a:r>
              <a:rPr sz="3050" spc="-35" dirty="0">
                <a:latin typeface="Times New Roman"/>
                <a:cs typeface="Times New Roman"/>
              </a:rPr>
              <a:t> </a:t>
            </a:r>
            <a:r>
              <a:rPr sz="3050" dirty="0">
                <a:latin typeface="Times New Roman"/>
                <a:cs typeface="Times New Roman"/>
              </a:rPr>
              <a:t>used</a:t>
            </a:r>
            <a:r>
              <a:rPr sz="3050" spc="-25" dirty="0">
                <a:latin typeface="Times New Roman"/>
                <a:cs typeface="Times New Roman"/>
              </a:rPr>
              <a:t> </a:t>
            </a:r>
            <a:r>
              <a:rPr sz="3050" dirty="0">
                <a:latin typeface="Times New Roman"/>
                <a:cs typeface="Times New Roman"/>
              </a:rPr>
              <a:t>to</a:t>
            </a:r>
            <a:r>
              <a:rPr sz="3050" spc="-30" dirty="0">
                <a:latin typeface="Times New Roman"/>
                <a:cs typeface="Times New Roman"/>
              </a:rPr>
              <a:t> </a:t>
            </a:r>
            <a:r>
              <a:rPr sz="3050" dirty="0">
                <a:latin typeface="Times New Roman"/>
                <a:cs typeface="Times New Roman"/>
              </a:rPr>
              <a:t>add</a:t>
            </a:r>
            <a:r>
              <a:rPr sz="3050" spc="-30" dirty="0">
                <a:latin typeface="Times New Roman"/>
                <a:cs typeface="Times New Roman"/>
              </a:rPr>
              <a:t> </a:t>
            </a:r>
            <a:r>
              <a:rPr sz="3050" dirty="0">
                <a:latin typeface="Times New Roman"/>
                <a:cs typeface="Times New Roman"/>
              </a:rPr>
              <a:t>colors</a:t>
            </a:r>
            <a:r>
              <a:rPr sz="3050" spc="-35" dirty="0">
                <a:latin typeface="Times New Roman"/>
                <a:cs typeface="Times New Roman"/>
              </a:rPr>
              <a:t> </a:t>
            </a:r>
            <a:r>
              <a:rPr sz="3050" dirty="0">
                <a:latin typeface="Times New Roman"/>
                <a:cs typeface="Times New Roman"/>
              </a:rPr>
              <a:t>to</a:t>
            </a:r>
            <a:r>
              <a:rPr sz="3050" spc="-25" dirty="0">
                <a:latin typeface="Times New Roman"/>
                <a:cs typeface="Times New Roman"/>
              </a:rPr>
              <a:t> </a:t>
            </a:r>
            <a:r>
              <a:rPr sz="3050" dirty="0">
                <a:latin typeface="Times New Roman"/>
                <a:cs typeface="Times New Roman"/>
              </a:rPr>
              <a:t>the</a:t>
            </a:r>
            <a:r>
              <a:rPr sz="3050" spc="-35" dirty="0">
                <a:latin typeface="Times New Roman"/>
                <a:cs typeface="Times New Roman"/>
              </a:rPr>
              <a:t> </a:t>
            </a:r>
            <a:r>
              <a:rPr sz="3050" dirty="0">
                <a:latin typeface="Times New Roman"/>
                <a:cs typeface="Times New Roman"/>
              </a:rPr>
              <a:t>background</a:t>
            </a:r>
            <a:r>
              <a:rPr sz="3050" spc="-30" dirty="0">
                <a:latin typeface="Times New Roman"/>
                <a:cs typeface="Times New Roman"/>
              </a:rPr>
              <a:t> </a:t>
            </a:r>
            <a:r>
              <a:rPr sz="3050" dirty="0">
                <a:latin typeface="Times New Roman"/>
                <a:cs typeface="Times New Roman"/>
              </a:rPr>
              <a:t>of</a:t>
            </a:r>
            <a:r>
              <a:rPr sz="3050" spc="-30" dirty="0">
                <a:latin typeface="Times New Roman"/>
                <a:cs typeface="Times New Roman"/>
              </a:rPr>
              <a:t> </a:t>
            </a:r>
            <a:r>
              <a:rPr sz="3050" dirty="0">
                <a:latin typeface="Times New Roman"/>
                <a:cs typeface="Times New Roman"/>
              </a:rPr>
              <a:t>the</a:t>
            </a:r>
            <a:r>
              <a:rPr sz="3050" spc="-35" dirty="0">
                <a:latin typeface="Times New Roman"/>
                <a:cs typeface="Times New Roman"/>
              </a:rPr>
              <a:t> </a:t>
            </a:r>
            <a:r>
              <a:rPr sz="3050" spc="-10" dirty="0">
                <a:latin typeface="Times New Roman"/>
                <a:cs typeface="Times New Roman"/>
              </a:rPr>
              <a:t>Appbar.</a:t>
            </a:r>
            <a:endParaRPr sz="3050">
              <a:latin typeface="Times New Roman"/>
              <a:cs typeface="Times New Roman"/>
            </a:endParaRPr>
          </a:p>
          <a:p>
            <a:pPr marL="765175" lvl="1" indent="-381000">
              <a:lnSpc>
                <a:spcPct val="100000"/>
              </a:lnSpc>
              <a:spcBef>
                <a:spcPts val="1860"/>
              </a:spcBef>
              <a:buFont typeface="Tahoma"/>
              <a:buChar char="○"/>
              <a:tabLst>
                <a:tab pos="765175" algn="l"/>
              </a:tabLst>
            </a:pPr>
            <a:r>
              <a:rPr sz="3050" dirty="0">
                <a:solidFill>
                  <a:srgbClr val="0070C0"/>
                </a:solidFill>
                <a:latin typeface="Times New Roman"/>
                <a:cs typeface="Times New Roman"/>
              </a:rPr>
              <a:t>elevation:</a:t>
            </a:r>
            <a:r>
              <a:rPr sz="3050" spc="-40" dirty="0">
                <a:solidFill>
                  <a:srgbClr val="0070C0"/>
                </a:solidFill>
                <a:latin typeface="Times New Roman"/>
                <a:cs typeface="Times New Roman"/>
              </a:rPr>
              <a:t> </a:t>
            </a:r>
            <a:r>
              <a:rPr sz="3050" dirty="0">
                <a:latin typeface="Times New Roman"/>
                <a:cs typeface="Times New Roman"/>
              </a:rPr>
              <a:t>This</a:t>
            </a:r>
            <a:r>
              <a:rPr sz="3050" spc="-35" dirty="0">
                <a:latin typeface="Times New Roman"/>
                <a:cs typeface="Times New Roman"/>
              </a:rPr>
              <a:t> </a:t>
            </a:r>
            <a:r>
              <a:rPr sz="3050" dirty="0">
                <a:latin typeface="Times New Roman"/>
                <a:cs typeface="Times New Roman"/>
              </a:rPr>
              <a:t>property</a:t>
            </a:r>
            <a:r>
              <a:rPr sz="3050" spc="-30" dirty="0">
                <a:latin typeface="Times New Roman"/>
                <a:cs typeface="Times New Roman"/>
              </a:rPr>
              <a:t> </a:t>
            </a:r>
            <a:r>
              <a:rPr sz="3050" dirty="0">
                <a:latin typeface="Times New Roman"/>
                <a:cs typeface="Times New Roman"/>
              </a:rPr>
              <a:t>is</a:t>
            </a:r>
            <a:r>
              <a:rPr sz="3050" spc="-35" dirty="0">
                <a:latin typeface="Times New Roman"/>
                <a:cs typeface="Times New Roman"/>
              </a:rPr>
              <a:t> </a:t>
            </a:r>
            <a:r>
              <a:rPr sz="3050" dirty="0">
                <a:latin typeface="Times New Roman"/>
                <a:cs typeface="Times New Roman"/>
              </a:rPr>
              <a:t>used</a:t>
            </a:r>
            <a:r>
              <a:rPr sz="3050" spc="-30" dirty="0">
                <a:latin typeface="Times New Roman"/>
                <a:cs typeface="Times New Roman"/>
              </a:rPr>
              <a:t> </a:t>
            </a:r>
            <a:r>
              <a:rPr sz="3050" dirty="0">
                <a:latin typeface="Times New Roman"/>
                <a:cs typeface="Times New Roman"/>
              </a:rPr>
              <a:t>to</a:t>
            </a:r>
            <a:r>
              <a:rPr sz="3050" spc="-35" dirty="0">
                <a:latin typeface="Times New Roman"/>
                <a:cs typeface="Times New Roman"/>
              </a:rPr>
              <a:t> </a:t>
            </a:r>
            <a:r>
              <a:rPr sz="3050" dirty="0">
                <a:latin typeface="Times New Roman"/>
                <a:cs typeface="Times New Roman"/>
              </a:rPr>
              <a:t>set</a:t>
            </a:r>
            <a:r>
              <a:rPr sz="3050" spc="-35" dirty="0">
                <a:latin typeface="Times New Roman"/>
                <a:cs typeface="Times New Roman"/>
              </a:rPr>
              <a:t> </a:t>
            </a:r>
            <a:r>
              <a:rPr sz="3050" dirty="0">
                <a:latin typeface="Times New Roman"/>
                <a:cs typeface="Times New Roman"/>
              </a:rPr>
              <a:t>the</a:t>
            </a:r>
            <a:r>
              <a:rPr sz="3050" spc="-35" dirty="0">
                <a:latin typeface="Times New Roman"/>
                <a:cs typeface="Times New Roman"/>
              </a:rPr>
              <a:t> </a:t>
            </a:r>
            <a:r>
              <a:rPr sz="3050" spc="-10" dirty="0">
                <a:latin typeface="Times New Roman"/>
                <a:cs typeface="Times New Roman"/>
              </a:rPr>
              <a:t>z-</a:t>
            </a:r>
            <a:r>
              <a:rPr sz="3050" dirty="0">
                <a:latin typeface="Times New Roman"/>
                <a:cs typeface="Times New Roman"/>
              </a:rPr>
              <a:t>coordinate</a:t>
            </a:r>
            <a:r>
              <a:rPr sz="3050" spc="-35" dirty="0">
                <a:latin typeface="Times New Roman"/>
                <a:cs typeface="Times New Roman"/>
              </a:rPr>
              <a:t> </a:t>
            </a:r>
            <a:r>
              <a:rPr sz="3050" dirty="0">
                <a:latin typeface="Times New Roman"/>
                <a:cs typeface="Times New Roman"/>
              </a:rPr>
              <a:t>at</a:t>
            </a:r>
            <a:r>
              <a:rPr sz="3050" spc="-35" dirty="0">
                <a:latin typeface="Times New Roman"/>
                <a:cs typeface="Times New Roman"/>
              </a:rPr>
              <a:t> </a:t>
            </a:r>
            <a:r>
              <a:rPr sz="3050" dirty="0">
                <a:latin typeface="Times New Roman"/>
                <a:cs typeface="Times New Roman"/>
              </a:rPr>
              <a:t>which</a:t>
            </a:r>
            <a:r>
              <a:rPr sz="3050" spc="-30" dirty="0">
                <a:latin typeface="Times New Roman"/>
                <a:cs typeface="Times New Roman"/>
              </a:rPr>
              <a:t> </a:t>
            </a:r>
            <a:r>
              <a:rPr sz="3050" dirty="0">
                <a:latin typeface="Times New Roman"/>
                <a:cs typeface="Times New Roman"/>
              </a:rPr>
              <a:t>to</a:t>
            </a:r>
            <a:r>
              <a:rPr sz="3050" spc="-35" dirty="0">
                <a:latin typeface="Times New Roman"/>
                <a:cs typeface="Times New Roman"/>
              </a:rPr>
              <a:t> </a:t>
            </a:r>
            <a:r>
              <a:rPr sz="3050" dirty="0">
                <a:latin typeface="Times New Roman"/>
                <a:cs typeface="Times New Roman"/>
              </a:rPr>
              <a:t>place</a:t>
            </a:r>
            <a:r>
              <a:rPr sz="3050" spc="-35" dirty="0">
                <a:latin typeface="Times New Roman"/>
                <a:cs typeface="Times New Roman"/>
              </a:rPr>
              <a:t> </a:t>
            </a:r>
            <a:r>
              <a:rPr sz="3050" dirty="0">
                <a:latin typeface="Times New Roman"/>
                <a:cs typeface="Times New Roman"/>
              </a:rPr>
              <a:t>this</a:t>
            </a:r>
            <a:r>
              <a:rPr sz="3050" spc="-35" dirty="0">
                <a:latin typeface="Times New Roman"/>
                <a:cs typeface="Times New Roman"/>
              </a:rPr>
              <a:t> </a:t>
            </a:r>
            <a:r>
              <a:rPr sz="3050" dirty="0">
                <a:latin typeface="Times New Roman"/>
                <a:cs typeface="Times New Roman"/>
              </a:rPr>
              <a:t>app</a:t>
            </a:r>
            <a:r>
              <a:rPr sz="3050" spc="-30" dirty="0">
                <a:latin typeface="Times New Roman"/>
                <a:cs typeface="Times New Roman"/>
              </a:rPr>
              <a:t> </a:t>
            </a:r>
            <a:r>
              <a:rPr sz="3050" dirty="0">
                <a:latin typeface="Times New Roman"/>
                <a:cs typeface="Times New Roman"/>
              </a:rPr>
              <a:t>bar</a:t>
            </a:r>
            <a:r>
              <a:rPr sz="3050" spc="-30" dirty="0">
                <a:latin typeface="Times New Roman"/>
                <a:cs typeface="Times New Roman"/>
              </a:rPr>
              <a:t> </a:t>
            </a:r>
            <a:r>
              <a:rPr sz="3050" dirty="0">
                <a:latin typeface="Times New Roman"/>
                <a:cs typeface="Times New Roman"/>
              </a:rPr>
              <a:t>relative</a:t>
            </a:r>
            <a:r>
              <a:rPr sz="3050" spc="-40" dirty="0">
                <a:latin typeface="Times New Roman"/>
                <a:cs typeface="Times New Roman"/>
              </a:rPr>
              <a:t> </a:t>
            </a:r>
            <a:r>
              <a:rPr sz="3050" dirty="0">
                <a:latin typeface="Times New Roman"/>
                <a:cs typeface="Times New Roman"/>
              </a:rPr>
              <a:t>to</a:t>
            </a:r>
            <a:r>
              <a:rPr sz="3050" spc="-30" dirty="0">
                <a:latin typeface="Times New Roman"/>
                <a:cs typeface="Times New Roman"/>
              </a:rPr>
              <a:t> </a:t>
            </a:r>
            <a:r>
              <a:rPr sz="3050" dirty="0">
                <a:latin typeface="Times New Roman"/>
                <a:cs typeface="Times New Roman"/>
              </a:rPr>
              <a:t>its</a:t>
            </a:r>
            <a:r>
              <a:rPr sz="3050" spc="-35" dirty="0">
                <a:latin typeface="Times New Roman"/>
                <a:cs typeface="Times New Roman"/>
              </a:rPr>
              <a:t> </a:t>
            </a:r>
            <a:r>
              <a:rPr sz="3050" spc="-10" dirty="0">
                <a:latin typeface="Times New Roman"/>
                <a:cs typeface="Times New Roman"/>
              </a:rPr>
              <a:t>parent.</a:t>
            </a:r>
            <a:endParaRPr sz="3050">
              <a:latin typeface="Times New Roman"/>
              <a:cs typeface="Times New Roman"/>
            </a:endParaRPr>
          </a:p>
          <a:p>
            <a:pPr marL="765175" lvl="1" indent="-381000">
              <a:lnSpc>
                <a:spcPct val="100000"/>
              </a:lnSpc>
              <a:spcBef>
                <a:spcPts val="1860"/>
              </a:spcBef>
              <a:buFont typeface="Tahoma"/>
              <a:buChar char="○"/>
              <a:tabLst>
                <a:tab pos="765175" algn="l"/>
              </a:tabLst>
            </a:pPr>
            <a:r>
              <a:rPr sz="3050" dirty="0">
                <a:solidFill>
                  <a:srgbClr val="0070C0"/>
                </a:solidFill>
                <a:latin typeface="Times New Roman"/>
                <a:cs typeface="Times New Roman"/>
              </a:rPr>
              <a:t>shape:</a:t>
            </a:r>
            <a:r>
              <a:rPr sz="3050" spc="-30" dirty="0">
                <a:solidFill>
                  <a:srgbClr val="0070C0"/>
                </a:solidFill>
                <a:latin typeface="Times New Roman"/>
                <a:cs typeface="Times New Roman"/>
              </a:rPr>
              <a:t> </a:t>
            </a:r>
            <a:r>
              <a:rPr sz="3050" dirty="0">
                <a:latin typeface="Times New Roman"/>
                <a:cs typeface="Times New Roman"/>
              </a:rPr>
              <a:t>This</a:t>
            </a:r>
            <a:r>
              <a:rPr sz="3050" spc="-30" dirty="0">
                <a:latin typeface="Times New Roman"/>
                <a:cs typeface="Times New Roman"/>
              </a:rPr>
              <a:t> </a:t>
            </a:r>
            <a:r>
              <a:rPr sz="3050" dirty="0">
                <a:latin typeface="Times New Roman"/>
                <a:cs typeface="Times New Roman"/>
              </a:rPr>
              <a:t>property</a:t>
            </a:r>
            <a:r>
              <a:rPr sz="3050" spc="-25" dirty="0">
                <a:latin typeface="Times New Roman"/>
                <a:cs typeface="Times New Roman"/>
              </a:rPr>
              <a:t> </a:t>
            </a:r>
            <a:r>
              <a:rPr sz="3050" dirty="0">
                <a:latin typeface="Times New Roman"/>
                <a:cs typeface="Times New Roman"/>
              </a:rPr>
              <a:t>is</a:t>
            </a:r>
            <a:r>
              <a:rPr sz="3050" spc="-30" dirty="0">
                <a:latin typeface="Times New Roman"/>
                <a:cs typeface="Times New Roman"/>
              </a:rPr>
              <a:t> </a:t>
            </a:r>
            <a:r>
              <a:rPr sz="3050" dirty="0">
                <a:latin typeface="Times New Roman"/>
                <a:cs typeface="Times New Roman"/>
              </a:rPr>
              <a:t>used</a:t>
            </a:r>
            <a:r>
              <a:rPr sz="3050" spc="-25" dirty="0">
                <a:latin typeface="Times New Roman"/>
                <a:cs typeface="Times New Roman"/>
              </a:rPr>
              <a:t> </a:t>
            </a:r>
            <a:r>
              <a:rPr sz="3050" dirty="0">
                <a:latin typeface="Times New Roman"/>
                <a:cs typeface="Times New Roman"/>
              </a:rPr>
              <a:t>to</a:t>
            </a:r>
            <a:r>
              <a:rPr sz="3050" spc="-25" dirty="0">
                <a:latin typeface="Times New Roman"/>
                <a:cs typeface="Times New Roman"/>
              </a:rPr>
              <a:t> </a:t>
            </a:r>
            <a:r>
              <a:rPr sz="3050" dirty="0">
                <a:latin typeface="Times New Roman"/>
                <a:cs typeface="Times New Roman"/>
              </a:rPr>
              <a:t>give</a:t>
            </a:r>
            <a:r>
              <a:rPr sz="3050" spc="-30" dirty="0">
                <a:latin typeface="Times New Roman"/>
                <a:cs typeface="Times New Roman"/>
              </a:rPr>
              <a:t> </a:t>
            </a:r>
            <a:r>
              <a:rPr sz="3050" dirty="0">
                <a:latin typeface="Times New Roman"/>
                <a:cs typeface="Times New Roman"/>
              </a:rPr>
              <a:t>shape</a:t>
            </a:r>
            <a:r>
              <a:rPr sz="3050" spc="-25" dirty="0">
                <a:latin typeface="Times New Roman"/>
                <a:cs typeface="Times New Roman"/>
              </a:rPr>
              <a:t> </a:t>
            </a:r>
            <a:r>
              <a:rPr sz="3050" dirty="0">
                <a:latin typeface="Times New Roman"/>
                <a:cs typeface="Times New Roman"/>
              </a:rPr>
              <a:t>to</a:t>
            </a:r>
            <a:r>
              <a:rPr sz="3050" spc="-25" dirty="0">
                <a:latin typeface="Times New Roman"/>
                <a:cs typeface="Times New Roman"/>
              </a:rPr>
              <a:t> </a:t>
            </a:r>
            <a:r>
              <a:rPr sz="3050" dirty="0">
                <a:latin typeface="Times New Roman"/>
                <a:cs typeface="Times New Roman"/>
              </a:rPr>
              <a:t>the</a:t>
            </a:r>
            <a:r>
              <a:rPr sz="3050" spc="-35" dirty="0">
                <a:latin typeface="Times New Roman"/>
                <a:cs typeface="Times New Roman"/>
              </a:rPr>
              <a:t> </a:t>
            </a:r>
            <a:r>
              <a:rPr sz="3050" dirty="0">
                <a:latin typeface="Times New Roman"/>
                <a:cs typeface="Times New Roman"/>
              </a:rPr>
              <a:t>Appbar</a:t>
            </a:r>
            <a:r>
              <a:rPr sz="3050" spc="-25" dirty="0">
                <a:latin typeface="Times New Roman"/>
                <a:cs typeface="Times New Roman"/>
              </a:rPr>
              <a:t> </a:t>
            </a:r>
            <a:r>
              <a:rPr sz="3050" dirty="0">
                <a:latin typeface="Times New Roman"/>
                <a:cs typeface="Times New Roman"/>
              </a:rPr>
              <a:t>and</a:t>
            </a:r>
            <a:r>
              <a:rPr sz="3050" spc="-25" dirty="0">
                <a:latin typeface="Times New Roman"/>
                <a:cs typeface="Times New Roman"/>
              </a:rPr>
              <a:t> </a:t>
            </a:r>
            <a:r>
              <a:rPr sz="3050" dirty="0">
                <a:latin typeface="Times New Roman"/>
                <a:cs typeface="Times New Roman"/>
              </a:rPr>
              <a:t>manage</a:t>
            </a:r>
            <a:r>
              <a:rPr sz="3050" spc="-30" dirty="0">
                <a:latin typeface="Times New Roman"/>
                <a:cs typeface="Times New Roman"/>
              </a:rPr>
              <a:t> </a:t>
            </a:r>
            <a:r>
              <a:rPr sz="3050" dirty="0">
                <a:latin typeface="Times New Roman"/>
                <a:cs typeface="Times New Roman"/>
              </a:rPr>
              <a:t>its</a:t>
            </a:r>
            <a:r>
              <a:rPr sz="3050" spc="-30" dirty="0">
                <a:latin typeface="Times New Roman"/>
                <a:cs typeface="Times New Roman"/>
              </a:rPr>
              <a:t> </a:t>
            </a:r>
            <a:r>
              <a:rPr sz="3050" spc="-10" dirty="0">
                <a:latin typeface="Times New Roman"/>
                <a:cs typeface="Times New Roman"/>
              </a:rPr>
              <a:t>shadow.</a:t>
            </a:r>
            <a:endParaRPr sz="3050">
              <a:latin typeface="Times New Roman"/>
              <a:cs typeface="Times New Roman"/>
            </a:endParaRPr>
          </a:p>
          <a:p>
            <a:pPr marL="425450" indent="-412750">
              <a:lnSpc>
                <a:spcPct val="100000"/>
              </a:lnSpc>
              <a:spcBef>
                <a:spcPts val="1935"/>
              </a:spcBef>
              <a:buFont typeface="Calibri"/>
              <a:buChar char="●"/>
              <a:tabLst>
                <a:tab pos="425450" algn="l"/>
              </a:tabLst>
            </a:pPr>
            <a:r>
              <a:rPr sz="3550" dirty="0">
                <a:latin typeface="Times New Roman"/>
                <a:cs typeface="Times New Roman"/>
              </a:rPr>
              <a:t>Official</a:t>
            </a:r>
            <a:r>
              <a:rPr sz="3550" spc="35" dirty="0">
                <a:latin typeface="Times New Roman"/>
                <a:cs typeface="Times New Roman"/>
              </a:rPr>
              <a:t> </a:t>
            </a:r>
            <a:r>
              <a:rPr sz="3550" spc="-10" dirty="0">
                <a:latin typeface="Times New Roman"/>
                <a:cs typeface="Times New Roman"/>
              </a:rPr>
              <a:t>documentation:</a:t>
            </a:r>
            <a:r>
              <a:rPr sz="3550" spc="40" dirty="0">
                <a:latin typeface="Times New Roman"/>
                <a:cs typeface="Times New Roman"/>
              </a:rPr>
              <a:t> </a:t>
            </a:r>
            <a:r>
              <a:rPr sz="3550" u="heavy" spc="-20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Times New Roman"/>
                <a:cs typeface="Times New Roman"/>
              </a:rPr>
              <a:t>https://api.flutter.dev/flutter/material/AppBar-</a:t>
            </a:r>
            <a:r>
              <a:rPr sz="3550" u="heavy" spc="-10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Times New Roman"/>
                <a:cs typeface="Times New Roman"/>
              </a:rPr>
              <a:t>class.html</a:t>
            </a:r>
            <a:endParaRPr sz="3550">
              <a:latin typeface="Times New Roman"/>
              <a:cs typeface="Times New Roman"/>
            </a:endParaRPr>
          </a:p>
        </p:txBody>
      </p:sp>
      <p:grpSp>
        <p:nvGrpSpPr>
          <p:cNvPr id="5" name="object 5"/>
          <p:cNvGrpSpPr/>
          <p:nvPr/>
        </p:nvGrpSpPr>
        <p:grpSpPr>
          <a:xfrm>
            <a:off x="6826253" y="9331393"/>
            <a:ext cx="6451600" cy="1527175"/>
            <a:chOff x="6826253" y="9331393"/>
            <a:chExt cx="6451600" cy="1527175"/>
          </a:xfrm>
        </p:grpSpPr>
        <p:pic>
          <p:nvPicPr>
            <p:cNvPr id="6" name="object 6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6835393" y="9340867"/>
              <a:ext cx="6433311" cy="1507807"/>
            </a:xfrm>
            <a:prstGeom prst="rect">
              <a:avLst/>
            </a:prstGeom>
          </p:spPr>
        </p:pic>
        <p:sp>
          <p:nvSpPr>
            <p:cNvPr id="7" name="object 7"/>
            <p:cNvSpPr/>
            <p:nvPr/>
          </p:nvSpPr>
          <p:spPr>
            <a:xfrm>
              <a:off x="6831489" y="9336628"/>
              <a:ext cx="6441440" cy="1517015"/>
            </a:xfrm>
            <a:custGeom>
              <a:avLst/>
              <a:gdLst/>
              <a:ahLst/>
              <a:cxnLst/>
              <a:rect l="l" t="t" r="r" b="b"/>
              <a:pathLst>
                <a:path w="6441440" h="1517015">
                  <a:moveTo>
                    <a:pt x="0" y="0"/>
                  </a:moveTo>
                  <a:lnTo>
                    <a:pt x="6441119" y="0"/>
                  </a:lnTo>
                  <a:lnTo>
                    <a:pt x="6441119" y="1516485"/>
                  </a:lnTo>
                  <a:lnTo>
                    <a:pt x="0" y="1516485"/>
                  </a:lnTo>
                  <a:lnTo>
                    <a:pt x="0" y="0"/>
                  </a:lnTo>
                  <a:close/>
                </a:path>
              </a:pathLst>
            </a:custGeom>
            <a:ln w="1047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Words>429</Words>
  <Application>Microsoft Office PowerPoint</Application>
  <PresentationFormat>Custom</PresentationFormat>
  <Paragraphs>43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6" baseType="lpstr">
      <vt:lpstr>Arial MT</vt:lpstr>
      <vt:lpstr>Calibri</vt:lpstr>
      <vt:lpstr>Georgia</vt:lpstr>
      <vt:lpstr>Microsoft Sans Serif</vt:lpstr>
      <vt:lpstr>Roboto</vt:lpstr>
      <vt:lpstr>Tahoma</vt:lpstr>
      <vt:lpstr>Times New Roman</vt:lpstr>
      <vt:lpstr>Office Theme</vt:lpstr>
      <vt:lpstr>Mobile Learning Application Development</vt:lpstr>
      <vt:lpstr>Activity &amp; Widgets</vt:lpstr>
      <vt:lpstr>Flutter Main Source Code Flow</vt:lpstr>
      <vt:lpstr>Material App Class</vt:lpstr>
      <vt:lpstr>Material App Class</vt:lpstr>
      <vt:lpstr>Scaffold Class</vt:lpstr>
      <vt:lpstr>Scaffold Class</vt:lpstr>
      <vt:lpstr>AppBar Widget</vt:lpstr>
    </vt:vector>
  </TitlesOfParts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flutter 3</dc:title>
  <cp:lastModifiedBy>User</cp:lastModifiedBy>
  <cp:revision>1</cp:revision>
  <dcterms:created xsi:type="dcterms:W3CDTF">2025-09-26T07:00:46Z</dcterms:created>
  <dcterms:modified xsi:type="dcterms:W3CDTF">2025-09-26T07:02:11Z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2024-11-25T00:00:00Z</vt:filetime>
  </property>
  <property fmtid="{D5CDD505-2E9C-101B-9397-08002B2CF9AE}" pid="3" name="Creator">
    <vt:lpwstr>PowerPoint</vt:lpwstr>
  </property>
  <property fmtid="{D5CDD505-2E9C-101B-9397-08002B2CF9AE}" pid="4" name="LastSaved">
    <vt:filetime>2025-09-26T00:00:00Z</vt:filetime>
  </property>
  <property fmtid="{D5CDD505-2E9C-101B-9397-08002B2CF9AE}" pid="5" name="Producer">
    <vt:lpwstr>macOS Version 15.1 (Build 24B83) Quartz PDFContext</vt:lpwstr>
  </property>
</Properties>
</file>