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autoCompressPictures="0">
  <p:sldMasterIdLst>
    <p:sldMasterId id="2147483648" r:id="rId1"/>
  </p:sldMasterIdLst>
  <p:notesMasterIdLst>
    <p:notesMasterId r:id="rId10"/>
  </p:notesMasterIdLst>
  <p:sldIdLst>
    <p:sldId id="270" r:id="rId2"/>
    <p:sldId id="257" r:id="rId3"/>
    <p:sldId id="282" r:id="rId4"/>
    <p:sldId id="281" r:id="rId5"/>
    <p:sldId id="283" r:id="rId6"/>
    <p:sldId id="284" r:id="rId7"/>
    <p:sldId id="285" r:id="rId8"/>
    <p:sldId id="286" r:id="rId9"/>
  </p:sldIdLst>
  <p:sldSz cx="24384000" cy="13716000"/>
  <p:notesSz cx="6858000" cy="9144000"/>
  <p:embeddedFontLst>
    <p:embeddedFont>
      <p:font typeface="Georgia" panose="02040502050405020303" pitchFamily="18" charset="0"/>
      <p:regular r:id="rId11"/>
      <p:bold r:id="rId12"/>
      <p:italic r:id="rId13"/>
      <p:boldItalic r:id="rId14"/>
    </p:embeddedFont>
    <p:embeddedFont>
      <p:font typeface="Helvetica Neue" panose="020B0604020202020204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1" roundtripDataSignature="AMtx7mhP4Ith79S/7xHSbcM7uSjqcqvcx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118" autoAdjust="0"/>
    <p:restoredTop sz="88338" autoAdjust="0"/>
  </p:normalViewPr>
  <p:slideViewPr>
    <p:cSldViewPr snapToGrid="0">
      <p:cViewPr varScale="1">
        <p:scale>
          <a:sx n="33" d="100"/>
          <a:sy n="33" d="100"/>
        </p:scale>
        <p:origin x="81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31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96630114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697998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2" name="Google Shape;8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3573756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2" name="Google Shape;8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41446191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2" name="Google Shape;8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2164475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2" name="Google Shape;8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5933498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2" name="Google Shape;8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5763904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2" name="Google Shape;8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1476310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2" name="Google Shape;8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6101598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tx">
  <p:cSld name="TITLE_AND_BODY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6"/>
          <p:cNvSpPr txBox="1">
            <a:spLocks noGrp="1"/>
          </p:cNvSpPr>
          <p:nvPr>
            <p:ph type="sldNum" idx="12"/>
          </p:nvPr>
        </p:nvSpPr>
        <p:spPr>
          <a:xfrm>
            <a:off x="11977623" y="13081000"/>
            <a:ext cx="416053" cy="467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Photo Alt">
  <p:cSld name="Title &amp; Photo Al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8"/>
          <p:cNvSpPr>
            <a:spLocks noGrp="1"/>
          </p:cNvSpPr>
          <p:nvPr>
            <p:ph type="pic" idx="2"/>
          </p:nvPr>
        </p:nvSpPr>
        <p:spPr>
          <a:xfrm>
            <a:off x="7962900" y="-25400"/>
            <a:ext cx="20650200" cy="13766800"/>
          </a:xfrm>
          <a:prstGeom prst="rect">
            <a:avLst/>
          </a:prstGeom>
          <a:noFill/>
          <a:ln>
            <a:noFill/>
          </a:ln>
        </p:spPr>
      </p:sp>
      <p:sp>
        <p:nvSpPr>
          <p:cNvPr id="24" name="Google Shape;24;p18"/>
          <p:cNvSpPr txBox="1">
            <a:spLocks noGrp="1"/>
          </p:cNvSpPr>
          <p:nvPr>
            <p:ph type="title"/>
          </p:nvPr>
        </p:nvSpPr>
        <p:spPr>
          <a:xfrm>
            <a:off x="1270000" y="3885108"/>
            <a:ext cx="9652000" cy="3200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norm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D8"/>
              </a:buClr>
              <a:buSzPts val="8400"/>
              <a:buFont typeface="Arial"/>
              <a:buNone/>
              <a:defRPr>
                <a:solidFill>
                  <a:srgbClr val="FF00D8"/>
                </a:solidFill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8"/>
          <p:cNvSpPr txBox="1">
            <a:spLocks noGrp="1"/>
          </p:cNvSpPr>
          <p:nvPr>
            <p:ph type="body" idx="1"/>
          </p:nvPr>
        </p:nvSpPr>
        <p:spPr>
          <a:xfrm>
            <a:off x="1270000" y="6845300"/>
            <a:ext cx="9652000" cy="566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  <a:defRPr sz="5400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  <a:defRPr sz="540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  <a:defRPr sz="540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  <a:defRPr sz="540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  <a:defRPr sz="540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18"/>
          <p:cNvSpPr txBox="1">
            <a:spLocks noGrp="1"/>
          </p:cNvSpPr>
          <p:nvPr>
            <p:ph type="sldNum" idx="12"/>
          </p:nvPr>
        </p:nvSpPr>
        <p:spPr>
          <a:xfrm>
            <a:off x="11977623" y="13081000"/>
            <a:ext cx="416053" cy="467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Bullets">
  <p:cSld name="Title &amp; Bullets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9"/>
          <p:cNvSpPr txBox="1">
            <a:spLocks noGrp="1"/>
          </p:cNvSpPr>
          <p:nvPr>
            <p:ph type="title"/>
          </p:nvPr>
        </p:nvSpPr>
        <p:spPr>
          <a:xfrm>
            <a:off x="1270000" y="812800"/>
            <a:ext cx="21844000" cy="1557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norm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9"/>
          <p:cNvSpPr txBox="1">
            <a:spLocks noGrp="1"/>
          </p:cNvSpPr>
          <p:nvPr>
            <p:ph type="body" idx="1"/>
          </p:nvPr>
        </p:nvSpPr>
        <p:spPr>
          <a:xfrm>
            <a:off x="1270000" y="2133600"/>
            <a:ext cx="21844000" cy="10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  <a:defRPr sz="5400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19"/>
          <p:cNvSpPr txBox="1">
            <a:spLocks noGrp="1"/>
          </p:cNvSpPr>
          <p:nvPr>
            <p:ph type="body" idx="2"/>
          </p:nvPr>
        </p:nvSpPr>
        <p:spPr>
          <a:xfrm>
            <a:off x="1270000" y="4267200"/>
            <a:ext cx="21844000" cy="84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19"/>
          <p:cNvSpPr txBox="1">
            <a:spLocks noGrp="1"/>
          </p:cNvSpPr>
          <p:nvPr>
            <p:ph type="sldNum" idx="12"/>
          </p:nvPr>
        </p:nvSpPr>
        <p:spPr>
          <a:xfrm>
            <a:off x="11977623" y="13081000"/>
            <a:ext cx="416053" cy="467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ullets">
  <p:cSld name="Bullets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0"/>
          <p:cNvSpPr txBox="1">
            <a:spLocks noGrp="1"/>
          </p:cNvSpPr>
          <p:nvPr>
            <p:ph type="body" idx="1"/>
          </p:nvPr>
        </p:nvSpPr>
        <p:spPr>
          <a:xfrm>
            <a:off x="1270000" y="4269316"/>
            <a:ext cx="21844000" cy="8432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" name="Google Shape;34;p20"/>
          <p:cNvSpPr txBox="1">
            <a:spLocks noGrp="1"/>
          </p:cNvSpPr>
          <p:nvPr>
            <p:ph type="sldNum" idx="12"/>
          </p:nvPr>
        </p:nvSpPr>
        <p:spPr>
          <a:xfrm>
            <a:off x="11977623" y="13081000"/>
            <a:ext cx="416053" cy="467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ullets &amp; Photo">
  <p:cSld name="Title, Bullets &amp; Photo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1"/>
          <p:cNvSpPr>
            <a:spLocks noGrp="1"/>
          </p:cNvSpPr>
          <p:nvPr>
            <p:ph type="pic" idx="2"/>
          </p:nvPr>
        </p:nvSpPr>
        <p:spPr>
          <a:xfrm>
            <a:off x="10185400" y="0"/>
            <a:ext cx="18161000" cy="13716000"/>
          </a:xfrm>
          <a:prstGeom prst="rect">
            <a:avLst/>
          </a:prstGeom>
          <a:noFill/>
          <a:ln>
            <a:noFill/>
          </a:ln>
        </p:spPr>
      </p:sp>
      <p:sp>
        <p:nvSpPr>
          <p:cNvPr id="37" name="Google Shape;37;p21"/>
          <p:cNvSpPr txBox="1">
            <a:spLocks noGrp="1"/>
          </p:cNvSpPr>
          <p:nvPr>
            <p:ph type="title"/>
          </p:nvPr>
        </p:nvSpPr>
        <p:spPr>
          <a:xfrm>
            <a:off x="1270000" y="838200"/>
            <a:ext cx="9652000" cy="154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norm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E03FF"/>
              </a:buClr>
              <a:buSzPts val="8400"/>
              <a:buFont typeface="Arial"/>
              <a:buNone/>
              <a:defRPr>
                <a:solidFill>
                  <a:srgbClr val="5E03FF"/>
                </a:solidFill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1"/>
          <p:cNvSpPr txBox="1">
            <a:spLocks noGrp="1"/>
          </p:cNvSpPr>
          <p:nvPr>
            <p:ph type="body" idx="1"/>
          </p:nvPr>
        </p:nvSpPr>
        <p:spPr>
          <a:xfrm>
            <a:off x="1270000" y="4267200"/>
            <a:ext cx="9652000" cy="84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21"/>
          <p:cNvSpPr txBox="1">
            <a:spLocks noGrp="1"/>
          </p:cNvSpPr>
          <p:nvPr>
            <p:ph type="body" idx="3"/>
          </p:nvPr>
        </p:nvSpPr>
        <p:spPr>
          <a:xfrm>
            <a:off x="1270000" y="2133600"/>
            <a:ext cx="9652000" cy="10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  <a:defRPr sz="5400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1"/>
          <p:cNvSpPr txBox="1">
            <a:spLocks noGrp="1"/>
          </p:cNvSpPr>
          <p:nvPr>
            <p:ph type="sldNum" idx="12"/>
          </p:nvPr>
        </p:nvSpPr>
        <p:spPr>
          <a:xfrm>
            <a:off x="11977623" y="13081000"/>
            <a:ext cx="416053" cy="467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">
  <p:cSld name="Sec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2"/>
          <p:cNvSpPr txBox="1">
            <a:spLocks noGrp="1"/>
          </p:cNvSpPr>
          <p:nvPr>
            <p:ph type="title"/>
          </p:nvPr>
        </p:nvSpPr>
        <p:spPr>
          <a:xfrm>
            <a:off x="1270000" y="3289300"/>
            <a:ext cx="21844000" cy="3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D8"/>
              </a:buClr>
              <a:buSzPts val="11600"/>
              <a:buFont typeface="Arial"/>
              <a:buNone/>
              <a:defRPr sz="11600">
                <a:solidFill>
                  <a:srgbClr val="FF00D8"/>
                </a:solidFill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2"/>
          <p:cNvSpPr txBox="1">
            <a:spLocks noGrp="1"/>
          </p:cNvSpPr>
          <p:nvPr>
            <p:ph type="sldNum" idx="12"/>
          </p:nvPr>
        </p:nvSpPr>
        <p:spPr>
          <a:xfrm>
            <a:off x="11977623" y="13081000"/>
            <a:ext cx="416053" cy="467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3"/>
          <p:cNvSpPr txBox="1">
            <a:spLocks noGrp="1"/>
          </p:cNvSpPr>
          <p:nvPr>
            <p:ph type="title"/>
          </p:nvPr>
        </p:nvSpPr>
        <p:spPr>
          <a:xfrm>
            <a:off x="1270000" y="812800"/>
            <a:ext cx="21844000" cy="1557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norm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3"/>
          <p:cNvSpPr txBox="1">
            <a:spLocks noGrp="1"/>
          </p:cNvSpPr>
          <p:nvPr>
            <p:ph type="body" idx="1"/>
          </p:nvPr>
        </p:nvSpPr>
        <p:spPr>
          <a:xfrm>
            <a:off x="1270000" y="2133600"/>
            <a:ext cx="21844000" cy="10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  <a:defRPr sz="5400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23"/>
          <p:cNvSpPr txBox="1">
            <a:spLocks noGrp="1"/>
          </p:cNvSpPr>
          <p:nvPr>
            <p:ph type="sldNum" idx="12"/>
          </p:nvPr>
        </p:nvSpPr>
        <p:spPr>
          <a:xfrm>
            <a:off x="11977623" y="13081000"/>
            <a:ext cx="416053" cy="467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Agenda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4"/>
          <p:cNvSpPr txBox="1">
            <a:spLocks noGrp="1"/>
          </p:cNvSpPr>
          <p:nvPr>
            <p:ph type="title"/>
          </p:nvPr>
        </p:nvSpPr>
        <p:spPr>
          <a:xfrm>
            <a:off x="1270000" y="812800"/>
            <a:ext cx="21844000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norm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24"/>
          <p:cNvSpPr txBox="1">
            <a:spLocks noGrp="1"/>
          </p:cNvSpPr>
          <p:nvPr>
            <p:ph type="body" idx="1"/>
          </p:nvPr>
        </p:nvSpPr>
        <p:spPr>
          <a:xfrm>
            <a:off x="1270000" y="2133600"/>
            <a:ext cx="21844000" cy="10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  <a:defRPr sz="5400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24"/>
          <p:cNvSpPr txBox="1">
            <a:spLocks noGrp="1"/>
          </p:cNvSpPr>
          <p:nvPr>
            <p:ph type="body" idx="2"/>
          </p:nvPr>
        </p:nvSpPr>
        <p:spPr>
          <a:xfrm>
            <a:off x="1270000" y="4267200"/>
            <a:ext cx="21844000" cy="84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Arial"/>
              <a:buNone/>
              <a:defRPr sz="5500"/>
            </a:lvl1pPr>
            <a:lvl2pPr marL="914400" lvl="1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Arial"/>
              <a:buNone/>
              <a:defRPr sz="5500"/>
            </a:lvl2pPr>
            <a:lvl3pPr marL="1371600" lvl="2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Arial"/>
              <a:buNone/>
              <a:defRPr sz="5500"/>
            </a:lvl3pPr>
            <a:lvl4pPr marL="1828800" lvl="3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Arial"/>
              <a:buNone/>
              <a:defRPr sz="5500"/>
            </a:lvl4pPr>
            <a:lvl5pPr marL="2286000" lvl="4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Arial"/>
              <a:buNone/>
              <a:defRPr sz="5500"/>
            </a:lvl5pPr>
            <a:lvl6pPr marL="2743200" lvl="5" indent="-3429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24"/>
          <p:cNvSpPr txBox="1">
            <a:spLocks noGrp="1"/>
          </p:cNvSpPr>
          <p:nvPr>
            <p:ph type="sldNum" idx="12"/>
          </p:nvPr>
        </p:nvSpPr>
        <p:spPr>
          <a:xfrm>
            <a:off x="11977623" y="13081000"/>
            <a:ext cx="416053" cy="467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atement">
  <p:cSld name="Statemen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5"/>
          <p:cNvSpPr txBox="1">
            <a:spLocks noGrp="1"/>
          </p:cNvSpPr>
          <p:nvPr>
            <p:ph type="body" idx="1"/>
          </p:nvPr>
        </p:nvSpPr>
        <p:spPr>
          <a:xfrm>
            <a:off x="1270000" y="4927600"/>
            <a:ext cx="21844000" cy="39028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98FD"/>
              </a:buClr>
              <a:buSzPts val="8400"/>
              <a:buFont typeface="Arial"/>
              <a:buNone/>
              <a:defRPr sz="8400">
                <a:solidFill>
                  <a:srgbClr val="1E98FD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98FD"/>
              </a:buClr>
              <a:buSzPts val="8400"/>
              <a:buFont typeface="Arial"/>
              <a:buNone/>
              <a:defRPr sz="8400">
                <a:solidFill>
                  <a:srgbClr val="1E98FD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98FD"/>
              </a:buClr>
              <a:buSzPts val="8400"/>
              <a:buFont typeface="Arial"/>
              <a:buNone/>
              <a:defRPr sz="8400">
                <a:solidFill>
                  <a:srgbClr val="1E98FD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98FD"/>
              </a:buClr>
              <a:buSzPts val="8400"/>
              <a:buFont typeface="Arial"/>
              <a:buNone/>
              <a:defRPr sz="8400">
                <a:solidFill>
                  <a:srgbClr val="1E98FD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98FD"/>
              </a:buClr>
              <a:buSzPts val="8400"/>
              <a:buFont typeface="Arial"/>
              <a:buNone/>
              <a:defRPr sz="8400">
                <a:solidFill>
                  <a:srgbClr val="1E98FD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5" name="Google Shape;55;p25"/>
          <p:cNvSpPr txBox="1">
            <a:spLocks noGrp="1"/>
          </p:cNvSpPr>
          <p:nvPr>
            <p:ph type="sldNum" idx="12"/>
          </p:nvPr>
        </p:nvSpPr>
        <p:spPr>
          <a:xfrm>
            <a:off x="11977623" y="13081000"/>
            <a:ext cx="416053" cy="467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Fact">
  <p:cSld name="Big Fac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6"/>
          <p:cNvSpPr txBox="1">
            <a:spLocks noGrp="1"/>
          </p:cNvSpPr>
          <p:nvPr>
            <p:ph type="body" idx="1"/>
          </p:nvPr>
        </p:nvSpPr>
        <p:spPr>
          <a:xfrm>
            <a:off x="1270000" y="3906096"/>
            <a:ext cx="21844000" cy="4488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normAutofit/>
          </a:bodyPr>
          <a:lstStyle>
            <a:lvl1pPr marL="457200" lvl="0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E98FD"/>
              </a:buClr>
              <a:buSzPts val="22400"/>
              <a:buFont typeface="Arial"/>
              <a:buNone/>
              <a:defRPr sz="22400">
                <a:solidFill>
                  <a:srgbClr val="1E98FD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E98FD"/>
              </a:buClr>
              <a:buSzPts val="22400"/>
              <a:buFont typeface="Arial"/>
              <a:buNone/>
              <a:defRPr sz="22400">
                <a:solidFill>
                  <a:srgbClr val="1E98FD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E98FD"/>
              </a:buClr>
              <a:buSzPts val="22400"/>
              <a:buFont typeface="Arial"/>
              <a:buNone/>
              <a:defRPr sz="22400">
                <a:solidFill>
                  <a:srgbClr val="1E98FD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E98FD"/>
              </a:buClr>
              <a:buSzPts val="22400"/>
              <a:buFont typeface="Arial"/>
              <a:buNone/>
              <a:defRPr sz="22400">
                <a:solidFill>
                  <a:srgbClr val="1E98FD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E98FD"/>
              </a:buClr>
              <a:buSzPts val="22400"/>
              <a:buFont typeface="Arial"/>
              <a:buNone/>
              <a:defRPr sz="22400">
                <a:solidFill>
                  <a:srgbClr val="1E98FD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8" name="Google Shape;58;p26"/>
          <p:cNvSpPr txBox="1">
            <a:spLocks noGrp="1"/>
          </p:cNvSpPr>
          <p:nvPr>
            <p:ph type="body" idx="2"/>
          </p:nvPr>
        </p:nvSpPr>
        <p:spPr>
          <a:xfrm>
            <a:off x="1270000" y="8521700"/>
            <a:ext cx="21844000" cy="10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sz="4400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26"/>
          <p:cNvSpPr txBox="1">
            <a:spLocks noGrp="1"/>
          </p:cNvSpPr>
          <p:nvPr>
            <p:ph type="sldNum" idx="12"/>
          </p:nvPr>
        </p:nvSpPr>
        <p:spPr>
          <a:xfrm>
            <a:off x="11977623" y="13081000"/>
            <a:ext cx="416053" cy="467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7"/>
          <p:cNvSpPr txBox="1">
            <a:spLocks noGrp="1"/>
          </p:cNvSpPr>
          <p:nvPr>
            <p:ph type="body" idx="1"/>
          </p:nvPr>
        </p:nvSpPr>
        <p:spPr>
          <a:xfrm>
            <a:off x="1270000" y="11155086"/>
            <a:ext cx="21844000" cy="832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sz="4400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2" name="Google Shape;62;p27"/>
          <p:cNvSpPr txBox="1">
            <a:spLocks noGrp="1"/>
          </p:cNvSpPr>
          <p:nvPr>
            <p:ph type="body" idx="2"/>
          </p:nvPr>
        </p:nvSpPr>
        <p:spPr>
          <a:xfrm>
            <a:off x="1270000" y="5141969"/>
            <a:ext cx="21844000" cy="34301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>
            <a:lvl1pPr marL="457200" lvl="0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D8"/>
              </a:buClr>
              <a:buSzPts val="8400"/>
              <a:buFont typeface="Arial"/>
              <a:buNone/>
              <a:defRPr sz="8400">
                <a:solidFill>
                  <a:srgbClr val="FF00D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D8"/>
              </a:buClr>
              <a:buSzPts val="8400"/>
              <a:buFont typeface="Arial"/>
              <a:buNone/>
              <a:defRPr sz="8400">
                <a:solidFill>
                  <a:srgbClr val="FF00D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D8"/>
              </a:buClr>
              <a:buSzPts val="8400"/>
              <a:buFont typeface="Arial"/>
              <a:buNone/>
              <a:defRPr sz="8400">
                <a:solidFill>
                  <a:srgbClr val="FF00D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D8"/>
              </a:buClr>
              <a:buSzPts val="8400"/>
              <a:buFont typeface="Arial"/>
              <a:buNone/>
              <a:defRPr sz="8400">
                <a:solidFill>
                  <a:srgbClr val="FF00D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D8"/>
              </a:buClr>
              <a:buSzPts val="8400"/>
              <a:buFont typeface="Arial"/>
              <a:buNone/>
              <a:defRPr sz="8400">
                <a:solidFill>
                  <a:srgbClr val="FF00D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3" name="Google Shape;63;p27"/>
          <p:cNvSpPr txBox="1">
            <a:spLocks noGrp="1"/>
          </p:cNvSpPr>
          <p:nvPr>
            <p:ph type="sldNum" idx="12"/>
          </p:nvPr>
        </p:nvSpPr>
        <p:spPr>
          <a:xfrm>
            <a:off x="11977623" y="13081000"/>
            <a:ext cx="416053" cy="467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oto - 3 Up">
  <p:cSld name="Photo - 3 Up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8"/>
          <p:cNvSpPr>
            <a:spLocks noGrp="1"/>
          </p:cNvSpPr>
          <p:nvPr>
            <p:ph type="pic" idx="2"/>
          </p:nvPr>
        </p:nvSpPr>
        <p:spPr>
          <a:xfrm>
            <a:off x="12192000" y="4813300"/>
            <a:ext cx="12192000" cy="9207945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p28"/>
          <p:cNvSpPr>
            <a:spLocks noGrp="1"/>
          </p:cNvSpPr>
          <p:nvPr>
            <p:ph type="pic" idx="3"/>
          </p:nvPr>
        </p:nvSpPr>
        <p:spPr>
          <a:xfrm>
            <a:off x="12192000" y="-628650"/>
            <a:ext cx="12192000" cy="81280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28"/>
          <p:cNvSpPr>
            <a:spLocks noGrp="1"/>
          </p:cNvSpPr>
          <p:nvPr>
            <p:ph type="pic" idx="4"/>
          </p:nvPr>
        </p:nvSpPr>
        <p:spPr>
          <a:xfrm>
            <a:off x="-4203700" y="0"/>
            <a:ext cx="20574000" cy="137160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8"/>
          <p:cNvSpPr txBox="1">
            <a:spLocks noGrp="1"/>
          </p:cNvSpPr>
          <p:nvPr>
            <p:ph type="sldNum" idx="12"/>
          </p:nvPr>
        </p:nvSpPr>
        <p:spPr>
          <a:xfrm>
            <a:off x="11977623" y="13081000"/>
            <a:ext cx="416053" cy="467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oto">
  <p:cSld name="Photo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9"/>
          <p:cNvSpPr>
            <a:spLocks noGrp="1"/>
          </p:cNvSpPr>
          <p:nvPr>
            <p:ph type="pic" idx="2"/>
          </p:nvPr>
        </p:nvSpPr>
        <p:spPr>
          <a:xfrm>
            <a:off x="0" y="-1270000"/>
            <a:ext cx="24384000" cy="16256001"/>
          </a:xfrm>
          <a:prstGeom prst="rect">
            <a:avLst/>
          </a:prstGeom>
          <a:noFill/>
          <a:ln>
            <a:noFill/>
          </a:ln>
        </p:spPr>
      </p:sp>
      <p:sp>
        <p:nvSpPr>
          <p:cNvPr id="71" name="Google Shape;71;p29"/>
          <p:cNvSpPr txBox="1">
            <a:spLocks noGrp="1"/>
          </p:cNvSpPr>
          <p:nvPr>
            <p:ph type="sldNum" idx="12"/>
          </p:nvPr>
        </p:nvSpPr>
        <p:spPr>
          <a:xfrm>
            <a:off x="11977623" y="13081000"/>
            <a:ext cx="416053" cy="467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 txBox="1">
            <a:spLocks noGrp="1"/>
          </p:cNvSpPr>
          <p:nvPr>
            <p:ph type="title"/>
          </p:nvPr>
        </p:nvSpPr>
        <p:spPr>
          <a:xfrm>
            <a:off x="1270000" y="3289300"/>
            <a:ext cx="21844000" cy="38794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98FD"/>
              </a:buClr>
              <a:buSzPts val="11100"/>
              <a:buFont typeface="Arial"/>
              <a:buNone/>
              <a:defRPr sz="11100">
                <a:solidFill>
                  <a:srgbClr val="1E98FD"/>
                </a:solidFill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15"/>
          <p:cNvSpPr txBox="1">
            <a:spLocks noGrp="1"/>
          </p:cNvSpPr>
          <p:nvPr>
            <p:ph type="body" idx="1"/>
          </p:nvPr>
        </p:nvSpPr>
        <p:spPr>
          <a:xfrm>
            <a:off x="1270000" y="12160429"/>
            <a:ext cx="21844000" cy="694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  <a:defRPr sz="3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" name="Google Shape;12;p15"/>
          <p:cNvSpPr txBox="1">
            <a:spLocks noGrp="1"/>
          </p:cNvSpPr>
          <p:nvPr>
            <p:ph type="body" idx="2"/>
          </p:nvPr>
        </p:nvSpPr>
        <p:spPr>
          <a:xfrm>
            <a:off x="1270000" y="6985000"/>
            <a:ext cx="21844000" cy="2512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  <a:defRPr sz="6400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  <a:defRPr sz="640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  <a:defRPr sz="640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  <a:defRPr sz="640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  <a:defRPr sz="640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" name="Google Shape;13;p15"/>
          <p:cNvSpPr txBox="1">
            <a:spLocks noGrp="1"/>
          </p:cNvSpPr>
          <p:nvPr>
            <p:ph type="sldNum" idx="12"/>
          </p:nvPr>
        </p:nvSpPr>
        <p:spPr>
          <a:xfrm>
            <a:off x="11977623" y="13081000"/>
            <a:ext cx="416053" cy="467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/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/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/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/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/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/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/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/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37942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>
            <a:spLocks noGrp="1"/>
          </p:cNvSpPr>
          <p:nvPr>
            <p:ph type="title"/>
          </p:nvPr>
        </p:nvSpPr>
        <p:spPr>
          <a:xfrm>
            <a:off x="1270000" y="812800"/>
            <a:ext cx="21844000" cy="1557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normAutofit/>
          </a:bodyPr>
          <a:lstStyle>
            <a:lvl1pPr marR="0"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0"/>
              <a:buFont typeface="Arial"/>
              <a:buNone/>
              <a:defRPr sz="8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0"/>
              <a:buFont typeface="Arial"/>
              <a:buNone/>
              <a:defRPr sz="8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0"/>
              <a:buFont typeface="Arial"/>
              <a:buNone/>
              <a:defRPr sz="8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0"/>
              <a:buFont typeface="Arial"/>
              <a:buNone/>
              <a:defRPr sz="8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0"/>
              <a:buFont typeface="Arial"/>
              <a:buNone/>
              <a:defRPr sz="8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0"/>
              <a:buFont typeface="Arial"/>
              <a:buNone/>
              <a:defRPr sz="8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0"/>
              <a:buFont typeface="Arial"/>
              <a:buNone/>
              <a:defRPr sz="8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0"/>
              <a:buFont typeface="Arial"/>
              <a:buNone/>
              <a:defRPr sz="8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0"/>
              <a:buFont typeface="Arial"/>
              <a:buNone/>
              <a:defRPr sz="8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4"/>
          <p:cNvSpPr txBox="1">
            <a:spLocks noGrp="1"/>
          </p:cNvSpPr>
          <p:nvPr>
            <p:ph type="body" idx="1"/>
          </p:nvPr>
        </p:nvSpPr>
        <p:spPr>
          <a:xfrm>
            <a:off x="1270000" y="4267200"/>
            <a:ext cx="21844000" cy="84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marL="457200" marR="0" lvl="0" indent="-533400" algn="l" rtl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•"/>
              <a:defRPr sz="4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533400" algn="l" rtl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•"/>
              <a:defRPr sz="4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533400" algn="l" rtl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•"/>
              <a:defRPr sz="4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533400" algn="l" rtl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•"/>
              <a:defRPr sz="4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533400" algn="l" rtl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•"/>
              <a:defRPr sz="4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33400" algn="l" rtl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•"/>
              <a:defRPr sz="4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33400" algn="l" rtl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•"/>
              <a:defRPr sz="4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33400" algn="l" rtl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•"/>
              <a:defRPr sz="4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33400" algn="l" rtl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•"/>
              <a:defRPr sz="4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4"/>
          <p:cNvSpPr txBox="1">
            <a:spLocks noGrp="1"/>
          </p:cNvSpPr>
          <p:nvPr>
            <p:ph type="sldNum" idx="12"/>
          </p:nvPr>
        </p:nvSpPr>
        <p:spPr>
          <a:xfrm>
            <a:off x="11977623" y="13081000"/>
            <a:ext cx="416053" cy="467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tif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tif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"/>
          <p:cNvSpPr txBox="1">
            <a:spLocks noGrp="1"/>
          </p:cNvSpPr>
          <p:nvPr>
            <p:ph type="ctrTitle" idx="4294967295"/>
          </p:nvPr>
        </p:nvSpPr>
        <p:spPr>
          <a:xfrm>
            <a:off x="1823452" y="978804"/>
            <a:ext cx="21844000" cy="17968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45796"/>
              </a:buClr>
              <a:buSzPts val="7887"/>
              <a:buFont typeface="Arial"/>
              <a:buNone/>
            </a:pPr>
            <a:r>
              <a:rPr lang="en-US" dirty="0"/>
              <a:t>Mobile Learning Application Development</a:t>
            </a:r>
            <a:endParaRPr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D4C2FA1D-9656-584E-AD9B-5E31F44AE9B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3709D5EB-6497-3C43-AC05-5C797E337A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8793" y="3222090"/>
            <a:ext cx="5313317" cy="1541406"/>
          </a:xfrm>
          <a:prstGeom prst="rect">
            <a:avLst/>
          </a:prstGeom>
        </p:spPr>
      </p:pic>
      <p:sp>
        <p:nvSpPr>
          <p:cNvPr id="8" name="TextBox 5"/>
          <p:cNvSpPr txBox="1"/>
          <p:nvPr/>
        </p:nvSpPr>
        <p:spPr>
          <a:xfrm>
            <a:off x="4060507" y="8104658"/>
            <a:ext cx="16262985" cy="387798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kern="0"/>
            </a:defPPr>
          </a:lstStyle>
          <a:p>
            <a:pPr marL="0" indent="0" algn="ctr">
              <a:spcBef>
                <a:spcPts val="0"/>
              </a:spcBef>
              <a:buNone/>
            </a:pPr>
            <a:r>
              <a:rPr lang="en-US" sz="4800" dirty="0">
                <a:solidFill>
                  <a:schemeClr val="tx1"/>
                </a:solidFill>
                <a:latin typeface="Georgia" panose="02040502050405020303" pitchFamily="18" charset="0"/>
              </a:rPr>
              <a:t>Presented By: </a:t>
            </a:r>
          </a:p>
          <a:p>
            <a:pPr marL="0" indent="0" algn="ctr">
              <a:spcBef>
                <a:spcPts val="0"/>
              </a:spcBef>
              <a:buNone/>
            </a:pPr>
            <a:endParaRPr lang="en-US" sz="4800" dirty="0">
              <a:solidFill>
                <a:schemeClr val="tx1"/>
              </a:solidFill>
              <a:latin typeface="Georgia" panose="02040502050405020303" pitchFamily="18" charset="0"/>
            </a:endParaRPr>
          </a:p>
          <a:p>
            <a:pPr marL="0" indent="0" algn="ctr">
              <a:spcBef>
                <a:spcPts val="0"/>
              </a:spcBef>
              <a:buNone/>
            </a:pPr>
            <a:r>
              <a:rPr lang="en-US" sz="5400" b="1" dirty="0">
                <a:solidFill>
                  <a:schemeClr val="tx1"/>
                </a:solidFill>
                <a:latin typeface="Georgia" panose="02040502050405020303" pitchFamily="18" charset="0"/>
              </a:rPr>
              <a:t>Rakib Hossen 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en-US" sz="4800" dirty="0">
                <a:solidFill>
                  <a:schemeClr val="tx1"/>
                </a:solidFill>
                <a:latin typeface="Georgia" panose="02040502050405020303" pitchFamily="18" charset="0"/>
              </a:rPr>
              <a:t>Assistant Professor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en-US" sz="4800" dirty="0">
                <a:solidFill>
                  <a:schemeClr val="tx1"/>
                </a:solidFill>
                <a:latin typeface="Georgia" panose="02040502050405020303" pitchFamily="18" charset="0"/>
              </a:rPr>
              <a:t>Dept. of Cyber Security Engineering (</a:t>
            </a:r>
            <a:r>
              <a:rPr lang="en-US" sz="4800" dirty="0" err="1">
                <a:solidFill>
                  <a:schemeClr val="tx1"/>
                </a:solidFill>
                <a:latin typeface="Georgia" panose="02040502050405020303" pitchFamily="18" charset="0"/>
              </a:rPr>
              <a:t>CySE</a:t>
            </a:r>
            <a:r>
              <a:rPr lang="en-US" sz="4800" dirty="0">
                <a:solidFill>
                  <a:schemeClr val="tx1"/>
                </a:solidFill>
                <a:latin typeface="Georgia" panose="02040502050405020303" pitchFamily="18" charset="0"/>
              </a:rPr>
              <a:t>), </a:t>
            </a:r>
            <a:r>
              <a:rPr lang="en-US" sz="4800" dirty="0" smtClean="0">
                <a:solidFill>
                  <a:schemeClr val="tx1"/>
                </a:solidFill>
                <a:latin typeface="Georgia" panose="02040502050405020303" pitchFamily="18" charset="0"/>
              </a:rPr>
              <a:t>UFTB</a:t>
            </a:r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36806619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>
            <a:spLocks noGrp="1"/>
          </p:cNvSpPr>
          <p:nvPr>
            <p:ph type="title" idx="4294967295"/>
          </p:nvPr>
        </p:nvSpPr>
        <p:spPr>
          <a:xfrm>
            <a:off x="-55668" y="2034"/>
            <a:ext cx="24384000" cy="24681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outerShdw blurRad="381000" dist="119618" rotWithShape="0">
              <a:srgbClr val="000000">
                <a:alpha val="73725"/>
              </a:srgbClr>
            </a:outerShdw>
          </a:effectLst>
        </p:spPr>
        <p:txBody>
          <a:bodyPr spcFirstLastPara="1" wrap="square" lIns="50800" tIns="50800" rIns="50800" bIns="50800" anchor="ctr" anchorCtr="0">
            <a:normAutofit fontScale="90000"/>
          </a:bodyPr>
          <a:lstStyle/>
          <a:p>
            <a:pPr lvl="3" indent="1371600" algn="l">
              <a:buClr>
                <a:srgbClr val="245796"/>
              </a:buClr>
            </a:pPr>
            <a:r>
              <a:rPr lang="en-US" dirty="0">
                <a:solidFill>
                  <a:srgbClr val="245796"/>
                </a:solidFill>
              </a:rPr>
              <a:t>                       </a:t>
            </a:r>
            <a:br>
              <a:rPr lang="en-US" dirty="0">
                <a:solidFill>
                  <a:srgbClr val="245796"/>
                </a:solidFill>
              </a:rPr>
            </a:br>
            <a:r>
              <a:rPr lang="en-US" dirty="0">
                <a:solidFill>
                  <a:srgbClr val="245796"/>
                </a:solidFill>
              </a:rPr>
              <a:t>                              </a:t>
            </a:r>
            <a:r>
              <a:rPr lang="en-US" dirty="0">
                <a:solidFill>
                  <a:srgbClr val="24579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Flutter Architecture</a:t>
            </a:r>
            <a:br>
              <a:rPr lang="en-US" dirty="0">
                <a:solidFill>
                  <a:srgbClr val="24579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dirty="0">
              <a:solidFill>
                <a:srgbClr val="24579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Google Shape;85;p13"/>
          <p:cNvSpPr txBox="1">
            <a:spLocks noGrp="1"/>
          </p:cNvSpPr>
          <p:nvPr>
            <p:ph type="body" idx="4294967295"/>
          </p:nvPr>
        </p:nvSpPr>
        <p:spPr>
          <a:xfrm>
            <a:off x="487680" y="3404450"/>
            <a:ext cx="23469600" cy="10311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/>
          <a:p>
            <a:pPr marL="0" lvl="0" indent="0" algn="just">
              <a:spcBef>
                <a:spcPts val="0"/>
              </a:spcBef>
              <a:buSzPct val="100000"/>
              <a:buNone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ea typeface="Georgia"/>
                <a:cs typeface="Times New Roman" panose="02020603050405020304" pitchFamily="18" charset="0"/>
                <a:sym typeface="Georgia"/>
              </a:rPr>
              <a:t>The Flutter architecture mainly comprises of four components.</a:t>
            </a:r>
          </a:p>
          <a:p>
            <a:pPr marL="685800" lvl="0" indent="-685800" algn="just">
              <a:spcBef>
                <a:spcPts val="0"/>
              </a:spcBef>
              <a:buSzPct val="100000"/>
              <a:buFont typeface="Wingdings" pitchFamily="2" charset="2"/>
              <a:buChar char="ü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ea typeface="Georgia"/>
                <a:cs typeface="Times New Roman" panose="02020603050405020304" pitchFamily="18" charset="0"/>
                <a:sym typeface="Georgia"/>
              </a:rPr>
              <a:t>Flutter Engine</a:t>
            </a:r>
          </a:p>
          <a:p>
            <a:pPr marL="685800" lvl="0" indent="-685800" algn="just">
              <a:spcBef>
                <a:spcPts val="0"/>
              </a:spcBef>
              <a:buSzPct val="100000"/>
              <a:buFont typeface="Wingdings" pitchFamily="2" charset="2"/>
              <a:buChar char="ü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ea typeface="Georgia"/>
                <a:cs typeface="Times New Roman" panose="02020603050405020304" pitchFamily="18" charset="0"/>
                <a:sym typeface="Georgia"/>
              </a:rPr>
              <a:t>Foundation Library</a:t>
            </a:r>
          </a:p>
          <a:p>
            <a:pPr marL="685800" lvl="0" indent="-685800" algn="just">
              <a:spcBef>
                <a:spcPts val="0"/>
              </a:spcBef>
              <a:buSzPct val="100000"/>
              <a:buFont typeface="Wingdings" pitchFamily="2" charset="2"/>
              <a:buChar char="ü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ea typeface="Georgia"/>
                <a:cs typeface="Times New Roman" panose="02020603050405020304" pitchFamily="18" charset="0"/>
                <a:sym typeface="Georgia"/>
              </a:rPr>
              <a:t>Widgets</a:t>
            </a:r>
          </a:p>
          <a:p>
            <a:pPr marL="685800" lvl="0" indent="-685800" algn="just">
              <a:spcBef>
                <a:spcPts val="0"/>
              </a:spcBef>
              <a:buSzPct val="100000"/>
              <a:buFont typeface="Wingdings" pitchFamily="2" charset="2"/>
              <a:buChar char="ü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ea typeface="Georgia"/>
                <a:cs typeface="Times New Roman" panose="02020603050405020304" pitchFamily="18" charset="0"/>
                <a:sym typeface="Georgia"/>
              </a:rPr>
              <a:t>Design Specific Widgets</a:t>
            </a:r>
          </a:p>
          <a:p>
            <a:pPr marL="0" lvl="0" indent="0">
              <a:spcBef>
                <a:spcPts val="0"/>
              </a:spcBef>
              <a:buSzPct val="100000"/>
              <a:buNone/>
            </a:pPr>
            <a:endParaRPr lang="en-US" dirty="0">
              <a:solidFill>
                <a:srgbClr val="245796"/>
              </a:solidFill>
              <a:latin typeface="Times New Roman" panose="02020603050405020304" pitchFamily="18" charset="0"/>
              <a:ea typeface="Georgia"/>
              <a:cs typeface="Times New Roman" panose="02020603050405020304" pitchFamily="18" charset="0"/>
              <a:sym typeface="Georgia"/>
            </a:endParaRPr>
          </a:p>
          <a:p>
            <a:pPr marL="0" lvl="0" indent="0">
              <a:spcBef>
                <a:spcPts val="0"/>
              </a:spcBef>
              <a:buSzPct val="100000"/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ea typeface="Georgia"/>
                <a:cs typeface="Times New Roman" panose="02020603050405020304" pitchFamily="18" charset="0"/>
                <a:sym typeface="Georgia"/>
              </a:rPr>
              <a:t>Flutter Engine</a:t>
            </a:r>
          </a:p>
          <a:p>
            <a:pPr marL="685800" indent="-685800" algn="just">
              <a:spcBef>
                <a:spcPts val="0"/>
              </a:spcBef>
              <a:buSzPct val="100000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ea typeface="Georgia"/>
                <a:cs typeface="Times New Roman" panose="02020603050405020304" pitchFamily="18" charset="0"/>
                <a:sym typeface="Georgia"/>
              </a:rPr>
              <a:t>It is a portable runtime for high-quality mobile apps and primarily based on the C++ language. </a:t>
            </a:r>
          </a:p>
          <a:p>
            <a:pPr marL="685800" indent="-685800" algn="just">
              <a:spcBef>
                <a:spcPts val="0"/>
              </a:spcBef>
              <a:buSzPct val="100000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ea typeface="Georgia"/>
                <a:cs typeface="Times New Roman" panose="02020603050405020304" pitchFamily="18" charset="0"/>
                <a:sym typeface="Georgia"/>
              </a:rPr>
              <a:t>It implements Flutter core libraries that include animation and graphics, file and network I/O, plugin architecture, accessibility support, and a dart runtime for developing, compiling, and running Flutter applications. </a:t>
            </a:r>
          </a:p>
          <a:p>
            <a:pPr marL="685800" indent="-685800" algn="just">
              <a:spcBef>
                <a:spcPts val="0"/>
              </a:spcBef>
              <a:buSzPct val="100000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ea typeface="Georgia"/>
                <a:cs typeface="Times New Roman" panose="02020603050405020304" pitchFamily="18" charset="0"/>
                <a:sym typeface="Georgia"/>
              </a:rPr>
              <a:t>It takes Google's open-source graphics library, 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ea typeface="Georgia"/>
                <a:cs typeface="Times New Roman" panose="02020603050405020304" pitchFamily="18" charset="0"/>
                <a:sym typeface="Georgia"/>
              </a:rPr>
              <a:t>Skia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ea typeface="Georgia"/>
                <a:cs typeface="Times New Roman" panose="02020603050405020304" pitchFamily="18" charset="0"/>
                <a:sym typeface="Georgia"/>
              </a:rPr>
              <a:t>, to render low-level graphics.</a:t>
            </a:r>
          </a:p>
          <a:p>
            <a:pPr marL="0" lvl="0" indent="0">
              <a:spcBef>
                <a:spcPts val="0"/>
              </a:spcBef>
              <a:buSzPct val="100000"/>
              <a:buNone/>
            </a:pPr>
            <a:endParaRPr lang="en-US" dirty="0">
              <a:solidFill>
                <a:srgbClr val="245796"/>
              </a:solidFill>
              <a:latin typeface="Times New Roman" panose="02020603050405020304" pitchFamily="18" charset="0"/>
              <a:ea typeface="Georgia"/>
              <a:cs typeface="Times New Roman" panose="02020603050405020304" pitchFamily="18" charset="0"/>
              <a:sym typeface="Georg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endParaRPr dirty="0">
              <a:solidFill>
                <a:srgbClr val="245796"/>
              </a:solidFill>
              <a:latin typeface="Times New Roman" panose="02020603050405020304" pitchFamily="18" charset="0"/>
              <a:ea typeface="Georgia"/>
              <a:cs typeface="Times New Roman" panose="02020603050405020304" pitchFamily="18" charset="0"/>
              <a:sym typeface="Georgia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6FA3A037-0DC7-A64E-B143-E884C5FB5E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966" y="360877"/>
            <a:ext cx="4159445" cy="120666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B5113921-E5F4-384E-845C-130A330121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97835" y="360878"/>
            <a:ext cx="4159445" cy="120666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>
            <a:spLocks noGrp="1"/>
          </p:cNvSpPr>
          <p:nvPr>
            <p:ph type="title" idx="4294967295"/>
          </p:nvPr>
        </p:nvSpPr>
        <p:spPr>
          <a:xfrm>
            <a:off x="-55668" y="2034"/>
            <a:ext cx="24384000" cy="24681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outerShdw blurRad="381000" dist="119618" rotWithShape="0">
              <a:srgbClr val="000000">
                <a:alpha val="73725"/>
              </a:srgbClr>
            </a:outerShdw>
          </a:effectLst>
        </p:spPr>
        <p:txBody>
          <a:bodyPr spcFirstLastPara="1" wrap="square" lIns="50800" tIns="50800" rIns="50800" bIns="50800" anchor="ctr" anchorCtr="0">
            <a:normAutofit fontScale="90000"/>
          </a:bodyPr>
          <a:lstStyle/>
          <a:p>
            <a:pPr lvl="3" indent="1371600" algn="l">
              <a:buClr>
                <a:srgbClr val="245796"/>
              </a:buClr>
            </a:pPr>
            <a:r>
              <a:rPr lang="en-US" dirty="0">
                <a:solidFill>
                  <a:srgbClr val="245796"/>
                </a:solidFill>
              </a:rPr>
              <a:t>                       </a:t>
            </a:r>
            <a:br>
              <a:rPr lang="en-US" dirty="0">
                <a:solidFill>
                  <a:srgbClr val="245796"/>
                </a:solidFill>
              </a:rPr>
            </a:br>
            <a:r>
              <a:rPr lang="en-US" dirty="0">
                <a:solidFill>
                  <a:srgbClr val="245796"/>
                </a:solidFill>
              </a:rPr>
              <a:t>                              </a:t>
            </a:r>
            <a:r>
              <a:rPr lang="en-US" dirty="0">
                <a:solidFill>
                  <a:srgbClr val="24579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Flutter Architecture</a:t>
            </a:r>
            <a:br>
              <a:rPr lang="en-US" dirty="0">
                <a:solidFill>
                  <a:srgbClr val="24579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dirty="0">
              <a:solidFill>
                <a:srgbClr val="24579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Google Shape;85;p13"/>
          <p:cNvSpPr txBox="1">
            <a:spLocks noGrp="1"/>
          </p:cNvSpPr>
          <p:nvPr>
            <p:ph type="body" idx="4294967295"/>
          </p:nvPr>
        </p:nvSpPr>
        <p:spPr>
          <a:xfrm>
            <a:off x="487680" y="3404450"/>
            <a:ext cx="23469600" cy="10311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/>
          <a:p>
            <a:pPr marL="0" lvl="0" indent="0">
              <a:spcBef>
                <a:spcPts val="0"/>
              </a:spcBef>
              <a:buSzPct val="100000"/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ea typeface="Georgia"/>
                <a:cs typeface="Times New Roman" panose="02020603050405020304" pitchFamily="18" charset="0"/>
                <a:sym typeface="Georgia"/>
              </a:rPr>
              <a:t>Foundation Library</a:t>
            </a:r>
          </a:p>
          <a:p>
            <a:pPr marL="685800" indent="-685800" algn="just">
              <a:spcBef>
                <a:spcPts val="0"/>
              </a:spcBef>
              <a:buSzPct val="100000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ea typeface="Georgia"/>
                <a:cs typeface="Times New Roman" panose="02020603050405020304" pitchFamily="18" charset="0"/>
                <a:sym typeface="Georgia"/>
              </a:rPr>
              <a:t>It contains all the required packages for the basic building blocks of writing a Flutter application. </a:t>
            </a:r>
          </a:p>
          <a:p>
            <a:pPr marL="685800" indent="-685800" algn="just">
              <a:spcBef>
                <a:spcPts val="0"/>
              </a:spcBef>
              <a:buSzPct val="100000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ea typeface="Georgia"/>
                <a:cs typeface="Times New Roman" panose="02020603050405020304" pitchFamily="18" charset="0"/>
                <a:sym typeface="Georgia"/>
              </a:rPr>
              <a:t>These libraries are written in Dart language.</a:t>
            </a:r>
          </a:p>
          <a:p>
            <a:pPr marL="0" indent="0" algn="just">
              <a:spcBef>
                <a:spcPts val="0"/>
              </a:spcBef>
              <a:buSzPct val="100000"/>
              <a:buNone/>
            </a:pPr>
            <a:endParaRPr lang="en-US" dirty="0">
              <a:solidFill>
                <a:schemeClr val="tx1"/>
              </a:solidFill>
              <a:latin typeface="Times New Roman" panose="02020603050405020304" pitchFamily="18" charset="0"/>
              <a:ea typeface="Georgia"/>
              <a:cs typeface="Times New Roman" panose="02020603050405020304" pitchFamily="18" charset="0"/>
              <a:sym typeface="Georgia"/>
            </a:endParaRPr>
          </a:p>
          <a:p>
            <a:pPr marL="0" indent="0">
              <a:spcBef>
                <a:spcPts val="0"/>
              </a:spcBef>
              <a:buSzPct val="100000"/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Georgia"/>
              </a:rPr>
              <a:t>Widgets</a:t>
            </a:r>
          </a:p>
          <a:p>
            <a:pPr marL="685800" indent="-685800" algn="just">
              <a:spcBef>
                <a:spcPts val="0"/>
              </a:spcBef>
              <a:buSzPct val="100000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Georgia"/>
              </a:rPr>
              <a:t>In Flutter, everything is a widget, which is the core concept of this framework. </a:t>
            </a:r>
          </a:p>
          <a:p>
            <a:pPr marL="685800" indent="-685800" algn="just">
              <a:spcBef>
                <a:spcPts val="0"/>
              </a:spcBef>
              <a:buSzPct val="100000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Georgia"/>
              </a:rPr>
              <a:t>Widget in the Flutter is basically a user interface component that affects and controls the view and interface of the app.</a:t>
            </a:r>
          </a:p>
          <a:p>
            <a:pPr marL="685800" indent="-685800" algn="just">
              <a:spcBef>
                <a:spcPts val="0"/>
              </a:spcBef>
              <a:buSzPct val="100000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Georgia"/>
              </a:rPr>
              <a:t>It represents an immutable description of part of the user interface and includes graphics, text, shapes, and animations that are created using widgets. </a:t>
            </a:r>
          </a:p>
          <a:p>
            <a:pPr marL="685800" indent="-685800" algn="just">
              <a:spcBef>
                <a:spcPts val="0"/>
              </a:spcBef>
              <a:buSzPct val="100000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Georgia"/>
              </a:rPr>
              <a:t>The widgets are similar to the React components.</a:t>
            </a:r>
          </a:p>
          <a:p>
            <a:pPr marL="0" indent="0" algn="just">
              <a:spcBef>
                <a:spcPts val="0"/>
              </a:spcBef>
              <a:buSzPct val="100000"/>
              <a:buNone/>
            </a:pPr>
            <a:endParaRPr lang="en-US" dirty="0">
              <a:solidFill>
                <a:srgbClr val="245796"/>
              </a:solidFill>
              <a:latin typeface="Times New Roman" panose="02020603050405020304" pitchFamily="18" charset="0"/>
              <a:ea typeface="Georgia"/>
              <a:cs typeface="Times New Roman" panose="02020603050405020304" pitchFamily="18" charset="0"/>
              <a:sym typeface="Georg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endParaRPr dirty="0">
              <a:solidFill>
                <a:srgbClr val="245796"/>
              </a:solidFill>
              <a:latin typeface="Times New Roman" panose="02020603050405020304" pitchFamily="18" charset="0"/>
              <a:ea typeface="Georgia"/>
              <a:cs typeface="Times New Roman" panose="02020603050405020304" pitchFamily="18" charset="0"/>
              <a:sym typeface="Georgia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6FA3A037-0DC7-A64E-B143-E884C5FB5E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966" y="360877"/>
            <a:ext cx="4159445" cy="120666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B5113921-E5F4-384E-845C-130A330121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97835" y="360878"/>
            <a:ext cx="4159445" cy="1206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79105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>
            <a:spLocks noGrp="1"/>
          </p:cNvSpPr>
          <p:nvPr>
            <p:ph type="title" idx="4294967295"/>
          </p:nvPr>
        </p:nvSpPr>
        <p:spPr>
          <a:xfrm>
            <a:off x="-55668" y="2034"/>
            <a:ext cx="24384000" cy="24681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outerShdw blurRad="381000" dist="119618" rotWithShape="0">
              <a:srgbClr val="000000">
                <a:alpha val="73725"/>
              </a:srgbClr>
            </a:outerShdw>
          </a:effectLst>
        </p:spPr>
        <p:txBody>
          <a:bodyPr spcFirstLastPara="1" wrap="square" lIns="50800" tIns="50800" rIns="50800" bIns="50800" anchor="ctr" anchorCtr="0">
            <a:normAutofit fontScale="90000"/>
          </a:bodyPr>
          <a:lstStyle/>
          <a:p>
            <a:pPr lvl="3" indent="1371600" algn="l">
              <a:buClr>
                <a:srgbClr val="245796"/>
              </a:buClr>
            </a:pPr>
            <a:r>
              <a:rPr lang="en-US" dirty="0">
                <a:solidFill>
                  <a:srgbClr val="245796"/>
                </a:solidFill>
              </a:rPr>
              <a:t>                       </a:t>
            </a:r>
            <a:br>
              <a:rPr lang="en-US" dirty="0">
                <a:solidFill>
                  <a:srgbClr val="245796"/>
                </a:solidFill>
              </a:rPr>
            </a:br>
            <a:r>
              <a:rPr lang="en-US" dirty="0">
                <a:solidFill>
                  <a:srgbClr val="245796"/>
                </a:solidFill>
              </a:rPr>
              <a:t>                              </a:t>
            </a:r>
            <a:r>
              <a:rPr lang="en-US" dirty="0">
                <a:solidFill>
                  <a:srgbClr val="24579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Flutter Architecture</a:t>
            </a:r>
            <a:br>
              <a:rPr lang="en-US" dirty="0">
                <a:solidFill>
                  <a:srgbClr val="24579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dirty="0">
              <a:solidFill>
                <a:srgbClr val="24579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Google Shape;85;p13"/>
          <p:cNvSpPr txBox="1">
            <a:spLocks noGrp="1"/>
          </p:cNvSpPr>
          <p:nvPr>
            <p:ph type="body" idx="4294967295"/>
          </p:nvPr>
        </p:nvSpPr>
        <p:spPr>
          <a:xfrm>
            <a:off x="401532" y="2470134"/>
            <a:ext cx="23469600" cy="10311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/>
          <a:p>
            <a:pPr marL="0" indent="0">
              <a:spcBef>
                <a:spcPts val="0"/>
              </a:spcBef>
              <a:buSzPct val="100000"/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Georgia"/>
              </a:rPr>
              <a:t>Widgets</a:t>
            </a:r>
          </a:p>
          <a:p>
            <a:pPr marL="685800" indent="-685800" algn="just">
              <a:spcBef>
                <a:spcPts val="0"/>
              </a:spcBef>
              <a:buSzPct val="100000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Georgia"/>
              </a:rPr>
              <a:t>In Flutter, the application is itself a widget that contains many sub widgets. </a:t>
            </a:r>
          </a:p>
          <a:p>
            <a:pPr marL="685800" indent="-685800" algn="just">
              <a:spcBef>
                <a:spcPts val="0"/>
              </a:spcBef>
              <a:buSzPct val="100000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Georgia"/>
              </a:rPr>
              <a:t>It means the app is the top-level widget, and its UI is build using one or more children widgets, which again includes sub child widgets. </a:t>
            </a:r>
          </a:p>
          <a:p>
            <a:pPr marL="685800" indent="-685800" algn="just">
              <a:spcBef>
                <a:spcPts val="0"/>
              </a:spcBef>
              <a:buSzPct val="100000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Georgia"/>
              </a:rPr>
              <a:t>This feature helps you to create a complex user interface very easily.</a:t>
            </a:r>
            <a:endParaRPr lang="en-US" dirty="0">
              <a:solidFill>
                <a:srgbClr val="245796"/>
              </a:solidFill>
              <a:latin typeface="Times New Roman" panose="02020603050405020304" pitchFamily="18" charset="0"/>
              <a:ea typeface="Georgia"/>
              <a:cs typeface="Times New Roman" panose="02020603050405020304" pitchFamily="18" charset="0"/>
              <a:sym typeface="Georg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endParaRPr dirty="0">
              <a:solidFill>
                <a:srgbClr val="245796"/>
              </a:solidFill>
              <a:latin typeface="Times New Roman" panose="02020603050405020304" pitchFamily="18" charset="0"/>
              <a:ea typeface="Georgia"/>
              <a:cs typeface="Times New Roman" panose="02020603050405020304" pitchFamily="18" charset="0"/>
              <a:sym typeface="Georgia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6FA3A037-0DC7-A64E-B143-E884C5FB5E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966" y="360877"/>
            <a:ext cx="4159445" cy="120666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B5113921-E5F4-384E-845C-130A330121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97835" y="360878"/>
            <a:ext cx="4159445" cy="120666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xmlns="" id="{CD0BA37A-4B4D-9B4C-8F12-9B4FB93F33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1953" y="6195102"/>
            <a:ext cx="9875521" cy="7489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11332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>
            <a:spLocks noGrp="1"/>
          </p:cNvSpPr>
          <p:nvPr>
            <p:ph type="title" idx="4294967295"/>
          </p:nvPr>
        </p:nvSpPr>
        <p:spPr>
          <a:xfrm>
            <a:off x="-55668" y="2034"/>
            <a:ext cx="24384000" cy="24681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outerShdw blurRad="381000" dist="119618" rotWithShape="0">
              <a:srgbClr val="000000">
                <a:alpha val="73725"/>
              </a:srgbClr>
            </a:outerShdw>
          </a:effectLst>
        </p:spPr>
        <p:txBody>
          <a:bodyPr spcFirstLastPara="1" wrap="square" lIns="50800" tIns="50800" rIns="50800" bIns="50800" anchor="ctr" anchorCtr="0">
            <a:normAutofit fontScale="90000"/>
          </a:bodyPr>
          <a:lstStyle/>
          <a:p>
            <a:pPr lvl="3" indent="1371600" algn="l">
              <a:buClr>
                <a:srgbClr val="245796"/>
              </a:buClr>
            </a:pPr>
            <a:r>
              <a:rPr lang="en-US" dirty="0">
                <a:solidFill>
                  <a:srgbClr val="245796"/>
                </a:solidFill>
              </a:rPr>
              <a:t>                       </a:t>
            </a:r>
            <a:br>
              <a:rPr lang="en-US" dirty="0">
                <a:solidFill>
                  <a:srgbClr val="245796"/>
                </a:solidFill>
              </a:rPr>
            </a:br>
            <a:r>
              <a:rPr lang="en-US" dirty="0">
                <a:solidFill>
                  <a:srgbClr val="245796"/>
                </a:solidFill>
              </a:rPr>
              <a:t>                              </a:t>
            </a:r>
            <a:r>
              <a:rPr lang="en-US" dirty="0">
                <a:solidFill>
                  <a:srgbClr val="24579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Flutter Architecture</a:t>
            </a:r>
            <a:br>
              <a:rPr lang="en-US" dirty="0">
                <a:solidFill>
                  <a:srgbClr val="24579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dirty="0">
              <a:solidFill>
                <a:srgbClr val="24579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Google Shape;85;p13"/>
          <p:cNvSpPr txBox="1">
            <a:spLocks noGrp="1"/>
          </p:cNvSpPr>
          <p:nvPr>
            <p:ph type="body" idx="4294967295"/>
          </p:nvPr>
        </p:nvSpPr>
        <p:spPr>
          <a:xfrm>
            <a:off x="401532" y="2828977"/>
            <a:ext cx="23469600" cy="10311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/>
          <a:p>
            <a:pPr marL="0" lvl="0" indent="0">
              <a:spcBef>
                <a:spcPts val="0"/>
              </a:spcBef>
              <a:buSzPct val="100000"/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ea typeface="Georgia"/>
                <a:cs typeface="Times New Roman" panose="02020603050405020304" pitchFamily="18" charset="0"/>
                <a:sym typeface="Georgia"/>
              </a:rPr>
              <a:t>Design Specific Widgets</a:t>
            </a:r>
          </a:p>
          <a:p>
            <a:pPr marL="685800" indent="-685800" algn="just">
              <a:spcBef>
                <a:spcPts val="0"/>
              </a:spcBef>
              <a:buSzPct val="100000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ea typeface="Georgia"/>
                <a:cs typeface="Times New Roman" panose="02020603050405020304" pitchFamily="18" charset="0"/>
                <a:sym typeface="Georgia"/>
              </a:rPr>
              <a:t>The Flutter framework has two sets of widgets that conform to specific design languages.</a:t>
            </a:r>
          </a:p>
          <a:p>
            <a:pPr marL="685800" indent="-685800" algn="just">
              <a:spcBef>
                <a:spcPts val="0"/>
              </a:spcBef>
              <a:buSzPct val="100000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ea typeface="Georgia"/>
                <a:cs typeface="Times New Roman" panose="02020603050405020304" pitchFamily="18" charset="0"/>
                <a:sym typeface="Georgia"/>
              </a:rPr>
              <a:t>These are Material Design for Android application and Cupertino Style for IOS application.</a:t>
            </a:r>
          </a:p>
          <a:p>
            <a:pPr marL="0" indent="0">
              <a:spcBef>
                <a:spcPts val="0"/>
              </a:spcBef>
              <a:buSzPct val="100000"/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Georgia"/>
              </a:rPr>
              <a:t>Gestures</a:t>
            </a:r>
          </a:p>
          <a:p>
            <a:pPr marL="685800" indent="-685800" algn="just">
              <a:spcBef>
                <a:spcPts val="0"/>
              </a:spcBef>
              <a:buSzPct val="100000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Georgia"/>
              </a:rPr>
              <a:t>It is a widget that provides interaction (how to listen for and respond to) in Flutter using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Georgia"/>
              </a:rPr>
              <a:t>GestureDetector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Georgia"/>
              </a:rPr>
              <a:t>. 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Georgia"/>
              </a:rPr>
              <a:t>GestureDector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Georgia"/>
              </a:rPr>
              <a:t> is an invisible widget, which includes tapping, dragging, and scaling interaction of its child widget. We can also use other interactive features into the existing widgets by composing with the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Georgia"/>
              </a:rPr>
              <a:t>GestureDetector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Georgia"/>
              </a:rPr>
              <a:t> widget.</a:t>
            </a:r>
          </a:p>
          <a:p>
            <a:pPr marL="0" indent="0">
              <a:spcBef>
                <a:spcPts val="0"/>
              </a:spcBef>
              <a:buSzPct val="100000"/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Georgia"/>
              </a:rPr>
              <a:t>State Management</a:t>
            </a:r>
          </a:p>
          <a:p>
            <a:pPr marL="685800" indent="-685800" algn="just">
              <a:spcBef>
                <a:spcPts val="0"/>
              </a:spcBef>
              <a:buSzPct val="100000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Georgia"/>
              </a:rPr>
              <a:t>Flutter widget maintains its state by using a special widget,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Georgia"/>
              </a:rPr>
              <a:t>StatefulWidget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Georgia"/>
              </a:rPr>
              <a:t>. It is always auto re-rendered whenever its internal state is changed. The re-rendering is optimized by calculating the distance between old and new widget UI and render only necessary things that are changes.</a:t>
            </a:r>
          </a:p>
          <a:p>
            <a:pPr marL="0" indent="0" algn="just">
              <a:spcBef>
                <a:spcPts val="0"/>
              </a:spcBef>
              <a:buSzPct val="100000"/>
              <a:buNone/>
            </a:pP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Georgia"/>
            </a:endParaRPr>
          </a:p>
          <a:p>
            <a:pPr marL="0" indent="0" algn="just">
              <a:spcBef>
                <a:spcPts val="0"/>
              </a:spcBef>
              <a:buSzPct val="100000"/>
              <a:buNone/>
            </a:pPr>
            <a:endParaRPr lang="en-US" dirty="0">
              <a:solidFill>
                <a:srgbClr val="245796"/>
              </a:solidFill>
              <a:latin typeface="Times New Roman" panose="02020603050405020304" pitchFamily="18" charset="0"/>
              <a:ea typeface="Georgia"/>
              <a:cs typeface="Times New Roman" panose="02020603050405020304" pitchFamily="18" charset="0"/>
              <a:sym typeface="Georg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endParaRPr dirty="0">
              <a:solidFill>
                <a:srgbClr val="245796"/>
              </a:solidFill>
              <a:latin typeface="Times New Roman" panose="02020603050405020304" pitchFamily="18" charset="0"/>
              <a:ea typeface="Georgia"/>
              <a:cs typeface="Times New Roman" panose="02020603050405020304" pitchFamily="18" charset="0"/>
              <a:sym typeface="Georgia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6FA3A037-0DC7-A64E-B143-E884C5FB5E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966" y="360877"/>
            <a:ext cx="4159445" cy="120666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B5113921-E5F4-384E-845C-130A330121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97835" y="360878"/>
            <a:ext cx="4159445" cy="1206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84275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>
            <a:spLocks noGrp="1"/>
          </p:cNvSpPr>
          <p:nvPr>
            <p:ph type="title" idx="4294967295"/>
          </p:nvPr>
        </p:nvSpPr>
        <p:spPr>
          <a:xfrm>
            <a:off x="-55668" y="2034"/>
            <a:ext cx="24384000" cy="24681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outerShdw blurRad="381000" dist="119618" rotWithShape="0">
              <a:srgbClr val="000000">
                <a:alpha val="73725"/>
              </a:srgbClr>
            </a:outerShdw>
          </a:effectLst>
        </p:spPr>
        <p:txBody>
          <a:bodyPr spcFirstLastPara="1" wrap="square" lIns="50800" tIns="50800" rIns="50800" bIns="50800" anchor="ctr" anchorCtr="0">
            <a:normAutofit fontScale="90000"/>
          </a:bodyPr>
          <a:lstStyle/>
          <a:p>
            <a:pPr lvl="3" indent="1371600" algn="l">
              <a:buClr>
                <a:srgbClr val="245796"/>
              </a:buClr>
            </a:pPr>
            <a:r>
              <a:rPr lang="en-US" dirty="0">
                <a:solidFill>
                  <a:srgbClr val="245796"/>
                </a:solidFill>
              </a:rPr>
              <a:t>                       </a:t>
            </a:r>
            <a:br>
              <a:rPr lang="en-US" dirty="0">
                <a:solidFill>
                  <a:srgbClr val="245796"/>
                </a:solidFill>
              </a:rPr>
            </a:br>
            <a:r>
              <a:rPr lang="en-US" dirty="0">
                <a:solidFill>
                  <a:srgbClr val="245796"/>
                </a:solidFill>
              </a:rPr>
              <a:t>                              </a:t>
            </a:r>
            <a:r>
              <a:rPr lang="en-US" dirty="0">
                <a:solidFill>
                  <a:srgbClr val="24579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Layer Architecture</a:t>
            </a:r>
            <a:br>
              <a:rPr lang="en-US" dirty="0">
                <a:solidFill>
                  <a:srgbClr val="24579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dirty="0">
              <a:solidFill>
                <a:srgbClr val="24579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Google Shape;85;p13"/>
          <p:cNvSpPr txBox="1">
            <a:spLocks noGrp="1"/>
          </p:cNvSpPr>
          <p:nvPr>
            <p:ph type="body" idx="4294967295"/>
          </p:nvPr>
        </p:nvSpPr>
        <p:spPr>
          <a:xfrm>
            <a:off x="401532" y="2828977"/>
            <a:ext cx="23469600" cy="10311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 lnSpcReduction="10000"/>
          </a:bodyPr>
          <a:lstStyle/>
          <a:p>
            <a:pPr marL="0" indent="0" algn="just">
              <a:spcBef>
                <a:spcPts val="0"/>
              </a:spcBef>
              <a:buSzPct val="100000"/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Layer</a:t>
            </a:r>
          </a:p>
          <a:p>
            <a:pPr marL="685800" indent="-685800" algn="just">
              <a:spcBef>
                <a:spcPts val="0"/>
              </a:spcBef>
              <a:buSzPct val="1000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Layers are an important concept of the Flutter framework, which are grouped into multiple categories in terms of complexity and arranged in the top-down approach. </a:t>
            </a:r>
          </a:p>
          <a:p>
            <a:pPr marL="685800" indent="-685800" algn="just">
              <a:spcBef>
                <a:spcPts val="0"/>
              </a:spcBef>
              <a:buSzPct val="100000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5800" indent="-685800" algn="just">
              <a:spcBef>
                <a:spcPts val="0"/>
              </a:spcBef>
              <a:buSzPct val="1000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topmost layer is the UI of the application, which is specific to the Android and iOS platforms. </a:t>
            </a:r>
          </a:p>
          <a:p>
            <a:pPr marL="685800" indent="-685800" algn="just">
              <a:spcBef>
                <a:spcPts val="0"/>
              </a:spcBef>
              <a:buSzPct val="100000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5800" indent="-685800" algn="just">
              <a:spcBef>
                <a:spcPts val="0"/>
              </a:spcBef>
              <a:buSzPct val="1000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second topmost layer contains all the Flutter native widgets. The next layer is the rendering layer, which renders everything in the Flutter app. </a:t>
            </a:r>
          </a:p>
          <a:p>
            <a:pPr marL="685800" indent="-685800" algn="just">
              <a:spcBef>
                <a:spcPts val="0"/>
              </a:spcBef>
              <a:buSzPct val="100000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5800" indent="-685800" algn="just">
              <a:spcBef>
                <a:spcPts val="0"/>
              </a:spcBef>
              <a:buSzPct val="1000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Then, the layers go down to Gestures, foundation library, engine, and finally, core platform-specific code. </a:t>
            </a:r>
          </a:p>
          <a:p>
            <a:pPr marL="685800" indent="-685800" algn="just">
              <a:spcBef>
                <a:spcPts val="0"/>
              </a:spcBef>
              <a:buSzPct val="100000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5800" indent="-685800" algn="just">
              <a:spcBef>
                <a:spcPts val="0"/>
              </a:spcBef>
              <a:buSzPct val="1000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following diagram specifies the layers in Flutter app development.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Georgia"/>
            </a:endParaRPr>
          </a:p>
          <a:p>
            <a:pPr marL="0" indent="0" algn="just">
              <a:spcBef>
                <a:spcPts val="0"/>
              </a:spcBef>
              <a:buSzPct val="100000"/>
              <a:buNone/>
            </a:pPr>
            <a:endParaRPr lang="en-US" dirty="0">
              <a:solidFill>
                <a:srgbClr val="245796"/>
              </a:solidFill>
              <a:latin typeface="Times New Roman" panose="02020603050405020304" pitchFamily="18" charset="0"/>
              <a:ea typeface="Georgia"/>
              <a:cs typeface="Times New Roman" panose="02020603050405020304" pitchFamily="18" charset="0"/>
              <a:sym typeface="Georg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endParaRPr dirty="0">
              <a:solidFill>
                <a:srgbClr val="245796"/>
              </a:solidFill>
              <a:latin typeface="Times New Roman" panose="02020603050405020304" pitchFamily="18" charset="0"/>
              <a:ea typeface="Georgia"/>
              <a:cs typeface="Times New Roman" panose="02020603050405020304" pitchFamily="18" charset="0"/>
              <a:sym typeface="Georgia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6FA3A037-0DC7-A64E-B143-E884C5FB5E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966" y="360877"/>
            <a:ext cx="4159445" cy="120666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B5113921-E5F4-384E-845C-130A330121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97835" y="360878"/>
            <a:ext cx="4159445" cy="1206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52937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>
            <a:spLocks noGrp="1"/>
          </p:cNvSpPr>
          <p:nvPr>
            <p:ph type="title" idx="4294967295"/>
          </p:nvPr>
        </p:nvSpPr>
        <p:spPr>
          <a:xfrm>
            <a:off x="-55668" y="2034"/>
            <a:ext cx="24384000" cy="24681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outerShdw blurRad="381000" dist="119618" rotWithShape="0">
              <a:srgbClr val="000000">
                <a:alpha val="73725"/>
              </a:srgbClr>
            </a:outerShdw>
          </a:effectLst>
        </p:spPr>
        <p:txBody>
          <a:bodyPr spcFirstLastPara="1" wrap="square" lIns="50800" tIns="50800" rIns="50800" bIns="50800" anchor="ctr" anchorCtr="0">
            <a:normAutofit fontScale="90000"/>
          </a:bodyPr>
          <a:lstStyle/>
          <a:p>
            <a:pPr lvl="3" indent="1371600" algn="l">
              <a:buClr>
                <a:srgbClr val="245796"/>
              </a:buClr>
            </a:pPr>
            <a:r>
              <a:rPr lang="en-US" dirty="0">
                <a:solidFill>
                  <a:srgbClr val="245796"/>
                </a:solidFill>
              </a:rPr>
              <a:t>                       </a:t>
            </a:r>
            <a:br>
              <a:rPr lang="en-US" dirty="0">
                <a:solidFill>
                  <a:srgbClr val="245796"/>
                </a:solidFill>
              </a:rPr>
            </a:br>
            <a:r>
              <a:rPr lang="en-US" dirty="0">
                <a:solidFill>
                  <a:srgbClr val="245796"/>
                </a:solidFill>
              </a:rPr>
              <a:t>                              </a:t>
            </a:r>
            <a:r>
              <a:rPr lang="en-US" dirty="0">
                <a:solidFill>
                  <a:srgbClr val="24579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Layer Architecture</a:t>
            </a:r>
            <a:br>
              <a:rPr lang="en-US" dirty="0">
                <a:solidFill>
                  <a:srgbClr val="24579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dirty="0">
              <a:solidFill>
                <a:srgbClr val="24579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Google Shape;85;p13"/>
          <p:cNvSpPr txBox="1">
            <a:spLocks noGrp="1"/>
          </p:cNvSpPr>
          <p:nvPr>
            <p:ph type="body" idx="4294967295"/>
          </p:nvPr>
        </p:nvSpPr>
        <p:spPr>
          <a:xfrm>
            <a:off x="401532" y="2828977"/>
            <a:ext cx="23469600" cy="10311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/>
          <a:p>
            <a:pPr marL="0" indent="0" algn="just">
              <a:spcBef>
                <a:spcPts val="0"/>
              </a:spcBef>
              <a:buSzPct val="100000"/>
              <a:buNone/>
            </a:pPr>
            <a:endParaRPr lang="en-US" dirty="0">
              <a:solidFill>
                <a:srgbClr val="245796"/>
              </a:solidFill>
              <a:latin typeface="Times New Roman" panose="02020603050405020304" pitchFamily="18" charset="0"/>
              <a:ea typeface="Georgia"/>
              <a:cs typeface="Times New Roman" panose="02020603050405020304" pitchFamily="18" charset="0"/>
              <a:sym typeface="Georg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endParaRPr dirty="0">
              <a:solidFill>
                <a:srgbClr val="245796"/>
              </a:solidFill>
              <a:latin typeface="Times New Roman" panose="02020603050405020304" pitchFamily="18" charset="0"/>
              <a:ea typeface="Georgia"/>
              <a:cs typeface="Times New Roman" panose="02020603050405020304" pitchFamily="18" charset="0"/>
              <a:sym typeface="Georgia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6FA3A037-0DC7-A64E-B143-E884C5FB5E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966" y="360877"/>
            <a:ext cx="4159445" cy="120666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B5113921-E5F4-384E-845C-130A330121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97835" y="360878"/>
            <a:ext cx="4159445" cy="120666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xmlns="" id="{CF1246A2-E5ED-B24E-8DC6-7C52FFCF67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4274" y="2943795"/>
            <a:ext cx="13324115" cy="10081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52132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>
            <a:spLocks noGrp="1"/>
          </p:cNvSpPr>
          <p:nvPr>
            <p:ph type="title" idx="4294967295"/>
          </p:nvPr>
        </p:nvSpPr>
        <p:spPr>
          <a:xfrm>
            <a:off x="-55668" y="2034"/>
            <a:ext cx="24384000" cy="24681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outerShdw blurRad="381000" dist="119618" rotWithShape="0">
              <a:srgbClr val="000000">
                <a:alpha val="73725"/>
              </a:srgbClr>
            </a:outerShdw>
          </a:effectLst>
        </p:spPr>
        <p:txBody>
          <a:bodyPr spcFirstLastPara="1" wrap="square" lIns="50800" tIns="50800" rIns="50800" bIns="50800" anchor="ctr" anchorCtr="0">
            <a:normAutofit fontScale="90000"/>
          </a:bodyPr>
          <a:lstStyle/>
          <a:p>
            <a:pPr lvl="3" indent="1371600" algn="l">
              <a:buClr>
                <a:srgbClr val="245796"/>
              </a:buClr>
            </a:pPr>
            <a:r>
              <a:rPr lang="en-US" dirty="0">
                <a:solidFill>
                  <a:srgbClr val="245796"/>
                </a:solidFill>
              </a:rPr>
              <a:t>                       </a:t>
            </a:r>
            <a:br>
              <a:rPr lang="en-US" dirty="0">
                <a:solidFill>
                  <a:srgbClr val="245796"/>
                </a:solidFill>
              </a:rPr>
            </a:br>
            <a:r>
              <a:rPr lang="en-US" dirty="0">
                <a:solidFill>
                  <a:srgbClr val="245796"/>
                </a:solidFill>
              </a:rPr>
              <a:t>                      </a:t>
            </a:r>
            <a:r>
              <a:rPr lang="en-US" dirty="0">
                <a:solidFill>
                  <a:srgbClr val="24579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Flutter Main Source Code Flow </a:t>
            </a:r>
            <a:br>
              <a:rPr lang="en-US" dirty="0">
                <a:solidFill>
                  <a:srgbClr val="24579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dirty="0">
              <a:solidFill>
                <a:srgbClr val="24579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Google Shape;85;p13"/>
          <p:cNvSpPr txBox="1">
            <a:spLocks noGrp="1"/>
          </p:cNvSpPr>
          <p:nvPr>
            <p:ph type="body" idx="4294967295"/>
          </p:nvPr>
        </p:nvSpPr>
        <p:spPr>
          <a:xfrm>
            <a:off x="401532" y="2828977"/>
            <a:ext cx="23469600" cy="10311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/>
          <a:p>
            <a:pPr marL="0" indent="0" algn="just">
              <a:spcBef>
                <a:spcPts val="0"/>
              </a:spcBef>
              <a:buSzPct val="100000"/>
              <a:buNone/>
            </a:pPr>
            <a:endParaRPr lang="en-US" dirty="0">
              <a:solidFill>
                <a:srgbClr val="245796"/>
              </a:solidFill>
              <a:latin typeface="Times New Roman" panose="02020603050405020304" pitchFamily="18" charset="0"/>
              <a:ea typeface="Georgia"/>
              <a:cs typeface="Times New Roman" panose="02020603050405020304" pitchFamily="18" charset="0"/>
              <a:sym typeface="Georg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endParaRPr dirty="0">
              <a:solidFill>
                <a:srgbClr val="245796"/>
              </a:solidFill>
              <a:latin typeface="Times New Roman" panose="02020603050405020304" pitchFamily="18" charset="0"/>
              <a:ea typeface="Georgia"/>
              <a:cs typeface="Times New Roman" panose="02020603050405020304" pitchFamily="18" charset="0"/>
              <a:sym typeface="Georgia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6FA3A037-0DC7-A64E-B143-E884C5FB5E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966" y="360877"/>
            <a:ext cx="4159445" cy="120666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B5113921-E5F4-384E-845C-130A330121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97835" y="360878"/>
            <a:ext cx="4159445" cy="1206665"/>
          </a:xfrm>
          <a:prstGeom prst="rect">
            <a:avLst/>
          </a:prstGeom>
        </p:spPr>
      </p:pic>
      <p:pic>
        <p:nvPicPr>
          <p:cNvPr id="7" name="Google Shape;113;g25d2cd015de_0_11">
            <a:extLst>
              <a:ext uri="{FF2B5EF4-FFF2-40B4-BE49-F238E27FC236}">
                <a16:creationId xmlns:a16="http://schemas.microsoft.com/office/drawing/2014/main" xmlns="" id="{91B67E7A-7F44-8347-B4F0-23F6A3FED10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44164" y="2774688"/>
            <a:ext cx="10063975" cy="10420127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114;g25d2cd015de_0_11">
            <a:extLst>
              <a:ext uri="{FF2B5EF4-FFF2-40B4-BE49-F238E27FC236}">
                <a16:creationId xmlns:a16="http://schemas.microsoft.com/office/drawing/2014/main" xmlns="" id="{09944E62-0FE1-E142-8B4A-E1B1A0499CF9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324114" y="2774688"/>
            <a:ext cx="10194100" cy="1031155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</p:spTree>
    <p:extLst>
      <p:ext uri="{BB962C8B-B14F-4D97-AF65-F5344CB8AC3E}">
        <p14:creationId xmlns:p14="http://schemas.microsoft.com/office/powerpoint/2010/main" val="3257673923"/>
      </p:ext>
    </p:extLst>
  </p:cSld>
  <p:clrMapOvr>
    <a:masterClrMapping/>
  </p:clrMapOvr>
</p:sld>
</file>

<file path=ppt/theme/theme1.xml><?xml version="1.0" encoding="utf-8"?>
<a:theme xmlns:a="http://schemas.openxmlformats.org/drawingml/2006/main" name="31_ColorGradientLight">
  <a:themeElements>
    <a:clrScheme name="31_ColorGradientLight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76BA"/>
      </a:accent1>
      <a:accent2>
        <a:srgbClr val="05A89D"/>
      </a:accent2>
      <a:accent3>
        <a:srgbClr val="1DB100"/>
      </a:accent3>
      <a:accent4>
        <a:srgbClr val="F9B900"/>
      </a:accent4>
      <a:accent5>
        <a:srgbClr val="EE220D"/>
      </a:accent5>
      <a:accent6>
        <a:srgbClr val="CB297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31_ColorGradientLight">
  <a:themeElements>
    <a:clrScheme name="31_ColorGradientLight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76BA"/>
      </a:accent1>
      <a:accent2>
        <a:srgbClr val="05A89D"/>
      </a:accent2>
      <a:accent3>
        <a:srgbClr val="1DB100"/>
      </a:accent3>
      <a:accent4>
        <a:srgbClr val="F9B900"/>
      </a:accent4>
      <a:accent5>
        <a:srgbClr val="EE220D"/>
      </a:accent5>
      <a:accent6>
        <a:srgbClr val="CB297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438</TotalTime>
  <Words>421</Words>
  <Application>Microsoft Office PowerPoint</Application>
  <PresentationFormat>Custom</PresentationFormat>
  <Paragraphs>55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Georgia</vt:lpstr>
      <vt:lpstr>Times New Roman</vt:lpstr>
      <vt:lpstr>Arial</vt:lpstr>
      <vt:lpstr>Helvetica Neue</vt:lpstr>
      <vt:lpstr>Wingdings</vt:lpstr>
      <vt:lpstr>31_ColorGradientLight</vt:lpstr>
      <vt:lpstr>Mobile Learning Application Development</vt:lpstr>
      <vt:lpstr>                                                      Flutter Architecture </vt:lpstr>
      <vt:lpstr>                                                      Flutter Architecture </vt:lpstr>
      <vt:lpstr>                                                      Flutter Architecture </vt:lpstr>
      <vt:lpstr>                                                      Flutter Architecture </vt:lpstr>
      <vt:lpstr>                                                      Layer Architecture </vt:lpstr>
      <vt:lpstr>                                                      Layer Architecture </vt:lpstr>
      <vt:lpstr>                                              Flutter Main Source Code Flow  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Smartphone Application Development</dc:title>
  <cp:lastModifiedBy>User</cp:lastModifiedBy>
  <cp:revision>61</cp:revision>
  <cp:lastPrinted>2024-09-30T08:20:50Z</cp:lastPrinted>
  <dcterms:modified xsi:type="dcterms:W3CDTF">2025-09-12T06:11:15Z</dcterms:modified>
</cp:coreProperties>
</file>