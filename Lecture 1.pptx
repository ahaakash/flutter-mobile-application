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20104100" cy="11309350"/>
  <p:notesSz cx="20104100" cy="113093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0" d="100"/>
          <a:sy n="40" d="100"/>
        </p:scale>
        <p:origin x="888" y="6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900" b="0" i="0">
                <a:solidFill>
                  <a:srgbClr val="245796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25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900" b="0" i="0">
                <a:solidFill>
                  <a:srgbClr val="245796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525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900" b="0" i="0">
                <a:solidFill>
                  <a:srgbClr val="245796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8/22/2025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900" b="0" i="0">
                <a:solidFill>
                  <a:srgbClr val="245796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8/22/2025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8/22/2025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20104098" cy="1130855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376142" y="344147"/>
            <a:ext cx="16262985" cy="16719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900" b="0" i="0">
                <a:solidFill>
                  <a:srgbClr val="245796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588755" y="3327930"/>
            <a:ext cx="12926588" cy="60686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25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hyperlink" Target="http://www.gekorm.com/dart-windows/" TargetMode="Externa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6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hyperlink" Target="http://www.jetbrains.com/idea/download" TargetMode="Externa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21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6.png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0643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>
                <a:solidFill>
                  <a:srgbClr val="000000"/>
                </a:solidFill>
                <a:latin typeface="Arial MT"/>
                <a:cs typeface="Arial MT"/>
              </a:rPr>
              <a:t>Mobile</a:t>
            </a:r>
            <a:r>
              <a:rPr spc="-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000000"/>
                </a:solidFill>
                <a:latin typeface="Arial MT"/>
                <a:cs typeface="Arial MT"/>
              </a:rPr>
              <a:t>Learning</a:t>
            </a:r>
            <a:r>
              <a:rPr spc="-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000000"/>
                </a:solidFill>
                <a:latin typeface="Arial MT"/>
                <a:cs typeface="Arial MT"/>
              </a:rPr>
              <a:t>Application </a:t>
            </a:r>
            <a:r>
              <a:rPr spc="-10" dirty="0">
                <a:solidFill>
                  <a:srgbClr val="000000"/>
                </a:solidFill>
                <a:latin typeface="Arial MT"/>
                <a:cs typeface="Arial MT"/>
              </a:rPr>
              <a:t>Development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86678" y="3214142"/>
            <a:ext cx="1482677" cy="148267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51CAEAF-FE33-118E-43C0-622BE178A760}"/>
              </a:ext>
            </a:extLst>
          </p:cNvPr>
          <p:cNvSpPr txBox="1"/>
          <p:nvPr/>
        </p:nvSpPr>
        <p:spPr>
          <a:xfrm>
            <a:off x="2018665" y="5510490"/>
            <a:ext cx="16262985" cy="3877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4800" dirty="0">
                <a:solidFill>
                  <a:schemeClr val="tx1"/>
                </a:solidFill>
                <a:latin typeface="Georgia" panose="02040502050405020303" pitchFamily="18" charset="0"/>
              </a:rPr>
              <a:t>Presented By: </a:t>
            </a:r>
          </a:p>
          <a:p>
            <a:pPr marL="0" indent="0" algn="ctr">
              <a:spcBef>
                <a:spcPts val="0"/>
              </a:spcBef>
              <a:buNone/>
            </a:pPr>
            <a:endParaRPr lang="en-US" sz="4800" dirty="0">
              <a:solidFill>
                <a:schemeClr val="tx1"/>
              </a:solidFill>
              <a:latin typeface="Georgia" panose="02040502050405020303" pitchFamily="18" charset="0"/>
            </a:endParaRPr>
          </a:p>
          <a:p>
            <a:pPr marL="0" indent="0" algn="ctr">
              <a:spcBef>
                <a:spcPts val="0"/>
              </a:spcBef>
              <a:buNone/>
            </a:pPr>
            <a:r>
              <a:rPr lang="en-US" sz="5400" b="1" dirty="0">
                <a:solidFill>
                  <a:schemeClr val="tx1"/>
                </a:solidFill>
                <a:latin typeface="Georgia" panose="02040502050405020303" pitchFamily="18" charset="0"/>
              </a:rPr>
              <a:t>Rakib Hossen 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en-US" sz="4800" dirty="0">
                <a:solidFill>
                  <a:schemeClr val="tx1"/>
                </a:solidFill>
                <a:latin typeface="Georgia" panose="02040502050405020303" pitchFamily="18" charset="0"/>
              </a:rPr>
              <a:t>Assistant Professor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en-US" sz="4800" dirty="0">
                <a:solidFill>
                  <a:schemeClr val="tx1"/>
                </a:solidFill>
                <a:latin typeface="Georgia" panose="02040502050405020303" pitchFamily="18" charset="0"/>
              </a:rPr>
              <a:t>Dept. of Cyber Security Engineering (</a:t>
            </a:r>
            <a:r>
              <a:rPr lang="en-US" sz="4800" dirty="0" err="1">
                <a:solidFill>
                  <a:schemeClr val="tx1"/>
                </a:solidFill>
                <a:latin typeface="Georgia" panose="02040502050405020303" pitchFamily="18" charset="0"/>
              </a:rPr>
              <a:t>CySE</a:t>
            </a:r>
            <a:r>
              <a:rPr lang="en-US" sz="4800" dirty="0">
                <a:solidFill>
                  <a:schemeClr val="tx1"/>
                </a:solidFill>
                <a:latin typeface="Georgia" panose="02040502050405020303" pitchFamily="18" charset="0"/>
              </a:rPr>
              <a:t>), GDU</a:t>
            </a:r>
            <a:endParaRPr lang="en-US" sz="4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4100" cy="2352675"/>
            <a:chOff x="0" y="0"/>
            <a:chExt cx="20104100" cy="235267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1586" cy="235217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84848" y="0"/>
              <a:ext cx="4772210" cy="228935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1675"/>
              <a:ext cx="20104099" cy="2034802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754380">
              <a:lnSpc>
                <a:spcPct val="100000"/>
              </a:lnSpc>
              <a:spcBef>
                <a:spcPts val="125"/>
              </a:spcBef>
            </a:pPr>
            <a:r>
              <a:rPr spc="-10" dirty="0">
                <a:latin typeface="Arial MT"/>
                <a:cs typeface="Arial MT"/>
              </a:rPr>
              <a:t>Content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453223" y="2339479"/>
            <a:ext cx="11616690" cy="47777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77850" indent="-565150">
              <a:lnSpc>
                <a:spcPct val="100000"/>
              </a:lnSpc>
              <a:spcBef>
                <a:spcPts val="100"/>
              </a:spcBef>
              <a:buClr>
                <a:srgbClr val="000000"/>
              </a:buClr>
              <a:buSzPct val="88764"/>
              <a:buFont typeface="Arial MT"/>
              <a:buChar char="•"/>
              <a:tabLst>
                <a:tab pos="577850" algn="l"/>
              </a:tabLst>
            </a:pPr>
            <a:r>
              <a:rPr sz="4450" b="1" dirty="0">
                <a:solidFill>
                  <a:srgbClr val="245796"/>
                </a:solidFill>
                <a:latin typeface="Times New Roman"/>
                <a:cs typeface="Times New Roman"/>
              </a:rPr>
              <a:t>Introduction</a:t>
            </a:r>
            <a:r>
              <a:rPr sz="4450" b="1" spc="-7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4450" b="1" dirty="0">
                <a:solidFill>
                  <a:srgbClr val="245796"/>
                </a:solidFill>
                <a:latin typeface="Times New Roman"/>
                <a:cs typeface="Times New Roman"/>
              </a:rPr>
              <a:t>of</a:t>
            </a:r>
            <a:r>
              <a:rPr sz="4450" b="1" spc="-6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4450" b="1" dirty="0">
                <a:solidFill>
                  <a:srgbClr val="245796"/>
                </a:solidFill>
                <a:latin typeface="Times New Roman"/>
                <a:cs typeface="Times New Roman"/>
              </a:rPr>
              <a:t>Dart</a:t>
            </a:r>
            <a:r>
              <a:rPr sz="4450" b="1" spc="-6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4450" b="1" dirty="0">
                <a:solidFill>
                  <a:srgbClr val="245796"/>
                </a:solidFill>
                <a:latin typeface="Times New Roman"/>
                <a:cs typeface="Times New Roman"/>
              </a:rPr>
              <a:t>Programming</a:t>
            </a:r>
            <a:r>
              <a:rPr sz="4450" b="1" spc="-7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4450" b="1" spc="-10" dirty="0">
                <a:solidFill>
                  <a:srgbClr val="245796"/>
                </a:solidFill>
                <a:latin typeface="Times New Roman"/>
                <a:cs typeface="Times New Roman"/>
              </a:rPr>
              <a:t>Language</a:t>
            </a:r>
            <a:endParaRPr sz="4450">
              <a:latin typeface="Times New Roman"/>
              <a:cs typeface="Times New Roman"/>
            </a:endParaRPr>
          </a:p>
          <a:p>
            <a:pPr marL="577850" indent="-565150">
              <a:lnSpc>
                <a:spcPct val="100000"/>
              </a:lnSpc>
              <a:spcBef>
                <a:spcPts val="25"/>
              </a:spcBef>
              <a:buClr>
                <a:srgbClr val="000000"/>
              </a:buClr>
              <a:buSzPct val="88764"/>
              <a:buFont typeface="Arial MT"/>
              <a:buChar char="•"/>
              <a:tabLst>
                <a:tab pos="577850" algn="l"/>
              </a:tabLst>
            </a:pPr>
            <a:r>
              <a:rPr sz="4450" b="1" dirty="0">
                <a:solidFill>
                  <a:srgbClr val="245796"/>
                </a:solidFill>
                <a:latin typeface="Times New Roman"/>
                <a:cs typeface="Times New Roman"/>
              </a:rPr>
              <a:t>Dart</a:t>
            </a:r>
            <a:r>
              <a:rPr sz="4450" b="1" spc="-1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4450" b="1" spc="-10" dirty="0">
                <a:solidFill>
                  <a:srgbClr val="245796"/>
                </a:solidFill>
                <a:latin typeface="Times New Roman"/>
                <a:cs typeface="Times New Roman"/>
              </a:rPr>
              <a:t>Environment</a:t>
            </a:r>
            <a:endParaRPr sz="4450">
              <a:latin typeface="Times New Roman"/>
              <a:cs typeface="Times New Roman"/>
            </a:endParaRPr>
          </a:p>
          <a:p>
            <a:pPr marL="577850" indent="-56515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SzPct val="88764"/>
              <a:buFont typeface="Arial MT"/>
              <a:buChar char="•"/>
              <a:tabLst>
                <a:tab pos="577850" algn="l"/>
              </a:tabLst>
            </a:pPr>
            <a:r>
              <a:rPr sz="4450" b="1" dirty="0">
                <a:solidFill>
                  <a:srgbClr val="245796"/>
                </a:solidFill>
                <a:latin typeface="Times New Roman"/>
                <a:cs typeface="Times New Roman"/>
              </a:rPr>
              <a:t>Dart</a:t>
            </a:r>
            <a:r>
              <a:rPr sz="4450" b="1" spc="-1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4450" b="1" dirty="0">
                <a:solidFill>
                  <a:srgbClr val="245796"/>
                </a:solidFill>
                <a:latin typeface="Times New Roman"/>
                <a:cs typeface="Times New Roman"/>
              </a:rPr>
              <a:t>SDK</a:t>
            </a:r>
            <a:r>
              <a:rPr sz="4450" b="1" spc="-10" dirty="0">
                <a:solidFill>
                  <a:srgbClr val="245796"/>
                </a:solidFill>
                <a:latin typeface="Times New Roman"/>
                <a:cs typeface="Times New Roman"/>
              </a:rPr>
              <a:t> Setup</a:t>
            </a:r>
            <a:endParaRPr sz="4450">
              <a:latin typeface="Times New Roman"/>
              <a:cs typeface="Times New Roman"/>
            </a:endParaRPr>
          </a:p>
          <a:p>
            <a:pPr marL="577850" indent="-565150">
              <a:lnSpc>
                <a:spcPts val="5300"/>
              </a:lnSpc>
              <a:spcBef>
                <a:spcPts val="25"/>
              </a:spcBef>
              <a:buClr>
                <a:srgbClr val="000000"/>
              </a:buClr>
              <a:buSzPct val="88764"/>
              <a:buFont typeface="Arial MT"/>
              <a:buChar char="•"/>
              <a:tabLst>
                <a:tab pos="577850" algn="l"/>
              </a:tabLst>
            </a:pPr>
            <a:r>
              <a:rPr sz="4450" b="1" dirty="0">
                <a:solidFill>
                  <a:srgbClr val="245796"/>
                </a:solidFill>
                <a:latin typeface="Times New Roman"/>
                <a:cs typeface="Times New Roman"/>
              </a:rPr>
              <a:t>Dart</a:t>
            </a:r>
            <a:r>
              <a:rPr sz="4450" b="1" spc="-1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4450" b="1" spc="-10" dirty="0">
                <a:solidFill>
                  <a:srgbClr val="245796"/>
                </a:solidFill>
                <a:latin typeface="Times New Roman"/>
                <a:cs typeface="Times New Roman"/>
              </a:rPr>
              <a:t>Syntax</a:t>
            </a:r>
            <a:endParaRPr sz="4450">
              <a:latin typeface="Times New Roman"/>
              <a:cs typeface="Times New Roman"/>
            </a:endParaRPr>
          </a:p>
          <a:p>
            <a:pPr marL="577850" indent="-565150">
              <a:lnSpc>
                <a:spcPts val="5300"/>
              </a:lnSpc>
              <a:buClr>
                <a:srgbClr val="000000"/>
              </a:buClr>
              <a:buSzPct val="88764"/>
              <a:buFont typeface="Arial MT"/>
              <a:buChar char="•"/>
              <a:tabLst>
                <a:tab pos="577850" algn="l"/>
              </a:tabLst>
            </a:pPr>
            <a:r>
              <a:rPr sz="4450" b="1" spc="-10" dirty="0">
                <a:solidFill>
                  <a:srgbClr val="245796"/>
                </a:solidFill>
                <a:latin typeface="Times New Roman"/>
                <a:cs typeface="Times New Roman"/>
              </a:rPr>
              <a:t>Datatype</a:t>
            </a:r>
            <a:endParaRPr sz="4450">
              <a:latin typeface="Times New Roman"/>
              <a:cs typeface="Times New Roman"/>
            </a:endParaRPr>
          </a:p>
          <a:p>
            <a:pPr marL="577850" indent="-56515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SzPct val="88764"/>
              <a:buFont typeface="Arial MT"/>
              <a:buChar char="•"/>
              <a:tabLst>
                <a:tab pos="577850" algn="l"/>
              </a:tabLst>
            </a:pPr>
            <a:r>
              <a:rPr sz="4450" b="1" spc="-10" dirty="0">
                <a:solidFill>
                  <a:srgbClr val="245796"/>
                </a:solidFill>
                <a:latin typeface="Times New Roman"/>
                <a:cs typeface="Times New Roman"/>
              </a:rPr>
              <a:t>Variables</a:t>
            </a:r>
            <a:endParaRPr sz="4450">
              <a:latin typeface="Times New Roman"/>
              <a:cs typeface="Times New Roman"/>
            </a:endParaRPr>
          </a:p>
          <a:p>
            <a:pPr marL="577850" indent="-565150">
              <a:lnSpc>
                <a:spcPct val="100000"/>
              </a:lnSpc>
              <a:spcBef>
                <a:spcPts val="25"/>
              </a:spcBef>
              <a:buClr>
                <a:srgbClr val="000000"/>
              </a:buClr>
              <a:buSzPct val="88764"/>
              <a:buFont typeface="Arial MT"/>
              <a:buChar char="•"/>
              <a:tabLst>
                <a:tab pos="577850" algn="l"/>
              </a:tabLst>
            </a:pPr>
            <a:r>
              <a:rPr sz="4450" b="1" spc="-10" dirty="0">
                <a:solidFill>
                  <a:srgbClr val="245796"/>
                </a:solidFill>
                <a:latin typeface="Times New Roman"/>
                <a:cs typeface="Times New Roman"/>
              </a:rPr>
              <a:t>Operators</a:t>
            </a:r>
            <a:endParaRPr sz="4450">
              <a:latin typeface="Times New Roman"/>
              <a:cs typeface="Times New Roman"/>
            </a:endParaRP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02691" y="336743"/>
            <a:ext cx="1364565" cy="136456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2195" cy="2352675"/>
            <a:chOff x="0" y="0"/>
            <a:chExt cx="20102195" cy="235267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1586" cy="235217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73414" y="0"/>
              <a:ext cx="3349845" cy="228935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1675"/>
              <a:ext cx="20058204" cy="2034803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442720">
              <a:lnSpc>
                <a:spcPct val="100000"/>
              </a:lnSpc>
              <a:spcBef>
                <a:spcPts val="125"/>
              </a:spcBef>
            </a:pPr>
            <a:r>
              <a:rPr spc="-20" dirty="0">
                <a:latin typeface="Arial MT"/>
                <a:cs typeface="Arial MT"/>
              </a:rPr>
              <a:t>Dart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076272" y="2269952"/>
            <a:ext cx="17712055" cy="8305800"/>
          </a:xfrm>
          <a:prstGeom prst="rect">
            <a:avLst/>
          </a:prstGeom>
        </p:spPr>
        <p:txBody>
          <a:bodyPr vert="horz" wrap="square" lIns="0" tIns="1873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75"/>
              </a:spcBef>
            </a:pPr>
            <a:r>
              <a:rPr sz="3800" dirty="0">
                <a:solidFill>
                  <a:srgbClr val="245796"/>
                </a:solidFill>
                <a:latin typeface="Segoe UI Symbol"/>
                <a:cs typeface="Segoe UI Symbol"/>
              </a:rPr>
              <a:t>❏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Core</a:t>
            </a:r>
            <a:r>
              <a:rPr sz="3300" b="1" spc="-4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Of</a:t>
            </a:r>
            <a:r>
              <a:rPr sz="3300" b="1" spc="-3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FF0000"/>
                </a:solidFill>
                <a:latin typeface="Times New Roman"/>
                <a:cs typeface="Times New Roman"/>
              </a:rPr>
              <a:t>Flutter</a:t>
            </a:r>
            <a:r>
              <a:rPr sz="3300" b="1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3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Framework</a:t>
            </a:r>
            <a:endParaRPr sz="3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75"/>
              </a:spcBef>
            </a:pPr>
            <a:r>
              <a:rPr sz="3800" dirty="0">
                <a:solidFill>
                  <a:srgbClr val="245796"/>
                </a:solidFill>
                <a:latin typeface="Segoe UI Symbol"/>
                <a:cs typeface="Segoe UI Symbol"/>
              </a:rPr>
              <a:t>❏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Programming</a:t>
            </a:r>
            <a:r>
              <a:rPr sz="3300" b="1" spc="-10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Language</a:t>
            </a:r>
            <a:r>
              <a:rPr sz="3300" b="1" spc="-10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like</a:t>
            </a:r>
            <a:r>
              <a:rPr sz="3300" b="1" spc="-10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Java</a:t>
            </a:r>
            <a:r>
              <a:rPr sz="3300" b="1" spc="-10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,C#</a:t>
            </a:r>
            <a:r>
              <a:rPr sz="3300" b="1" spc="-10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spc="-20" dirty="0">
                <a:solidFill>
                  <a:srgbClr val="245796"/>
                </a:solidFill>
                <a:latin typeface="Times New Roman"/>
                <a:cs typeface="Times New Roman"/>
              </a:rPr>
              <a:t>,C++</a:t>
            </a:r>
            <a:endParaRPr sz="3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80"/>
              </a:spcBef>
            </a:pPr>
            <a:r>
              <a:rPr sz="3800" dirty="0">
                <a:solidFill>
                  <a:srgbClr val="245796"/>
                </a:solidFill>
                <a:latin typeface="Segoe UI Symbol"/>
                <a:cs typeface="Segoe UI Symbol"/>
              </a:rPr>
              <a:t>❏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Dart</a:t>
            </a:r>
            <a:r>
              <a:rPr sz="3300" b="1" spc="-7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is</a:t>
            </a:r>
            <a:r>
              <a:rPr sz="3300" b="1" spc="-6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a</a:t>
            </a:r>
            <a:r>
              <a:rPr sz="3300" b="1" spc="-7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client-</a:t>
            </a:r>
            <a:r>
              <a:rPr sz="3300" b="1" dirty="0">
                <a:solidFill>
                  <a:srgbClr val="FF0000"/>
                </a:solidFill>
                <a:latin typeface="Times New Roman"/>
                <a:cs typeface="Times New Roman"/>
              </a:rPr>
              <a:t>optimized</a:t>
            </a:r>
            <a:r>
              <a:rPr sz="3300" b="1" spc="-7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FF0000"/>
                </a:solidFill>
                <a:latin typeface="Times New Roman"/>
                <a:cs typeface="Times New Roman"/>
              </a:rPr>
              <a:t>programming</a:t>
            </a:r>
            <a:r>
              <a:rPr sz="3300" b="1" spc="-7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FF0000"/>
                </a:solidFill>
                <a:latin typeface="Times New Roman"/>
                <a:cs typeface="Times New Roman"/>
              </a:rPr>
              <a:t>language</a:t>
            </a:r>
            <a:r>
              <a:rPr sz="3300" b="1" spc="-7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for</a:t>
            </a:r>
            <a:r>
              <a:rPr sz="3300" b="1" spc="-7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apps</a:t>
            </a:r>
            <a:r>
              <a:rPr sz="3300" b="1" spc="-6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on</a:t>
            </a:r>
            <a:r>
              <a:rPr sz="3300" b="1" spc="-7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multiple</a:t>
            </a:r>
            <a:r>
              <a:rPr sz="3300" b="1" spc="-7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spc="-10" dirty="0">
                <a:solidFill>
                  <a:srgbClr val="245796"/>
                </a:solidFill>
                <a:latin typeface="Times New Roman"/>
                <a:cs typeface="Times New Roman"/>
              </a:rPr>
              <a:t>platforms.</a:t>
            </a:r>
            <a:endParaRPr sz="3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75"/>
              </a:spcBef>
            </a:pPr>
            <a:r>
              <a:rPr sz="3800" dirty="0">
                <a:solidFill>
                  <a:srgbClr val="245796"/>
                </a:solidFill>
                <a:latin typeface="Segoe UI Symbol"/>
                <a:cs typeface="Segoe UI Symbol"/>
              </a:rPr>
              <a:t>❏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It</a:t>
            </a:r>
            <a:r>
              <a:rPr sz="3300" b="1" spc="-5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is</a:t>
            </a:r>
            <a:r>
              <a:rPr sz="3300" b="1" spc="-5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developed</a:t>
            </a:r>
            <a:r>
              <a:rPr sz="3300" b="1" spc="-5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by</a:t>
            </a:r>
            <a:r>
              <a:rPr sz="3300" b="1" spc="-6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FF0000"/>
                </a:solidFill>
                <a:latin typeface="Times New Roman"/>
                <a:cs typeface="Times New Roman"/>
              </a:rPr>
              <a:t>Google</a:t>
            </a:r>
            <a:r>
              <a:rPr sz="3300" b="1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and</a:t>
            </a:r>
            <a:r>
              <a:rPr sz="3300" b="1" spc="-5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is</a:t>
            </a:r>
            <a:r>
              <a:rPr sz="3300" b="1" spc="-5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used</a:t>
            </a:r>
            <a:r>
              <a:rPr sz="3300" b="1" spc="-6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to</a:t>
            </a:r>
            <a:r>
              <a:rPr sz="3300" b="1" spc="-5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build</a:t>
            </a:r>
            <a:r>
              <a:rPr sz="3300" b="1" spc="-5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mobile,</a:t>
            </a:r>
            <a:r>
              <a:rPr sz="3300" b="1" spc="-5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desktop,</a:t>
            </a:r>
            <a:r>
              <a:rPr sz="3300" b="1" spc="-6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backend</a:t>
            </a:r>
            <a:r>
              <a:rPr sz="3300" b="1" spc="-5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and</a:t>
            </a:r>
            <a:r>
              <a:rPr sz="3300" b="1" spc="-5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web</a:t>
            </a:r>
            <a:r>
              <a:rPr sz="3300" b="1" spc="-5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spc="-10" dirty="0">
                <a:solidFill>
                  <a:srgbClr val="245796"/>
                </a:solidFill>
                <a:latin typeface="Times New Roman"/>
                <a:cs typeface="Times New Roman"/>
              </a:rPr>
              <a:t>applications.</a:t>
            </a:r>
            <a:endParaRPr sz="3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75"/>
              </a:spcBef>
            </a:pPr>
            <a:r>
              <a:rPr sz="3800" dirty="0">
                <a:solidFill>
                  <a:srgbClr val="245796"/>
                </a:solidFill>
                <a:latin typeface="Segoe UI Symbol"/>
                <a:cs typeface="Segoe UI Symbol"/>
              </a:rPr>
              <a:t>❏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First</a:t>
            </a:r>
            <a:r>
              <a:rPr sz="3300" b="1" spc="-5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appeared:</a:t>
            </a:r>
            <a:r>
              <a:rPr sz="3300" b="1" spc="-5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October</a:t>
            </a:r>
            <a:r>
              <a:rPr sz="3300" b="1" spc="-6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10,</a:t>
            </a:r>
            <a:r>
              <a:rPr sz="3300" b="1" spc="-6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2011;</a:t>
            </a:r>
            <a:r>
              <a:rPr sz="3300" b="1" spc="-5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11</a:t>
            </a:r>
            <a:r>
              <a:rPr sz="3300" b="1" spc="-6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years</a:t>
            </a:r>
            <a:r>
              <a:rPr sz="3300" b="1" spc="-5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spc="-25" dirty="0">
                <a:solidFill>
                  <a:srgbClr val="245796"/>
                </a:solidFill>
                <a:latin typeface="Times New Roman"/>
                <a:cs typeface="Times New Roman"/>
              </a:rPr>
              <a:t>ago</a:t>
            </a:r>
            <a:endParaRPr sz="3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75"/>
              </a:spcBef>
            </a:pPr>
            <a:r>
              <a:rPr sz="3800" dirty="0">
                <a:solidFill>
                  <a:srgbClr val="245796"/>
                </a:solidFill>
                <a:latin typeface="Segoe UI Symbol"/>
                <a:cs typeface="Segoe UI Symbol"/>
              </a:rPr>
              <a:t>❏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Designed</a:t>
            </a:r>
            <a:r>
              <a:rPr sz="3300" b="1" spc="-7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by</a:t>
            </a:r>
            <a:r>
              <a:rPr sz="3300" b="1" spc="-7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Lars</a:t>
            </a:r>
            <a:r>
              <a:rPr sz="3300" b="1" spc="-6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Bak</a:t>
            </a:r>
            <a:r>
              <a:rPr sz="3300" b="1" spc="-6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and</a:t>
            </a:r>
            <a:r>
              <a:rPr sz="3300" b="1" spc="-6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Kasper</a:t>
            </a:r>
            <a:r>
              <a:rPr sz="3300" b="1" spc="-7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spc="-20" dirty="0">
                <a:solidFill>
                  <a:srgbClr val="245796"/>
                </a:solidFill>
                <a:latin typeface="Times New Roman"/>
                <a:cs typeface="Times New Roman"/>
              </a:rPr>
              <a:t>Lund</a:t>
            </a:r>
            <a:endParaRPr sz="3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80"/>
              </a:spcBef>
            </a:pPr>
            <a:r>
              <a:rPr sz="3800" dirty="0">
                <a:solidFill>
                  <a:srgbClr val="245796"/>
                </a:solidFill>
                <a:latin typeface="Segoe UI Symbol"/>
                <a:cs typeface="Segoe UI Symbol"/>
              </a:rPr>
              <a:t>❏</a:t>
            </a:r>
            <a:r>
              <a:rPr sz="3800" spc="-260" dirty="0">
                <a:solidFill>
                  <a:srgbClr val="245796"/>
                </a:solidFill>
                <a:latin typeface="Segoe UI Symbol"/>
                <a:cs typeface="Segoe UI Symbol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Supports</a:t>
            </a:r>
            <a:r>
              <a:rPr sz="3300" b="1" spc="-7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two</a:t>
            </a:r>
            <a:r>
              <a:rPr sz="3300" b="1" spc="-7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types</a:t>
            </a:r>
            <a:r>
              <a:rPr sz="3300" b="1" spc="-7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of</a:t>
            </a:r>
            <a:r>
              <a:rPr sz="3300" b="1" spc="-7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compilation</a:t>
            </a:r>
            <a:r>
              <a:rPr sz="3300" b="1" spc="-7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spc="-10" dirty="0">
                <a:solidFill>
                  <a:srgbClr val="245796"/>
                </a:solidFill>
                <a:latin typeface="Times New Roman"/>
                <a:cs typeface="Times New Roman"/>
              </a:rPr>
              <a:t>techniques.</a:t>
            </a:r>
            <a:endParaRPr sz="3300">
              <a:latin typeface="Times New Roman"/>
              <a:cs typeface="Times New Roman"/>
            </a:endParaRPr>
          </a:p>
          <a:p>
            <a:pPr marL="525145" marR="5080" indent="-513080">
              <a:lnSpc>
                <a:spcPts val="5940"/>
              </a:lnSpc>
              <a:spcBef>
                <a:spcPts val="425"/>
              </a:spcBef>
              <a:buSzPct val="115151"/>
              <a:buFont typeface="Wingdings"/>
              <a:buChar char=""/>
              <a:tabLst>
                <a:tab pos="525145" algn="l"/>
                <a:tab pos="576580" algn="l"/>
              </a:tabLst>
            </a:pPr>
            <a:r>
              <a:rPr sz="3300" dirty="0">
                <a:solidFill>
                  <a:srgbClr val="245796"/>
                </a:solidFill>
                <a:latin typeface="Times New Roman"/>
                <a:cs typeface="Times New Roman"/>
              </a:rPr>
              <a:t>	</a:t>
            </a:r>
            <a:r>
              <a:rPr sz="3300" b="1" dirty="0">
                <a:solidFill>
                  <a:srgbClr val="FF0000"/>
                </a:solidFill>
                <a:latin typeface="Times New Roman"/>
                <a:cs typeface="Times New Roman"/>
              </a:rPr>
              <a:t>AOT</a:t>
            </a:r>
            <a:r>
              <a:rPr sz="3300" b="1" spc="-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FF0000"/>
                </a:solidFill>
                <a:latin typeface="Times New Roman"/>
                <a:cs typeface="Times New Roman"/>
              </a:rPr>
              <a:t>(Ahead</a:t>
            </a:r>
            <a:r>
              <a:rPr sz="3300" b="1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FF0000"/>
                </a:solidFill>
                <a:latin typeface="Times New Roman"/>
                <a:cs typeface="Times New Roman"/>
              </a:rPr>
              <a:t>of</a:t>
            </a:r>
            <a:r>
              <a:rPr sz="3300" b="1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FF0000"/>
                </a:solidFill>
                <a:latin typeface="Times New Roman"/>
                <a:cs typeface="Times New Roman"/>
              </a:rPr>
              <a:t>Time)</a:t>
            </a:r>
            <a:r>
              <a:rPr sz="3300" b="1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-</a:t>
            </a:r>
            <a:r>
              <a:rPr sz="3300" b="1" spc="-5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It</a:t>
            </a:r>
            <a:r>
              <a:rPr sz="3300" b="1" spc="-5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converts</a:t>
            </a:r>
            <a:r>
              <a:rPr sz="3300" b="1" spc="-5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the</a:t>
            </a:r>
            <a:r>
              <a:rPr sz="3300" b="1" spc="-6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Dart</a:t>
            </a:r>
            <a:r>
              <a:rPr sz="3300" b="1" spc="-5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code</a:t>
            </a:r>
            <a:r>
              <a:rPr sz="3300" b="1" spc="-6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in</a:t>
            </a:r>
            <a:r>
              <a:rPr sz="3300" b="1" spc="-5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the</a:t>
            </a:r>
            <a:r>
              <a:rPr sz="3300" b="1" spc="-6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optimized</a:t>
            </a:r>
            <a:r>
              <a:rPr sz="3300" b="1" spc="-5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JavaScript</a:t>
            </a:r>
            <a:r>
              <a:rPr sz="3300" b="1" spc="-5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code</a:t>
            </a:r>
            <a:r>
              <a:rPr sz="3300" b="1" spc="-6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with</a:t>
            </a:r>
            <a:r>
              <a:rPr sz="3300" b="1" spc="-5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the</a:t>
            </a:r>
            <a:r>
              <a:rPr sz="3300" b="1" spc="-6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spc="-20" dirty="0">
                <a:solidFill>
                  <a:srgbClr val="245796"/>
                </a:solidFill>
                <a:latin typeface="Times New Roman"/>
                <a:cs typeface="Times New Roman"/>
              </a:rPr>
              <a:t>help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of</a:t>
            </a:r>
            <a:r>
              <a:rPr sz="3300" b="1" spc="-5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the</a:t>
            </a:r>
            <a:r>
              <a:rPr sz="3300" b="1" spc="-5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dar2js</a:t>
            </a:r>
            <a:r>
              <a:rPr sz="3300" b="1" spc="-5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compiler</a:t>
            </a:r>
            <a:r>
              <a:rPr sz="3300" b="1" spc="-5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and</a:t>
            </a:r>
            <a:r>
              <a:rPr sz="3300" b="1" spc="-5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runs</a:t>
            </a:r>
            <a:r>
              <a:rPr sz="3300" b="1" spc="-5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on</a:t>
            </a:r>
            <a:r>
              <a:rPr sz="3300" b="1" spc="-5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all</a:t>
            </a:r>
            <a:r>
              <a:rPr sz="3300" b="1" spc="-5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modern</a:t>
            </a:r>
            <a:r>
              <a:rPr sz="3300" b="1" spc="-5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spc="-25" dirty="0">
                <a:solidFill>
                  <a:srgbClr val="245796"/>
                </a:solidFill>
                <a:latin typeface="Times New Roman"/>
                <a:cs typeface="Times New Roman"/>
              </a:rPr>
              <a:t>web-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browser.</a:t>
            </a:r>
            <a:r>
              <a:rPr sz="3300" b="1" spc="-5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It</a:t>
            </a:r>
            <a:r>
              <a:rPr sz="3300" b="1" spc="-5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compiles</a:t>
            </a:r>
            <a:r>
              <a:rPr sz="3300" b="1" spc="-5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the</a:t>
            </a:r>
            <a:r>
              <a:rPr sz="3300" b="1" spc="-5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code</a:t>
            </a:r>
            <a:r>
              <a:rPr sz="3300" b="1" spc="-5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at</a:t>
            </a:r>
            <a:r>
              <a:rPr sz="3300" b="1" spc="-5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build</a:t>
            </a:r>
            <a:r>
              <a:rPr sz="3300" b="1" spc="-5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spc="-20" dirty="0">
                <a:solidFill>
                  <a:srgbClr val="245796"/>
                </a:solidFill>
                <a:latin typeface="Times New Roman"/>
                <a:cs typeface="Times New Roman"/>
              </a:rPr>
              <a:t>time.</a:t>
            </a:r>
            <a:endParaRPr sz="3300">
              <a:latin typeface="Times New Roman"/>
              <a:cs typeface="Times New Roman"/>
            </a:endParaRPr>
          </a:p>
          <a:p>
            <a:pPr marL="577215" indent="-564515">
              <a:lnSpc>
                <a:spcPct val="100000"/>
              </a:lnSpc>
              <a:spcBef>
                <a:spcPts val="1440"/>
              </a:spcBef>
              <a:buClr>
                <a:srgbClr val="245796"/>
              </a:buClr>
              <a:buSzPct val="115151"/>
              <a:buFont typeface="Wingdings"/>
              <a:buChar char=""/>
              <a:tabLst>
                <a:tab pos="577215" algn="l"/>
              </a:tabLst>
            </a:pPr>
            <a:r>
              <a:rPr sz="3300" b="1" dirty="0">
                <a:solidFill>
                  <a:srgbClr val="FF0000"/>
                </a:solidFill>
                <a:latin typeface="Times New Roman"/>
                <a:cs typeface="Times New Roman"/>
              </a:rPr>
              <a:t>JOT</a:t>
            </a:r>
            <a:r>
              <a:rPr sz="3300" b="1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300" b="1" spc="-20" dirty="0">
                <a:solidFill>
                  <a:srgbClr val="FF0000"/>
                </a:solidFill>
                <a:latin typeface="Times New Roman"/>
                <a:cs typeface="Times New Roman"/>
              </a:rPr>
              <a:t>(Just-In-</a:t>
            </a:r>
            <a:r>
              <a:rPr sz="3300" b="1" dirty="0">
                <a:solidFill>
                  <a:srgbClr val="FF0000"/>
                </a:solidFill>
                <a:latin typeface="Times New Roman"/>
                <a:cs typeface="Times New Roman"/>
              </a:rPr>
              <a:t>Time)</a:t>
            </a:r>
            <a:r>
              <a:rPr sz="3300" b="1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-</a:t>
            </a:r>
            <a:r>
              <a:rPr sz="3300" b="1" spc="-4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It</a:t>
            </a:r>
            <a:r>
              <a:rPr sz="3300" b="1" spc="-4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converts</a:t>
            </a:r>
            <a:r>
              <a:rPr sz="3300" b="1" spc="-4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the</a:t>
            </a:r>
            <a:r>
              <a:rPr sz="3300" b="1" spc="-4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byte</a:t>
            </a:r>
            <a:r>
              <a:rPr sz="3300" b="1" spc="-4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code</a:t>
            </a:r>
            <a:r>
              <a:rPr sz="3300" b="1" spc="-4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in</a:t>
            </a:r>
            <a:r>
              <a:rPr sz="3300" b="1" spc="-4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the</a:t>
            </a:r>
            <a:r>
              <a:rPr sz="3300" b="1" spc="-4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machine</a:t>
            </a:r>
            <a:r>
              <a:rPr sz="3300" b="1" spc="-4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code</a:t>
            </a:r>
            <a:r>
              <a:rPr sz="3300" b="1" spc="-4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(native</a:t>
            </a:r>
            <a:r>
              <a:rPr sz="3300" b="1" spc="-4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code),</a:t>
            </a:r>
            <a:r>
              <a:rPr sz="3300" b="1" spc="-4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but</a:t>
            </a:r>
            <a:r>
              <a:rPr sz="3300" b="1" spc="-4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only</a:t>
            </a:r>
            <a:r>
              <a:rPr sz="3300" b="1" spc="-4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spc="-20" dirty="0">
                <a:solidFill>
                  <a:srgbClr val="245796"/>
                </a:solidFill>
                <a:latin typeface="Times New Roman"/>
                <a:cs typeface="Times New Roman"/>
              </a:rPr>
              <a:t>code</a:t>
            </a:r>
            <a:endParaRPr sz="3300">
              <a:latin typeface="Times New Roman"/>
              <a:cs typeface="Times New Roman"/>
            </a:endParaRPr>
          </a:p>
          <a:p>
            <a:pPr marL="525145">
              <a:lnSpc>
                <a:spcPct val="100000"/>
              </a:lnSpc>
              <a:spcBef>
                <a:spcPts val="1980"/>
              </a:spcBef>
            </a:pP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that</a:t>
            </a:r>
            <a:r>
              <a:rPr sz="3300" b="1" spc="-3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is</a:t>
            </a:r>
            <a:r>
              <a:rPr sz="3300" b="1" spc="-3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spc="-10" dirty="0">
                <a:solidFill>
                  <a:srgbClr val="245796"/>
                </a:solidFill>
                <a:latin typeface="Times New Roman"/>
                <a:cs typeface="Times New Roman"/>
              </a:rPr>
              <a:t>necessary</a:t>
            </a:r>
            <a:endParaRPr sz="3300">
              <a:latin typeface="Times New Roman"/>
              <a:cs typeface="Times New Roman"/>
            </a:endParaRP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02691" y="336743"/>
            <a:ext cx="1364565" cy="136456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2195" cy="2352675"/>
            <a:chOff x="0" y="0"/>
            <a:chExt cx="20102195" cy="235267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1586" cy="235217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29652" y="0"/>
              <a:ext cx="6332791" cy="228935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1675"/>
              <a:ext cx="20058204" cy="2034803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198245">
              <a:lnSpc>
                <a:spcPct val="100000"/>
              </a:lnSpc>
              <a:spcBef>
                <a:spcPts val="125"/>
              </a:spcBef>
            </a:pPr>
            <a:r>
              <a:rPr dirty="0">
                <a:latin typeface="Arial MT"/>
                <a:cs typeface="Arial MT"/>
              </a:rPr>
              <a:t>Why</a:t>
            </a:r>
            <a:r>
              <a:rPr spc="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Dart</a:t>
            </a:r>
            <a:r>
              <a:rPr spc="5" dirty="0">
                <a:latin typeface="Arial MT"/>
                <a:cs typeface="Arial MT"/>
              </a:rPr>
              <a:t> </a:t>
            </a:r>
            <a:r>
              <a:rPr spc="-50" dirty="0">
                <a:latin typeface="Arial MT"/>
                <a:cs typeface="Arial MT"/>
              </a:rPr>
              <a:t>?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076272" y="2188977"/>
            <a:ext cx="17950815" cy="7157084"/>
          </a:xfrm>
          <a:prstGeom prst="rect">
            <a:avLst/>
          </a:prstGeom>
        </p:spPr>
        <p:txBody>
          <a:bodyPr vert="horz" wrap="square" lIns="0" tIns="268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115"/>
              </a:spcBef>
            </a:pPr>
            <a:r>
              <a:rPr sz="3800" dirty="0">
                <a:solidFill>
                  <a:srgbClr val="245796"/>
                </a:solidFill>
                <a:latin typeface="Segoe UI Symbol"/>
                <a:cs typeface="Segoe UI Symbol"/>
              </a:rPr>
              <a:t>❏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The</a:t>
            </a:r>
            <a:r>
              <a:rPr sz="3300" b="1" spc="-6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characteristics</a:t>
            </a:r>
            <a:r>
              <a:rPr sz="3300" b="1" spc="-5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of</a:t>
            </a:r>
            <a:r>
              <a:rPr sz="3300" b="1" spc="-5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Dart</a:t>
            </a:r>
            <a:r>
              <a:rPr sz="3300" b="1" spc="-5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in</a:t>
            </a:r>
            <a:r>
              <a:rPr sz="3300" b="1" spc="-5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the</a:t>
            </a:r>
            <a:r>
              <a:rPr sz="3300" b="1" spc="-5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following</a:t>
            </a:r>
            <a:r>
              <a:rPr sz="3300" b="1" spc="-6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spc="-10" dirty="0">
                <a:solidFill>
                  <a:srgbClr val="245796"/>
                </a:solidFill>
                <a:latin typeface="Times New Roman"/>
                <a:cs typeface="Times New Roman"/>
              </a:rPr>
              <a:t>point.</a:t>
            </a:r>
            <a:endParaRPr sz="3300">
              <a:latin typeface="Times New Roman"/>
              <a:cs typeface="Times New Roman"/>
            </a:endParaRPr>
          </a:p>
          <a:p>
            <a:pPr marL="525145" marR="5080" indent="-513080">
              <a:lnSpc>
                <a:spcPts val="7100"/>
              </a:lnSpc>
              <a:spcBef>
                <a:spcPts val="385"/>
              </a:spcBef>
              <a:buFont typeface="Wingdings"/>
              <a:buChar char=""/>
              <a:tabLst>
                <a:tab pos="525145" algn="l"/>
                <a:tab pos="577850" algn="l"/>
                <a:tab pos="1824989" algn="l"/>
                <a:tab pos="2404110" algn="l"/>
                <a:tab pos="2898775" algn="l"/>
                <a:tab pos="7864475" algn="l"/>
                <a:tab pos="10036175" algn="l"/>
                <a:tab pos="11091545" algn="l"/>
                <a:tab pos="13206730" algn="l"/>
                <a:tab pos="13981430" algn="l"/>
                <a:tab pos="16292194" algn="l"/>
              </a:tabLst>
            </a:pPr>
            <a:r>
              <a:rPr sz="3800" dirty="0">
                <a:solidFill>
                  <a:srgbClr val="245796"/>
                </a:solidFill>
                <a:latin typeface="Times New Roman"/>
                <a:cs typeface="Times New Roman"/>
              </a:rPr>
              <a:t>	</a:t>
            </a:r>
            <a:r>
              <a:rPr sz="3950" b="1" spc="-20" dirty="0">
                <a:solidFill>
                  <a:srgbClr val="245796"/>
                </a:solidFill>
                <a:latin typeface="Times New Roman"/>
                <a:cs typeface="Times New Roman"/>
              </a:rPr>
              <a:t>Dart</a:t>
            </a:r>
            <a:r>
              <a:rPr sz="3950" b="1" dirty="0">
                <a:solidFill>
                  <a:srgbClr val="245796"/>
                </a:solidFill>
                <a:latin typeface="Times New Roman"/>
                <a:cs typeface="Times New Roman"/>
              </a:rPr>
              <a:t>	</a:t>
            </a:r>
            <a:r>
              <a:rPr sz="3950" b="1" spc="-25" dirty="0">
                <a:solidFill>
                  <a:srgbClr val="245796"/>
                </a:solidFill>
                <a:latin typeface="Times New Roman"/>
                <a:cs typeface="Times New Roman"/>
              </a:rPr>
              <a:t>is</a:t>
            </a:r>
            <a:r>
              <a:rPr sz="3950" b="1" dirty="0">
                <a:solidFill>
                  <a:srgbClr val="245796"/>
                </a:solidFill>
                <a:latin typeface="Times New Roman"/>
                <a:cs typeface="Times New Roman"/>
              </a:rPr>
              <a:t>	</a:t>
            </a:r>
            <a:r>
              <a:rPr sz="3950" b="1" spc="-50" dirty="0">
                <a:solidFill>
                  <a:srgbClr val="245796"/>
                </a:solidFill>
                <a:latin typeface="Times New Roman"/>
                <a:cs typeface="Times New Roman"/>
              </a:rPr>
              <a:t>a</a:t>
            </a:r>
            <a:r>
              <a:rPr sz="3950" b="1" dirty="0">
                <a:solidFill>
                  <a:srgbClr val="245796"/>
                </a:solidFill>
                <a:latin typeface="Times New Roman"/>
                <a:cs typeface="Times New Roman"/>
              </a:rPr>
              <a:t>	</a:t>
            </a:r>
            <a:r>
              <a:rPr sz="395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platform-independent</a:t>
            </a:r>
            <a:r>
              <a:rPr sz="3950" b="1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395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languag</a:t>
            </a:r>
            <a:r>
              <a:rPr sz="3950" b="1" spc="-10" dirty="0">
                <a:solidFill>
                  <a:srgbClr val="245796"/>
                </a:solidFill>
                <a:latin typeface="Times New Roman"/>
                <a:cs typeface="Times New Roman"/>
              </a:rPr>
              <a:t>e</a:t>
            </a:r>
            <a:r>
              <a:rPr sz="3950" b="1" dirty="0">
                <a:solidFill>
                  <a:srgbClr val="245796"/>
                </a:solidFill>
                <a:latin typeface="Times New Roman"/>
                <a:cs typeface="Times New Roman"/>
              </a:rPr>
              <a:t>	</a:t>
            </a:r>
            <a:r>
              <a:rPr sz="3950" b="1" spc="-25" dirty="0">
                <a:solidFill>
                  <a:srgbClr val="245796"/>
                </a:solidFill>
                <a:latin typeface="Times New Roman"/>
                <a:cs typeface="Times New Roman"/>
              </a:rPr>
              <a:t>and</a:t>
            </a:r>
            <a:r>
              <a:rPr sz="3950" b="1" dirty="0">
                <a:solidFill>
                  <a:srgbClr val="245796"/>
                </a:solidFill>
                <a:latin typeface="Times New Roman"/>
                <a:cs typeface="Times New Roman"/>
              </a:rPr>
              <a:t>	</a:t>
            </a:r>
            <a:r>
              <a:rPr sz="3950" b="1" spc="-10" dirty="0">
                <a:solidFill>
                  <a:srgbClr val="245796"/>
                </a:solidFill>
                <a:latin typeface="Times New Roman"/>
                <a:cs typeface="Times New Roman"/>
              </a:rPr>
              <a:t>supports</a:t>
            </a:r>
            <a:r>
              <a:rPr sz="3950" b="1" dirty="0">
                <a:solidFill>
                  <a:srgbClr val="245796"/>
                </a:solidFill>
                <a:latin typeface="Times New Roman"/>
                <a:cs typeface="Times New Roman"/>
              </a:rPr>
              <a:t>	</a:t>
            </a:r>
            <a:r>
              <a:rPr sz="3950" b="1" spc="-25" dirty="0">
                <a:solidFill>
                  <a:srgbClr val="245796"/>
                </a:solidFill>
                <a:latin typeface="Times New Roman"/>
                <a:cs typeface="Times New Roman"/>
              </a:rPr>
              <a:t>all</a:t>
            </a:r>
            <a:r>
              <a:rPr sz="3950" b="1" dirty="0">
                <a:solidFill>
                  <a:srgbClr val="245796"/>
                </a:solidFill>
                <a:latin typeface="Times New Roman"/>
                <a:cs typeface="Times New Roman"/>
              </a:rPr>
              <a:t>	</a:t>
            </a:r>
            <a:r>
              <a:rPr sz="3950" b="1" spc="-10" dirty="0">
                <a:solidFill>
                  <a:srgbClr val="245796"/>
                </a:solidFill>
                <a:latin typeface="Times New Roman"/>
                <a:cs typeface="Times New Roman"/>
              </a:rPr>
              <a:t>operating</a:t>
            </a:r>
            <a:r>
              <a:rPr sz="3950" b="1" dirty="0">
                <a:solidFill>
                  <a:srgbClr val="245796"/>
                </a:solidFill>
                <a:latin typeface="Times New Roman"/>
                <a:cs typeface="Times New Roman"/>
              </a:rPr>
              <a:t>	</a:t>
            </a:r>
            <a:r>
              <a:rPr sz="3950" b="1" spc="-10" dirty="0">
                <a:solidFill>
                  <a:srgbClr val="245796"/>
                </a:solidFill>
                <a:latin typeface="Times New Roman"/>
                <a:cs typeface="Times New Roman"/>
              </a:rPr>
              <a:t>systems </a:t>
            </a:r>
            <a:r>
              <a:rPr sz="3950" b="1" dirty="0">
                <a:solidFill>
                  <a:srgbClr val="245796"/>
                </a:solidFill>
                <a:latin typeface="Times New Roman"/>
                <a:cs typeface="Times New Roman"/>
              </a:rPr>
              <a:t>such</a:t>
            </a:r>
            <a:r>
              <a:rPr sz="3950" b="1" spc="-1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950" b="1" dirty="0">
                <a:solidFill>
                  <a:srgbClr val="245796"/>
                </a:solidFill>
                <a:latin typeface="Times New Roman"/>
                <a:cs typeface="Times New Roman"/>
              </a:rPr>
              <a:t>as</a:t>
            </a:r>
            <a:r>
              <a:rPr sz="3950" b="1" spc="-1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950" b="1" dirty="0">
                <a:solidFill>
                  <a:srgbClr val="245796"/>
                </a:solidFill>
                <a:latin typeface="Times New Roman"/>
                <a:cs typeface="Times New Roman"/>
              </a:rPr>
              <a:t>Windows,</a:t>
            </a:r>
            <a:r>
              <a:rPr sz="3950" b="1" spc="-1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950" b="1" dirty="0">
                <a:solidFill>
                  <a:srgbClr val="245796"/>
                </a:solidFill>
                <a:latin typeface="Times New Roman"/>
                <a:cs typeface="Times New Roman"/>
              </a:rPr>
              <a:t>Mac,</a:t>
            </a:r>
            <a:r>
              <a:rPr sz="3950" b="1" spc="-1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950" b="1" dirty="0">
                <a:solidFill>
                  <a:srgbClr val="245796"/>
                </a:solidFill>
                <a:latin typeface="Times New Roman"/>
                <a:cs typeface="Times New Roman"/>
              </a:rPr>
              <a:t>Linux,</a:t>
            </a:r>
            <a:r>
              <a:rPr sz="3950" b="1" spc="-1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950" b="1" spc="-20" dirty="0">
                <a:solidFill>
                  <a:srgbClr val="245796"/>
                </a:solidFill>
                <a:latin typeface="Times New Roman"/>
                <a:cs typeface="Times New Roman"/>
              </a:rPr>
              <a:t>etc.</a:t>
            </a:r>
            <a:endParaRPr sz="3950">
              <a:latin typeface="Times New Roman"/>
              <a:cs typeface="Times New Roman"/>
            </a:endParaRPr>
          </a:p>
          <a:p>
            <a:pPr marL="525145" marR="5715" indent="-513080">
              <a:lnSpc>
                <a:spcPts val="7100"/>
              </a:lnSpc>
              <a:spcBef>
                <a:spcPts val="65"/>
              </a:spcBef>
              <a:buFont typeface="Wingdings"/>
              <a:buChar char=""/>
              <a:tabLst>
                <a:tab pos="525145" algn="l"/>
                <a:tab pos="577850" algn="l"/>
                <a:tab pos="1165860" algn="l"/>
                <a:tab pos="1725930" algn="l"/>
                <a:tab pos="2482850" algn="l"/>
                <a:tab pos="5303520" algn="l"/>
                <a:tab pos="7582534" algn="l"/>
                <a:tab pos="9093200" algn="l"/>
                <a:tab pos="10686415" algn="l"/>
                <a:tab pos="11219180" algn="l"/>
                <a:tab pos="13372465" algn="l"/>
                <a:tab pos="14432915" algn="l"/>
                <a:tab pos="15299690" algn="l"/>
                <a:tab pos="17574895" algn="l"/>
              </a:tabLst>
            </a:pPr>
            <a:r>
              <a:rPr sz="3800" dirty="0">
                <a:solidFill>
                  <a:srgbClr val="245796"/>
                </a:solidFill>
                <a:latin typeface="Times New Roman"/>
                <a:cs typeface="Times New Roman"/>
              </a:rPr>
              <a:t>	</a:t>
            </a:r>
            <a:r>
              <a:rPr sz="3950" b="1" spc="-25" dirty="0">
                <a:solidFill>
                  <a:srgbClr val="245796"/>
                </a:solidFill>
                <a:latin typeface="Times New Roman"/>
                <a:cs typeface="Times New Roman"/>
              </a:rPr>
              <a:t>It</a:t>
            </a:r>
            <a:r>
              <a:rPr sz="3950" b="1" dirty="0">
                <a:solidFill>
                  <a:srgbClr val="245796"/>
                </a:solidFill>
                <a:latin typeface="Times New Roman"/>
                <a:cs typeface="Times New Roman"/>
              </a:rPr>
              <a:t>	</a:t>
            </a:r>
            <a:r>
              <a:rPr sz="3950" b="1" spc="-25" dirty="0">
                <a:solidFill>
                  <a:srgbClr val="245796"/>
                </a:solidFill>
                <a:latin typeface="Times New Roman"/>
                <a:cs typeface="Times New Roman"/>
              </a:rPr>
              <a:t>is</a:t>
            </a:r>
            <a:r>
              <a:rPr sz="3950" b="1" dirty="0">
                <a:solidFill>
                  <a:srgbClr val="245796"/>
                </a:solidFill>
                <a:latin typeface="Times New Roman"/>
                <a:cs typeface="Times New Roman"/>
              </a:rPr>
              <a:t>	</a:t>
            </a:r>
            <a:r>
              <a:rPr sz="3950" b="1" spc="-25" dirty="0">
                <a:solidFill>
                  <a:srgbClr val="245796"/>
                </a:solidFill>
                <a:latin typeface="Times New Roman"/>
                <a:cs typeface="Times New Roman"/>
              </a:rPr>
              <a:t>an</a:t>
            </a:r>
            <a:r>
              <a:rPr sz="3950" b="1" dirty="0">
                <a:solidFill>
                  <a:srgbClr val="245796"/>
                </a:solidFill>
                <a:latin typeface="Times New Roman"/>
                <a:cs typeface="Times New Roman"/>
              </a:rPr>
              <a:t>	</a:t>
            </a:r>
            <a:r>
              <a:rPr sz="395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open-source</a:t>
            </a:r>
            <a:r>
              <a:rPr sz="3950" b="1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395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language</a:t>
            </a:r>
            <a:r>
              <a:rPr sz="3950" b="1" spc="-10" dirty="0">
                <a:solidFill>
                  <a:srgbClr val="245796"/>
                </a:solidFill>
                <a:latin typeface="Times New Roman"/>
                <a:cs typeface="Times New Roman"/>
              </a:rPr>
              <a:t>,</a:t>
            </a:r>
            <a:r>
              <a:rPr sz="3950" b="1" dirty="0">
                <a:solidFill>
                  <a:srgbClr val="245796"/>
                </a:solidFill>
                <a:latin typeface="Times New Roman"/>
                <a:cs typeface="Times New Roman"/>
              </a:rPr>
              <a:t>	</a:t>
            </a:r>
            <a:r>
              <a:rPr sz="3950" b="1" spc="-10" dirty="0">
                <a:solidFill>
                  <a:srgbClr val="245796"/>
                </a:solidFill>
                <a:latin typeface="Times New Roman"/>
                <a:cs typeface="Times New Roman"/>
              </a:rPr>
              <a:t>which</a:t>
            </a:r>
            <a:r>
              <a:rPr sz="3950" b="1" dirty="0">
                <a:solidFill>
                  <a:srgbClr val="245796"/>
                </a:solidFill>
                <a:latin typeface="Times New Roman"/>
                <a:cs typeface="Times New Roman"/>
              </a:rPr>
              <a:t>	</a:t>
            </a:r>
            <a:r>
              <a:rPr sz="3950" b="1" spc="-10" dirty="0">
                <a:solidFill>
                  <a:srgbClr val="245796"/>
                </a:solidFill>
                <a:latin typeface="Times New Roman"/>
                <a:cs typeface="Times New Roman"/>
              </a:rPr>
              <a:t>means</a:t>
            </a:r>
            <a:r>
              <a:rPr sz="3950" b="1" dirty="0">
                <a:solidFill>
                  <a:srgbClr val="245796"/>
                </a:solidFill>
                <a:latin typeface="Times New Roman"/>
                <a:cs typeface="Times New Roman"/>
              </a:rPr>
              <a:t>	</a:t>
            </a:r>
            <a:r>
              <a:rPr sz="3950" b="1" spc="-25" dirty="0">
                <a:solidFill>
                  <a:srgbClr val="245796"/>
                </a:solidFill>
                <a:latin typeface="Times New Roman"/>
                <a:cs typeface="Times New Roman"/>
              </a:rPr>
              <a:t>it</a:t>
            </a:r>
            <a:r>
              <a:rPr sz="3950" b="1" dirty="0">
                <a:solidFill>
                  <a:srgbClr val="245796"/>
                </a:solidFill>
                <a:latin typeface="Times New Roman"/>
                <a:cs typeface="Times New Roman"/>
              </a:rPr>
              <a:t>	</a:t>
            </a:r>
            <a:r>
              <a:rPr sz="3950" b="1" spc="-10" dirty="0">
                <a:solidFill>
                  <a:srgbClr val="245796"/>
                </a:solidFill>
                <a:latin typeface="Times New Roman"/>
                <a:cs typeface="Times New Roman"/>
              </a:rPr>
              <a:t>available</a:t>
            </a:r>
            <a:r>
              <a:rPr sz="3950" b="1" dirty="0">
                <a:solidFill>
                  <a:srgbClr val="245796"/>
                </a:solidFill>
                <a:latin typeface="Times New Roman"/>
                <a:cs typeface="Times New Roman"/>
              </a:rPr>
              <a:t>	</a:t>
            </a:r>
            <a:r>
              <a:rPr sz="3950" b="1" spc="-20" dirty="0">
                <a:solidFill>
                  <a:srgbClr val="245796"/>
                </a:solidFill>
                <a:latin typeface="Times New Roman"/>
                <a:cs typeface="Times New Roman"/>
              </a:rPr>
              <a:t>free</a:t>
            </a:r>
            <a:r>
              <a:rPr sz="3950" b="1" dirty="0">
                <a:solidFill>
                  <a:srgbClr val="245796"/>
                </a:solidFill>
                <a:latin typeface="Times New Roman"/>
                <a:cs typeface="Times New Roman"/>
              </a:rPr>
              <a:t>	</a:t>
            </a:r>
            <a:r>
              <a:rPr sz="3950" b="1" spc="-25" dirty="0">
                <a:solidFill>
                  <a:srgbClr val="245796"/>
                </a:solidFill>
                <a:latin typeface="Times New Roman"/>
                <a:cs typeface="Times New Roman"/>
              </a:rPr>
              <a:t>for</a:t>
            </a:r>
            <a:r>
              <a:rPr sz="3950" b="1" dirty="0">
                <a:solidFill>
                  <a:srgbClr val="245796"/>
                </a:solidFill>
                <a:latin typeface="Times New Roman"/>
                <a:cs typeface="Times New Roman"/>
              </a:rPr>
              <a:t>	</a:t>
            </a:r>
            <a:r>
              <a:rPr sz="3950" b="1" spc="-10" dirty="0">
                <a:solidFill>
                  <a:srgbClr val="245796"/>
                </a:solidFill>
                <a:latin typeface="Times New Roman"/>
                <a:cs typeface="Times New Roman"/>
              </a:rPr>
              <a:t>everyone.</a:t>
            </a:r>
            <a:r>
              <a:rPr sz="3950" b="1" dirty="0">
                <a:solidFill>
                  <a:srgbClr val="245796"/>
                </a:solidFill>
                <a:latin typeface="Times New Roman"/>
                <a:cs typeface="Times New Roman"/>
              </a:rPr>
              <a:t>	</a:t>
            </a:r>
            <a:r>
              <a:rPr sz="3950" b="1" spc="-25" dirty="0">
                <a:solidFill>
                  <a:srgbClr val="245796"/>
                </a:solidFill>
                <a:latin typeface="Times New Roman"/>
                <a:cs typeface="Times New Roman"/>
              </a:rPr>
              <a:t>It </a:t>
            </a:r>
            <a:r>
              <a:rPr sz="3950" b="1" dirty="0">
                <a:solidFill>
                  <a:srgbClr val="245796"/>
                </a:solidFill>
                <a:latin typeface="Times New Roman"/>
                <a:cs typeface="Times New Roman"/>
              </a:rPr>
              <a:t>comes</a:t>
            </a:r>
            <a:r>
              <a:rPr sz="3950" b="1" spc="-1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950" b="1" dirty="0">
                <a:solidFill>
                  <a:srgbClr val="245796"/>
                </a:solidFill>
                <a:latin typeface="Times New Roman"/>
                <a:cs typeface="Times New Roman"/>
              </a:rPr>
              <a:t>with</a:t>
            </a:r>
            <a:r>
              <a:rPr sz="3950" b="1" spc="-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950" b="1" dirty="0">
                <a:solidFill>
                  <a:srgbClr val="245796"/>
                </a:solidFill>
                <a:latin typeface="Times New Roman"/>
                <a:cs typeface="Times New Roman"/>
              </a:rPr>
              <a:t>a</a:t>
            </a:r>
            <a:r>
              <a:rPr sz="3950" b="1" spc="-1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950" b="1" dirty="0">
                <a:solidFill>
                  <a:srgbClr val="245796"/>
                </a:solidFill>
                <a:latin typeface="Times New Roman"/>
                <a:cs typeface="Times New Roman"/>
              </a:rPr>
              <a:t>BSD</a:t>
            </a:r>
            <a:r>
              <a:rPr sz="3950" b="1" spc="-1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950" b="1" dirty="0">
                <a:solidFill>
                  <a:srgbClr val="245796"/>
                </a:solidFill>
                <a:latin typeface="Times New Roman"/>
                <a:cs typeface="Times New Roman"/>
              </a:rPr>
              <a:t>license</a:t>
            </a:r>
            <a:r>
              <a:rPr sz="3950" b="1" spc="-1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950" b="1" dirty="0">
                <a:solidFill>
                  <a:srgbClr val="245796"/>
                </a:solidFill>
                <a:latin typeface="Times New Roman"/>
                <a:cs typeface="Times New Roman"/>
              </a:rPr>
              <a:t>and recognized</a:t>
            </a:r>
            <a:r>
              <a:rPr sz="3950" b="1" spc="-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950" b="1" dirty="0">
                <a:solidFill>
                  <a:srgbClr val="245796"/>
                </a:solidFill>
                <a:latin typeface="Times New Roman"/>
                <a:cs typeface="Times New Roman"/>
              </a:rPr>
              <a:t>by</a:t>
            </a:r>
            <a:r>
              <a:rPr sz="3950" b="1" spc="-1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950" b="1" dirty="0">
                <a:solidFill>
                  <a:srgbClr val="245796"/>
                </a:solidFill>
                <a:latin typeface="Times New Roman"/>
                <a:cs typeface="Times New Roman"/>
              </a:rPr>
              <a:t>the</a:t>
            </a:r>
            <a:r>
              <a:rPr sz="3950" b="1" spc="-1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950" b="1" dirty="0">
                <a:solidFill>
                  <a:srgbClr val="245796"/>
                </a:solidFill>
                <a:latin typeface="Times New Roman"/>
                <a:cs typeface="Times New Roman"/>
              </a:rPr>
              <a:t>ECMA</a:t>
            </a:r>
            <a:r>
              <a:rPr sz="3950" b="1" spc="-1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950" b="1" spc="-10" dirty="0">
                <a:solidFill>
                  <a:srgbClr val="245796"/>
                </a:solidFill>
                <a:latin typeface="Times New Roman"/>
                <a:cs typeface="Times New Roman"/>
              </a:rPr>
              <a:t>standard.</a:t>
            </a:r>
            <a:endParaRPr sz="3950">
              <a:latin typeface="Times New Roman"/>
              <a:cs typeface="Times New Roman"/>
            </a:endParaRPr>
          </a:p>
          <a:p>
            <a:pPr marL="577850" indent="-565150">
              <a:lnSpc>
                <a:spcPct val="100000"/>
              </a:lnSpc>
              <a:spcBef>
                <a:spcPts val="1720"/>
              </a:spcBef>
              <a:buSzPct val="96202"/>
              <a:buFont typeface="Wingdings"/>
              <a:buChar char=""/>
              <a:tabLst>
                <a:tab pos="577850" algn="l"/>
              </a:tabLst>
            </a:pPr>
            <a:r>
              <a:rPr sz="3950" b="1" dirty="0">
                <a:solidFill>
                  <a:srgbClr val="245796"/>
                </a:solidFill>
                <a:latin typeface="Times New Roman"/>
                <a:cs typeface="Times New Roman"/>
              </a:rPr>
              <a:t>It</a:t>
            </a:r>
            <a:r>
              <a:rPr sz="3950" b="1" spc="15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950" b="1" dirty="0">
                <a:solidFill>
                  <a:srgbClr val="245796"/>
                </a:solidFill>
                <a:latin typeface="Times New Roman"/>
                <a:cs typeface="Times New Roman"/>
              </a:rPr>
              <a:t>is</a:t>
            </a:r>
            <a:r>
              <a:rPr sz="3950" b="1" spc="15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950" b="1" dirty="0">
                <a:solidFill>
                  <a:srgbClr val="245796"/>
                </a:solidFill>
                <a:latin typeface="Times New Roman"/>
                <a:cs typeface="Times New Roman"/>
              </a:rPr>
              <a:t>an</a:t>
            </a:r>
            <a:r>
              <a:rPr sz="3950" b="1" spc="16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95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object-</a:t>
            </a:r>
            <a:r>
              <a:rPr sz="3950" b="1" dirty="0">
                <a:solidFill>
                  <a:srgbClr val="FF0000"/>
                </a:solidFill>
                <a:latin typeface="Times New Roman"/>
                <a:cs typeface="Times New Roman"/>
              </a:rPr>
              <a:t>oriented</a:t>
            </a:r>
            <a:r>
              <a:rPr sz="3950" b="1" spc="1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950" b="1" dirty="0">
                <a:solidFill>
                  <a:srgbClr val="FF0000"/>
                </a:solidFill>
                <a:latin typeface="Times New Roman"/>
                <a:cs typeface="Times New Roman"/>
              </a:rPr>
              <a:t>programming</a:t>
            </a:r>
            <a:r>
              <a:rPr sz="3950" b="1" spc="1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950" b="1" dirty="0">
                <a:solidFill>
                  <a:srgbClr val="FF0000"/>
                </a:solidFill>
                <a:latin typeface="Times New Roman"/>
                <a:cs typeface="Times New Roman"/>
              </a:rPr>
              <a:t>language</a:t>
            </a:r>
            <a:r>
              <a:rPr sz="3950" b="1" spc="1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950" b="1" dirty="0">
                <a:solidFill>
                  <a:srgbClr val="245796"/>
                </a:solidFill>
                <a:latin typeface="Times New Roman"/>
                <a:cs typeface="Times New Roman"/>
              </a:rPr>
              <a:t>and</a:t>
            </a:r>
            <a:r>
              <a:rPr sz="3950" b="1" spc="16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950" b="1" dirty="0">
                <a:solidFill>
                  <a:srgbClr val="245796"/>
                </a:solidFill>
                <a:latin typeface="Times New Roman"/>
                <a:cs typeface="Times New Roman"/>
              </a:rPr>
              <a:t>supports</a:t>
            </a:r>
            <a:r>
              <a:rPr sz="3950" b="1" spc="15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950" b="1" dirty="0">
                <a:solidFill>
                  <a:srgbClr val="245796"/>
                </a:solidFill>
                <a:latin typeface="Times New Roman"/>
                <a:cs typeface="Times New Roman"/>
              </a:rPr>
              <a:t>all</a:t>
            </a:r>
            <a:r>
              <a:rPr sz="3950" b="1" spc="16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950" b="1" dirty="0">
                <a:solidFill>
                  <a:srgbClr val="245796"/>
                </a:solidFill>
                <a:latin typeface="Times New Roman"/>
                <a:cs typeface="Times New Roman"/>
              </a:rPr>
              <a:t>features</a:t>
            </a:r>
            <a:r>
              <a:rPr sz="3950" b="1" spc="15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950" b="1" dirty="0">
                <a:solidFill>
                  <a:srgbClr val="245796"/>
                </a:solidFill>
                <a:latin typeface="Times New Roman"/>
                <a:cs typeface="Times New Roman"/>
              </a:rPr>
              <a:t>of</a:t>
            </a:r>
            <a:r>
              <a:rPr sz="3950" b="1" spc="16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950" b="1" spc="-20" dirty="0">
                <a:solidFill>
                  <a:srgbClr val="245796"/>
                </a:solidFill>
                <a:latin typeface="Times New Roman"/>
                <a:cs typeface="Times New Roman"/>
              </a:rPr>
              <a:t>oops</a:t>
            </a:r>
            <a:endParaRPr sz="3950">
              <a:latin typeface="Times New Roman"/>
              <a:cs typeface="Times New Roman"/>
            </a:endParaRPr>
          </a:p>
          <a:p>
            <a:pPr marL="525145">
              <a:lnSpc>
                <a:spcPct val="100000"/>
              </a:lnSpc>
              <a:spcBef>
                <a:spcPts val="2425"/>
              </a:spcBef>
            </a:pPr>
            <a:r>
              <a:rPr sz="3950" b="1" dirty="0">
                <a:solidFill>
                  <a:srgbClr val="245796"/>
                </a:solidFill>
                <a:latin typeface="Times New Roman"/>
                <a:cs typeface="Times New Roman"/>
              </a:rPr>
              <a:t>such</a:t>
            </a:r>
            <a:r>
              <a:rPr sz="3950" b="1" spc="-1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950" b="1" dirty="0">
                <a:solidFill>
                  <a:srgbClr val="245796"/>
                </a:solidFill>
                <a:latin typeface="Times New Roman"/>
                <a:cs typeface="Times New Roman"/>
              </a:rPr>
              <a:t>as</a:t>
            </a:r>
            <a:r>
              <a:rPr sz="3950" b="1" spc="-2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950" b="1" dirty="0">
                <a:solidFill>
                  <a:srgbClr val="245796"/>
                </a:solidFill>
                <a:latin typeface="Times New Roman"/>
                <a:cs typeface="Times New Roman"/>
              </a:rPr>
              <a:t>inheritance,</a:t>
            </a:r>
            <a:r>
              <a:rPr sz="3950" b="1" spc="-2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950" b="1" dirty="0">
                <a:solidFill>
                  <a:srgbClr val="245796"/>
                </a:solidFill>
                <a:latin typeface="Times New Roman"/>
                <a:cs typeface="Times New Roman"/>
              </a:rPr>
              <a:t>interfaces,</a:t>
            </a:r>
            <a:r>
              <a:rPr sz="3950" b="1" spc="-1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950" b="1" dirty="0">
                <a:solidFill>
                  <a:srgbClr val="245796"/>
                </a:solidFill>
                <a:latin typeface="Times New Roman"/>
                <a:cs typeface="Times New Roman"/>
              </a:rPr>
              <a:t>and</a:t>
            </a:r>
            <a:r>
              <a:rPr sz="3950" b="1" spc="-1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950" b="1" dirty="0">
                <a:solidFill>
                  <a:srgbClr val="245796"/>
                </a:solidFill>
                <a:latin typeface="Times New Roman"/>
                <a:cs typeface="Times New Roman"/>
              </a:rPr>
              <a:t>optional</a:t>
            </a:r>
            <a:r>
              <a:rPr sz="3950" b="1" spc="-1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950" b="1" dirty="0">
                <a:solidFill>
                  <a:srgbClr val="245796"/>
                </a:solidFill>
                <a:latin typeface="Times New Roman"/>
                <a:cs typeface="Times New Roman"/>
              </a:rPr>
              <a:t>type</a:t>
            </a:r>
            <a:r>
              <a:rPr sz="3950" b="1" spc="-2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950" b="1" spc="-10" dirty="0">
                <a:solidFill>
                  <a:srgbClr val="245796"/>
                </a:solidFill>
                <a:latin typeface="Times New Roman"/>
                <a:cs typeface="Times New Roman"/>
              </a:rPr>
              <a:t>features.</a:t>
            </a:r>
            <a:endParaRPr sz="3950">
              <a:latin typeface="Times New Roman"/>
              <a:cs typeface="Times New Roman"/>
            </a:endParaRPr>
          </a:p>
          <a:p>
            <a:pPr marL="577850" indent="-565150">
              <a:lnSpc>
                <a:spcPct val="100000"/>
              </a:lnSpc>
              <a:spcBef>
                <a:spcPts val="2360"/>
              </a:spcBef>
              <a:buSzPct val="96202"/>
              <a:buFont typeface="Wingdings"/>
              <a:buChar char=""/>
              <a:tabLst>
                <a:tab pos="577850" algn="l"/>
              </a:tabLst>
            </a:pPr>
            <a:r>
              <a:rPr sz="3950" b="1" dirty="0">
                <a:solidFill>
                  <a:srgbClr val="245796"/>
                </a:solidFill>
                <a:latin typeface="Times New Roman"/>
                <a:cs typeface="Times New Roman"/>
              </a:rPr>
              <a:t>Dart</a:t>
            </a:r>
            <a:r>
              <a:rPr sz="3950" b="1" spc="-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950" b="1" dirty="0">
                <a:solidFill>
                  <a:srgbClr val="245796"/>
                </a:solidFill>
                <a:latin typeface="Times New Roman"/>
                <a:cs typeface="Times New Roman"/>
              </a:rPr>
              <a:t>is</a:t>
            </a:r>
            <a:r>
              <a:rPr sz="3950" b="1" spc="-1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950" b="1" dirty="0">
                <a:solidFill>
                  <a:srgbClr val="245796"/>
                </a:solidFill>
                <a:latin typeface="Times New Roman"/>
                <a:cs typeface="Times New Roman"/>
              </a:rPr>
              <a:t>very</a:t>
            </a:r>
            <a:r>
              <a:rPr sz="3950" b="1" spc="-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950" b="1" dirty="0">
                <a:solidFill>
                  <a:srgbClr val="245796"/>
                </a:solidFill>
                <a:latin typeface="Times New Roman"/>
                <a:cs typeface="Times New Roman"/>
              </a:rPr>
              <a:t>useful</a:t>
            </a:r>
            <a:r>
              <a:rPr sz="3950" b="1" spc="-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950" b="1" dirty="0">
                <a:solidFill>
                  <a:srgbClr val="245796"/>
                </a:solidFill>
                <a:latin typeface="Times New Roman"/>
                <a:cs typeface="Times New Roman"/>
              </a:rPr>
              <a:t>in</a:t>
            </a:r>
            <a:r>
              <a:rPr sz="3950" b="1" spc="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950" b="1" dirty="0">
                <a:solidFill>
                  <a:srgbClr val="245796"/>
                </a:solidFill>
                <a:latin typeface="Times New Roman"/>
                <a:cs typeface="Times New Roman"/>
              </a:rPr>
              <a:t>building</a:t>
            </a:r>
            <a:r>
              <a:rPr sz="3950" b="1" spc="-10" dirty="0">
                <a:solidFill>
                  <a:srgbClr val="245796"/>
                </a:solidFill>
                <a:latin typeface="Times New Roman"/>
                <a:cs typeface="Times New Roman"/>
              </a:rPr>
              <a:t> real-</a:t>
            </a:r>
            <a:r>
              <a:rPr sz="3950" b="1" dirty="0">
                <a:solidFill>
                  <a:srgbClr val="245796"/>
                </a:solidFill>
                <a:latin typeface="Times New Roman"/>
                <a:cs typeface="Times New Roman"/>
              </a:rPr>
              <a:t>time</a:t>
            </a:r>
            <a:r>
              <a:rPr sz="3950" b="1" spc="-1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950" b="1" dirty="0">
                <a:solidFill>
                  <a:srgbClr val="245796"/>
                </a:solidFill>
                <a:latin typeface="Times New Roman"/>
                <a:cs typeface="Times New Roman"/>
              </a:rPr>
              <a:t>applications</a:t>
            </a:r>
            <a:r>
              <a:rPr sz="3950" b="1" spc="-1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950" b="1" dirty="0">
                <a:solidFill>
                  <a:srgbClr val="245796"/>
                </a:solidFill>
                <a:latin typeface="Times New Roman"/>
                <a:cs typeface="Times New Roman"/>
              </a:rPr>
              <a:t>because</a:t>
            </a:r>
            <a:r>
              <a:rPr sz="3950" b="1" spc="-1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950" b="1" dirty="0">
                <a:solidFill>
                  <a:srgbClr val="245796"/>
                </a:solidFill>
                <a:latin typeface="Times New Roman"/>
                <a:cs typeface="Times New Roman"/>
              </a:rPr>
              <a:t>of its</a:t>
            </a:r>
            <a:r>
              <a:rPr sz="3950" b="1" spc="-1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95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stability</a:t>
            </a:r>
            <a:r>
              <a:rPr sz="3950" b="1" spc="-10" dirty="0">
                <a:solidFill>
                  <a:srgbClr val="245796"/>
                </a:solidFill>
                <a:latin typeface="Times New Roman"/>
                <a:cs typeface="Times New Roman"/>
              </a:rPr>
              <a:t>.</a:t>
            </a:r>
            <a:endParaRPr sz="3950">
              <a:latin typeface="Times New Roman"/>
              <a:cs typeface="Times New Roman"/>
            </a:endParaRP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02691" y="336743"/>
            <a:ext cx="1364565" cy="136456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4100" cy="2352675"/>
            <a:chOff x="0" y="0"/>
            <a:chExt cx="20104100" cy="235267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1586" cy="235217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44730" y="0"/>
              <a:ext cx="7652123" cy="228935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1633"/>
              <a:ext cx="20104098" cy="2034892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14755">
              <a:lnSpc>
                <a:spcPct val="100000"/>
              </a:lnSpc>
              <a:spcBef>
                <a:spcPts val="125"/>
              </a:spcBef>
            </a:pPr>
            <a:r>
              <a:rPr dirty="0"/>
              <a:t>Dart</a:t>
            </a:r>
            <a:r>
              <a:rPr spc="-5" dirty="0"/>
              <a:t> </a:t>
            </a:r>
            <a:r>
              <a:rPr spc="-10" dirty="0"/>
              <a:t>Installation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076272" y="2570568"/>
            <a:ext cx="17138015" cy="6736715"/>
          </a:xfrm>
          <a:prstGeom prst="rect">
            <a:avLst/>
          </a:prstGeom>
        </p:spPr>
        <p:txBody>
          <a:bodyPr vert="horz" wrap="square" lIns="0" tIns="3473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735"/>
              </a:spcBef>
            </a:pPr>
            <a:r>
              <a:rPr sz="3800" dirty="0">
                <a:solidFill>
                  <a:srgbClr val="245796"/>
                </a:solidFill>
                <a:latin typeface="Segoe UI Symbol"/>
                <a:cs typeface="Segoe UI Symbol"/>
              </a:rPr>
              <a:t>❏</a:t>
            </a:r>
            <a:r>
              <a:rPr sz="4450" b="1" dirty="0">
                <a:solidFill>
                  <a:srgbClr val="245796"/>
                </a:solidFill>
                <a:latin typeface="Times New Roman"/>
                <a:cs typeface="Times New Roman"/>
              </a:rPr>
              <a:t>Install</a:t>
            </a:r>
            <a:r>
              <a:rPr sz="4450" b="1" spc="-3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4450" b="1" dirty="0">
                <a:solidFill>
                  <a:srgbClr val="245796"/>
                </a:solidFill>
                <a:latin typeface="Times New Roman"/>
                <a:cs typeface="Times New Roman"/>
              </a:rPr>
              <a:t>the</a:t>
            </a:r>
            <a:r>
              <a:rPr sz="4450" b="1" spc="-2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4450" b="1" dirty="0">
                <a:solidFill>
                  <a:srgbClr val="245796"/>
                </a:solidFill>
                <a:latin typeface="Times New Roman"/>
                <a:cs typeface="Times New Roman"/>
              </a:rPr>
              <a:t>Dart</a:t>
            </a:r>
            <a:r>
              <a:rPr sz="4450" b="1" spc="-3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4450" b="1" dirty="0">
                <a:solidFill>
                  <a:srgbClr val="245796"/>
                </a:solidFill>
                <a:latin typeface="Times New Roman"/>
                <a:cs typeface="Times New Roman"/>
              </a:rPr>
              <a:t>SDK</a:t>
            </a:r>
            <a:r>
              <a:rPr sz="4450" b="1" spc="-2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4450" b="1" dirty="0">
                <a:solidFill>
                  <a:srgbClr val="245796"/>
                </a:solidFill>
                <a:latin typeface="Times New Roman"/>
                <a:cs typeface="Times New Roman"/>
              </a:rPr>
              <a:t>on</a:t>
            </a:r>
            <a:r>
              <a:rPr sz="4450" b="1" spc="-3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4450" b="1" spc="-10" dirty="0">
                <a:solidFill>
                  <a:srgbClr val="245796"/>
                </a:solidFill>
                <a:latin typeface="Times New Roman"/>
                <a:cs typeface="Times New Roman"/>
              </a:rPr>
              <a:t>Windows</a:t>
            </a:r>
            <a:endParaRPr sz="4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235"/>
              </a:spcBef>
            </a:pPr>
            <a:r>
              <a:rPr sz="3800" dirty="0">
                <a:solidFill>
                  <a:srgbClr val="245796"/>
                </a:solidFill>
                <a:latin typeface="Segoe UI Symbol"/>
                <a:cs typeface="Segoe UI Symbol"/>
              </a:rPr>
              <a:t>❏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Go</a:t>
            </a:r>
            <a:r>
              <a:rPr sz="3300" b="1" spc="-6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to</a:t>
            </a:r>
            <a:r>
              <a:rPr sz="3300" b="1" spc="-6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the</a:t>
            </a:r>
            <a:r>
              <a:rPr sz="3300" b="1" spc="-6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browser</a:t>
            </a:r>
            <a:r>
              <a:rPr sz="3300" b="1" spc="-6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and</a:t>
            </a:r>
            <a:r>
              <a:rPr sz="3300" b="1" spc="-5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type</a:t>
            </a:r>
            <a:r>
              <a:rPr sz="3300" b="1" spc="-6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the</a:t>
            </a:r>
            <a:r>
              <a:rPr sz="3300" b="1" spc="-5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following</a:t>
            </a:r>
            <a:r>
              <a:rPr sz="3300" b="1" spc="-6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link</a:t>
            </a:r>
            <a:r>
              <a:rPr sz="3300" b="1" spc="-6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to</a:t>
            </a:r>
            <a:r>
              <a:rPr sz="3300" b="1" spc="-6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download</a:t>
            </a:r>
            <a:r>
              <a:rPr sz="3300" b="1" spc="-6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the</a:t>
            </a:r>
            <a:r>
              <a:rPr sz="3300" b="1" spc="-6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spc="-20" dirty="0">
                <a:solidFill>
                  <a:srgbClr val="245796"/>
                </a:solidFill>
                <a:latin typeface="Times New Roman"/>
                <a:cs typeface="Times New Roman"/>
              </a:rPr>
              <a:t>SDK.</a:t>
            </a:r>
            <a:endParaRPr sz="3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205"/>
              </a:spcBef>
            </a:pPr>
            <a:r>
              <a:rPr sz="3800" spc="-20" dirty="0">
                <a:solidFill>
                  <a:srgbClr val="245796"/>
                </a:solidFill>
                <a:latin typeface="Segoe UI Symbol"/>
                <a:cs typeface="Segoe UI Symbol"/>
              </a:rPr>
              <a:t>❏</a:t>
            </a:r>
            <a:r>
              <a:rPr sz="3300" b="1" u="heavy" spc="-20" dirty="0">
                <a:solidFill>
                  <a:srgbClr val="245796"/>
                </a:solidFill>
                <a:uFill>
                  <a:solidFill>
                    <a:srgbClr val="245796"/>
                  </a:solidFill>
                </a:uFill>
                <a:latin typeface="Times New Roman"/>
                <a:cs typeface="Times New Roman"/>
                <a:hlinkClick r:id="rId5"/>
              </a:rPr>
              <a:t>http://www.gekorm.com/dart-</a:t>
            </a:r>
            <a:r>
              <a:rPr sz="3300" b="1" u="heavy" spc="-10" dirty="0">
                <a:solidFill>
                  <a:srgbClr val="245796"/>
                </a:solidFill>
                <a:uFill>
                  <a:solidFill>
                    <a:srgbClr val="245796"/>
                  </a:solidFill>
                </a:uFill>
                <a:latin typeface="Times New Roman"/>
                <a:cs typeface="Times New Roman"/>
                <a:hlinkClick r:id="rId5"/>
              </a:rPr>
              <a:t>windows/</a:t>
            </a:r>
            <a:endParaRPr sz="3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110"/>
              </a:spcBef>
            </a:pPr>
            <a:r>
              <a:rPr sz="3800" dirty="0">
                <a:solidFill>
                  <a:srgbClr val="245796"/>
                </a:solidFill>
                <a:latin typeface="Segoe UI Symbol"/>
                <a:cs typeface="Segoe UI Symbol"/>
              </a:rPr>
              <a:t>❏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It</a:t>
            </a:r>
            <a:r>
              <a:rPr sz="3300" b="1" spc="-5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will</a:t>
            </a:r>
            <a:r>
              <a:rPr sz="3300" b="1" spc="-5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open</a:t>
            </a:r>
            <a:r>
              <a:rPr sz="3300" b="1" spc="-5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the</a:t>
            </a:r>
            <a:r>
              <a:rPr sz="3300" b="1" spc="-5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FF0000"/>
                </a:solidFill>
                <a:latin typeface="Times New Roman"/>
                <a:cs typeface="Times New Roman"/>
              </a:rPr>
              <a:t>given</a:t>
            </a:r>
            <a:r>
              <a:rPr sz="3300" b="1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FF0000"/>
                </a:solidFill>
                <a:latin typeface="Times New Roman"/>
                <a:cs typeface="Times New Roman"/>
              </a:rPr>
              <a:t>page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.</a:t>
            </a:r>
            <a:r>
              <a:rPr sz="3300" b="1" spc="-5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Click</a:t>
            </a:r>
            <a:r>
              <a:rPr sz="3300" b="1" spc="-5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on</a:t>
            </a:r>
            <a:r>
              <a:rPr sz="3300" b="1" spc="-5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the</a:t>
            </a:r>
            <a:r>
              <a:rPr sz="3300" b="1" spc="-5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following</a:t>
            </a:r>
            <a:r>
              <a:rPr sz="3300" b="1" spc="-5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spc="-10" dirty="0">
                <a:solidFill>
                  <a:srgbClr val="245796"/>
                </a:solidFill>
                <a:latin typeface="Times New Roman"/>
                <a:cs typeface="Times New Roman"/>
              </a:rPr>
              <a:t>link.</a:t>
            </a:r>
            <a:endParaRPr sz="3300">
              <a:latin typeface="Times New Roman"/>
              <a:cs typeface="Times New Roman"/>
            </a:endParaRPr>
          </a:p>
          <a:p>
            <a:pPr marL="389255" marR="5080" indent="-377190">
              <a:lnSpc>
                <a:spcPts val="6350"/>
              </a:lnSpc>
              <a:spcBef>
                <a:spcPts val="590"/>
              </a:spcBef>
            </a:pPr>
            <a:r>
              <a:rPr sz="3800" dirty="0">
                <a:solidFill>
                  <a:srgbClr val="245796"/>
                </a:solidFill>
                <a:latin typeface="Segoe UI Symbol"/>
                <a:cs typeface="Segoe UI Symbol"/>
              </a:rPr>
              <a:t>❏</a:t>
            </a:r>
            <a:r>
              <a:rPr sz="3800" spc="-240" dirty="0">
                <a:solidFill>
                  <a:srgbClr val="245796"/>
                </a:solidFill>
                <a:latin typeface="Segoe UI Symbol"/>
                <a:cs typeface="Segoe UI Symbol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Run</a:t>
            </a:r>
            <a:r>
              <a:rPr sz="3300" b="1" spc="-5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the</a:t>
            </a:r>
            <a:r>
              <a:rPr sz="3300" b="1" spc="-5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FF0000"/>
                </a:solidFill>
                <a:latin typeface="Times New Roman"/>
                <a:cs typeface="Times New Roman"/>
              </a:rPr>
              <a:t>Dart</a:t>
            </a:r>
            <a:r>
              <a:rPr sz="3300" b="1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FF0000"/>
                </a:solidFill>
                <a:latin typeface="Times New Roman"/>
                <a:cs typeface="Times New Roman"/>
              </a:rPr>
              <a:t>installer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(It</a:t>
            </a:r>
            <a:r>
              <a:rPr sz="3300" b="1" spc="-5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is</a:t>
            </a:r>
            <a:r>
              <a:rPr sz="3300" b="1" spc="-4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the</a:t>
            </a:r>
            <a:r>
              <a:rPr sz="3300" b="1" spc="-5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.exe</a:t>
            </a:r>
            <a:r>
              <a:rPr sz="3300" b="1" spc="-5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file</a:t>
            </a:r>
            <a:r>
              <a:rPr sz="3300" b="1" spc="-5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that</a:t>
            </a:r>
            <a:r>
              <a:rPr sz="3300" b="1" spc="-4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we</a:t>
            </a:r>
            <a:r>
              <a:rPr sz="3300" b="1" spc="-5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downloaded</a:t>
            </a:r>
            <a:r>
              <a:rPr sz="3300" b="1" spc="-5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in</a:t>
            </a:r>
            <a:r>
              <a:rPr sz="3300" b="1" spc="-5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the</a:t>
            </a:r>
            <a:r>
              <a:rPr sz="3300" b="1" spc="-5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previous</a:t>
            </a:r>
            <a:r>
              <a:rPr sz="3300" b="1" spc="-4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step)</a:t>
            </a:r>
            <a:r>
              <a:rPr sz="3300" b="1" spc="-5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and</a:t>
            </a:r>
            <a:r>
              <a:rPr sz="3300" b="1" spc="-4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click</a:t>
            </a:r>
            <a:r>
              <a:rPr sz="3300" b="1" spc="-5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spc="-25" dirty="0">
                <a:solidFill>
                  <a:srgbClr val="245796"/>
                </a:solidFill>
                <a:latin typeface="Times New Roman"/>
                <a:cs typeface="Times New Roman"/>
              </a:rPr>
              <a:t>on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the</a:t>
            </a:r>
            <a:r>
              <a:rPr sz="3300" b="1" spc="-5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Next</a:t>
            </a:r>
            <a:r>
              <a:rPr sz="3300" b="1" spc="-4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spc="-10" dirty="0">
                <a:solidFill>
                  <a:srgbClr val="245796"/>
                </a:solidFill>
                <a:latin typeface="Times New Roman"/>
                <a:cs typeface="Times New Roman"/>
              </a:rPr>
              <a:t>button.</a:t>
            </a:r>
            <a:endParaRPr sz="3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50"/>
              </a:spcBef>
            </a:pPr>
            <a:r>
              <a:rPr sz="3800" dirty="0">
                <a:solidFill>
                  <a:srgbClr val="245796"/>
                </a:solidFill>
                <a:latin typeface="Segoe UI Symbol"/>
                <a:cs typeface="Segoe UI Symbol"/>
              </a:rPr>
              <a:t>❏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It</a:t>
            </a:r>
            <a:r>
              <a:rPr sz="3300" b="1" spc="-5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provides</a:t>
            </a:r>
            <a:r>
              <a:rPr sz="3300" b="1" spc="-5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the</a:t>
            </a:r>
            <a:r>
              <a:rPr sz="3300" b="1" spc="-5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option</a:t>
            </a:r>
            <a:r>
              <a:rPr sz="3300" b="1" spc="-5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to</a:t>
            </a:r>
            <a:r>
              <a:rPr sz="3300" b="1" spc="-5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select</a:t>
            </a:r>
            <a:r>
              <a:rPr sz="3300" b="1" spc="-5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the</a:t>
            </a:r>
            <a:r>
              <a:rPr sz="3300" b="1" spc="-5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FF0000"/>
                </a:solidFill>
                <a:latin typeface="Times New Roman"/>
                <a:cs typeface="Times New Roman"/>
              </a:rPr>
              <a:t>Dart</a:t>
            </a:r>
            <a:r>
              <a:rPr sz="3300" b="1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FF0000"/>
                </a:solidFill>
                <a:latin typeface="Times New Roman"/>
                <a:cs typeface="Times New Roman"/>
              </a:rPr>
              <a:t>installation</a:t>
            </a:r>
            <a:r>
              <a:rPr sz="3300" b="1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FF0000"/>
                </a:solidFill>
                <a:latin typeface="Times New Roman"/>
                <a:cs typeface="Times New Roman"/>
              </a:rPr>
              <a:t>path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.</a:t>
            </a:r>
            <a:r>
              <a:rPr sz="3300" b="1" spc="-5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After</a:t>
            </a:r>
            <a:r>
              <a:rPr sz="3300" b="1" spc="-5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the</a:t>
            </a:r>
            <a:r>
              <a:rPr sz="3300" b="1" spc="-5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path</a:t>
            </a:r>
            <a:r>
              <a:rPr sz="3300" b="1" spc="-5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is</a:t>
            </a:r>
            <a:r>
              <a:rPr sz="3300" b="1" spc="-5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selected,</a:t>
            </a:r>
            <a:r>
              <a:rPr sz="3300" b="1" spc="-5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click</a:t>
            </a:r>
            <a:r>
              <a:rPr sz="3300" b="1" spc="-5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spc="-25" dirty="0">
                <a:solidFill>
                  <a:srgbClr val="245796"/>
                </a:solidFill>
                <a:latin typeface="Times New Roman"/>
                <a:cs typeface="Times New Roman"/>
              </a:rPr>
              <a:t>on</a:t>
            </a:r>
            <a:endParaRPr sz="3300">
              <a:latin typeface="Times New Roman"/>
              <a:cs typeface="Times New Roman"/>
            </a:endParaRPr>
          </a:p>
          <a:p>
            <a:pPr marL="389255">
              <a:lnSpc>
                <a:spcPct val="100000"/>
              </a:lnSpc>
              <a:spcBef>
                <a:spcPts val="1875"/>
              </a:spcBef>
            </a:pP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the</a:t>
            </a:r>
            <a:r>
              <a:rPr sz="3300" b="1" spc="-5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Next</a:t>
            </a:r>
            <a:r>
              <a:rPr sz="3300" b="1" spc="-4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spc="-10" dirty="0">
                <a:solidFill>
                  <a:srgbClr val="245796"/>
                </a:solidFill>
                <a:latin typeface="Times New Roman"/>
                <a:cs typeface="Times New Roman"/>
              </a:rPr>
              <a:t>button.</a:t>
            </a:r>
            <a:endParaRPr sz="3300">
              <a:latin typeface="Times New Roman"/>
              <a:cs typeface="Times New Roman"/>
            </a:endParaRPr>
          </a:p>
        </p:txBody>
      </p:sp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02691" y="336743"/>
            <a:ext cx="1364565" cy="1364565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3803255" y="2729830"/>
            <a:ext cx="4632173" cy="337109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2195" cy="2352675"/>
            <a:chOff x="0" y="0"/>
            <a:chExt cx="20102195" cy="235267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1586" cy="235217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73414" y="0"/>
              <a:ext cx="7948658" cy="228935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1675"/>
              <a:ext cx="20058204" cy="2034899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442720">
              <a:lnSpc>
                <a:spcPct val="100000"/>
              </a:lnSpc>
              <a:spcBef>
                <a:spcPts val="125"/>
              </a:spcBef>
            </a:pPr>
            <a:r>
              <a:rPr dirty="0"/>
              <a:t>Dart</a:t>
            </a:r>
            <a:r>
              <a:rPr spc="180" dirty="0"/>
              <a:t> </a:t>
            </a:r>
            <a:r>
              <a:rPr spc="-10" dirty="0">
                <a:latin typeface="Arial MT"/>
                <a:cs typeface="Arial MT"/>
              </a:rPr>
              <a:t>Installation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076272" y="2568373"/>
            <a:ext cx="17950180" cy="238633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389255" marR="5080" indent="-377190">
              <a:lnSpc>
                <a:spcPct val="141100"/>
              </a:lnSpc>
              <a:spcBef>
                <a:spcPts val="380"/>
              </a:spcBef>
              <a:tabLst>
                <a:tab pos="1697355" algn="l"/>
                <a:tab pos="2556510" algn="l"/>
                <a:tab pos="4603750" algn="l"/>
                <a:tab pos="5184140" algn="l"/>
                <a:tab pos="7428865" algn="l"/>
                <a:tab pos="8219440" algn="l"/>
                <a:tab pos="9078595" algn="l"/>
                <a:tab pos="10541635" algn="l"/>
                <a:tab pos="13123544" algn="l"/>
                <a:tab pos="14890750" algn="l"/>
                <a:tab pos="15540355" algn="l"/>
              </a:tabLst>
            </a:pPr>
            <a:r>
              <a:rPr sz="3800" spc="-10" dirty="0">
                <a:solidFill>
                  <a:srgbClr val="245796"/>
                </a:solidFill>
                <a:latin typeface="Segoe UI Symbol"/>
                <a:cs typeface="Segoe UI Symbol"/>
              </a:rPr>
              <a:t>❏</a:t>
            </a:r>
            <a:r>
              <a:rPr sz="3300" b="1" spc="-10" dirty="0">
                <a:solidFill>
                  <a:srgbClr val="245796"/>
                </a:solidFill>
                <a:latin typeface="Times New Roman"/>
                <a:cs typeface="Times New Roman"/>
              </a:rPr>
              <a:t>After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	</a:t>
            </a:r>
            <a:r>
              <a:rPr sz="3300" b="1" spc="-25" dirty="0">
                <a:solidFill>
                  <a:srgbClr val="245796"/>
                </a:solidFill>
                <a:latin typeface="Times New Roman"/>
                <a:cs typeface="Times New Roman"/>
              </a:rPr>
              <a:t>the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	</a:t>
            </a:r>
            <a:r>
              <a:rPr sz="3300" b="1" spc="-10" dirty="0">
                <a:solidFill>
                  <a:srgbClr val="245796"/>
                </a:solidFill>
                <a:latin typeface="Times New Roman"/>
                <a:cs typeface="Times New Roman"/>
              </a:rPr>
              <a:t>download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	</a:t>
            </a:r>
            <a:r>
              <a:rPr sz="3300" b="1" spc="-25" dirty="0">
                <a:solidFill>
                  <a:srgbClr val="245796"/>
                </a:solidFill>
                <a:latin typeface="Times New Roman"/>
                <a:cs typeface="Times New Roman"/>
              </a:rPr>
              <a:t>is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	</a:t>
            </a:r>
            <a:r>
              <a:rPr sz="33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completed</a:t>
            </a:r>
            <a:r>
              <a:rPr sz="3300" b="1" spc="-10" dirty="0">
                <a:solidFill>
                  <a:srgbClr val="245796"/>
                </a:solidFill>
                <a:latin typeface="Times New Roman"/>
                <a:cs typeface="Times New Roman"/>
              </a:rPr>
              <a:t>,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	</a:t>
            </a:r>
            <a:r>
              <a:rPr sz="3300" b="1" spc="-25" dirty="0">
                <a:solidFill>
                  <a:srgbClr val="245796"/>
                </a:solidFill>
                <a:latin typeface="Times New Roman"/>
                <a:cs typeface="Times New Roman"/>
              </a:rPr>
              <a:t>set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	</a:t>
            </a:r>
            <a:r>
              <a:rPr sz="3300" b="1" spc="-25" dirty="0">
                <a:solidFill>
                  <a:srgbClr val="245796"/>
                </a:solidFill>
                <a:latin typeface="Times New Roman"/>
                <a:cs typeface="Times New Roman"/>
              </a:rPr>
              <a:t>the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	</a:t>
            </a:r>
            <a:r>
              <a:rPr sz="3300" b="1" spc="-20" dirty="0">
                <a:solidFill>
                  <a:srgbClr val="245796"/>
                </a:solidFill>
                <a:latin typeface="Times New Roman"/>
                <a:cs typeface="Times New Roman"/>
              </a:rPr>
              <a:t>PATH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	</a:t>
            </a:r>
            <a:r>
              <a:rPr sz="3300" b="1" spc="-10" dirty="0">
                <a:solidFill>
                  <a:srgbClr val="245796"/>
                </a:solidFill>
                <a:latin typeface="Times New Roman"/>
                <a:cs typeface="Times New Roman"/>
              </a:rPr>
              <a:t>environment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	</a:t>
            </a:r>
            <a:r>
              <a:rPr sz="3300" b="1" spc="-10" dirty="0">
                <a:solidFill>
                  <a:srgbClr val="245796"/>
                </a:solidFill>
                <a:latin typeface="Times New Roman"/>
                <a:cs typeface="Times New Roman"/>
              </a:rPr>
              <a:t>variable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	</a:t>
            </a:r>
            <a:r>
              <a:rPr sz="3300" b="1" spc="-25" dirty="0">
                <a:solidFill>
                  <a:srgbClr val="245796"/>
                </a:solidFill>
                <a:latin typeface="Times New Roman"/>
                <a:cs typeface="Times New Roman"/>
              </a:rPr>
              <a:t>to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	</a:t>
            </a:r>
            <a:r>
              <a:rPr sz="3300" b="1" spc="-10" dirty="0">
                <a:solidFill>
                  <a:srgbClr val="245796"/>
                </a:solidFill>
                <a:latin typeface="Times New Roman"/>
                <a:cs typeface="Times New Roman"/>
              </a:rPr>
              <a:t>"C:\Program Files\Dart\dart-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sdk\bin"</a:t>
            </a:r>
            <a:r>
              <a:rPr sz="3300" b="1" spc="-7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in</a:t>
            </a:r>
            <a:r>
              <a:rPr sz="3300" b="1" spc="-7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advance</a:t>
            </a:r>
            <a:r>
              <a:rPr sz="3300" b="1" spc="-7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system</a:t>
            </a:r>
            <a:r>
              <a:rPr sz="3300" b="1" spc="-6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spc="-10" dirty="0">
                <a:solidFill>
                  <a:srgbClr val="245796"/>
                </a:solidFill>
                <a:latin typeface="Times New Roman"/>
                <a:cs typeface="Times New Roman"/>
              </a:rPr>
              <a:t>properties.</a:t>
            </a:r>
            <a:endParaRPr sz="3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75"/>
              </a:spcBef>
            </a:pPr>
            <a:r>
              <a:rPr sz="3800" dirty="0">
                <a:solidFill>
                  <a:srgbClr val="245796"/>
                </a:solidFill>
                <a:latin typeface="Segoe UI Symbol"/>
                <a:cs typeface="Segoe UI Symbol"/>
              </a:rPr>
              <a:t>❏</a:t>
            </a:r>
            <a:r>
              <a:rPr sz="3800" spc="-250" dirty="0">
                <a:solidFill>
                  <a:srgbClr val="245796"/>
                </a:solidFill>
                <a:latin typeface="Segoe UI Symbol"/>
                <a:cs typeface="Segoe UI Symbol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Now</a:t>
            </a:r>
            <a:r>
              <a:rPr sz="3300" b="1" spc="-6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open</a:t>
            </a:r>
            <a:r>
              <a:rPr sz="3300" b="1" spc="-5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the</a:t>
            </a:r>
            <a:r>
              <a:rPr sz="3300" b="1" spc="-6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terminal</a:t>
            </a:r>
            <a:r>
              <a:rPr sz="3300" b="1" spc="-6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and</a:t>
            </a:r>
            <a:r>
              <a:rPr sz="3300" b="1" spc="-5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verify</a:t>
            </a:r>
            <a:r>
              <a:rPr sz="3300" b="1" spc="-6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the</a:t>
            </a:r>
            <a:r>
              <a:rPr sz="3300" b="1" spc="-6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Dart</a:t>
            </a:r>
            <a:r>
              <a:rPr sz="3300" b="1" spc="-5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installation</a:t>
            </a:r>
            <a:r>
              <a:rPr sz="3300" b="1" spc="-6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by</a:t>
            </a:r>
            <a:r>
              <a:rPr sz="3300" b="1" spc="-6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typing</a:t>
            </a:r>
            <a:r>
              <a:rPr sz="3300" b="1" spc="-5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dart</a:t>
            </a:r>
            <a:r>
              <a:rPr sz="3300" b="1" spc="-10" dirty="0">
                <a:solidFill>
                  <a:srgbClr val="245796"/>
                </a:solidFill>
                <a:latin typeface="Times New Roman"/>
                <a:cs typeface="Times New Roman"/>
              </a:rPr>
              <a:t>.</a:t>
            </a:r>
            <a:endParaRPr sz="3300">
              <a:latin typeface="Times New Roman"/>
              <a:cs typeface="Times New Roman"/>
            </a:endParaRP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02691" y="336743"/>
            <a:ext cx="1364565" cy="1364565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063959" y="4995060"/>
            <a:ext cx="9992967" cy="534057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2195" cy="2352675"/>
            <a:chOff x="0" y="0"/>
            <a:chExt cx="20102195" cy="235267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1586" cy="235217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99495" y="0"/>
              <a:ext cx="8064257" cy="228935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1675"/>
              <a:ext cx="20058204" cy="2034899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169035">
              <a:lnSpc>
                <a:spcPct val="100000"/>
              </a:lnSpc>
              <a:spcBef>
                <a:spcPts val="125"/>
              </a:spcBef>
            </a:pPr>
            <a:r>
              <a:rPr dirty="0"/>
              <a:t>Dart</a:t>
            </a:r>
            <a:r>
              <a:rPr spc="-5" dirty="0"/>
              <a:t> </a:t>
            </a:r>
            <a:r>
              <a:rPr spc="-10" dirty="0"/>
              <a:t>Environment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076272" y="2925849"/>
            <a:ext cx="11042015" cy="408177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800" dirty="0">
                <a:solidFill>
                  <a:srgbClr val="245796"/>
                </a:solidFill>
                <a:latin typeface="Segoe UI Symbol"/>
                <a:cs typeface="Segoe UI Symbol"/>
              </a:rPr>
              <a:t>❏</a:t>
            </a:r>
            <a:r>
              <a:rPr sz="3800" b="1" dirty="0">
                <a:solidFill>
                  <a:srgbClr val="245796"/>
                </a:solidFill>
                <a:latin typeface="Times New Roman"/>
                <a:cs typeface="Times New Roman"/>
              </a:rPr>
              <a:t>Online</a:t>
            </a:r>
            <a:r>
              <a:rPr sz="3800" b="1" spc="-14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800" b="1" dirty="0">
                <a:solidFill>
                  <a:srgbClr val="245796"/>
                </a:solidFill>
                <a:latin typeface="Times New Roman"/>
                <a:cs typeface="Times New Roman"/>
              </a:rPr>
              <a:t>Environement:</a:t>
            </a:r>
            <a:r>
              <a:rPr sz="3800" b="1" spc="-14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800" b="1" spc="-10" dirty="0">
                <a:solidFill>
                  <a:srgbClr val="245796"/>
                </a:solidFill>
                <a:latin typeface="Times New Roman"/>
                <a:cs typeface="Times New Roman"/>
              </a:rPr>
              <a:t>https://dartpad.dartlang.org</a:t>
            </a:r>
            <a:endParaRPr sz="3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95"/>
              </a:spcBef>
            </a:pPr>
            <a:endParaRPr sz="3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3800" dirty="0">
                <a:solidFill>
                  <a:srgbClr val="245796"/>
                </a:solidFill>
                <a:latin typeface="Segoe UI Symbol"/>
                <a:cs typeface="Segoe UI Symbol"/>
              </a:rPr>
              <a:t>❏</a:t>
            </a:r>
            <a:r>
              <a:rPr sz="3800" b="1" dirty="0">
                <a:solidFill>
                  <a:srgbClr val="245796"/>
                </a:solidFill>
                <a:latin typeface="Times New Roman"/>
                <a:cs typeface="Times New Roman"/>
              </a:rPr>
              <a:t>Local</a:t>
            </a:r>
            <a:r>
              <a:rPr sz="3800" b="1" spc="-6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800" b="1" spc="-10" dirty="0">
                <a:solidFill>
                  <a:srgbClr val="245796"/>
                </a:solidFill>
                <a:latin typeface="Times New Roman"/>
                <a:cs typeface="Times New Roman"/>
              </a:rPr>
              <a:t>Environments:</a:t>
            </a:r>
            <a:endParaRPr sz="3800">
              <a:latin typeface="Times New Roman"/>
              <a:cs typeface="Times New Roman"/>
            </a:endParaRPr>
          </a:p>
          <a:p>
            <a:pPr marL="713105">
              <a:lnSpc>
                <a:spcPct val="100000"/>
              </a:lnSpc>
              <a:spcBef>
                <a:spcPts val="2285"/>
              </a:spcBef>
            </a:pPr>
            <a:r>
              <a:rPr sz="3800" spc="-20" dirty="0">
                <a:solidFill>
                  <a:srgbClr val="245796"/>
                </a:solidFill>
                <a:latin typeface="Segoe UI Symbol"/>
                <a:cs typeface="Segoe UI Symbol"/>
              </a:rPr>
              <a:t>❏</a:t>
            </a:r>
            <a:r>
              <a:rPr sz="3800" b="1" spc="-20" dirty="0">
                <a:solidFill>
                  <a:srgbClr val="245796"/>
                </a:solidFill>
                <a:latin typeface="Times New Roman"/>
                <a:cs typeface="Times New Roman"/>
              </a:rPr>
              <a:t>https://gekorm.com/dart-</a:t>
            </a:r>
            <a:r>
              <a:rPr sz="3800" b="1" spc="-10" dirty="0">
                <a:solidFill>
                  <a:srgbClr val="245796"/>
                </a:solidFill>
                <a:latin typeface="Times New Roman"/>
                <a:cs typeface="Times New Roman"/>
              </a:rPr>
              <a:t>windows</a:t>
            </a:r>
            <a:endParaRPr sz="3800">
              <a:latin typeface="Times New Roman"/>
              <a:cs typeface="Times New Roman"/>
            </a:endParaRPr>
          </a:p>
          <a:p>
            <a:pPr marL="713105">
              <a:lnSpc>
                <a:spcPct val="100000"/>
              </a:lnSpc>
              <a:spcBef>
                <a:spcPts val="2290"/>
              </a:spcBef>
            </a:pPr>
            <a:r>
              <a:rPr sz="3800" spc="-10" dirty="0">
                <a:solidFill>
                  <a:srgbClr val="245796"/>
                </a:solidFill>
                <a:latin typeface="Segoe UI Symbol"/>
                <a:cs typeface="Segoe UI Symbol"/>
              </a:rPr>
              <a:t>❏</a:t>
            </a:r>
            <a:r>
              <a:rPr sz="3800" b="1" spc="-10" dirty="0">
                <a:solidFill>
                  <a:srgbClr val="245796"/>
                </a:solidFill>
                <a:latin typeface="Times New Roman"/>
                <a:cs typeface="Times New Roman"/>
              </a:rPr>
              <a:t>https://</a:t>
            </a:r>
            <a:r>
              <a:rPr sz="3800" b="1" spc="-10" dirty="0">
                <a:solidFill>
                  <a:srgbClr val="245796"/>
                </a:solidFill>
                <a:latin typeface="Times New Roman"/>
                <a:cs typeface="Times New Roman"/>
                <a:hlinkClick r:id="rId5"/>
              </a:rPr>
              <a:t>www.jetbrains.com/idea/download</a:t>
            </a:r>
            <a:endParaRPr sz="3800">
              <a:latin typeface="Times New Roman"/>
              <a:cs typeface="Times New Roman"/>
            </a:endParaRPr>
          </a:p>
        </p:txBody>
      </p:sp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02691" y="336743"/>
            <a:ext cx="1364565" cy="136456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2195" cy="2352675"/>
            <a:chOff x="0" y="0"/>
            <a:chExt cx="20102195" cy="235267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1586" cy="235217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99495" y="0"/>
              <a:ext cx="5915631" cy="228935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1675"/>
              <a:ext cx="20058204" cy="2034899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169035">
              <a:lnSpc>
                <a:spcPct val="100000"/>
              </a:lnSpc>
              <a:spcBef>
                <a:spcPts val="125"/>
              </a:spcBef>
            </a:pPr>
            <a:r>
              <a:rPr dirty="0"/>
              <a:t>Dart</a:t>
            </a:r>
            <a:r>
              <a:rPr spc="-5" dirty="0"/>
              <a:t> </a:t>
            </a:r>
            <a:r>
              <a:rPr spc="-10" dirty="0"/>
              <a:t>Syntax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201922" y="2513715"/>
            <a:ext cx="10900410" cy="6884034"/>
          </a:xfrm>
          <a:prstGeom prst="rect">
            <a:avLst/>
          </a:prstGeom>
        </p:spPr>
        <p:txBody>
          <a:bodyPr vert="horz" wrap="square" lIns="0" tIns="1974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55"/>
              </a:spcBef>
            </a:pPr>
            <a:r>
              <a:rPr sz="3800" b="1" dirty="0">
                <a:solidFill>
                  <a:srgbClr val="245796"/>
                </a:solidFill>
                <a:latin typeface="Times New Roman"/>
                <a:cs typeface="Times New Roman"/>
              </a:rPr>
              <a:t>Syntax</a:t>
            </a:r>
            <a:r>
              <a:rPr sz="3800" b="1" spc="-5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800" b="1" dirty="0">
                <a:solidFill>
                  <a:srgbClr val="245796"/>
                </a:solidFill>
                <a:latin typeface="Times New Roman"/>
                <a:cs typeface="Times New Roman"/>
              </a:rPr>
              <a:t>is</a:t>
            </a:r>
            <a:r>
              <a:rPr sz="3800" b="1" spc="-5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800" b="1" dirty="0">
                <a:solidFill>
                  <a:srgbClr val="245796"/>
                </a:solidFill>
                <a:latin typeface="Times New Roman"/>
                <a:cs typeface="Times New Roman"/>
              </a:rPr>
              <a:t>called</a:t>
            </a:r>
            <a:r>
              <a:rPr sz="3800" b="1" spc="-5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800" b="1" dirty="0">
                <a:solidFill>
                  <a:srgbClr val="245796"/>
                </a:solidFill>
                <a:latin typeface="Times New Roman"/>
                <a:cs typeface="Times New Roman"/>
              </a:rPr>
              <a:t>set</a:t>
            </a:r>
            <a:r>
              <a:rPr sz="3800" b="1" spc="-4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800" b="1" dirty="0">
                <a:solidFill>
                  <a:srgbClr val="245796"/>
                </a:solidFill>
                <a:latin typeface="Times New Roman"/>
                <a:cs typeface="Times New Roman"/>
              </a:rPr>
              <a:t>of</a:t>
            </a:r>
            <a:r>
              <a:rPr sz="3800" b="1" spc="-5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800" b="1" dirty="0">
                <a:solidFill>
                  <a:srgbClr val="245796"/>
                </a:solidFill>
                <a:latin typeface="Times New Roman"/>
                <a:cs typeface="Times New Roman"/>
              </a:rPr>
              <a:t>rules</a:t>
            </a:r>
            <a:r>
              <a:rPr sz="3800" b="1" spc="-5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800" b="1" dirty="0">
                <a:solidFill>
                  <a:srgbClr val="245796"/>
                </a:solidFill>
                <a:latin typeface="Times New Roman"/>
                <a:cs typeface="Times New Roman"/>
              </a:rPr>
              <a:t>for</a:t>
            </a:r>
            <a:r>
              <a:rPr sz="3800" b="1" spc="-4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800" b="1" dirty="0">
                <a:solidFill>
                  <a:srgbClr val="245796"/>
                </a:solidFill>
                <a:latin typeface="Times New Roman"/>
                <a:cs typeface="Times New Roman"/>
              </a:rPr>
              <a:t>writing</a:t>
            </a:r>
            <a:r>
              <a:rPr sz="3800" b="1" spc="-5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800" b="1" spc="-10" dirty="0">
                <a:solidFill>
                  <a:srgbClr val="245796"/>
                </a:solidFill>
                <a:latin typeface="Times New Roman"/>
                <a:cs typeface="Times New Roman"/>
              </a:rPr>
              <a:t>programs.</a:t>
            </a:r>
            <a:endParaRPr sz="3800">
              <a:latin typeface="Times New Roman"/>
              <a:cs typeface="Times New Roman"/>
            </a:endParaRPr>
          </a:p>
          <a:p>
            <a:pPr marL="897255" indent="-442595">
              <a:lnSpc>
                <a:spcPct val="100000"/>
              </a:lnSpc>
              <a:spcBef>
                <a:spcPts val="1455"/>
              </a:spcBef>
              <a:buFont typeface="Georgia"/>
              <a:buChar char="•"/>
              <a:tabLst>
                <a:tab pos="897255" algn="l"/>
              </a:tabLst>
            </a:pPr>
            <a:r>
              <a:rPr sz="3800" dirty="0">
                <a:latin typeface="Times New Roman"/>
                <a:cs typeface="Times New Roman"/>
              </a:rPr>
              <a:t>Variables</a:t>
            </a:r>
            <a:r>
              <a:rPr sz="3800" spc="-70" dirty="0">
                <a:latin typeface="Times New Roman"/>
                <a:cs typeface="Times New Roman"/>
              </a:rPr>
              <a:t> </a:t>
            </a:r>
            <a:r>
              <a:rPr sz="3800" dirty="0">
                <a:latin typeface="Times New Roman"/>
                <a:cs typeface="Times New Roman"/>
              </a:rPr>
              <a:t>and</a:t>
            </a:r>
            <a:r>
              <a:rPr sz="3800" spc="-65" dirty="0">
                <a:latin typeface="Times New Roman"/>
                <a:cs typeface="Times New Roman"/>
              </a:rPr>
              <a:t> </a:t>
            </a:r>
            <a:r>
              <a:rPr sz="3800" spc="-10" dirty="0">
                <a:latin typeface="Times New Roman"/>
                <a:cs typeface="Times New Roman"/>
              </a:rPr>
              <a:t>Operators</a:t>
            </a:r>
            <a:endParaRPr sz="3800">
              <a:latin typeface="Times New Roman"/>
              <a:cs typeface="Times New Roman"/>
            </a:endParaRPr>
          </a:p>
          <a:p>
            <a:pPr marL="897255" indent="-442595">
              <a:lnSpc>
                <a:spcPct val="100000"/>
              </a:lnSpc>
              <a:spcBef>
                <a:spcPts val="1375"/>
              </a:spcBef>
              <a:buFont typeface="Georgia"/>
              <a:buChar char="•"/>
              <a:tabLst>
                <a:tab pos="897255" algn="l"/>
              </a:tabLst>
            </a:pPr>
            <a:r>
              <a:rPr sz="3800" spc="-10" dirty="0">
                <a:latin typeface="Times New Roman"/>
                <a:cs typeface="Times New Roman"/>
              </a:rPr>
              <a:t>Classes</a:t>
            </a:r>
            <a:endParaRPr sz="3800">
              <a:latin typeface="Times New Roman"/>
              <a:cs typeface="Times New Roman"/>
            </a:endParaRPr>
          </a:p>
          <a:p>
            <a:pPr marL="897255" indent="-442595">
              <a:lnSpc>
                <a:spcPct val="100000"/>
              </a:lnSpc>
              <a:spcBef>
                <a:spcPts val="1455"/>
              </a:spcBef>
              <a:buFont typeface="Georgia"/>
              <a:buChar char="•"/>
              <a:tabLst>
                <a:tab pos="897255" algn="l"/>
              </a:tabLst>
            </a:pPr>
            <a:r>
              <a:rPr sz="3800" spc="-10" dirty="0">
                <a:latin typeface="Times New Roman"/>
                <a:cs typeface="Times New Roman"/>
              </a:rPr>
              <a:t>Functions</a:t>
            </a:r>
            <a:endParaRPr sz="3800">
              <a:latin typeface="Times New Roman"/>
              <a:cs typeface="Times New Roman"/>
            </a:endParaRPr>
          </a:p>
          <a:p>
            <a:pPr marL="897255" indent="-442595">
              <a:lnSpc>
                <a:spcPct val="100000"/>
              </a:lnSpc>
              <a:spcBef>
                <a:spcPts val="1460"/>
              </a:spcBef>
              <a:buFont typeface="Georgia"/>
              <a:buChar char="•"/>
              <a:tabLst>
                <a:tab pos="897255" algn="l"/>
              </a:tabLst>
            </a:pPr>
            <a:r>
              <a:rPr sz="3800" dirty="0">
                <a:latin typeface="Times New Roman"/>
                <a:cs typeface="Times New Roman"/>
              </a:rPr>
              <a:t>Expression</a:t>
            </a:r>
            <a:r>
              <a:rPr sz="3800" spc="-110" dirty="0">
                <a:latin typeface="Times New Roman"/>
                <a:cs typeface="Times New Roman"/>
              </a:rPr>
              <a:t> </a:t>
            </a:r>
            <a:r>
              <a:rPr sz="3800" dirty="0">
                <a:latin typeface="Times New Roman"/>
                <a:cs typeface="Times New Roman"/>
              </a:rPr>
              <a:t>and</a:t>
            </a:r>
            <a:r>
              <a:rPr sz="3800" spc="-105" dirty="0">
                <a:latin typeface="Times New Roman"/>
                <a:cs typeface="Times New Roman"/>
              </a:rPr>
              <a:t> </a:t>
            </a:r>
            <a:r>
              <a:rPr sz="3800" dirty="0">
                <a:latin typeface="Times New Roman"/>
                <a:cs typeface="Times New Roman"/>
              </a:rPr>
              <a:t>Programming</a:t>
            </a:r>
            <a:r>
              <a:rPr sz="3800" spc="-110" dirty="0">
                <a:latin typeface="Times New Roman"/>
                <a:cs typeface="Times New Roman"/>
              </a:rPr>
              <a:t> </a:t>
            </a:r>
            <a:r>
              <a:rPr sz="3800" spc="-10" dirty="0">
                <a:latin typeface="Times New Roman"/>
                <a:cs typeface="Times New Roman"/>
              </a:rPr>
              <a:t>Constructs</a:t>
            </a:r>
            <a:endParaRPr sz="3800">
              <a:latin typeface="Times New Roman"/>
              <a:cs typeface="Times New Roman"/>
            </a:endParaRPr>
          </a:p>
          <a:p>
            <a:pPr marL="897255" indent="-442595">
              <a:lnSpc>
                <a:spcPct val="100000"/>
              </a:lnSpc>
              <a:spcBef>
                <a:spcPts val="1455"/>
              </a:spcBef>
              <a:buFont typeface="Georgia"/>
              <a:buChar char="•"/>
              <a:tabLst>
                <a:tab pos="897255" algn="l"/>
              </a:tabLst>
            </a:pPr>
            <a:r>
              <a:rPr sz="3800" dirty="0">
                <a:latin typeface="Times New Roman"/>
                <a:cs typeface="Times New Roman"/>
              </a:rPr>
              <a:t>Decision</a:t>
            </a:r>
            <a:r>
              <a:rPr sz="3800" spc="-100" dirty="0">
                <a:latin typeface="Times New Roman"/>
                <a:cs typeface="Times New Roman"/>
              </a:rPr>
              <a:t> </a:t>
            </a:r>
            <a:r>
              <a:rPr sz="3800" dirty="0">
                <a:latin typeface="Times New Roman"/>
                <a:cs typeface="Times New Roman"/>
              </a:rPr>
              <a:t>Making</a:t>
            </a:r>
            <a:r>
              <a:rPr sz="3800" spc="-100" dirty="0">
                <a:latin typeface="Times New Roman"/>
                <a:cs typeface="Times New Roman"/>
              </a:rPr>
              <a:t> </a:t>
            </a:r>
            <a:r>
              <a:rPr sz="3800" dirty="0">
                <a:latin typeface="Times New Roman"/>
                <a:cs typeface="Times New Roman"/>
              </a:rPr>
              <a:t>and</a:t>
            </a:r>
            <a:r>
              <a:rPr sz="3800" spc="-95" dirty="0">
                <a:latin typeface="Times New Roman"/>
                <a:cs typeface="Times New Roman"/>
              </a:rPr>
              <a:t> </a:t>
            </a:r>
            <a:r>
              <a:rPr sz="3800" dirty="0">
                <a:latin typeface="Times New Roman"/>
                <a:cs typeface="Times New Roman"/>
              </a:rPr>
              <a:t>Looping</a:t>
            </a:r>
            <a:r>
              <a:rPr sz="3800" spc="-100" dirty="0">
                <a:latin typeface="Times New Roman"/>
                <a:cs typeface="Times New Roman"/>
              </a:rPr>
              <a:t> </a:t>
            </a:r>
            <a:r>
              <a:rPr sz="3800" spc="-10" dirty="0">
                <a:latin typeface="Times New Roman"/>
                <a:cs typeface="Times New Roman"/>
              </a:rPr>
              <a:t>Constructs</a:t>
            </a:r>
            <a:endParaRPr sz="3800">
              <a:latin typeface="Times New Roman"/>
              <a:cs typeface="Times New Roman"/>
            </a:endParaRPr>
          </a:p>
          <a:p>
            <a:pPr marL="897255" indent="-442595">
              <a:lnSpc>
                <a:spcPct val="100000"/>
              </a:lnSpc>
              <a:spcBef>
                <a:spcPts val="1475"/>
              </a:spcBef>
              <a:buFont typeface="Georgia"/>
              <a:buChar char="•"/>
              <a:tabLst>
                <a:tab pos="897255" algn="l"/>
              </a:tabLst>
            </a:pPr>
            <a:r>
              <a:rPr sz="3800" spc="-10" dirty="0">
                <a:latin typeface="Times New Roman"/>
                <a:cs typeface="Times New Roman"/>
              </a:rPr>
              <a:t>Comments</a:t>
            </a:r>
            <a:endParaRPr sz="3800">
              <a:latin typeface="Times New Roman"/>
              <a:cs typeface="Times New Roman"/>
            </a:endParaRPr>
          </a:p>
          <a:p>
            <a:pPr marL="897255" indent="-442595">
              <a:lnSpc>
                <a:spcPct val="100000"/>
              </a:lnSpc>
              <a:spcBef>
                <a:spcPts val="1375"/>
              </a:spcBef>
              <a:buFont typeface="Georgia"/>
              <a:buChar char="•"/>
              <a:tabLst>
                <a:tab pos="897255" algn="l"/>
              </a:tabLst>
            </a:pPr>
            <a:r>
              <a:rPr sz="3800" dirty="0">
                <a:latin typeface="Times New Roman"/>
                <a:cs typeface="Times New Roman"/>
              </a:rPr>
              <a:t>Libraries</a:t>
            </a:r>
            <a:r>
              <a:rPr sz="3800" spc="-75" dirty="0">
                <a:latin typeface="Times New Roman"/>
                <a:cs typeface="Times New Roman"/>
              </a:rPr>
              <a:t> </a:t>
            </a:r>
            <a:r>
              <a:rPr sz="3800" dirty="0">
                <a:latin typeface="Times New Roman"/>
                <a:cs typeface="Times New Roman"/>
              </a:rPr>
              <a:t>and</a:t>
            </a:r>
            <a:r>
              <a:rPr sz="3800" spc="-75" dirty="0">
                <a:latin typeface="Times New Roman"/>
                <a:cs typeface="Times New Roman"/>
              </a:rPr>
              <a:t> </a:t>
            </a:r>
            <a:r>
              <a:rPr sz="3800" spc="-10" dirty="0">
                <a:latin typeface="Times New Roman"/>
                <a:cs typeface="Times New Roman"/>
              </a:rPr>
              <a:t>Packages</a:t>
            </a:r>
            <a:endParaRPr sz="3800">
              <a:latin typeface="Times New Roman"/>
              <a:cs typeface="Times New Roman"/>
            </a:endParaRPr>
          </a:p>
          <a:p>
            <a:pPr marL="897255" indent="-442595">
              <a:lnSpc>
                <a:spcPct val="100000"/>
              </a:lnSpc>
              <a:spcBef>
                <a:spcPts val="1455"/>
              </a:spcBef>
              <a:buFont typeface="Georgia"/>
              <a:buChar char="•"/>
              <a:tabLst>
                <a:tab pos="897255" algn="l"/>
              </a:tabLst>
            </a:pPr>
            <a:r>
              <a:rPr sz="3800" dirty="0">
                <a:latin typeface="Times New Roman"/>
                <a:cs typeface="Times New Roman"/>
              </a:rPr>
              <a:t>Data</a:t>
            </a:r>
            <a:r>
              <a:rPr sz="3800" spc="-65" dirty="0">
                <a:latin typeface="Times New Roman"/>
                <a:cs typeface="Times New Roman"/>
              </a:rPr>
              <a:t> </a:t>
            </a:r>
            <a:r>
              <a:rPr sz="3800" dirty="0">
                <a:latin typeface="Times New Roman"/>
                <a:cs typeface="Times New Roman"/>
              </a:rPr>
              <a:t>structure</a:t>
            </a:r>
            <a:r>
              <a:rPr sz="3800" spc="-65" dirty="0">
                <a:latin typeface="Times New Roman"/>
                <a:cs typeface="Times New Roman"/>
              </a:rPr>
              <a:t> </a:t>
            </a:r>
            <a:r>
              <a:rPr sz="3800" dirty="0">
                <a:latin typeface="Times New Roman"/>
                <a:cs typeface="Times New Roman"/>
              </a:rPr>
              <a:t>represented</a:t>
            </a:r>
            <a:r>
              <a:rPr sz="3800" spc="-70" dirty="0">
                <a:latin typeface="Times New Roman"/>
                <a:cs typeface="Times New Roman"/>
              </a:rPr>
              <a:t> </a:t>
            </a:r>
            <a:r>
              <a:rPr sz="3800" dirty="0">
                <a:latin typeface="Times New Roman"/>
                <a:cs typeface="Times New Roman"/>
              </a:rPr>
              <a:t>as</a:t>
            </a:r>
            <a:r>
              <a:rPr sz="3800" spc="-70" dirty="0">
                <a:latin typeface="Times New Roman"/>
                <a:cs typeface="Times New Roman"/>
              </a:rPr>
              <a:t> </a:t>
            </a:r>
            <a:r>
              <a:rPr sz="3800" dirty="0">
                <a:latin typeface="Times New Roman"/>
                <a:cs typeface="Times New Roman"/>
              </a:rPr>
              <a:t>Collections</a:t>
            </a:r>
            <a:r>
              <a:rPr sz="3800" spc="-75" dirty="0">
                <a:latin typeface="Times New Roman"/>
                <a:cs typeface="Times New Roman"/>
              </a:rPr>
              <a:t> </a:t>
            </a:r>
            <a:r>
              <a:rPr sz="3800" dirty="0">
                <a:latin typeface="Times New Roman"/>
                <a:cs typeface="Times New Roman"/>
              </a:rPr>
              <a:t>/</a:t>
            </a:r>
            <a:r>
              <a:rPr sz="3800" spc="-70" dirty="0">
                <a:latin typeface="Times New Roman"/>
                <a:cs typeface="Times New Roman"/>
              </a:rPr>
              <a:t> </a:t>
            </a:r>
            <a:r>
              <a:rPr sz="3800" spc="-10" dirty="0">
                <a:latin typeface="Times New Roman"/>
                <a:cs typeface="Times New Roman"/>
              </a:rPr>
              <a:t>Generics</a:t>
            </a:r>
            <a:endParaRPr sz="3800">
              <a:latin typeface="Times New Roman"/>
              <a:cs typeface="Times New Roman"/>
            </a:endParaRP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02691" y="336743"/>
            <a:ext cx="1364565" cy="136456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20104100" cy="11308715"/>
          </a:xfrm>
          <a:custGeom>
            <a:avLst/>
            <a:gdLst/>
            <a:ahLst/>
            <a:cxnLst/>
            <a:rect l="l" t="t" r="r" b="b"/>
            <a:pathLst>
              <a:path w="20104100" h="11308715">
                <a:moveTo>
                  <a:pt x="20104099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099" y="11308556"/>
                </a:lnTo>
                <a:lnTo>
                  <a:pt x="20104099" y="0"/>
                </a:lnTo>
                <a:close/>
              </a:path>
            </a:pathLst>
          </a:custGeom>
          <a:solidFill>
            <a:srgbClr val="E6E9E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0" y="0"/>
            <a:ext cx="20102195" cy="2352675"/>
            <a:chOff x="0" y="0"/>
            <a:chExt cx="20102195" cy="235267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1586" cy="235217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99495" y="0"/>
              <a:ext cx="5915631" cy="228935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1675"/>
              <a:ext cx="20058204" cy="2034803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169035">
              <a:lnSpc>
                <a:spcPct val="100000"/>
              </a:lnSpc>
              <a:spcBef>
                <a:spcPts val="125"/>
              </a:spcBef>
            </a:pPr>
            <a:r>
              <a:rPr dirty="0"/>
              <a:t>Dart</a:t>
            </a:r>
            <a:r>
              <a:rPr spc="-5" dirty="0"/>
              <a:t> </a:t>
            </a:r>
            <a:r>
              <a:rPr spc="-10" dirty="0"/>
              <a:t>Syntax</a:t>
            </a: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01190" y="2979714"/>
            <a:ext cx="18252347" cy="7748914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030374" y="2824568"/>
            <a:ext cx="15565119" cy="6488430"/>
          </a:xfrm>
          <a:prstGeom prst="rect">
            <a:avLst/>
          </a:prstGeom>
        </p:spPr>
        <p:txBody>
          <a:bodyPr vert="horz" wrap="square" lIns="0" tIns="186690" rIns="0" bIns="0" rtlCol="0">
            <a:spAutoFit/>
          </a:bodyPr>
          <a:lstStyle/>
          <a:p>
            <a:pPr marL="422275" indent="-409575">
              <a:lnSpc>
                <a:spcPct val="100000"/>
              </a:lnSpc>
              <a:spcBef>
                <a:spcPts val="1470"/>
              </a:spcBef>
              <a:buClr>
                <a:srgbClr val="000000"/>
              </a:buClr>
              <a:buSzPct val="107575"/>
              <a:buFont typeface="Georgia"/>
              <a:buChar char="•"/>
              <a:tabLst>
                <a:tab pos="422275" algn="l"/>
              </a:tabLst>
            </a:pP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Whitespace</a:t>
            </a:r>
            <a:r>
              <a:rPr sz="3300" b="1" spc="-8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and</a:t>
            </a:r>
            <a:r>
              <a:rPr sz="3300" b="1" spc="-7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Line</a:t>
            </a:r>
            <a:r>
              <a:rPr sz="3300" b="1" spc="-7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spc="-10" dirty="0">
                <a:solidFill>
                  <a:srgbClr val="245796"/>
                </a:solidFill>
                <a:latin typeface="Times New Roman"/>
                <a:cs typeface="Times New Roman"/>
              </a:rPr>
              <a:t>Breaks</a:t>
            </a:r>
            <a:endParaRPr sz="3300">
              <a:latin typeface="Times New Roman"/>
              <a:cs typeface="Times New Roman"/>
            </a:endParaRPr>
          </a:p>
          <a:p>
            <a:pPr marL="832485" lvl="1" indent="-410209">
              <a:lnSpc>
                <a:spcPct val="100000"/>
              </a:lnSpc>
              <a:spcBef>
                <a:spcPts val="1714"/>
              </a:spcBef>
              <a:buSzPct val="107575"/>
              <a:buFont typeface="Georgia"/>
              <a:buChar char="•"/>
              <a:tabLst>
                <a:tab pos="832485" algn="l"/>
              </a:tabLst>
            </a:pPr>
            <a:r>
              <a:rPr sz="3300" dirty="0">
                <a:latin typeface="Times New Roman"/>
                <a:cs typeface="Times New Roman"/>
              </a:rPr>
              <a:t>Dart</a:t>
            </a:r>
            <a:r>
              <a:rPr sz="3300" spc="-45" dirty="0">
                <a:latin typeface="Times New Roman"/>
                <a:cs typeface="Times New Roman"/>
              </a:rPr>
              <a:t> </a:t>
            </a:r>
            <a:r>
              <a:rPr sz="3300" dirty="0">
                <a:latin typeface="Times New Roman"/>
                <a:cs typeface="Times New Roman"/>
              </a:rPr>
              <a:t>ignores</a:t>
            </a:r>
            <a:r>
              <a:rPr sz="3300" spc="-40" dirty="0">
                <a:latin typeface="Times New Roman"/>
                <a:cs typeface="Times New Roman"/>
              </a:rPr>
              <a:t> </a:t>
            </a:r>
            <a:r>
              <a:rPr sz="3300" dirty="0">
                <a:latin typeface="Times New Roman"/>
                <a:cs typeface="Times New Roman"/>
              </a:rPr>
              <a:t>spaces,</a:t>
            </a:r>
            <a:r>
              <a:rPr sz="3300" spc="-45" dirty="0">
                <a:latin typeface="Times New Roman"/>
                <a:cs typeface="Times New Roman"/>
              </a:rPr>
              <a:t> </a:t>
            </a:r>
            <a:r>
              <a:rPr sz="3300" dirty="0">
                <a:latin typeface="Times New Roman"/>
                <a:cs typeface="Times New Roman"/>
              </a:rPr>
              <a:t>tabs,</a:t>
            </a:r>
            <a:r>
              <a:rPr sz="3300" spc="-45" dirty="0">
                <a:latin typeface="Times New Roman"/>
                <a:cs typeface="Times New Roman"/>
              </a:rPr>
              <a:t> </a:t>
            </a:r>
            <a:r>
              <a:rPr sz="3300" dirty="0">
                <a:latin typeface="Times New Roman"/>
                <a:cs typeface="Times New Roman"/>
              </a:rPr>
              <a:t>and</a:t>
            </a:r>
            <a:r>
              <a:rPr sz="3300" spc="-45" dirty="0">
                <a:latin typeface="Times New Roman"/>
                <a:cs typeface="Times New Roman"/>
              </a:rPr>
              <a:t> </a:t>
            </a:r>
            <a:r>
              <a:rPr sz="3300" dirty="0">
                <a:latin typeface="Times New Roman"/>
                <a:cs typeface="Times New Roman"/>
              </a:rPr>
              <a:t>newlines</a:t>
            </a:r>
            <a:r>
              <a:rPr sz="3300" spc="-40" dirty="0">
                <a:latin typeface="Times New Roman"/>
                <a:cs typeface="Times New Roman"/>
              </a:rPr>
              <a:t> </a:t>
            </a:r>
            <a:r>
              <a:rPr sz="3300" dirty="0">
                <a:latin typeface="Times New Roman"/>
                <a:cs typeface="Times New Roman"/>
              </a:rPr>
              <a:t>that</a:t>
            </a:r>
            <a:r>
              <a:rPr sz="3300" spc="-40" dirty="0">
                <a:latin typeface="Times New Roman"/>
                <a:cs typeface="Times New Roman"/>
              </a:rPr>
              <a:t> </a:t>
            </a:r>
            <a:r>
              <a:rPr sz="3300" dirty="0">
                <a:latin typeface="Times New Roman"/>
                <a:cs typeface="Times New Roman"/>
              </a:rPr>
              <a:t>appear</a:t>
            </a:r>
            <a:r>
              <a:rPr sz="3300" spc="-40" dirty="0">
                <a:latin typeface="Times New Roman"/>
                <a:cs typeface="Times New Roman"/>
              </a:rPr>
              <a:t> </a:t>
            </a:r>
            <a:r>
              <a:rPr sz="3300" dirty="0">
                <a:latin typeface="Times New Roman"/>
                <a:cs typeface="Times New Roman"/>
              </a:rPr>
              <a:t>in</a:t>
            </a:r>
            <a:r>
              <a:rPr sz="3300" spc="-45" dirty="0">
                <a:latin typeface="Times New Roman"/>
                <a:cs typeface="Times New Roman"/>
              </a:rPr>
              <a:t> </a:t>
            </a:r>
            <a:r>
              <a:rPr sz="3300" dirty="0">
                <a:latin typeface="Times New Roman"/>
                <a:cs typeface="Times New Roman"/>
              </a:rPr>
              <a:t>the</a:t>
            </a:r>
            <a:r>
              <a:rPr sz="3300" spc="-45" dirty="0">
                <a:latin typeface="Times New Roman"/>
                <a:cs typeface="Times New Roman"/>
              </a:rPr>
              <a:t> </a:t>
            </a:r>
            <a:r>
              <a:rPr sz="3300" spc="-10" dirty="0">
                <a:latin typeface="Times New Roman"/>
                <a:cs typeface="Times New Roman"/>
              </a:rPr>
              <a:t>program.</a:t>
            </a:r>
            <a:endParaRPr sz="3300">
              <a:latin typeface="Times New Roman"/>
              <a:cs typeface="Times New Roman"/>
            </a:endParaRPr>
          </a:p>
          <a:p>
            <a:pPr marL="422275" indent="-409575">
              <a:lnSpc>
                <a:spcPct val="100000"/>
              </a:lnSpc>
              <a:spcBef>
                <a:spcPts val="1739"/>
              </a:spcBef>
              <a:buClr>
                <a:srgbClr val="000000"/>
              </a:buClr>
              <a:buSzPct val="107575"/>
              <a:buFont typeface="Georgia"/>
              <a:buChar char="•"/>
              <a:tabLst>
                <a:tab pos="422275" algn="l"/>
              </a:tabLst>
            </a:pP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Dart</a:t>
            </a:r>
            <a:r>
              <a:rPr sz="3300" b="1" spc="-1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is</a:t>
            </a:r>
            <a:r>
              <a:rPr sz="3300" b="1" spc="-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spc="-25" dirty="0">
                <a:solidFill>
                  <a:srgbClr val="245796"/>
                </a:solidFill>
                <a:latin typeface="Times New Roman"/>
                <a:cs typeface="Times New Roman"/>
              </a:rPr>
              <a:t>Case-</a:t>
            </a:r>
            <a:r>
              <a:rPr sz="3300" b="1" spc="-10" dirty="0">
                <a:solidFill>
                  <a:srgbClr val="245796"/>
                </a:solidFill>
                <a:latin typeface="Times New Roman"/>
                <a:cs typeface="Times New Roman"/>
              </a:rPr>
              <a:t>sensitive</a:t>
            </a:r>
            <a:endParaRPr sz="3300">
              <a:latin typeface="Times New Roman"/>
              <a:cs typeface="Times New Roman"/>
            </a:endParaRPr>
          </a:p>
          <a:p>
            <a:pPr marL="832485" lvl="1" indent="-410209">
              <a:lnSpc>
                <a:spcPct val="100000"/>
              </a:lnSpc>
              <a:spcBef>
                <a:spcPts val="1720"/>
              </a:spcBef>
              <a:buSzPct val="107575"/>
              <a:buFont typeface="Georgia"/>
              <a:buChar char="•"/>
              <a:tabLst>
                <a:tab pos="832485" algn="l"/>
              </a:tabLst>
            </a:pPr>
            <a:r>
              <a:rPr sz="3300" dirty="0">
                <a:latin typeface="Times New Roman"/>
                <a:cs typeface="Times New Roman"/>
              </a:rPr>
              <a:t>Dart</a:t>
            </a:r>
            <a:r>
              <a:rPr sz="3300" spc="-70" dirty="0">
                <a:latin typeface="Times New Roman"/>
                <a:cs typeface="Times New Roman"/>
              </a:rPr>
              <a:t> </a:t>
            </a:r>
            <a:r>
              <a:rPr sz="3300" dirty="0">
                <a:latin typeface="Times New Roman"/>
                <a:cs typeface="Times New Roman"/>
              </a:rPr>
              <a:t>differentiates</a:t>
            </a:r>
            <a:r>
              <a:rPr sz="3300" spc="-65" dirty="0">
                <a:latin typeface="Times New Roman"/>
                <a:cs typeface="Times New Roman"/>
              </a:rPr>
              <a:t> </a:t>
            </a:r>
            <a:r>
              <a:rPr sz="3300" dirty="0">
                <a:latin typeface="Times New Roman"/>
                <a:cs typeface="Times New Roman"/>
              </a:rPr>
              <a:t>between</a:t>
            </a:r>
            <a:r>
              <a:rPr sz="3300" spc="-75" dirty="0">
                <a:latin typeface="Times New Roman"/>
                <a:cs typeface="Times New Roman"/>
              </a:rPr>
              <a:t> </a:t>
            </a:r>
            <a:r>
              <a:rPr sz="3300" dirty="0">
                <a:latin typeface="Times New Roman"/>
                <a:cs typeface="Times New Roman"/>
              </a:rPr>
              <a:t>uppercase</a:t>
            </a:r>
            <a:r>
              <a:rPr sz="3300" spc="-70" dirty="0">
                <a:latin typeface="Times New Roman"/>
                <a:cs typeface="Times New Roman"/>
              </a:rPr>
              <a:t> </a:t>
            </a:r>
            <a:r>
              <a:rPr sz="3300" dirty="0">
                <a:latin typeface="Times New Roman"/>
                <a:cs typeface="Times New Roman"/>
              </a:rPr>
              <a:t>and</a:t>
            </a:r>
            <a:r>
              <a:rPr sz="3300" spc="-70" dirty="0">
                <a:latin typeface="Times New Roman"/>
                <a:cs typeface="Times New Roman"/>
              </a:rPr>
              <a:t> </a:t>
            </a:r>
            <a:r>
              <a:rPr sz="3300" dirty="0">
                <a:latin typeface="Times New Roman"/>
                <a:cs typeface="Times New Roman"/>
              </a:rPr>
              <a:t>lowercase</a:t>
            </a:r>
            <a:r>
              <a:rPr sz="3300" spc="-75" dirty="0">
                <a:latin typeface="Times New Roman"/>
                <a:cs typeface="Times New Roman"/>
              </a:rPr>
              <a:t> </a:t>
            </a:r>
            <a:r>
              <a:rPr sz="3300" spc="-10" dirty="0">
                <a:latin typeface="Times New Roman"/>
                <a:cs typeface="Times New Roman"/>
              </a:rPr>
              <a:t>characters.</a:t>
            </a:r>
            <a:endParaRPr sz="3300">
              <a:latin typeface="Times New Roman"/>
              <a:cs typeface="Times New Roman"/>
            </a:endParaRPr>
          </a:p>
          <a:p>
            <a:pPr marL="422275" indent="-409575">
              <a:lnSpc>
                <a:spcPct val="100000"/>
              </a:lnSpc>
              <a:spcBef>
                <a:spcPts val="1740"/>
              </a:spcBef>
              <a:buClr>
                <a:srgbClr val="000000"/>
              </a:buClr>
              <a:buSzPct val="107575"/>
              <a:buFont typeface="Georgia"/>
              <a:buChar char="•"/>
              <a:tabLst>
                <a:tab pos="422275" algn="l"/>
              </a:tabLst>
            </a:pP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Statements</a:t>
            </a:r>
            <a:r>
              <a:rPr sz="3300" b="1" spc="-8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end</a:t>
            </a:r>
            <a:r>
              <a:rPr sz="3300" b="1" spc="-8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with</a:t>
            </a:r>
            <a:r>
              <a:rPr sz="3300" b="1" spc="-8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spc="-10" dirty="0">
                <a:solidFill>
                  <a:srgbClr val="245796"/>
                </a:solidFill>
                <a:latin typeface="Times New Roman"/>
                <a:cs typeface="Times New Roman"/>
              </a:rPr>
              <a:t>semicolon</a:t>
            </a:r>
            <a:endParaRPr sz="3300">
              <a:latin typeface="Times New Roman"/>
              <a:cs typeface="Times New Roman"/>
            </a:endParaRPr>
          </a:p>
          <a:p>
            <a:pPr marL="832485" lvl="1" indent="-410209">
              <a:lnSpc>
                <a:spcPct val="100000"/>
              </a:lnSpc>
              <a:spcBef>
                <a:spcPts val="1714"/>
              </a:spcBef>
              <a:buSzPct val="107575"/>
              <a:buFont typeface="Georgia"/>
              <a:buChar char="•"/>
              <a:tabLst>
                <a:tab pos="832485" algn="l"/>
              </a:tabLst>
            </a:pPr>
            <a:r>
              <a:rPr sz="3300" dirty="0">
                <a:latin typeface="Times New Roman"/>
                <a:cs typeface="Times New Roman"/>
              </a:rPr>
              <a:t>Each</a:t>
            </a:r>
            <a:r>
              <a:rPr sz="3300" spc="-35" dirty="0">
                <a:latin typeface="Times New Roman"/>
                <a:cs typeface="Times New Roman"/>
              </a:rPr>
              <a:t> </a:t>
            </a:r>
            <a:r>
              <a:rPr sz="3300" dirty="0">
                <a:latin typeface="Times New Roman"/>
                <a:cs typeface="Times New Roman"/>
              </a:rPr>
              <a:t>line</a:t>
            </a:r>
            <a:r>
              <a:rPr sz="3300" spc="-30" dirty="0">
                <a:latin typeface="Times New Roman"/>
                <a:cs typeface="Times New Roman"/>
              </a:rPr>
              <a:t> </a:t>
            </a:r>
            <a:r>
              <a:rPr sz="3300" dirty="0">
                <a:latin typeface="Times New Roman"/>
                <a:cs typeface="Times New Roman"/>
              </a:rPr>
              <a:t>of</a:t>
            </a:r>
            <a:r>
              <a:rPr sz="3300" spc="-25" dirty="0">
                <a:latin typeface="Times New Roman"/>
                <a:cs typeface="Times New Roman"/>
              </a:rPr>
              <a:t> </a:t>
            </a:r>
            <a:r>
              <a:rPr sz="3300" dirty="0">
                <a:latin typeface="Times New Roman"/>
                <a:cs typeface="Times New Roman"/>
              </a:rPr>
              <a:t>instruction</a:t>
            </a:r>
            <a:r>
              <a:rPr sz="3300" spc="-35" dirty="0">
                <a:latin typeface="Times New Roman"/>
                <a:cs typeface="Times New Roman"/>
              </a:rPr>
              <a:t> </a:t>
            </a:r>
            <a:r>
              <a:rPr sz="3300" dirty="0">
                <a:latin typeface="Times New Roman"/>
                <a:cs typeface="Times New Roman"/>
              </a:rPr>
              <a:t>is</a:t>
            </a:r>
            <a:r>
              <a:rPr sz="3300" spc="-25" dirty="0">
                <a:latin typeface="Times New Roman"/>
                <a:cs typeface="Times New Roman"/>
              </a:rPr>
              <a:t> </a:t>
            </a:r>
            <a:r>
              <a:rPr sz="3300" dirty="0">
                <a:latin typeface="Times New Roman"/>
                <a:cs typeface="Times New Roman"/>
              </a:rPr>
              <a:t>called</a:t>
            </a:r>
            <a:r>
              <a:rPr sz="3300" spc="-30" dirty="0">
                <a:latin typeface="Times New Roman"/>
                <a:cs typeface="Times New Roman"/>
              </a:rPr>
              <a:t> </a:t>
            </a:r>
            <a:r>
              <a:rPr sz="3300" dirty="0">
                <a:latin typeface="Times New Roman"/>
                <a:cs typeface="Times New Roman"/>
              </a:rPr>
              <a:t>a</a:t>
            </a:r>
            <a:r>
              <a:rPr sz="3300" spc="-35" dirty="0">
                <a:latin typeface="Times New Roman"/>
                <a:cs typeface="Times New Roman"/>
              </a:rPr>
              <a:t> </a:t>
            </a:r>
            <a:r>
              <a:rPr sz="3300" dirty="0">
                <a:latin typeface="Times New Roman"/>
                <a:cs typeface="Times New Roman"/>
              </a:rPr>
              <a:t>statement</a:t>
            </a:r>
            <a:r>
              <a:rPr sz="3300" spc="-25" dirty="0">
                <a:latin typeface="Times New Roman"/>
                <a:cs typeface="Times New Roman"/>
              </a:rPr>
              <a:t> </a:t>
            </a:r>
            <a:r>
              <a:rPr sz="3300" dirty="0">
                <a:latin typeface="Times New Roman"/>
                <a:cs typeface="Times New Roman"/>
              </a:rPr>
              <a:t>and</a:t>
            </a:r>
            <a:r>
              <a:rPr sz="3300" spc="-30" dirty="0">
                <a:latin typeface="Times New Roman"/>
                <a:cs typeface="Times New Roman"/>
              </a:rPr>
              <a:t> </a:t>
            </a:r>
            <a:r>
              <a:rPr sz="3300" dirty="0">
                <a:latin typeface="Times New Roman"/>
                <a:cs typeface="Times New Roman"/>
              </a:rPr>
              <a:t>a</a:t>
            </a:r>
            <a:r>
              <a:rPr sz="3300" spc="-35" dirty="0">
                <a:latin typeface="Times New Roman"/>
                <a:cs typeface="Times New Roman"/>
              </a:rPr>
              <a:t> </a:t>
            </a:r>
            <a:r>
              <a:rPr sz="3300" dirty="0">
                <a:latin typeface="Times New Roman"/>
                <a:cs typeface="Times New Roman"/>
              </a:rPr>
              <a:t>statement</a:t>
            </a:r>
            <a:r>
              <a:rPr sz="3300" spc="-25" dirty="0">
                <a:latin typeface="Times New Roman"/>
                <a:cs typeface="Times New Roman"/>
              </a:rPr>
              <a:t> </a:t>
            </a:r>
            <a:r>
              <a:rPr sz="3300" dirty="0">
                <a:latin typeface="Times New Roman"/>
                <a:cs typeface="Times New Roman"/>
              </a:rPr>
              <a:t>must</a:t>
            </a:r>
            <a:r>
              <a:rPr sz="3300" spc="-25" dirty="0">
                <a:latin typeface="Times New Roman"/>
                <a:cs typeface="Times New Roman"/>
              </a:rPr>
              <a:t> </a:t>
            </a:r>
            <a:r>
              <a:rPr sz="3300" dirty="0">
                <a:latin typeface="Times New Roman"/>
                <a:cs typeface="Times New Roman"/>
              </a:rPr>
              <a:t>end</a:t>
            </a:r>
            <a:r>
              <a:rPr sz="3300" spc="-35" dirty="0">
                <a:latin typeface="Times New Roman"/>
                <a:cs typeface="Times New Roman"/>
              </a:rPr>
              <a:t> </a:t>
            </a:r>
            <a:r>
              <a:rPr sz="3300" dirty="0">
                <a:latin typeface="Times New Roman"/>
                <a:cs typeface="Times New Roman"/>
              </a:rPr>
              <a:t>with</a:t>
            </a:r>
            <a:r>
              <a:rPr sz="3300" spc="-30" dirty="0">
                <a:latin typeface="Times New Roman"/>
                <a:cs typeface="Times New Roman"/>
              </a:rPr>
              <a:t> </a:t>
            </a:r>
            <a:r>
              <a:rPr sz="3300" dirty="0">
                <a:latin typeface="Times New Roman"/>
                <a:cs typeface="Times New Roman"/>
              </a:rPr>
              <a:t>a</a:t>
            </a:r>
            <a:r>
              <a:rPr sz="3300" spc="-30" dirty="0">
                <a:latin typeface="Times New Roman"/>
                <a:cs typeface="Times New Roman"/>
              </a:rPr>
              <a:t> </a:t>
            </a:r>
            <a:r>
              <a:rPr sz="3300" spc="-10" dirty="0">
                <a:latin typeface="Times New Roman"/>
                <a:cs typeface="Times New Roman"/>
              </a:rPr>
              <a:t>semicolon</a:t>
            </a:r>
            <a:endParaRPr sz="3300">
              <a:latin typeface="Times New Roman"/>
              <a:cs typeface="Times New Roman"/>
            </a:endParaRPr>
          </a:p>
          <a:p>
            <a:pPr marL="422275" indent="-409575">
              <a:lnSpc>
                <a:spcPct val="100000"/>
              </a:lnSpc>
              <a:spcBef>
                <a:spcPts val="1739"/>
              </a:spcBef>
              <a:buClr>
                <a:srgbClr val="000000"/>
              </a:buClr>
              <a:buSzPct val="107575"/>
              <a:buFont typeface="Georgia"/>
              <a:buChar char="•"/>
              <a:tabLst>
                <a:tab pos="422275" algn="l"/>
              </a:tabLst>
            </a:pP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Comments</a:t>
            </a:r>
            <a:r>
              <a:rPr sz="3300" b="1" spc="-8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in</a:t>
            </a:r>
            <a:r>
              <a:rPr sz="3300" b="1" spc="-9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spc="-20" dirty="0">
                <a:solidFill>
                  <a:srgbClr val="245796"/>
                </a:solidFill>
                <a:latin typeface="Times New Roman"/>
                <a:cs typeface="Times New Roman"/>
              </a:rPr>
              <a:t>Dart</a:t>
            </a:r>
            <a:endParaRPr sz="3300">
              <a:latin typeface="Times New Roman"/>
              <a:cs typeface="Times New Roman"/>
            </a:endParaRPr>
          </a:p>
          <a:p>
            <a:pPr marL="832485" lvl="1" indent="-410209">
              <a:lnSpc>
                <a:spcPct val="100000"/>
              </a:lnSpc>
              <a:spcBef>
                <a:spcPts val="1720"/>
              </a:spcBef>
              <a:buSzPct val="107575"/>
              <a:buFont typeface="Georgia"/>
              <a:buChar char="•"/>
              <a:tabLst>
                <a:tab pos="832485" algn="l"/>
              </a:tabLst>
            </a:pPr>
            <a:r>
              <a:rPr sz="3300" spc="-10" dirty="0">
                <a:latin typeface="Times New Roman"/>
                <a:cs typeface="Times New Roman"/>
              </a:rPr>
              <a:t>Single-</a:t>
            </a:r>
            <a:r>
              <a:rPr sz="3300" dirty="0">
                <a:latin typeface="Times New Roman"/>
                <a:cs typeface="Times New Roman"/>
              </a:rPr>
              <a:t>line comments</a:t>
            </a:r>
            <a:r>
              <a:rPr sz="3300" spc="5" dirty="0">
                <a:latin typeface="Times New Roman"/>
                <a:cs typeface="Times New Roman"/>
              </a:rPr>
              <a:t> </a:t>
            </a:r>
            <a:r>
              <a:rPr sz="3300" spc="-20" dirty="0">
                <a:latin typeface="Times New Roman"/>
                <a:cs typeface="Times New Roman"/>
              </a:rPr>
              <a:t>(//)</a:t>
            </a:r>
            <a:endParaRPr sz="3300">
              <a:latin typeface="Times New Roman"/>
              <a:cs typeface="Times New Roman"/>
            </a:endParaRPr>
          </a:p>
          <a:p>
            <a:pPr marL="832485" lvl="1" indent="-410209">
              <a:lnSpc>
                <a:spcPct val="100000"/>
              </a:lnSpc>
              <a:spcBef>
                <a:spcPts val="1739"/>
              </a:spcBef>
              <a:buSzPct val="107575"/>
              <a:buFont typeface="Georgia"/>
              <a:buChar char="•"/>
              <a:tabLst>
                <a:tab pos="832485" algn="l"/>
              </a:tabLst>
            </a:pPr>
            <a:r>
              <a:rPr sz="3300" spc="-10" dirty="0">
                <a:latin typeface="Times New Roman"/>
                <a:cs typeface="Times New Roman"/>
              </a:rPr>
              <a:t>Multi-</a:t>
            </a:r>
            <a:r>
              <a:rPr sz="3300" dirty="0">
                <a:latin typeface="Times New Roman"/>
                <a:cs typeface="Times New Roman"/>
              </a:rPr>
              <a:t>line</a:t>
            </a:r>
            <a:r>
              <a:rPr sz="3300" spc="-10" dirty="0">
                <a:latin typeface="Times New Roman"/>
                <a:cs typeface="Times New Roman"/>
              </a:rPr>
              <a:t> </a:t>
            </a:r>
            <a:r>
              <a:rPr sz="3300" dirty="0">
                <a:latin typeface="Times New Roman"/>
                <a:cs typeface="Times New Roman"/>
              </a:rPr>
              <a:t>comments </a:t>
            </a:r>
            <a:r>
              <a:rPr sz="3300" spc="-10" dirty="0">
                <a:latin typeface="Times New Roman"/>
                <a:cs typeface="Times New Roman"/>
              </a:rPr>
              <a:t>(/**/)</a:t>
            </a:r>
            <a:endParaRPr sz="3300">
              <a:latin typeface="Times New Roman"/>
              <a:cs typeface="Times New Roman"/>
            </a:endParaRPr>
          </a:p>
        </p:txBody>
      </p:sp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02691" y="336743"/>
            <a:ext cx="1364565" cy="136456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2195" cy="2352675"/>
            <a:chOff x="0" y="0"/>
            <a:chExt cx="20102195" cy="235267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1586" cy="235217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73414" y="0"/>
              <a:ext cx="8094413" cy="228935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1665"/>
              <a:ext cx="20058194" cy="2034901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806462" y="354199"/>
            <a:ext cx="6430645" cy="1081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>
                <a:latin typeface="Arial MT"/>
                <a:cs typeface="Arial MT"/>
              </a:rPr>
              <a:t>Dart</a:t>
            </a:r>
            <a:r>
              <a:rPr spc="-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Data</a:t>
            </a:r>
            <a:r>
              <a:rPr spc="5" dirty="0">
                <a:latin typeface="Arial MT"/>
                <a:cs typeface="Arial MT"/>
              </a:rPr>
              <a:t> </a:t>
            </a:r>
            <a:r>
              <a:rPr spc="-10" dirty="0">
                <a:latin typeface="Arial MT"/>
                <a:cs typeface="Arial MT"/>
              </a:rPr>
              <a:t>Types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714408" y="1899701"/>
            <a:ext cx="9168765" cy="9260840"/>
          </a:xfrm>
          <a:prstGeom prst="rect">
            <a:avLst/>
          </a:prstGeom>
        </p:spPr>
        <p:txBody>
          <a:bodyPr vert="horz" wrap="square" lIns="0" tIns="170815" rIns="0" bIns="0" rtlCol="0">
            <a:spAutoFit/>
          </a:bodyPr>
          <a:lstStyle/>
          <a:p>
            <a:pPr marL="311785" indent="-299085">
              <a:lnSpc>
                <a:spcPct val="100000"/>
              </a:lnSpc>
              <a:spcBef>
                <a:spcPts val="1345"/>
              </a:spcBef>
              <a:buClr>
                <a:srgbClr val="000000"/>
              </a:buClr>
              <a:buSzPct val="86440"/>
              <a:buFont typeface="Georgia"/>
              <a:buChar char="•"/>
              <a:tabLst>
                <a:tab pos="311785" algn="l"/>
              </a:tabLst>
            </a:pPr>
            <a:r>
              <a:rPr sz="295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Numbers</a:t>
            </a:r>
            <a:endParaRPr sz="2950">
              <a:latin typeface="Times New Roman"/>
              <a:cs typeface="Times New Roman"/>
            </a:endParaRPr>
          </a:p>
          <a:p>
            <a:pPr marL="611505" lvl="1" indent="-299720">
              <a:lnSpc>
                <a:spcPct val="100000"/>
              </a:lnSpc>
              <a:spcBef>
                <a:spcPts val="1245"/>
              </a:spcBef>
              <a:buSzPct val="86440"/>
              <a:buFont typeface="Georgia"/>
              <a:buChar char="•"/>
              <a:tabLst>
                <a:tab pos="611505" algn="l"/>
              </a:tabLst>
            </a:pPr>
            <a:r>
              <a:rPr sz="2950" dirty="0">
                <a:latin typeface="Times New Roman"/>
                <a:cs typeface="Times New Roman"/>
              </a:rPr>
              <a:t>Integer:</a:t>
            </a:r>
            <a:r>
              <a:rPr sz="2950" spc="-10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Times New Roman"/>
                <a:cs typeface="Times New Roman"/>
              </a:rPr>
              <a:t>Integer values</a:t>
            </a:r>
            <a:r>
              <a:rPr sz="2950" spc="-10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Times New Roman"/>
                <a:cs typeface="Times New Roman"/>
              </a:rPr>
              <a:t>represent</a:t>
            </a:r>
            <a:r>
              <a:rPr sz="2950" spc="-5" dirty="0">
                <a:latin typeface="Times New Roman"/>
                <a:cs typeface="Times New Roman"/>
              </a:rPr>
              <a:t> </a:t>
            </a:r>
            <a:r>
              <a:rPr sz="2950" spc="-10" dirty="0">
                <a:latin typeface="Times New Roman"/>
                <a:cs typeface="Times New Roman"/>
              </a:rPr>
              <a:t>non-</a:t>
            </a:r>
            <a:r>
              <a:rPr sz="2950" dirty="0">
                <a:latin typeface="Times New Roman"/>
                <a:cs typeface="Times New Roman"/>
              </a:rPr>
              <a:t>fractional</a:t>
            </a:r>
            <a:r>
              <a:rPr sz="2950" spc="-10" dirty="0">
                <a:latin typeface="Times New Roman"/>
                <a:cs typeface="Times New Roman"/>
              </a:rPr>
              <a:t> values</a:t>
            </a:r>
            <a:endParaRPr sz="2950">
              <a:latin typeface="Times New Roman"/>
              <a:cs typeface="Times New Roman"/>
            </a:endParaRPr>
          </a:p>
          <a:p>
            <a:pPr marL="611505" lvl="1" indent="-299720">
              <a:lnSpc>
                <a:spcPct val="100000"/>
              </a:lnSpc>
              <a:spcBef>
                <a:spcPts val="1230"/>
              </a:spcBef>
              <a:buSzPct val="86440"/>
              <a:buFont typeface="Georgia"/>
              <a:buChar char="•"/>
              <a:tabLst>
                <a:tab pos="611505" algn="l"/>
              </a:tabLst>
            </a:pPr>
            <a:r>
              <a:rPr sz="2950" dirty="0">
                <a:latin typeface="Times New Roman"/>
                <a:cs typeface="Times New Roman"/>
              </a:rPr>
              <a:t>Double:</a:t>
            </a:r>
            <a:r>
              <a:rPr sz="2950" spc="-25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Times New Roman"/>
                <a:cs typeface="Times New Roman"/>
              </a:rPr>
              <a:t>Fractional</a:t>
            </a:r>
            <a:r>
              <a:rPr sz="2950" spc="-25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Times New Roman"/>
                <a:cs typeface="Times New Roman"/>
              </a:rPr>
              <a:t>numeric</a:t>
            </a:r>
            <a:r>
              <a:rPr sz="2950" spc="-20" dirty="0">
                <a:latin typeface="Times New Roman"/>
                <a:cs typeface="Times New Roman"/>
              </a:rPr>
              <a:t> </a:t>
            </a:r>
            <a:r>
              <a:rPr sz="2950" spc="-10" dirty="0">
                <a:latin typeface="Times New Roman"/>
                <a:cs typeface="Times New Roman"/>
              </a:rPr>
              <a:t>values</a:t>
            </a:r>
            <a:endParaRPr sz="2950">
              <a:latin typeface="Times New Roman"/>
              <a:cs typeface="Times New Roman"/>
            </a:endParaRPr>
          </a:p>
          <a:p>
            <a:pPr marL="311785" indent="-299085">
              <a:lnSpc>
                <a:spcPct val="100000"/>
              </a:lnSpc>
              <a:spcBef>
                <a:spcPts val="1250"/>
              </a:spcBef>
              <a:buClr>
                <a:srgbClr val="000000"/>
              </a:buClr>
              <a:buSzPct val="86440"/>
              <a:buFont typeface="Georgia"/>
              <a:buChar char="•"/>
              <a:tabLst>
                <a:tab pos="311785" algn="l"/>
              </a:tabLst>
            </a:pPr>
            <a:r>
              <a:rPr sz="295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Strings</a:t>
            </a:r>
            <a:endParaRPr sz="2950">
              <a:latin typeface="Times New Roman"/>
              <a:cs typeface="Times New Roman"/>
            </a:endParaRPr>
          </a:p>
          <a:p>
            <a:pPr marL="611505" lvl="1" indent="-299720">
              <a:lnSpc>
                <a:spcPct val="100000"/>
              </a:lnSpc>
              <a:spcBef>
                <a:spcPts val="1325"/>
              </a:spcBef>
              <a:buSzPct val="86440"/>
              <a:buFont typeface="Georgia"/>
              <a:buChar char="•"/>
              <a:tabLst>
                <a:tab pos="611505" algn="l"/>
              </a:tabLst>
            </a:pPr>
            <a:r>
              <a:rPr sz="2950" dirty="0">
                <a:latin typeface="Times New Roman"/>
                <a:cs typeface="Times New Roman"/>
              </a:rPr>
              <a:t>A</a:t>
            </a:r>
            <a:r>
              <a:rPr sz="2950" spc="-5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Times New Roman"/>
                <a:cs typeface="Times New Roman"/>
              </a:rPr>
              <a:t>Dart</a:t>
            </a:r>
            <a:r>
              <a:rPr sz="2950" spc="-5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Times New Roman"/>
                <a:cs typeface="Times New Roman"/>
              </a:rPr>
              <a:t>String is</a:t>
            </a:r>
            <a:r>
              <a:rPr sz="2950" spc="-5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Times New Roman"/>
                <a:cs typeface="Times New Roman"/>
              </a:rPr>
              <a:t>a</a:t>
            </a:r>
            <a:r>
              <a:rPr sz="2950" spc="5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Times New Roman"/>
                <a:cs typeface="Times New Roman"/>
              </a:rPr>
              <a:t>sequence</a:t>
            </a:r>
            <a:r>
              <a:rPr sz="2950" spc="5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Times New Roman"/>
                <a:cs typeface="Times New Roman"/>
              </a:rPr>
              <a:t>of </a:t>
            </a:r>
            <a:r>
              <a:rPr sz="2950" spc="-10" dirty="0">
                <a:latin typeface="Times New Roman"/>
                <a:cs typeface="Times New Roman"/>
              </a:rPr>
              <a:t>UTF-</a:t>
            </a:r>
            <a:r>
              <a:rPr sz="2950" dirty="0">
                <a:latin typeface="Times New Roman"/>
                <a:cs typeface="Times New Roman"/>
              </a:rPr>
              <a:t>16</a:t>
            </a:r>
            <a:r>
              <a:rPr sz="2950" spc="-5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Times New Roman"/>
                <a:cs typeface="Times New Roman"/>
              </a:rPr>
              <a:t>code</a:t>
            </a:r>
            <a:r>
              <a:rPr sz="2950" spc="5" dirty="0">
                <a:latin typeface="Times New Roman"/>
                <a:cs typeface="Times New Roman"/>
              </a:rPr>
              <a:t> </a:t>
            </a:r>
            <a:r>
              <a:rPr sz="2950" spc="-10" dirty="0">
                <a:latin typeface="Times New Roman"/>
                <a:cs typeface="Times New Roman"/>
              </a:rPr>
              <a:t>units</a:t>
            </a:r>
            <a:endParaRPr sz="2950">
              <a:latin typeface="Times New Roman"/>
              <a:cs typeface="Times New Roman"/>
            </a:endParaRPr>
          </a:p>
          <a:p>
            <a:pPr marL="311785" indent="-299085">
              <a:lnSpc>
                <a:spcPct val="100000"/>
              </a:lnSpc>
              <a:spcBef>
                <a:spcPts val="1230"/>
              </a:spcBef>
              <a:buClr>
                <a:srgbClr val="000000"/>
              </a:buClr>
              <a:buSzPct val="86440"/>
              <a:buFont typeface="Georgia"/>
              <a:buChar char="•"/>
              <a:tabLst>
                <a:tab pos="311785" algn="l"/>
              </a:tabLst>
            </a:pPr>
            <a:r>
              <a:rPr sz="295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Boolean</a:t>
            </a:r>
            <a:endParaRPr sz="2950">
              <a:latin typeface="Times New Roman"/>
              <a:cs typeface="Times New Roman"/>
            </a:endParaRPr>
          </a:p>
          <a:p>
            <a:pPr marL="611505" lvl="1" indent="-299720">
              <a:lnSpc>
                <a:spcPct val="100000"/>
              </a:lnSpc>
              <a:spcBef>
                <a:spcPts val="1250"/>
              </a:spcBef>
              <a:buSzPct val="86440"/>
              <a:buFont typeface="Georgia"/>
              <a:buChar char="•"/>
              <a:tabLst>
                <a:tab pos="611505" algn="l"/>
              </a:tabLst>
            </a:pPr>
            <a:r>
              <a:rPr sz="2950" dirty="0">
                <a:latin typeface="Times New Roman"/>
                <a:cs typeface="Times New Roman"/>
              </a:rPr>
              <a:t>Boolean</a:t>
            </a:r>
            <a:r>
              <a:rPr sz="2950" spc="-10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Times New Roman"/>
                <a:cs typeface="Times New Roman"/>
              </a:rPr>
              <a:t>data</a:t>
            </a:r>
            <a:r>
              <a:rPr sz="2950" spc="-5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Times New Roman"/>
                <a:cs typeface="Times New Roman"/>
              </a:rPr>
              <a:t>types</a:t>
            </a:r>
            <a:r>
              <a:rPr sz="2950" spc="-10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Times New Roman"/>
                <a:cs typeface="Times New Roman"/>
              </a:rPr>
              <a:t>represents</a:t>
            </a:r>
            <a:r>
              <a:rPr sz="2950" spc="-10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Times New Roman"/>
                <a:cs typeface="Times New Roman"/>
              </a:rPr>
              <a:t>true</a:t>
            </a:r>
            <a:r>
              <a:rPr sz="2950" spc="-5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Times New Roman"/>
                <a:cs typeface="Times New Roman"/>
              </a:rPr>
              <a:t>and</a:t>
            </a:r>
            <a:r>
              <a:rPr sz="2950" spc="-10" dirty="0">
                <a:latin typeface="Times New Roman"/>
                <a:cs typeface="Times New Roman"/>
              </a:rPr>
              <a:t> false</a:t>
            </a:r>
            <a:endParaRPr sz="2950">
              <a:latin typeface="Times New Roman"/>
              <a:cs typeface="Times New Roman"/>
            </a:endParaRPr>
          </a:p>
          <a:p>
            <a:pPr marL="611505" lvl="1" indent="-299720">
              <a:lnSpc>
                <a:spcPct val="100000"/>
              </a:lnSpc>
              <a:spcBef>
                <a:spcPts val="1250"/>
              </a:spcBef>
              <a:buSzPct val="86440"/>
              <a:buFont typeface="Georgia"/>
              <a:buChar char="•"/>
              <a:tabLst>
                <a:tab pos="611505" algn="l"/>
              </a:tabLst>
            </a:pPr>
            <a:r>
              <a:rPr sz="2950" dirty="0">
                <a:latin typeface="Times New Roman"/>
                <a:cs typeface="Times New Roman"/>
              </a:rPr>
              <a:t>Keyword:</a:t>
            </a:r>
            <a:r>
              <a:rPr sz="2950" spc="-15" dirty="0">
                <a:latin typeface="Times New Roman"/>
                <a:cs typeface="Times New Roman"/>
              </a:rPr>
              <a:t> </a:t>
            </a:r>
            <a:r>
              <a:rPr sz="2950" spc="-20" dirty="0">
                <a:latin typeface="Times New Roman"/>
                <a:cs typeface="Times New Roman"/>
              </a:rPr>
              <a:t>bool</a:t>
            </a:r>
            <a:endParaRPr sz="2950">
              <a:latin typeface="Times New Roman"/>
              <a:cs typeface="Times New Roman"/>
            </a:endParaRPr>
          </a:p>
          <a:p>
            <a:pPr marL="311785" indent="-299085">
              <a:lnSpc>
                <a:spcPct val="100000"/>
              </a:lnSpc>
              <a:spcBef>
                <a:spcPts val="1225"/>
              </a:spcBef>
              <a:buClr>
                <a:srgbClr val="000000"/>
              </a:buClr>
              <a:buSzPct val="86440"/>
              <a:buFont typeface="Georgia"/>
              <a:buChar char="•"/>
              <a:tabLst>
                <a:tab pos="311785" algn="l"/>
              </a:tabLst>
            </a:pPr>
            <a:r>
              <a:rPr sz="2950" b="1" spc="-20" dirty="0">
                <a:solidFill>
                  <a:srgbClr val="FF0000"/>
                </a:solidFill>
                <a:latin typeface="Times New Roman"/>
                <a:cs typeface="Times New Roman"/>
              </a:rPr>
              <a:t>List</a:t>
            </a:r>
            <a:endParaRPr sz="2950">
              <a:latin typeface="Times New Roman"/>
              <a:cs typeface="Times New Roman"/>
            </a:endParaRPr>
          </a:p>
          <a:p>
            <a:pPr marL="611505" lvl="1" indent="-299720">
              <a:lnSpc>
                <a:spcPct val="100000"/>
              </a:lnSpc>
              <a:spcBef>
                <a:spcPts val="1330"/>
              </a:spcBef>
              <a:buSzPct val="86440"/>
              <a:buFont typeface="Georgia"/>
              <a:buChar char="•"/>
              <a:tabLst>
                <a:tab pos="611505" algn="l"/>
              </a:tabLst>
            </a:pPr>
            <a:r>
              <a:rPr sz="2950" dirty="0">
                <a:latin typeface="Times New Roman"/>
                <a:cs typeface="Times New Roman"/>
              </a:rPr>
              <a:t>List</a:t>
            </a:r>
            <a:r>
              <a:rPr sz="2950" spc="-10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Times New Roman"/>
                <a:cs typeface="Times New Roman"/>
              </a:rPr>
              <a:t>is</a:t>
            </a:r>
            <a:r>
              <a:rPr sz="2950" spc="-5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Times New Roman"/>
                <a:cs typeface="Times New Roman"/>
              </a:rPr>
              <a:t>an</a:t>
            </a:r>
            <a:r>
              <a:rPr sz="2950" spc="-5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Times New Roman"/>
                <a:cs typeface="Times New Roman"/>
              </a:rPr>
              <a:t>ordered</a:t>
            </a:r>
            <a:r>
              <a:rPr sz="2950" spc="-10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Times New Roman"/>
                <a:cs typeface="Times New Roman"/>
              </a:rPr>
              <a:t>group</a:t>
            </a:r>
            <a:r>
              <a:rPr sz="2950" spc="-5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Times New Roman"/>
                <a:cs typeface="Times New Roman"/>
              </a:rPr>
              <a:t>of </a:t>
            </a:r>
            <a:r>
              <a:rPr sz="2950" spc="-10" dirty="0">
                <a:latin typeface="Times New Roman"/>
                <a:cs typeface="Times New Roman"/>
              </a:rPr>
              <a:t>objects.</a:t>
            </a:r>
            <a:endParaRPr sz="2950">
              <a:latin typeface="Times New Roman"/>
              <a:cs typeface="Times New Roman"/>
            </a:endParaRPr>
          </a:p>
          <a:p>
            <a:pPr marL="611505" lvl="1" indent="-299720">
              <a:lnSpc>
                <a:spcPct val="100000"/>
              </a:lnSpc>
              <a:spcBef>
                <a:spcPts val="1250"/>
              </a:spcBef>
              <a:buSzPct val="86440"/>
              <a:buFont typeface="Georgia"/>
              <a:buChar char="•"/>
              <a:tabLst>
                <a:tab pos="611505" algn="l"/>
              </a:tabLst>
            </a:pPr>
            <a:r>
              <a:rPr sz="2950" dirty="0">
                <a:latin typeface="Times New Roman"/>
                <a:cs typeface="Times New Roman"/>
              </a:rPr>
              <a:t>List</a:t>
            </a:r>
            <a:r>
              <a:rPr sz="2950" spc="-15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Times New Roman"/>
                <a:cs typeface="Times New Roman"/>
              </a:rPr>
              <a:t>is</a:t>
            </a:r>
            <a:r>
              <a:rPr sz="2950" spc="-10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Times New Roman"/>
                <a:cs typeface="Times New Roman"/>
              </a:rPr>
              <a:t>synonymous</a:t>
            </a:r>
            <a:r>
              <a:rPr sz="2950" spc="-15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Times New Roman"/>
                <a:cs typeface="Times New Roman"/>
              </a:rPr>
              <a:t>to</a:t>
            </a:r>
            <a:r>
              <a:rPr sz="2950" spc="-10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Times New Roman"/>
                <a:cs typeface="Times New Roman"/>
              </a:rPr>
              <a:t>the</a:t>
            </a:r>
            <a:r>
              <a:rPr sz="2950" spc="-10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Times New Roman"/>
                <a:cs typeface="Times New Roman"/>
              </a:rPr>
              <a:t>concept</a:t>
            </a:r>
            <a:r>
              <a:rPr sz="2950" spc="-10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Times New Roman"/>
                <a:cs typeface="Times New Roman"/>
              </a:rPr>
              <a:t>of</a:t>
            </a:r>
            <a:r>
              <a:rPr sz="2950" spc="-10" dirty="0">
                <a:latin typeface="Times New Roman"/>
                <a:cs typeface="Times New Roman"/>
              </a:rPr>
              <a:t> array</a:t>
            </a:r>
            <a:endParaRPr sz="2950">
              <a:latin typeface="Times New Roman"/>
              <a:cs typeface="Times New Roman"/>
            </a:endParaRPr>
          </a:p>
          <a:p>
            <a:pPr marL="311785" indent="-299085">
              <a:lnSpc>
                <a:spcPct val="100000"/>
              </a:lnSpc>
              <a:spcBef>
                <a:spcPts val="1245"/>
              </a:spcBef>
              <a:buClr>
                <a:srgbClr val="000000"/>
              </a:buClr>
              <a:buSzPct val="86440"/>
              <a:buFont typeface="Georgia"/>
              <a:buChar char="•"/>
              <a:tabLst>
                <a:tab pos="311785" algn="l"/>
              </a:tabLst>
            </a:pPr>
            <a:r>
              <a:rPr sz="295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Map</a:t>
            </a:r>
            <a:endParaRPr sz="2950">
              <a:latin typeface="Times New Roman"/>
              <a:cs typeface="Times New Roman"/>
            </a:endParaRPr>
          </a:p>
          <a:p>
            <a:pPr marL="611505" lvl="1" indent="-299720">
              <a:lnSpc>
                <a:spcPct val="100000"/>
              </a:lnSpc>
              <a:spcBef>
                <a:spcPts val="1310"/>
              </a:spcBef>
              <a:buSzPct val="86440"/>
              <a:buFont typeface="Georgia"/>
              <a:buChar char="•"/>
              <a:tabLst>
                <a:tab pos="611505" algn="l"/>
              </a:tabLst>
            </a:pPr>
            <a:r>
              <a:rPr sz="2950" dirty="0">
                <a:latin typeface="Times New Roman"/>
                <a:cs typeface="Times New Roman"/>
              </a:rPr>
              <a:t>Map</a:t>
            </a:r>
            <a:r>
              <a:rPr sz="2950" spc="-15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Times New Roman"/>
                <a:cs typeface="Times New Roman"/>
              </a:rPr>
              <a:t>data type represents</a:t>
            </a:r>
            <a:r>
              <a:rPr sz="2950" spc="-5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Times New Roman"/>
                <a:cs typeface="Times New Roman"/>
              </a:rPr>
              <a:t>a set</a:t>
            </a:r>
            <a:r>
              <a:rPr sz="2950" spc="-5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Times New Roman"/>
                <a:cs typeface="Times New Roman"/>
              </a:rPr>
              <a:t>of</a:t>
            </a:r>
            <a:r>
              <a:rPr sz="2950" spc="5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Times New Roman"/>
                <a:cs typeface="Times New Roman"/>
              </a:rPr>
              <a:t>value</a:t>
            </a:r>
            <a:r>
              <a:rPr sz="2950" spc="-5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Times New Roman"/>
                <a:cs typeface="Times New Roman"/>
              </a:rPr>
              <a:t>as</a:t>
            </a:r>
            <a:r>
              <a:rPr sz="2950" spc="-5" dirty="0">
                <a:latin typeface="Times New Roman"/>
                <a:cs typeface="Times New Roman"/>
              </a:rPr>
              <a:t> </a:t>
            </a:r>
            <a:r>
              <a:rPr sz="2950" spc="-10" dirty="0">
                <a:latin typeface="Times New Roman"/>
                <a:cs typeface="Times New Roman"/>
              </a:rPr>
              <a:t>key-</a:t>
            </a:r>
            <a:r>
              <a:rPr sz="2950" dirty="0">
                <a:latin typeface="Times New Roman"/>
                <a:cs typeface="Times New Roman"/>
              </a:rPr>
              <a:t>value</a:t>
            </a:r>
            <a:r>
              <a:rPr sz="2950" spc="5" dirty="0">
                <a:latin typeface="Times New Roman"/>
                <a:cs typeface="Times New Roman"/>
              </a:rPr>
              <a:t> </a:t>
            </a:r>
            <a:r>
              <a:rPr sz="2950" spc="-20" dirty="0">
                <a:latin typeface="Times New Roman"/>
                <a:cs typeface="Times New Roman"/>
              </a:rPr>
              <a:t>pair</a:t>
            </a:r>
            <a:endParaRPr sz="2950">
              <a:latin typeface="Times New Roman"/>
              <a:cs typeface="Times New Roman"/>
            </a:endParaRPr>
          </a:p>
          <a:p>
            <a:pPr marL="311785" indent="-299085">
              <a:lnSpc>
                <a:spcPct val="100000"/>
              </a:lnSpc>
              <a:spcBef>
                <a:spcPts val="1664"/>
              </a:spcBef>
              <a:buClr>
                <a:srgbClr val="000000"/>
              </a:buClr>
              <a:buSzPct val="86440"/>
              <a:buFont typeface="Georgia"/>
              <a:buChar char="•"/>
              <a:tabLst>
                <a:tab pos="311785" algn="l"/>
              </a:tabLst>
            </a:pPr>
            <a:r>
              <a:rPr sz="295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Runes</a:t>
            </a:r>
            <a:endParaRPr sz="2950">
              <a:latin typeface="Times New Roman"/>
              <a:cs typeface="Times New Roman"/>
            </a:endParaRPr>
          </a:p>
          <a:p>
            <a:pPr marL="611505" lvl="1" indent="-299720">
              <a:lnSpc>
                <a:spcPct val="100000"/>
              </a:lnSpc>
              <a:spcBef>
                <a:spcPts val="1565"/>
              </a:spcBef>
              <a:buSzPct val="86440"/>
              <a:buFont typeface="Georgia"/>
              <a:buChar char="•"/>
              <a:tabLst>
                <a:tab pos="611505" algn="l"/>
              </a:tabLst>
            </a:pPr>
            <a:r>
              <a:rPr sz="2950" dirty="0">
                <a:latin typeface="Times New Roman"/>
                <a:cs typeface="Times New Roman"/>
              </a:rPr>
              <a:t>It</a:t>
            </a:r>
            <a:r>
              <a:rPr sz="2950" spc="-15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Times New Roman"/>
                <a:cs typeface="Times New Roman"/>
              </a:rPr>
              <a:t>is</a:t>
            </a:r>
            <a:r>
              <a:rPr sz="2950" spc="-15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Times New Roman"/>
                <a:cs typeface="Times New Roman"/>
              </a:rPr>
              <a:t>used</a:t>
            </a:r>
            <a:r>
              <a:rPr sz="2950" spc="-10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Times New Roman"/>
                <a:cs typeface="Times New Roman"/>
              </a:rPr>
              <a:t>to</a:t>
            </a:r>
            <a:r>
              <a:rPr sz="2950" spc="-15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Times New Roman"/>
                <a:cs typeface="Times New Roman"/>
              </a:rPr>
              <a:t>represent</a:t>
            </a:r>
            <a:r>
              <a:rPr sz="2950" spc="-10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Times New Roman"/>
                <a:cs typeface="Times New Roman"/>
              </a:rPr>
              <a:t>the</a:t>
            </a:r>
            <a:r>
              <a:rPr sz="2950" spc="-10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Times New Roman"/>
                <a:cs typeface="Times New Roman"/>
              </a:rPr>
              <a:t>special</a:t>
            </a:r>
            <a:r>
              <a:rPr sz="2950" spc="-10" dirty="0">
                <a:latin typeface="Times New Roman"/>
                <a:cs typeface="Times New Roman"/>
              </a:rPr>
              <a:t> syntax.</a:t>
            </a:r>
            <a:endParaRPr sz="2950">
              <a:latin typeface="Times New Roman"/>
              <a:cs typeface="Times New Roman"/>
            </a:endParaRP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02691" y="336743"/>
            <a:ext cx="1364565" cy="136456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4100" cy="2541270"/>
            <a:chOff x="0" y="0"/>
            <a:chExt cx="20104100" cy="25412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1586" cy="254065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44730" y="0"/>
              <a:ext cx="6842933" cy="247783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190151"/>
              <a:ext cx="20104099" cy="2034803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4351" rIns="0" bIns="0" rtlCol="0">
            <a:spAutoFit/>
          </a:bodyPr>
          <a:lstStyle/>
          <a:p>
            <a:pPr marL="1214755">
              <a:lnSpc>
                <a:spcPct val="100000"/>
              </a:lnSpc>
              <a:spcBef>
                <a:spcPts val="125"/>
              </a:spcBef>
            </a:pPr>
            <a:r>
              <a:rPr dirty="0"/>
              <a:t>Dart</a:t>
            </a:r>
            <a:r>
              <a:rPr spc="-15" dirty="0"/>
              <a:t> </a:t>
            </a:r>
            <a:r>
              <a:rPr spc="-10" dirty="0"/>
              <a:t>Variables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076272" y="3536511"/>
            <a:ext cx="17735550" cy="6073775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482600" marR="1388745" indent="-470534">
              <a:lnSpc>
                <a:spcPts val="3960"/>
              </a:lnSpc>
              <a:spcBef>
                <a:spcPts val="229"/>
              </a:spcBef>
              <a:buClr>
                <a:srgbClr val="000000"/>
              </a:buClr>
              <a:buSzPct val="119696"/>
              <a:buFont typeface="Wingdings"/>
              <a:buChar char=""/>
              <a:tabLst>
                <a:tab pos="483870" algn="l"/>
              </a:tabLst>
            </a:pP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A</a:t>
            </a:r>
            <a:r>
              <a:rPr sz="3300" b="1" spc="-5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variable</a:t>
            </a:r>
            <a:r>
              <a:rPr sz="3300" b="1" spc="-5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is</a:t>
            </a:r>
            <a:r>
              <a:rPr sz="3300" b="1" spc="-4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a</a:t>
            </a:r>
            <a:r>
              <a:rPr sz="3300" b="1" spc="-5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named</a:t>
            </a:r>
            <a:r>
              <a:rPr sz="3300" b="1" spc="-5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space</a:t>
            </a:r>
            <a:r>
              <a:rPr sz="3300" b="1" spc="-5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in</a:t>
            </a:r>
            <a:r>
              <a:rPr sz="3300" b="1" spc="-5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the</a:t>
            </a:r>
            <a:r>
              <a:rPr sz="3300" b="1" spc="-5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memory</a:t>
            </a:r>
            <a:r>
              <a:rPr sz="3300" b="1" spc="-5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that</a:t>
            </a:r>
            <a:r>
              <a:rPr sz="3300" b="1" spc="-5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stores</a:t>
            </a:r>
            <a:r>
              <a:rPr sz="3300" b="1" spc="-4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values.</a:t>
            </a:r>
            <a:r>
              <a:rPr sz="3300" b="1" spc="-5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In</a:t>
            </a:r>
            <a:r>
              <a:rPr sz="3300" b="1" spc="-5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other</a:t>
            </a:r>
            <a:r>
              <a:rPr sz="3300" b="1" spc="-5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word</a:t>
            </a:r>
            <a:r>
              <a:rPr sz="3300" b="1" spc="-4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variable</a:t>
            </a:r>
            <a:r>
              <a:rPr sz="3300" b="1" spc="-5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is</a:t>
            </a:r>
            <a:r>
              <a:rPr sz="3300" b="1" spc="-4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spc="-50" dirty="0">
                <a:solidFill>
                  <a:srgbClr val="245796"/>
                </a:solidFill>
                <a:latin typeface="Times New Roman"/>
                <a:cs typeface="Times New Roman"/>
              </a:rPr>
              <a:t>a 	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container</a:t>
            </a:r>
            <a:r>
              <a:rPr sz="3300" b="1" spc="-4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for</a:t>
            </a:r>
            <a:r>
              <a:rPr sz="3300" b="1" spc="-3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the</a:t>
            </a:r>
            <a:r>
              <a:rPr sz="3300" b="1" spc="-4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values</a:t>
            </a:r>
            <a:r>
              <a:rPr sz="3300" b="1" spc="-3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in</a:t>
            </a:r>
            <a:r>
              <a:rPr sz="3300" b="1" spc="-3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a</a:t>
            </a:r>
            <a:r>
              <a:rPr sz="3300" b="1" spc="-4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spc="-10" dirty="0">
                <a:solidFill>
                  <a:srgbClr val="245796"/>
                </a:solidFill>
                <a:latin typeface="Times New Roman"/>
                <a:cs typeface="Times New Roman"/>
              </a:rPr>
              <a:t>program</a:t>
            </a:r>
            <a:endParaRPr sz="3300">
              <a:latin typeface="Times New Roman"/>
              <a:cs typeface="Times New Roman"/>
            </a:endParaRPr>
          </a:p>
          <a:p>
            <a:pPr marL="483234" indent="-470534">
              <a:lnSpc>
                <a:spcPts val="4350"/>
              </a:lnSpc>
              <a:spcBef>
                <a:spcPts val="3170"/>
              </a:spcBef>
              <a:buClr>
                <a:srgbClr val="000000"/>
              </a:buClr>
              <a:buSzPct val="119696"/>
              <a:buFont typeface="Wingdings"/>
              <a:buChar char=""/>
              <a:tabLst>
                <a:tab pos="483234" algn="l"/>
              </a:tabLst>
            </a:pPr>
            <a:r>
              <a:rPr sz="3300" b="1" dirty="0">
                <a:solidFill>
                  <a:srgbClr val="FF0000"/>
                </a:solidFill>
                <a:latin typeface="Times New Roman"/>
                <a:cs typeface="Times New Roman"/>
              </a:rPr>
              <a:t>Rule</a:t>
            </a:r>
            <a:r>
              <a:rPr sz="3300" b="1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FF0000"/>
                </a:solidFill>
                <a:latin typeface="Times New Roman"/>
                <a:cs typeface="Times New Roman"/>
              </a:rPr>
              <a:t>to</a:t>
            </a:r>
            <a:r>
              <a:rPr sz="3300" b="1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FF0000"/>
                </a:solidFill>
                <a:latin typeface="Times New Roman"/>
                <a:cs typeface="Times New Roman"/>
              </a:rPr>
              <a:t>Create</a:t>
            </a:r>
            <a:r>
              <a:rPr sz="3300" b="1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3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Variable</a:t>
            </a:r>
            <a:endParaRPr sz="3300">
              <a:latin typeface="Times New Roman"/>
              <a:cs typeface="Times New Roman"/>
            </a:endParaRPr>
          </a:p>
          <a:p>
            <a:pPr marL="482600" marR="109220" indent="-470534">
              <a:lnSpc>
                <a:spcPts val="3960"/>
              </a:lnSpc>
              <a:spcBef>
                <a:spcPts val="390"/>
              </a:spcBef>
              <a:buClr>
                <a:srgbClr val="000000"/>
              </a:buClr>
              <a:buSzPct val="119696"/>
              <a:buFont typeface="Wingdings"/>
              <a:buChar char=""/>
              <a:tabLst>
                <a:tab pos="483870" algn="l"/>
              </a:tabLst>
            </a:pP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The</a:t>
            </a:r>
            <a:r>
              <a:rPr sz="3300" b="1" spc="-8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variable</a:t>
            </a:r>
            <a:r>
              <a:rPr sz="3300" b="1" spc="-8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FF0000"/>
                </a:solidFill>
                <a:latin typeface="Times New Roman"/>
                <a:cs typeface="Times New Roman"/>
              </a:rPr>
              <a:t>cannot</a:t>
            </a:r>
            <a:r>
              <a:rPr sz="3300" b="1" spc="-7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FF0000"/>
                </a:solidFill>
                <a:latin typeface="Times New Roman"/>
                <a:cs typeface="Times New Roman"/>
              </a:rPr>
              <a:t>contain</a:t>
            </a:r>
            <a:r>
              <a:rPr sz="3300" b="1" spc="-8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FF0000"/>
                </a:solidFill>
                <a:latin typeface="Times New Roman"/>
                <a:cs typeface="Times New Roman"/>
              </a:rPr>
              <a:t>special</a:t>
            </a:r>
            <a:r>
              <a:rPr sz="3300" b="1" spc="-7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FF0000"/>
                </a:solidFill>
                <a:latin typeface="Times New Roman"/>
                <a:cs typeface="Times New Roman"/>
              </a:rPr>
              <a:t>characters</a:t>
            </a:r>
            <a:r>
              <a:rPr sz="3300" b="1" spc="-8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such</a:t>
            </a:r>
            <a:r>
              <a:rPr sz="3300" b="1" spc="-7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as</a:t>
            </a:r>
            <a:r>
              <a:rPr sz="3300" b="1" spc="-7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whitespace,</a:t>
            </a:r>
            <a:r>
              <a:rPr sz="3300" b="1" spc="-8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mathematical</a:t>
            </a:r>
            <a:r>
              <a:rPr sz="3300" b="1" spc="-7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symbol,</a:t>
            </a:r>
            <a:r>
              <a:rPr sz="3300" b="1" spc="-8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spc="-10" dirty="0">
                <a:solidFill>
                  <a:srgbClr val="245796"/>
                </a:solidFill>
                <a:latin typeface="Times New Roman"/>
                <a:cs typeface="Times New Roman"/>
              </a:rPr>
              <a:t>runes, 	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Unicode</a:t>
            </a:r>
            <a:r>
              <a:rPr sz="3300" b="1" spc="-8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character,</a:t>
            </a:r>
            <a:r>
              <a:rPr sz="3300" b="1" spc="-7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and</a:t>
            </a:r>
            <a:r>
              <a:rPr sz="3300" b="1" spc="-7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spc="-10" dirty="0">
                <a:solidFill>
                  <a:srgbClr val="245796"/>
                </a:solidFill>
                <a:latin typeface="Times New Roman"/>
                <a:cs typeface="Times New Roman"/>
              </a:rPr>
              <a:t>keywords.</a:t>
            </a:r>
            <a:endParaRPr sz="3300">
              <a:latin typeface="Times New Roman"/>
              <a:cs typeface="Times New Roman"/>
            </a:endParaRPr>
          </a:p>
          <a:p>
            <a:pPr marL="483234" indent="-470534">
              <a:lnSpc>
                <a:spcPts val="3885"/>
              </a:lnSpc>
              <a:buClr>
                <a:srgbClr val="000000"/>
              </a:buClr>
              <a:buSzPct val="119696"/>
              <a:buFont typeface="Wingdings"/>
              <a:buChar char=""/>
              <a:tabLst>
                <a:tab pos="483234" algn="l"/>
              </a:tabLst>
            </a:pP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The</a:t>
            </a:r>
            <a:r>
              <a:rPr sz="3300" b="1" spc="-5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first</a:t>
            </a:r>
            <a:r>
              <a:rPr sz="3300" b="1" spc="-5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character</a:t>
            </a:r>
            <a:r>
              <a:rPr sz="3300" b="1" spc="-5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of</a:t>
            </a:r>
            <a:r>
              <a:rPr sz="3300" b="1" spc="-5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the</a:t>
            </a:r>
            <a:r>
              <a:rPr sz="3300" b="1" spc="-5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variable</a:t>
            </a:r>
            <a:r>
              <a:rPr sz="3300" b="1" spc="-5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should</a:t>
            </a:r>
            <a:r>
              <a:rPr sz="3300" b="1" spc="-5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be</a:t>
            </a:r>
            <a:r>
              <a:rPr sz="3300" b="1" spc="-5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an</a:t>
            </a:r>
            <a:r>
              <a:rPr sz="3300" b="1" spc="-5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FF0000"/>
                </a:solidFill>
                <a:latin typeface="Times New Roman"/>
                <a:cs typeface="Times New Roman"/>
              </a:rPr>
              <a:t>alphabet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([A</a:t>
            </a:r>
            <a:r>
              <a:rPr sz="3300" b="1" spc="-5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to</a:t>
            </a:r>
            <a:r>
              <a:rPr sz="3300" b="1" spc="-5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Z],[a</a:t>
            </a:r>
            <a:r>
              <a:rPr sz="3300" b="1" spc="-5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to</a:t>
            </a:r>
            <a:r>
              <a:rPr sz="3300" b="1" spc="-5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z]).</a:t>
            </a:r>
            <a:r>
              <a:rPr sz="3300" b="1" spc="-5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FF0000"/>
                </a:solidFill>
                <a:latin typeface="Times New Roman"/>
                <a:cs typeface="Times New Roman"/>
              </a:rPr>
              <a:t>Digits</a:t>
            </a:r>
            <a:r>
              <a:rPr sz="3300" b="1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FF0000"/>
                </a:solidFill>
                <a:latin typeface="Times New Roman"/>
                <a:cs typeface="Times New Roman"/>
              </a:rPr>
              <a:t>are</a:t>
            </a:r>
            <a:r>
              <a:rPr sz="3300" b="1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FF0000"/>
                </a:solidFill>
                <a:latin typeface="Times New Roman"/>
                <a:cs typeface="Times New Roman"/>
              </a:rPr>
              <a:t>not</a:t>
            </a:r>
            <a:r>
              <a:rPr sz="3300" b="1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300" b="1" spc="-10" dirty="0">
                <a:solidFill>
                  <a:srgbClr val="245796"/>
                </a:solidFill>
                <a:latin typeface="Times New Roman"/>
                <a:cs typeface="Times New Roman"/>
              </a:rPr>
              <a:t>allowed</a:t>
            </a:r>
            <a:endParaRPr sz="3300">
              <a:latin typeface="Times New Roman"/>
              <a:cs typeface="Times New Roman"/>
            </a:endParaRPr>
          </a:p>
          <a:p>
            <a:pPr marL="483870">
              <a:lnSpc>
                <a:spcPts val="3565"/>
              </a:lnSpc>
            </a:pP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as</a:t>
            </a:r>
            <a:r>
              <a:rPr sz="3300" b="1" spc="-3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the</a:t>
            </a:r>
            <a:r>
              <a:rPr sz="3300" b="1" spc="-4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first</a:t>
            </a:r>
            <a:r>
              <a:rPr sz="3300" b="1" spc="-3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spc="-10" dirty="0">
                <a:solidFill>
                  <a:srgbClr val="245796"/>
                </a:solidFill>
                <a:latin typeface="Times New Roman"/>
                <a:cs typeface="Times New Roman"/>
              </a:rPr>
              <a:t>character.</a:t>
            </a:r>
            <a:endParaRPr sz="3300">
              <a:latin typeface="Times New Roman"/>
              <a:cs typeface="Times New Roman"/>
            </a:endParaRPr>
          </a:p>
          <a:p>
            <a:pPr marL="483234" indent="-470534">
              <a:lnSpc>
                <a:spcPts val="4020"/>
              </a:lnSpc>
              <a:buClr>
                <a:srgbClr val="000000"/>
              </a:buClr>
              <a:buSzPct val="119696"/>
              <a:buFont typeface="Wingdings"/>
              <a:buChar char=""/>
              <a:tabLst>
                <a:tab pos="483234" algn="l"/>
              </a:tabLst>
            </a:pP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Variables</a:t>
            </a:r>
            <a:r>
              <a:rPr sz="3300" b="1" spc="-5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are</a:t>
            </a:r>
            <a:r>
              <a:rPr sz="3300" b="1" spc="-5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FF0000"/>
                </a:solidFill>
                <a:latin typeface="Times New Roman"/>
                <a:cs typeface="Times New Roman"/>
              </a:rPr>
              <a:t>case</a:t>
            </a:r>
            <a:r>
              <a:rPr sz="3300" b="1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FF0000"/>
                </a:solidFill>
                <a:latin typeface="Times New Roman"/>
                <a:cs typeface="Times New Roman"/>
              </a:rPr>
              <a:t>sensitive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.</a:t>
            </a:r>
            <a:r>
              <a:rPr sz="3300" b="1" spc="-5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For</a:t>
            </a:r>
            <a:r>
              <a:rPr sz="3300" b="1" spc="-5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example,</a:t>
            </a:r>
            <a:r>
              <a:rPr sz="3300" b="1" spc="-5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-</a:t>
            </a:r>
            <a:r>
              <a:rPr sz="3300" b="1" spc="-5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variable</a:t>
            </a:r>
            <a:r>
              <a:rPr sz="3300" b="1" spc="-5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age</a:t>
            </a:r>
            <a:r>
              <a:rPr sz="3300" b="1" spc="-5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and</a:t>
            </a:r>
            <a:r>
              <a:rPr sz="3300" b="1" spc="-5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AGE</a:t>
            </a:r>
            <a:r>
              <a:rPr sz="3300" b="1" spc="-5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are</a:t>
            </a:r>
            <a:r>
              <a:rPr sz="3300" b="1" spc="-5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treated</a:t>
            </a:r>
            <a:r>
              <a:rPr sz="3300" b="1" spc="-5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spc="-10" dirty="0">
                <a:solidFill>
                  <a:srgbClr val="245796"/>
                </a:solidFill>
                <a:latin typeface="Times New Roman"/>
                <a:cs typeface="Times New Roman"/>
              </a:rPr>
              <a:t>differently.</a:t>
            </a:r>
            <a:endParaRPr sz="3300">
              <a:latin typeface="Times New Roman"/>
              <a:cs typeface="Times New Roman"/>
            </a:endParaRPr>
          </a:p>
          <a:p>
            <a:pPr marL="482600" marR="864869" indent="-470534">
              <a:lnSpc>
                <a:spcPts val="3960"/>
              </a:lnSpc>
              <a:spcBef>
                <a:spcPts val="390"/>
              </a:spcBef>
              <a:buClr>
                <a:srgbClr val="000000"/>
              </a:buClr>
              <a:buSzPct val="119696"/>
              <a:buFont typeface="Wingdings"/>
              <a:buChar char=""/>
              <a:tabLst>
                <a:tab pos="483870" algn="l"/>
              </a:tabLst>
            </a:pP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The</a:t>
            </a:r>
            <a:r>
              <a:rPr sz="3300" b="1" spc="-5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FF0000"/>
                </a:solidFill>
                <a:latin typeface="Times New Roman"/>
                <a:cs typeface="Times New Roman"/>
              </a:rPr>
              <a:t>special</a:t>
            </a:r>
            <a:r>
              <a:rPr sz="3300" b="1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FF0000"/>
                </a:solidFill>
                <a:latin typeface="Times New Roman"/>
                <a:cs typeface="Times New Roman"/>
              </a:rPr>
              <a:t>character</a:t>
            </a:r>
            <a:r>
              <a:rPr sz="3300" b="1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such</a:t>
            </a:r>
            <a:r>
              <a:rPr sz="3300" b="1" spc="-4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as</a:t>
            </a:r>
            <a:r>
              <a:rPr sz="3300" b="1" spc="-4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#,</a:t>
            </a:r>
            <a:r>
              <a:rPr sz="3300" b="1" spc="-5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@,</a:t>
            </a:r>
            <a:r>
              <a:rPr sz="3300" b="1" spc="-5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^,</a:t>
            </a:r>
            <a:r>
              <a:rPr sz="3300" b="1" spc="-5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&amp;,</a:t>
            </a:r>
            <a:r>
              <a:rPr sz="3300" b="1" spc="-5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*</a:t>
            </a:r>
            <a:r>
              <a:rPr sz="3300" b="1" spc="-5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are</a:t>
            </a:r>
            <a:r>
              <a:rPr sz="3300" b="1" spc="-5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not</a:t>
            </a:r>
            <a:r>
              <a:rPr sz="3300" b="1" spc="-4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allowed</a:t>
            </a:r>
            <a:r>
              <a:rPr sz="3300" b="1" spc="-5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expect</a:t>
            </a:r>
            <a:r>
              <a:rPr sz="3300" b="1" spc="-4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the</a:t>
            </a:r>
            <a:r>
              <a:rPr sz="3300" b="1" spc="-5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underscore(_)</a:t>
            </a:r>
            <a:r>
              <a:rPr sz="3300" b="1" spc="-4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and</a:t>
            </a:r>
            <a:r>
              <a:rPr sz="3300" b="1" spc="-4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spc="-25" dirty="0">
                <a:solidFill>
                  <a:srgbClr val="245796"/>
                </a:solidFill>
                <a:latin typeface="Times New Roman"/>
                <a:cs typeface="Times New Roman"/>
              </a:rPr>
              <a:t>the 	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dollar</a:t>
            </a:r>
            <a:r>
              <a:rPr sz="3300" b="1" spc="-2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spc="-10" dirty="0">
                <a:solidFill>
                  <a:srgbClr val="245796"/>
                </a:solidFill>
                <a:latin typeface="Times New Roman"/>
                <a:cs typeface="Times New Roman"/>
              </a:rPr>
              <a:t>sign($).</a:t>
            </a:r>
            <a:endParaRPr sz="3300">
              <a:latin typeface="Times New Roman"/>
              <a:cs typeface="Times New Roman"/>
            </a:endParaRPr>
          </a:p>
          <a:p>
            <a:pPr marL="483234" indent="-470534">
              <a:lnSpc>
                <a:spcPts val="3954"/>
              </a:lnSpc>
              <a:buClr>
                <a:srgbClr val="000000"/>
              </a:buClr>
              <a:buSzPct val="119696"/>
              <a:buFont typeface="Wingdings"/>
              <a:buChar char=""/>
              <a:tabLst>
                <a:tab pos="483234" algn="l"/>
              </a:tabLst>
            </a:pP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The</a:t>
            </a:r>
            <a:r>
              <a:rPr sz="3300" b="1" spc="-7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FF0000"/>
                </a:solidFill>
                <a:latin typeface="Times New Roman"/>
                <a:cs typeface="Times New Roman"/>
              </a:rPr>
              <a:t>variable</a:t>
            </a:r>
            <a:r>
              <a:rPr sz="3300" b="1" spc="-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FF0000"/>
                </a:solidFill>
                <a:latin typeface="Times New Roman"/>
                <a:cs typeface="Times New Roman"/>
              </a:rPr>
              <a:t>name</a:t>
            </a:r>
            <a:r>
              <a:rPr sz="3300" b="1" spc="-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should</a:t>
            </a:r>
            <a:r>
              <a:rPr sz="3300" b="1" spc="-6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be</a:t>
            </a:r>
            <a:r>
              <a:rPr sz="3300" b="1" spc="-6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retable</a:t>
            </a:r>
            <a:r>
              <a:rPr sz="3300" b="1" spc="-7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to</a:t>
            </a:r>
            <a:r>
              <a:rPr sz="3300" b="1" spc="-6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the</a:t>
            </a:r>
            <a:r>
              <a:rPr sz="3300" b="1" spc="-6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program</a:t>
            </a:r>
            <a:r>
              <a:rPr sz="3300" b="1" spc="-6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dirty="0">
                <a:solidFill>
                  <a:srgbClr val="245796"/>
                </a:solidFill>
                <a:latin typeface="Times New Roman"/>
                <a:cs typeface="Times New Roman"/>
              </a:rPr>
              <a:t>and</a:t>
            </a:r>
            <a:r>
              <a:rPr sz="3300" b="1" spc="-6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300" b="1" spc="-10" dirty="0">
                <a:solidFill>
                  <a:srgbClr val="245796"/>
                </a:solidFill>
                <a:latin typeface="Times New Roman"/>
                <a:cs typeface="Times New Roman"/>
              </a:rPr>
              <a:t>readable.</a:t>
            </a:r>
            <a:endParaRPr sz="3300">
              <a:latin typeface="Times New Roman"/>
              <a:cs typeface="Times New Roman"/>
            </a:endParaRP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02691" y="336743"/>
            <a:ext cx="1364565" cy="136456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2195" cy="2352675"/>
            <a:chOff x="0" y="0"/>
            <a:chExt cx="20102195" cy="235267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1586" cy="235217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99495" y="0"/>
              <a:ext cx="6842933" cy="228935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1675"/>
              <a:ext cx="20058204" cy="2034803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169035">
              <a:lnSpc>
                <a:spcPct val="100000"/>
              </a:lnSpc>
              <a:spcBef>
                <a:spcPts val="125"/>
              </a:spcBef>
            </a:pPr>
            <a:r>
              <a:rPr dirty="0"/>
              <a:t>Dart</a:t>
            </a:r>
            <a:r>
              <a:rPr spc="-15" dirty="0"/>
              <a:t> </a:t>
            </a:r>
            <a:r>
              <a:rPr spc="-10" dirty="0"/>
              <a:t>Variables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076272" y="2520416"/>
            <a:ext cx="9418320" cy="12369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73075" indent="-460375">
              <a:lnSpc>
                <a:spcPct val="100000"/>
              </a:lnSpc>
              <a:spcBef>
                <a:spcPts val="105"/>
              </a:spcBef>
              <a:buClr>
                <a:srgbClr val="000000"/>
              </a:buClr>
              <a:buFont typeface="Georgia"/>
              <a:buChar char="•"/>
              <a:tabLst>
                <a:tab pos="473075" algn="l"/>
                <a:tab pos="7106284" algn="l"/>
              </a:tabLst>
            </a:pPr>
            <a:r>
              <a:rPr sz="3950" b="1" dirty="0">
                <a:solidFill>
                  <a:srgbClr val="245796"/>
                </a:solidFill>
                <a:latin typeface="Times New Roman"/>
                <a:cs typeface="Times New Roman"/>
              </a:rPr>
              <a:t>Syntax:</a:t>
            </a:r>
            <a:r>
              <a:rPr sz="3950" b="1" spc="-1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950" b="1" dirty="0">
                <a:solidFill>
                  <a:srgbClr val="FF0000"/>
                </a:solidFill>
                <a:latin typeface="Times New Roman"/>
                <a:cs typeface="Times New Roman"/>
              </a:rPr>
              <a:t>var</a:t>
            </a:r>
            <a:r>
              <a:rPr sz="395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95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&lt;variable_name&gt;</a:t>
            </a:r>
            <a:r>
              <a:rPr sz="3950" b="1" dirty="0">
                <a:solidFill>
                  <a:srgbClr val="FF0000"/>
                </a:solidFill>
                <a:latin typeface="Times New Roman"/>
                <a:cs typeface="Times New Roman"/>
              </a:rPr>
              <a:t>	=</a:t>
            </a:r>
            <a:r>
              <a:rPr sz="395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 &lt;value&gt;;</a:t>
            </a:r>
            <a:endParaRPr sz="3950">
              <a:latin typeface="Times New Roman"/>
              <a:cs typeface="Times New Roman"/>
            </a:endParaRPr>
          </a:p>
          <a:p>
            <a:pPr marL="473075" indent="-460375">
              <a:lnSpc>
                <a:spcPct val="100000"/>
              </a:lnSpc>
              <a:spcBef>
                <a:spcPts val="50"/>
              </a:spcBef>
              <a:buClr>
                <a:srgbClr val="000000"/>
              </a:buClr>
              <a:buFont typeface="Georgia"/>
              <a:buChar char="•"/>
              <a:tabLst>
                <a:tab pos="473075" algn="l"/>
              </a:tabLst>
            </a:pPr>
            <a:r>
              <a:rPr sz="3950" b="1" dirty="0">
                <a:solidFill>
                  <a:srgbClr val="245796"/>
                </a:solidFill>
                <a:latin typeface="Times New Roman"/>
                <a:cs typeface="Times New Roman"/>
              </a:rPr>
              <a:t>Keyword:</a:t>
            </a:r>
            <a:r>
              <a:rPr sz="3950" b="1" spc="-3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95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dynamic</a:t>
            </a:r>
            <a:endParaRPr sz="3950">
              <a:latin typeface="Times New Roman"/>
              <a:cs typeface="Times New Roman"/>
            </a:endParaRP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02691" y="336743"/>
            <a:ext cx="1364565" cy="1364565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519291" y="4533474"/>
            <a:ext cx="10227960" cy="565176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2195" cy="2352675"/>
            <a:chOff x="0" y="0"/>
            <a:chExt cx="20102195" cy="235267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1586" cy="235217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99495" y="0"/>
              <a:ext cx="6842933" cy="228935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1675"/>
              <a:ext cx="20058204" cy="2034803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169035">
              <a:lnSpc>
                <a:spcPct val="100000"/>
              </a:lnSpc>
              <a:spcBef>
                <a:spcPts val="125"/>
              </a:spcBef>
            </a:pPr>
            <a:r>
              <a:rPr dirty="0"/>
              <a:t>Dart</a:t>
            </a:r>
            <a:r>
              <a:rPr spc="-15" dirty="0"/>
              <a:t> </a:t>
            </a:r>
            <a:r>
              <a:rPr spc="-10" dirty="0"/>
              <a:t>Variables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076272" y="3269293"/>
            <a:ext cx="9565005" cy="4152265"/>
          </a:xfrm>
          <a:prstGeom prst="rect">
            <a:avLst/>
          </a:prstGeom>
        </p:spPr>
        <p:txBody>
          <a:bodyPr vert="horz" wrap="square" lIns="0" tIns="269875" rIns="0" bIns="0" rtlCol="0">
            <a:spAutoFit/>
          </a:bodyPr>
          <a:lstStyle/>
          <a:p>
            <a:pPr marL="471805" indent="-459105" algn="just">
              <a:lnSpc>
                <a:spcPct val="100000"/>
              </a:lnSpc>
              <a:spcBef>
                <a:spcPts val="2125"/>
              </a:spcBef>
              <a:buClr>
                <a:srgbClr val="000000"/>
              </a:buClr>
              <a:buFont typeface="Georgia"/>
              <a:buChar char="•"/>
              <a:tabLst>
                <a:tab pos="471805" algn="l"/>
              </a:tabLst>
            </a:pPr>
            <a:r>
              <a:rPr sz="3950" b="1" dirty="0">
                <a:solidFill>
                  <a:srgbClr val="245796"/>
                </a:solidFill>
                <a:latin typeface="Times New Roman"/>
                <a:cs typeface="Times New Roman"/>
              </a:rPr>
              <a:t>final</a:t>
            </a:r>
            <a:r>
              <a:rPr sz="3950" b="1" spc="-1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950" b="1" dirty="0">
                <a:solidFill>
                  <a:srgbClr val="245796"/>
                </a:solidFill>
                <a:latin typeface="Times New Roman"/>
                <a:cs typeface="Times New Roman"/>
              </a:rPr>
              <a:t>vs</a:t>
            </a:r>
            <a:r>
              <a:rPr sz="3950" b="1" spc="-1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950" b="1" spc="-20" dirty="0">
                <a:solidFill>
                  <a:srgbClr val="245796"/>
                </a:solidFill>
                <a:latin typeface="Times New Roman"/>
                <a:cs typeface="Times New Roman"/>
              </a:rPr>
              <a:t>const</a:t>
            </a:r>
            <a:endParaRPr sz="3950">
              <a:latin typeface="Times New Roman"/>
              <a:cs typeface="Times New Roman"/>
            </a:endParaRPr>
          </a:p>
          <a:p>
            <a:pPr marL="1392555" marR="5080" lvl="1" indent="-459105" algn="just">
              <a:lnSpc>
                <a:spcPct val="100000"/>
              </a:lnSpc>
              <a:spcBef>
                <a:spcPts val="2025"/>
              </a:spcBef>
              <a:buFont typeface="Georgia"/>
              <a:buChar char="•"/>
              <a:tabLst>
                <a:tab pos="1394460" algn="l"/>
              </a:tabLst>
            </a:pPr>
            <a:r>
              <a:rPr sz="3950" b="1" dirty="0">
                <a:latin typeface="Times New Roman"/>
                <a:cs typeface="Times New Roman"/>
              </a:rPr>
              <a:t>final:</a:t>
            </a:r>
            <a:r>
              <a:rPr sz="3950" b="1" spc="254" dirty="0">
                <a:latin typeface="Times New Roman"/>
                <a:cs typeface="Times New Roman"/>
              </a:rPr>
              <a:t>  </a:t>
            </a:r>
            <a:r>
              <a:rPr sz="3950" dirty="0">
                <a:latin typeface="Times New Roman"/>
                <a:cs typeface="Times New Roman"/>
              </a:rPr>
              <a:t>The</a:t>
            </a:r>
            <a:r>
              <a:rPr sz="3950" spc="254" dirty="0">
                <a:latin typeface="Times New Roman"/>
                <a:cs typeface="Times New Roman"/>
              </a:rPr>
              <a:t>  </a:t>
            </a:r>
            <a:r>
              <a:rPr sz="3950" dirty="0">
                <a:latin typeface="Times New Roman"/>
                <a:cs typeface="Times New Roman"/>
              </a:rPr>
              <a:t>final</a:t>
            </a:r>
            <a:r>
              <a:rPr sz="3950" spc="254" dirty="0">
                <a:latin typeface="Times New Roman"/>
                <a:cs typeface="Times New Roman"/>
              </a:rPr>
              <a:t>  </a:t>
            </a:r>
            <a:r>
              <a:rPr sz="3950" dirty="0">
                <a:latin typeface="Times New Roman"/>
                <a:cs typeface="Times New Roman"/>
              </a:rPr>
              <a:t>keyword</a:t>
            </a:r>
            <a:r>
              <a:rPr sz="3950" spc="250" dirty="0">
                <a:latin typeface="Times New Roman"/>
                <a:cs typeface="Times New Roman"/>
              </a:rPr>
              <a:t>  </a:t>
            </a:r>
            <a:r>
              <a:rPr sz="3950" dirty="0">
                <a:latin typeface="Times New Roman"/>
                <a:cs typeface="Times New Roman"/>
              </a:rPr>
              <a:t>is</a:t>
            </a:r>
            <a:r>
              <a:rPr sz="3950" spc="254" dirty="0">
                <a:latin typeface="Times New Roman"/>
                <a:cs typeface="Times New Roman"/>
              </a:rPr>
              <a:t>  </a:t>
            </a:r>
            <a:r>
              <a:rPr sz="3950" dirty="0">
                <a:latin typeface="Times New Roman"/>
                <a:cs typeface="Times New Roman"/>
              </a:rPr>
              <a:t>used</a:t>
            </a:r>
            <a:r>
              <a:rPr sz="3950" spc="254" dirty="0">
                <a:latin typeface="Times New Roman"/>
                <a:cs typeface="Times New Roman"/>
              </a:rPr>
              <a:t>  </a:t>
            </a:r>
            <a:r>
              <a:rPr sz="3950" spc="-25" dirty="0">
                <a:latin typeface="Times New Roman"/>
                <a:cs typeface="Times New Roman"/>
              </a:rPr>
              <a:t>to 	</a:t>
            </a:r>
            <a:r>
              <a:rPr sz="3950" dirty="0">
                <a:latin typeface="Times New Roman"/>
                <a:cs typeface="Times New Roman"/>
              </a:rPr>
              <a:t>hardcode</a:t>
            </a:r>
            <a:r>
              <a:rPr sz="3950" spc="36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the</a:t>
            </a:r>
            <a:r>
              <a:rPr sz="3950" spc="36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values</a:t>
            </a:r>
            <a:r>
              <a:rPr sz="3950" spc="36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of</a:t>
            </a:r>
            <a:r>
              <a:rPr sz="3950" spc="36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the</a:t>
            </a:r>
            <a:r>
              <a:rPr sz="3950" spc="36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variable</a:t>
            </a:r>
            <a:r>
              <a:rPr sz="3950" spc="360" dirty="0">
                <a:latin typeface="Times New Roman"/>
                <a:cs typeface="Times New Roman"/>
              </a:rPr>
              <a:t> </a:t>
            </a:r>
            <a:r>
              <a:rPr sz="3950" spc="-25" dirty="0">
                <a:latin typeface="Times New Roman"/>
                <a:cs typeface="Times New Roman"/>
              </a:rPr>
              <a:t>and 	</a:t>
            </a:r>
            <a:r>
              <a:rPr sz="3950" dirty="0">
                <a:latin typeface="Times New Roman"/>
                <a:cs typeface="Times New Roman"/>
              </a:rPr>
              <a:t>it</a:t>
            </a:r>
            <a:r>
              <a:rPr sz="3950" spc="35" dirty="0">
                <a:latin typeface="Times New Roman"/>
                <a:cs typeface="Times New Roman"/>
              </a:rPr>
              <a:t>  </a:t>
            </a:r>
            <a:r>
              <a:rPr sz="3950" dirty="0">
                <a:latin typeface="Times New Roman"/>
                <a:cs typeface="Times New Roman"/>
              </a:rPr>
              <a:t>cannot</a:t>
            </a:r>
            <a:r>
              <a:rPr sz="3950" spc="45" dirty="0">
                <a:latin typeface="Times New Roman"/>
                <a:cs typeface="Times New Roman"/>
              </a:rPr>
              <a:t>  </a:t>
            </a:r>
            <a:r>
              <a:rPr sz="3950" dirty="0">
                <a:latin typeface="Times New Roman"/>
                <a:cs typeface="Times New Roman"/>
              </a:rPr>
              <a:t>be</a:t>
            </a:r>
            <a:r>
              <a:rPr sz="3950" spc="45" dirty="0">
                <a:latin typeface="Times New Roman"/>
                <a:cs typeface="Times New Roman"/>
              </a:rPr>
              <a:t>  </a:t>
            </a:r>
            <a:r>
              <a:rPr sz="3950" dirty="0">
                <a:latin typeface="Times New Roman"/>
                <a:cs typeface="Times New Roman"/>
              </a:rPr>
              <a:t>altered</a:t>
            </a:r>
            <a:r>
              <a:rPr sz="3950" spc="40" dirty="0">
                <a:latin typeface="Times New Roman"/>
                <a:cs typeface="Times New Roman"/>
              </a:rPr>
              <a:t>  </a:t>
            </a:r>
            <a:r>
              <a:rPr sz="3950" dirty="0">
                <a:latin typeface="Times New Roman"/>
                <a:cs typeface="Times New Roman"/>
              </a:rPr>
              <a:t>in</a:t>
            </a:r>
            <a:r>
              <a:rPr sz="3950" spc="45" dirty="0">
                <a:latin typeface="Times New Roman"/>
                <a:cs typeface="Times New Roman"/>
              </a:rPr>
              <a:t>  </a:t>
            </a:r>
            <a:r>
              <a:rPr sz="3950" dirty="0">
                <a:latin typeface="Times New Roman"/>
                <a:cs typeface="Times New Roman"/>
              </a:rPr>
              <a:t>future,</a:t>
            </a:r>
            <a:r>
              <a:rPr sz="3950" spc="45" dirty="0">
                <a:latin typeface="Times New Roman"/>
                <a:cs typeface="Times New Roman"/>
              </a:rPr>
              <a:t>  </a:t>
            </a:r>
            <a:r>
              <a:rPr sz="3950" spc="-10" dirty="0">
                <a:latin typeface="Times New Roman"/>
                <a:cs typeface="Times New Roman"/>
              </a:rPr>
              <a:t>neither 	</a:t>
            </a:r>
            <a:r>
              <a:rPr sz="3950" dirty="0">
                <a:latin typeface="Times New Roman"/>
                <a:cs typeface="Times New Roman"/>
              </a:rPr>
              <a:t>any</a:t>
            </a:r>
            <a:r>
              <a:rPr sz="3950" spc="130" dirty="0">
                <a:latin typeface="Times New Roman"/>
                <a:cs typeface="Times New Roman"/>
              </a:rPr>
              <a:t>  </a:t>
            </a:r>
            <a:r>
              <a:rPr sz="3950" dirty="0">
                <a:latin typeface="Times New Roman"/>
                <a:cs typeface="Times New Roman"/>
              </a:rPr>
              <a:t>kind</a:t>
            </a:r>
            <a:r>
              <a:rPr sz="3950" spc="130" dirty="0">
                <a:latin typeface="Times New Roman"/>
                <a:cs typeface="Times New Roman"/>
              </a:rPr>
              <a:t>  </a:t>
            </a:r>
            <a:r>
              <a:rPr sz="3950" dirty="0">
                <a:latin typeface="Times New Roman"/>
                <a:cs typeface="Times New Roman"/>
              </a:rPr>
              <a:t>of</a:t>
            </a:r>
            <a:r>
              <a:rPr sz="3950" spc="130" dirty="0">
                <a:latin typeface="Times New Roman"/>
                <a:cs typeface="Times New Roman"/>
              </a:rPr>
              <a:t>  </a:t>
            </a:r>
            <a:r>
              <a:rPr sz="3950" dirty="0">
                <a:latin typeface="Times New Roman"/>
                <a:cs typeface="Times New Roman"/>
              </a:rPr>
              <a:t>operations</a:t>
            </a:r>
            <a:r>
              <a:rPr sz="3950" spc="130" dirty="0">
                <a:latin typeface="Times New Roman"/>
                <a:cs typeface="Times New Roman"/>
              </a:rPr>
              <a:t>  </a:t>
            </a:r>
            <a:r>
              <a:rPr sz="3950" dirty="0">
                <a:latin typeface="Times New Roman"/>
                <a:cs typeface="Times New Roman"/>
              </a:rPr>
              <a:t>performed</a:t>
            </a:r>
            <a:r>
              <a:rPr sz="3950" spc="130" dirty="0">
                <a:latin typeface="Times New Roman"/>
                <a:cs typeface="Times New Roman"/>
              </a:rPr>
              <a:t>  </a:t>
            </a:r>
            <a:r>
              <a:rPr sz="3950" spc="-25" dirty="0">
                <a:latin typeface="Times New Roman"/>
                <a:cs typeface="Times New Roman"/>
              </a:rPr>
              <a:t>on 	</a:t>
            </a:r>
            <a:r>
              <a:rPr sz="3950" dirty="0">
                <a:latin typeface="Times New Roman"/>
                <a:cs typeface="Times New Roman"/>
              </a:rPr>
              <a:t>these</a:t>
            </a:r>
            <a:r>
              <a:rPr sz="3950" spc="-2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variables</a:t>
            </a:r>
            <a:r>
              <a:rPr sz="3950" spc="-2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can</a:t>
            </a:r>
            <a:r>
              <a:rPr sz="3950" spc="-1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alter</a:t>
            </a:r>
            <a:r>
              <a:rPr sz="3950" spc="-2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its</a:t>
            </a:r>
            <a:r>
              <a:rPr sz="3950" spc="-2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value</a:t>
            </a:r>
            <a:r>
              <a:rPr sz="3950" spc="-20" dirty="0">
                <a:latin typeface="Times New Roman"/>
                <a:cs typeface="Times New Roman"/>
              </a:rPr>
              <a:t> </a:t>
            </a:r>
            <a:r>
              <a:rPr sz="3950" spc="-10" dirty="0">
                <a:latin typeface="Times New Roman"/>
                <a:cs typeface="Times New Roman"/>
              </a:rPr>
              <a:t>(state).</a:t>
            </a:r>
            <a:endParaRPr sz="3950">
              <a:latin typeface="Times New Roman"/>
              <a:cs typeface="Times New Roman"/>
            </a:endParaRP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02691" y="336743"/>
            <a:ext cx="1364565" cy="1364565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1733255" y="4425415"/>
            <a:ext cx="7385743" cy="458373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2195" cy="2352675"/>
            <a:chOff x="0" y="0"/>
            <a:chExt cx="20102195" cy="235267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1586" cy="235217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99495" y="0"/>
              <a:ext cx="6842933" cy="228935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1675"/>
              <a:ext cx="20058204" cy="2034803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169035">
              <a:lnSpc>
                <a:spcPct val="100000"/>
              </a:lnSpc>
              <a:spcBef>
                <a:spcPts val="125"/>
              </a:spcBef>
            </a:pPr>
            <a:r>
              <a:rPr dirty="0"/>
              <a:t>Dart</a:t>
            </a:r>
            <a:r>
              <a:rPr spc="-15" dirty="0"/>
              <a:t> </a:t>
            </a:r>
            <a:r>
              <a:rPr spc="-10" dirty="0"/>
              <a:t>Variables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076272" y="3289398"/>
            <a:ext cx="9933940" cy="6489065"/>
          </a:xfrm>
          <a:prstGeom prst="rect">
            <a:avLst/>
          </a:prstGeom>
        </p:spPr>
        <p:txBody>
          <a:bodyPr vert="horz" wrap="square" lIns="0" tIns="196850" rIns="0" bIns="0" rtlCol="0">
            <a:spAutoFit/>
          </a:bodyPr>
          <a:lstStyle/>
          <a:p>
            <a:pPr marL="471805" indent="-459105" algn="just">
              <a:lnSpc>
                <a:spcPct val="100000"/>
              </a:lnSpc>
              <a:spcBef>
                <a:spcPts val="1550"/>
              </a:spcBef>
              <a:buClr>
                <a:srgbClr val="000000"/>
              </a:buClr>
              <a:buFont typeface="Georgia"/>
              <a:buChar char="•"/>
              <a:tabLst>
                <a:tab pos="471805" algn="l"/>
              </a:tabLst>
            </a:pPr>
            <a:r>
              <a:rPr sz="3950" b="1" dirty="0">
                <a:solidFill>
                  <a:srgbClr val="245796"/>
                </a:solidFill>
                <a:latin typeface="Times New Roman"/>
                <a:cs typeface="Times New Roman"/>
              </a:rPr>
              <a:t>final</a:t>
            </a:r>
            <a:r>
              <a:rPr sz="3950" b="1" spc="-1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950" b="1" dirty="0">
                <a:solidFill>
                  <a:srgbClr val="245796"/>
                </a:solidFill>
                <a:latin typeface="Times New Roman"/>
                <a:cs typeface="Times New Roman"/>
              </a:rPr>
              <a:t>vs</a:t>
            </a:r>
            <a:r>
              <a:rPr sz="3950" b="1" spc="-1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950" b="1" spc="-20" dirty="0">
                <a:solidFill>
                  <a:srgbClr val="245796"/>
                </a:solidFill>
                <a:latin typeface="Times New Roman"/>
                <a:cs typeface="Times New Roman"/>
              </a:rPr>
              <a:t>const</a:t>
            </a:r>
            <a:endParaRPr sz="3950">
              <a:latin typeface="Times New Roman"/>
              <a:cs typeface="Times New Roman"/>
            </a:endParaRPr>
          </a:p>
          <a:p>
            <a:pPr marL="1392555" marR="5080" lvl="1" indent="-459105" algn="just">
              <a:lnSpc>
                <a:spcPct val="90300"/>
              </a:lnSpc>
              <a:spcBef>
                <a:spcPts val="1914"/>
              </a:spcBef>
              <a:buFont typeface="Georgia"/>
              <a:buChar char="•"/>
              <a:tabLst>
                <a:tab pos="1394460" algn="l"/>
              </a:tabLst>
            </a:pPr>
            <a:r>
              <a:rPr sz="3950" b="1" dirty="0">
                <a:latin typeface="Times New Roman"/>
                <a:cs typeface="Times New Roman"/>
              </a:rPr>
              <a:t>const:</a:t>
            </a:r>
            <a:r>
              <a:rPr sz="3950" b="1" spc="765" dirty="0">
                <a:latin typeface="Times New Roman"/>
                <a:cs typeface="Times New Roman"/>
              </a:rPr>
              <a:t>  </a:t>
            </a:r>
            <a:r>
              <a:rPr sz="3950" dirty="0">
                <a:latin typeface="Times New Roman"/>
                <a:cs typeface="Times New Roman"/>
              </a:rPr>
              <a:t>The</a:t>
            </a:r>
            <a:r>
              <a:rPr sz="3950" spc="765" dirty="0">
                <a:latin typeface="Times New Roman"/>
                <a:cs typeface="Times New Roman"/>
              </a:rPr>
              <a:t>  </a:t>
            </a:r>
            <a:r>
              <a:rPr sz="3950" dirty="0">
                <a:latin typeface="Times New Roman"/>
                <a:cs typeface="Times New Roman"/>
              </a:rPr>
              <a:t>Const</a:t>
            </a:r>
            <a:r>
              <a:rPr sz="3950" spc="775" dirty="0">
                <a:latin typeface="Times New Roman"/>
                <a:cs typeface="Times New Roman"/>
              </a:rPr>
              <a:t>  </a:t>
            </a:r>
            <a:r>
              <a:rPr sz="3950" dirty="0">
                <a:latin typeface="Times New Roman"/>
                <a:cs typeface="Times New Roman"/>
              </a:rPr>
              <a:t>keyword</a:t>
            </a:r>
            <a:r>
              <a:rPr sz="3950" spc="770" dirty="0">
                <a:latin typeface="Times New Roman"/>
                <a:cs typeface="Times New Roman"/>
              </a:rPr>
              <a:t>  </a:t>
            </a:r>
            <a:r>
              <a:rPr sz="3950" dirty="0">
                <a:latin typeface="Times New Roman"/>
                <a:cs typeface="Times New Roman"/>
              </a:rPr>
              <a:t>in</a:t>
            </a:r>
            <a:r>
              <a:rPr sz="3950" spc="775" dirty="0">
                <a:latin typeface="Times New Roman"/>
                <a:cs typeface="Times New Roman"/>
              </a:rPr>
              <a:t>  </a:t>
            </a:r>
            <a:r>
              <a:rPr sz="3950" spc="-20" dirty="0">
                <a:latin typeface="Times New Roman"/>
                <a:cs typeface="Times New Roman"/>
              </a:rPr>
              <a:t>Dart 	</a:t>
            </a:r>
            <a:r>
              <a:rPr sz="3950" dirty="0">
                <a:latin typeface="Times New Roman"/>
                <a:cs typeface="Times New Roman"/>
              </a:rPr>
              <a:t>behaves</a:t>
            </a:r>
            <a:r>
              <a:rPr sz="3950" spc="10" dirty="0">
                <a:latin typeface="Times New Roman"/>
                <a:cs typeface="Times New Roman"/>
              </a:rPr>
              <a:t>  </a:t>
            </a:r>
            <a:r>
              <a:rPr sz="3950" dirty="0">
                <a:latin typeface="Times New Roman"/>
                <a:cs typeface="Times New Roman"/>
              </a:rPr>
              <a:t>exactly</a:t>
            </a:r>
            <a:r>
              <a:rPr sz="3950" spc="10" dirty="0">
                <a:latin typeface="Times New Roman"/>
                <a:cs typeface="Times New Roman"/>
              </a:rPr>
              <a:t>  </a:t>
            </a:r>
            <a:r>
              <a:rPr sz="3950" dirty="0">
                <a:latin typeface="Times New Roman"/>
                <a:cs typeface="Times New Roman"/>
              </a:rPr>
              <a:t>like</a:t>
            </a:r>
            <a:r>
              <a:rPr sz="3950" spc="5" dirty="0">
                <a:latin typeface="Times New Roman"/>
                <a:cs typeface="Times New Roman"/>
              </a:rPr>
              <a:t>  </a:t>
            </a:r>
            <a:r>
              <a:rPr sz="3950" dirty="0">
                <a:latin typeface="Times New Roman"/>
                <a:cs typeface="Times New Roman"/>
              </a:rPr>
              <a:t>the</a:t>
            </a:r>
            <a:r>
              <a:rPr sz="3950" spc="10" dirty="0">
                <a:latin typeface="Times New Roman"/>
                <a:cs typeface="Times New Roman"/>
              </a:rPr>
              <a:t>  </a:t>
            </a:r>
            <a:r>
              <a:rPr sz="3950" dirty="0">
                <a:latin typeface="Times New Roman"/>
                <a:cs typeface="Times New Roman"/>
              </a:rPr>
              <a:t>final</a:t>
            </a:r>
            <a:r>
              <a:rPr sz="3950" spc="10" dirty="0">
                <a:latin typeface="Times New Roman"/>
                <a:cs typeface="Times New Roman"/>
              </a:rPr>
              <a:t>  </a:t>
            </a:r>
            <a:r>
              <a:rPr sz="3950" spc="-10" dirty="0">
                <a:latin typeface="Times New Roman"/>
                <a:cs typeface="Times New Roman"/>
              </a:rPr>
              <a:t>keyword. 	</a:t>
            </a:r>
            <a:r>
              <a:rPr sz="3950" dirty="0">
                <a:latin typeface="Times New Roman"/>
                <a:cs typeface="Times New Roman"/>
              </a:rPr>
              <a:t>The</a:t>
            </a:r>
            <a:r>
              <a:rPr sz="3950" spc="175" dirty="0">
                <a:latin typeface="Times New Roman"/>
                <a:cs typeface="Times New Roman"/>
              </a:rPr>
              <a:t>  </a:t>
            </a:r>
            <a:r>
              <a:rPr sz="3950" dirty="0">
                <a:latin typeface="Times New Roman"/>
                <a:cs typeface="Times New Roman"/>
              </a:rPr>
              <a:t>only</a:t>
            </a:r>
            <a:r>
              <a:rPr sz="3950" spc="180" dirty="0">
                <a:latin typeface="Times New Roman"/>
                <a:cs typeface="Times New Roman"/>
              </a:rPr>
              <a:t>  </a:t>
            </a:r>
            <a:r>
              <a:rPr sz="3950" dirty="0">
                <a:latin typeface="Times New Roman"/>
                <a:cs typeface="Times New Roman"/>
              </a:rPr>
              <a:t>difference</a:t>
            </a:r>
            <a:r>
              <a:rPr sz="3950" spc="175" dirty="0">
                <a:latin typeface="Times New Roman"/>
                <a:cs typeface="Times New Roman"/>
              </a:rPr>
              <a:t>  </a:t>
            </a:r>
            <a:r>
              <a:rPr sz="3950" dirty="0">
                <a:latin typeface="Times New Roman"/>
                <a:cs typeface="Times New Roman"/>
              </a:rPr>
              <a:t>between</a:t>
            </a:r>
            <a:r>
              <a:rPr sz="3950" spc="180" dirty="0">
                <a:latin typeface="Times New Roman"/>
                <a:cs typeface="Times New Roman"/>
              </a:rPr>
              <a:t>  </a:t>
            </a:r>
            <a:r>
              <a:rPr sz="3950" dirty="0">
                <a:latin typeface="Times New Roman"/>
                <a:cs typeface="Times New Roman"/>
              </a:rPr>
              <a:t>final</a:t>
            </a:r>
            <a:r>
              <a:rPr sz="3950" spc="180" dirty="0">
                <a:latin typeface="Times New Roman"/>
                <a:cs typeface="Times New Roman"/>
              </a:rPr>
              <a:t>  </a:t>
            </a:r>
            <a:r>
              <a:rPr sz="3950" spc="-25" dirty="0">
                <a:latin typeface="Times New Roman"/>
                <a:cs typeface="Times New Roman"/>
              </a:rPr>
              <a:t>and 	</a:t>
            </a:r>
            <a:r>
              <a:rPr sz="3950" dirty="0">
                <a:latin typeface="Times New Roman"/>
                <a:cs typeface="Times New Roman"/>
              </a:rPr>
              <a:t>const</a:t>
            </a:r>
            <a:r>
              <a:rPr sz="3950" spc="32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is</a:t>
            </a:r>
            <a:r>
              <a:rPr sz="3950" spc="32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that</a:t>
            </a:r>
            <a:r>
              <a:rPr sz="3950" spc="33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the</a:t>
            </a:r>
            <a:r>
              <a:rPr sz="3950" spc="32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const</a:t>
            </a:r>
            <a:r>
              <a:rPr sz="3950" spc="33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makes</a:t>
            </a:r>
            <a:r>
              <a:rPr sz="3950" spc="32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the</a:t>
            </a:r>
            <a:r>
              <a:rPr sz="3950" spc="325" dirty="0">
                <a:latin typeface="Times New Roman"/>
                <a:cs typeface="Times New Roman"/>
              </a:rPr>
              <a:t> </a:t>
            </a:r>
            <a:r>
              <a:rPr sz="3950" spc="-10" dirty="0">
                <a:latin typeface="Times New Roman"/>
                <a:cs typeface="Times New Roman"/>
              </a:rPr>
              <a:t>variable 	</a:t>
            </a:r>
            <a:r>
              <a:rPr sz="3950" dirty="0">
                <a:latin typeface="Times New Roman"/>
                <a:cs typeface="Times New Roman"/>
              </a:rPr>
              <a:t>constant</a:t>
            </a:r>
            <a:r>
              <a:rPr sz="3950" spc="919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from</a:t>
            </a:r>
            <a:r>
              <a:rPr sz="3950" spc="925" dirty="0">
                <a:latin typeface="Times New Roman"/>
                <a:cs typeface="Times New Roman"/>
              </a:rPr>
              <a:t> </a:t>
            </a:r>
            <a:r>
              <a:rPr sz="3950" spc="-10" dirty="0">
                <a:latin typeface="Times New Roman"/>
                <a:cs typeface="Times New Roman"/>
              </a:rPr>
              <a:t>compile-</a:t>
            </a:r>
            <a:r>
              <a:rPr sz="3950" dirty="0">
                <a:latin typeface="Times New Roman"/>
                <a:cs typeface="Times New Roman"/>
              </a:rPr>
              <a:t>time</a:t>
            </a:r>
            <a:r>
              <a:rPr sz="3950" spc="92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only.</a:t>
            </a:r>
            <a:r>
              <a:rPr sz="3950" spc="925" dirty="0">
                <a:latin typeface="Times New Roman"/>
                <a:cs typeface="Times New Roman"/>
              </a:rPr>
              <a:t> </a:t>
            </a:r>
            <a:r>
              <a:rPr sz="3950" spc="-10" dirty="0">
                <a:latin typeface="Times New Roman"/>
                <a:cs typeface="Times New Roman"/>
              </a:rPr>
              <a:t>Using 	</a:t>
            </a:r>
            <a:r>
              <a:rPr sz="3950" dirty="0">
                <a:latin typeface="Times New Roman"/>
                <a:cs typeface="Times New Roman"/>
              </a:rPr>
              <a:t>const</a:t>
            </a:r>
            <a:r>
              <a:rPr sz="3950" spc="75" dirty="0">
                <a:latin typeface="Times New Roman"/>
                <a:cs typeface="Times New Roman"/>
              </a:rPr>
              <a:t>  </a:t>
            </a:r>
            <a:r>
              <a:rPr sz="3950" dirty="0">
                <a:latin typeface="Times New Roman"/>
                <a:cs typeface="Times New Roman"/>
              </a:rPr>
              <a:t>on</a:t>
            </a:r>
            <a:r>
              <a:rPr sz="3950" spc="85" dirty="0">
                <a:latin typeface="Times New Roman"/>
                <a:cs typeface="Times New Roman"/>
              </a:rPr>
              <a:t>  </a:t>
            </a:r>
            <a:r>
              <a:rPr sz="3950" dirty="0">
                <a:latin typeface="Times New Roman"/>
                <a:cs typeface="Times New Roman"/>
              </a:rPr>
              <a:t>an</a:t>
            </a:r>
            <a:r>
              <a:rPr sz="3950" spc="85" dirty="0">
                <a:latin typeface="Times New Roman"/>
                <a:cs typeface="Times New Roman"/>
              </a:rPr>
              <a:t>  </a:t>
            </a:r>
            <a:r>
              <a:rPr sz="3950" dirty="0">
                <a:latin typeface="Times New Roman"/>
                <a:cs typeface="Times New Roman"/>
              </a:rPr>
              <a:t>object,</a:t>
            </a:r>
            <a:r>
              <a:rPr sz="3950" spc="85" dirty="0">
                <a:latin typeface="Times New Roman"/>
                <a:cs typeface="Times New Roman"/>
              </a:rPr>
              <a:t>  </a:t>
            </a:r>
            <a:r>
              <a:rPr sz="3950" dirty="0">
                <a:latin typeface="Times New Roman"/>
                <a:cs typeface="Times New Roman"/>
              </a:rPr>
              <a:t>makes</a:t>
            </a:r>
            <a:r>
              <a:rPr sz="3950" spc="80" dirty="0">
                <a:latin typeface="Times New Roman"/>
                <a:cs typeface="Times New Roman"/>
              </a:rPr>
              <a:t>  </a:t>
            </a:r>
            <a:r>
              <a:rPr sz="3950" dirty="0">
                <a:latin typeface="Times New Roman"/>
                <a:cs typeface="Times New Roman"/>
              </a:rPr>
              <a:t>the</a:t>
            </a:r>
            <a:r>
              <a:rPr sz="3950" spc="85" dirty="0">
                <a:latin typeface="Times New Roman"/>
                <a:cs typeface="Times New Roman"/>
              </a:rPr>
              <a:t>  </a:t>
            </a:r>
            <a:r>
              <a:rPr sz="3950" spc="-10" dirty="0">
                <a:latin typeface="Times New Roman"/>
                <a:cs typeface="Times New Roman"/>
              </a:rPr>
              <a:t>object’s 	</a:t>
            </a:r>
            <a:r>
              <a:rPr sz="3950" dirty="0">
                <a:latin typeface="Times New Roman"/>
                <a:cs typeface="Times New Roman"/>
              </a:rPr>
              <a:t>entire</a:t>
            </a:r>
            <a:r>
              <a:rPr sz="3950" spc="204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deep</a:t>
            </a:r>
            <a:r>
              <a:rPr sz="3950" spc="21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state</a:t>
            </a:r>
            <a:r>
              <a:rPr sz="3950" spc="21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strictly</a:t>
            </a:r>
            <a:r>
              <a:rPr sz="3950" spc="21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fixed</a:t>
            </a:r>
            <a:r>
              <a:rPr sz="3950" spc="21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at</a:t>
            </a:r>
            <a:r>
              <a:rPr sz="3950" spc="225" dirty="0">
                <a:latin typeface="Times New Roman"/>
                <a:cs typeface="Times New Roman"/>
              </a:rPr>
              <a:t> </a:t>
            </a:r>
            <a:r>
              <a:rPr sz="3950" spc="-10" dirty="0">
                <a:latin typeface="Times New Roman"/>
                <a:cs typeface="Times New Roman"/>
              </a:rPr>
              <a:t>compile- 	</a:t>
            </a:r>
            <a:r>
              <a:rPr sz="3950" dirty="0">
                <a:latin typeface="Times New Roman"/>
                <a:cs typeface="Times New Roman"/>
              </a:rPr>
              <a:t>time</a:t>
            </a:r>
            <a:r>
              <a:rPr sz="3950" spc="98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and  that  the</a:t>
            </a:r>
            <a:r>
              <a:rPr sz="3950" spc="98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object</a:t>
            </a:r>
            <a:r>
              <a:rPr sz="3950" spc="98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with</a:t>
            </a:r>
            <a:r>
              <a:rPr sz="3950" spc="-5" dirty="0">
                <a:latin typeface="Times New Roman"/>
                <a:cs typeface="Times New Roman"/>
              </a:rPr>
              <a:t>  </a:t>
            </a:r>
            <a:r>
              <a:rPr sz="3950" dirty="0">
                <a:latin typeface="Times New Roman"/>
                <a:cs typeface="Times New Roman"/>
              </a:rPr>
              <a:t>this  </a:t>
            </a:r>
            <a:r>
              <a:rPr sz="3950" spc="-10" dirty="0">
                <a:latin typeface="Times New Roman"/>
                <a:cs typeface="Times New Roman"/>
              </a:rPr>
              <a:t>state 	</a:t>
            </a:r>
            <a:r>
              <a:rPr sz="3950" dirty="0">
                <a:latin typeface="Times New Roman"/>
                <a:cs typeface="Times New Roman"/>
              </a:rPr>
              <a:t>will</a:t>
            </a:r>
            <a:r>
              <a:rPr sz="3950" spc="34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be</a:t>
            </a:r>
            <a:r>
              <a:rPr sz="3950" spc="32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considered</a:t>
            </a:r>
            <a:r>
              <a:rPr sz="3950" spc="34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frozen</a:t>
            </a:r>
            <a:r>
              <a:rPr sz="3950" spc="33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and</a:t>
            </a:r>
            <a:r>
              <a:rPr sz="3950" spc="330" dirty="0">
                <a:latin typeface="Times New Roman"/>
                <a:cs typeface="Times New Roman"/>
              </a:rPr>
              <a:t> </a:t>
            </a:r>
            <a:r>
              <a:rPr sz="3950" spc="-10" dirty="0">
                <a:latin typeface="Times New Roman"/>
                <a:cs typeface="Times New Roman"/>
              </a:rPr>
              <a:t>completely 	immutable.</a:t>
            </a:r>
            <a:endParaRPr sz="3950">
              <a:latin typeface="Times New Roman"/>
              <a:cs typeface="Times New Roman"/>
            </a:endParaRP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02691" y="336743"/>
            <a:ext cx="1364565" cy="1364565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1464363" y="4478188"/>
            <a:ext cx="7461134" cy="551606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2195" cy="2352675"/>
            <a:chOff x="0" y="0"/>
            <a:chExt cx="20102195" cy="235267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1586" cy="235217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73414" y="0"/>
              <a:ext cx="7064078" cy="228935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1675"/>
              <a:ext cx="20058204" cy="2034803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442720">
              <a:lnSpc>
                <a:spcPct val="100000"/>
              </a:lnSpc>
              <a:spcBef>
                <a:spcPts val="125"/>
              </a:spcBef>
            </a:pPr>
            <a:r>
              <a:rPr dirty="0">
                <a:latin typeface="Arial MT"/>
                <a:cs typeface="Arial MT"/>
              </a:rPr>
              <a:t>Dart</a:t>
            </a:r>
            <a:r>
              <a:rPr spc="-10" dirty="0">
                <a:latin typeface="Arial MT"/>
                <a:cs typeface="Arial MT"/>
              </a:rPr>
              <a:t> </a:t>
            </a:r>
            <a:r>
              <a:rPr spc="-10" dirty="0"/>
              <a:t>Operators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076272" y="3351804"/>
            <a:ext cx="12563475" cy="1242060"/>
          </a:xfrm>
          <a:prstGeom prst="rect">
            <a:avLst/>
          </a:prstGeom>
        </p:spPr>
        <p:txBody>
          <a:bodyPr vert="horz" wrap="square" lIns="0" tIns="155575" rIns="0" bIns="0" rtlCol="0">
            <a:spAutoFit/>
          </a:bodyPr>
          <a:lstStyle/>
          <a:p>
            <a:pPr marL="371475" indent="-358775">
              <a:lnSpc>
                <a:spcPct val="100000"/>
              </a:lnSpc>
              <a:spcBef>
                <a:spcPts val="1225"/>
              </a:spcBef>
              <a:buFont typeface="Georgia"/>
              <a:buChar char="•"/>
              <a:tabLst>
                <a:tab pos="371475" algn="l"/>
              </a:tabLst>
            </a:pPr>
            <a:r>
              <a:rPr sz="3050" b="1" dirty="0">
                <a:latin typeface="Times New Roman"/>
                <a:cs typeface="Times New Roman"/>
              </a:rPr>
              <a:t>Operands</a:t>
            </a:r>
            <a:r>
              <a:rPr sz="3050" b="1" spc="95" dirty="0">
                <a:latin typeface="Times New Roman"/>
                <a:cs typeface="Times New Roman"/>
              </a:rPr>
              <a:t> </a:t>
            </a:r>
            <a:r>
              <a:rPr sz="3050" b="1" dirty="0">
                <a:latin typeface="Times New Roman"/>
                <a:cs typeface="Times New Roman"/>
              </a:rPr>
              <a:t>represents</a:t>
            </a:r>
            <a:r>
              <a:rPr sz="3050" b="1" spc="90" dirty="0">
                <a:latin typeface="Times New Roman"/>
                <a:cs typeface="Times New Roman"/>
              </a:rPr>
              <a:t> </a:t>
            </a:r>
            <a:r>
              <a:rPr sz="3050" b="1" spc="-20" dirty="0">
                <a:latin typeface="Times New Roman"/>
                <a:cs typeface="Times New Roman"/>
              </a:rPr>
              <a:t>data</a:t>
            </a:r>
            <a:endParaRPr sz="3050">
              <a:latin typeface="Times New Roman"/>
              <a:cs typeface="Times New Roman"/>
            </a:endParaRPr>
          </a:p>
          <a:p>
            <a:pPr marL="371475" indent="-358775">
              <a:lnSpc>
                <a:spcPct val="100000"/>
              </a:lnSpc>
              <a:spcBef>
                <a:spcPts val="1130"/>
              </a:spcBef>
              <a:buFont typeface="Georgia"/>
              <a:buChar char="•"/>
              <a:tabLst>
                <a:tab pos="371475" algn="l"/>
              </a:tabLst>
            </a:pPr>
            <a:r>
              <a:rPr sz="3050" b="1" dirty="0">
                <a:latin typeface="Times New Roman"/>
                <a:cs typeface="Times New Roman"/>
              </a:rPr>
              <a:t>Operators</a:t>
            </a:r>
            <a:r>
              <a:rPr sz="3050" b="1" spc="50" dirty="0">
                <a:latin typeface="Times New Roman"/>
                <a:cs typeface="Times New Roman"/>
              </a:rPr>
              <a:t> </a:t>
            </a:r>
            <a:r>
              <a:rPr sz="3050" b="1" dirty="0">
                <a:latin typeface="Times New Roman"/>
                <a:cs typeface="Times New Roman"/>
              </a:rPr>
              <a:t>defines</a:t>
            </a:r>
            <a:r>
              <a:rPr sz="3050" b="1" spc="60" dirty="0">
                <a:latin typeface="Times New Roman"/>
                <a:cs typeface="Times New Roman"/>
              </a:rPr>
              <a:t> </a:t>
            </a:r>
            <a:r>
              <a:rPr sz="3050" b="1" dirty="0">
                <a:latin typeface="Times New Roman"/>
                <a:cs typeface="Times New Roman"/>
              </a:rPr>
              <a:t>how</a:t>
            </a:r>
            <a:r>
              <a:rPr sz="3050" b="1" spc="65" dirty="0">
                <a:latin typeface="Times New Roman"/>
                <a:cs typeface="Times New Roman"/>
              </a:rPr>
              <a:t> </a:t>
            </a:r>
            <a:r>
              <a:rPr sz="3050" b="1" dirty="0">
                <a:latin typeface="Times New Roman"/>
                <a:cs typeface="Times New Roman"/>
              </a:rPr>
              <a:t>the</a:t>
            </a:r>
            <a:r>
              <a:rPr sz="3050" b="1" spc="60" dirty="0">
                <a:latin typeface="Times New Roman"/>
                <a:cs typeface="Times New Roman"/>
              </a:rPr>
              <a:t> </a:t>
            </a:r>
            <a:r>
              <a:rPr sz="3050" b="1" dirty="0">
                <a:latin typeface="Times New Roman"/>
                <a:cs typeface="Times New Roman"/>
              </a:rPr>
              <a:t>operands</a:t>
            </a:r>
            <a:r>
              <a:rPr sz="3050" b="1" spc="60" dirty="0">
                <a:latin typeface="Times New Roman"/>
                <a:cs typeface="Times New Roman"/>
              </a:rPr>
              <a:t> </a:t>
            </a:r>
            <a:r>
              <a:rPr sz="3050" b="1" dirty="0">
                <a:latin typeface="Times New Roman"/>
                <a:cs typeface="Times New Roman"/>
              </a:rPr>
              <a:t>will</a:t>
            </a:r>
            <a:r>
              <a:rPr sz="3050" b="1" spc="50" dirty="0">
                <a:latin typeface="Times New Roman"/>
                <a:cs typeface="Times New Roman"/>
              </a:rPr>
              <a:t> </a:t>
            </a:r>
            <a:r>
              <a:rPr sz="3050" b="1" dirty="0">
                <a:latin typeface="Times New Roman"/>
                <a:cs typeface="Times New Roman"/>
              </a:rPr>
              <a:t>be</a:t>
            </a:r>
            <a:r>
              <a:rPr sz="3050" b="1" spc="65" dirty="0">
                <a:latin typeface="Times New Roman"/>
                <a:cs typeface="Times New Roman"/>
              </a:rPr>
              <a:t> </a:t>
            </a:r>
            <a:r>
              <a:rPr sz="3050" b="1" dirty="0">
                <a:latin typeface="Times New Roman"/>
                <a:cs typeface="Times New Roman"/>
              </a:rPr>
              <a:t>processed</a:t>
            </a:r>
            <a:r>
              <a:rPr sz="3050" b="1" spc="65" dirty="0">
                <a:latin typeface="Times New Roman"/>
                <a:cs typeface="Times New Roman"/>
              </a:rPr>
              <a:t> </a:t>
            </a:r>
            <a:r>
              <a:rPr sz="3050" b="1" dirty="0">
                <a:latin typeface="Times New Roman"/>
                <a:cs typeface="Times New Roman"/>
              </a:rPr>
              <a:t>to</a:t>
            </a:r>
            <a:r>
              <a:rPr sz="3050" b="1" spc="65" dirty="0">
                <a:latin typeface="Times New Roman"/>
                <a:cs typeface="Times New Roman"/>
              </a:rPr>
              <a:t> </a:t>
            </a:r>
            <a:r>
              <a:rPr sz="3050" b="1" dirty="0">
                <a:latin typeface="Times New Roman"/>
                <a:cs typeface="Times New Roman"/>
              </a:rPr>
              <a:t>produce</a:t>
            </a:r>
            <a:r>
              <a:rPr sz="3050" b="1" spc="60" dirty="0">
                <a:latin typeface="Times New Roman"/>
                <a:cs typeface="Times New Roman"/>
              </a:rPr>
              <a:t> </a:t>
            </a:r>
            <a:r>
              <a:rPr sz="3050" b="1" dirty="0">
                <a:latin typeface="Times New Roman"/>
                <a:cs typeface="Times New Roman"/>
              </a:rPr>
              <a:t>a</a:t>
            </a:r>
            <a:r>
              <a:rPr sz="3050" b="1" spc="65" dirty="0">
                <a:latin typeface="Times New Roman"/>
                <a:cs typeface="Times New Roman"/>
              </a:rPr>
              <a:t> </a:t>
            </a:r>
            <a:r>
              <a:rPr sz="3050" b="1" spc="-10" dirty="0">
                <a:latin typeface="Times New Roman"/>
                <a:cs typeface="Times New Roman"/>
              </a:rPr>
              <a:t>value</a:t>
            </a:r>
            <a:endParaRPr sz="3050">
              <a:latin typeface="Times New Roman"/>
              <a:cs typeface="Times New Roman"/>
            </a:endParaRP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02691" y="336743"/>
            <a:ext cx="1364565" cy="1364565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6036791" y="5265463"/>
            <a:ext cx="2490470" cy="9055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750" b="1" dirty="0">
                <a:latin typeface="Arial"/>
                <a:cs typeface="Arial"/>
              </a:rPr>
              <a:t>10</a:t>
            </a:r>
            <a:r>
              <a:rPr sz="5750" b="1" spc="-5" dirty="0">
                <a:latin typeface="Arial"/>
                <a:cs typeface="Arial"/>
              </a:rPr>
              <a:t> </a:t>
            </a:r>
            <a:r>
              <a:rPr sz="5750" b="1" dirty="0">
                <a:latin typeface="Arial"/>
                <a:cs typeface="Arial"/>
              </a:rPr>
              <a:t>+</a:t>
            </a:r>
            <a:r>
              <a:rPr sz="5750" b="1" spc="10" dirty="0">
                <a:latin typeface="Arial"/>
                <a:cs typeface="Arial"/>
              </a:rPr>
              <a:t> </a:t>
            </a:r>
            <a:r>
              <a:rPr sz="5750" b="1" spc="-25" dirty="0">
                <a:latin typeface="Arial"/>
                <a:cs typeface="Arial"/>
              </a:rPr>
              <a:t>20</a:t>
            </a:r>
            <a:endParaRPr sz="575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359090" y="5057017"/>
            <a:ext cx="1689100" cy="1993264"/>
            <a:chOff x="5359090" y="5057017"/>
            <a:chExt cx="1689100" cy="1993264"/>
          </a:xfrm>
        </p:grpSpPr>
        <p:sp>
          <p:nvSpPr>
            <p:cNvPr id="11" name="object 11"/>
            <p:cNvSpPr/>
            <p:nvPr/>
          </p:nvSpPr>
          <p:spPr>
            <a:xfrm>
              <a:off x="5717103" y="5088430"/>
              <a:ext cx="1299845" cy="1299845"/>
            </a:xfrm>
            <a:custGeom>
              <a:avLst/>
              <a:gdLst/>
              <a:ahLst/>
              <a:cxnLst/>
              <a:rect l="l" t="t" r="r" b="b"/>
              <a:pathLst>
                <a:path w="1299845" h="1299845">
                  <a:moveTo>
                    <a:pt x="0" y="649614"/>
                  </a:moveTo>
                  <a:lnTo>
                    <a:pt x="1781" y="601133"/>
                  </a:lnTo>
                  <a:lnTo>
                    <a:pt x="7043" y="553619"/>
                  </a:lnTo>
                  <a:lnTo>
                    <a:pt x="15659" y="507198"/>
                  </a:lnTo>
                  <a:lnTo>
                    <a:pt x="27504" y="461997"/>
                  </a:lnTo>
                  <a:lnTo>
                    <a:pt x="42451" y="418140"/>
                  </a:lnTo>
                  <a:lnTo>
                    <a:pt x="60376" y="375753"/>
                  </a:lnTo>
                  <a:lnTo>
                    <a:pt x="81153" y="334962"/>
                  </a:lnTo>
                  <a:lnTo>
                    <a:pt x="104656" y="295892"/>
                  </a:lnTo>
                  <a:lnTo>
                    <a:pt x="130760" y="258669"/>
                  </a:lnTo>
                  <a:lnTo>
                    <a:pt x="159339" y="223419"/>
                  </a:lnTo>
                  <a:lnTo>
                    <a:pt x="190267" y="190267"/>
                  </a:lnTo>
                  <a:lnTo>
                    <a:pt x="223419" y="159339"/>
                  </a:lnTo>
                  <a:lnTo>
                    <a:pt x="258669" y="130760"/>
                  </a:lnTo>
                  <a:lnTo>
                    <a:pt x="295892" y="104656"/>
                  </a:lnTo>
                  <a:lnTo>
                    <a:pt x="334962" y="81153"/>
                  </a:lnTo>
                  <a:lnTo>
                    <a:pt x="375753" y="60376"/>
                  </a:lnTo>
                  <a:lnTo>
                    <a:pt x="418140" y="42451"/>
                  </a:lnTo>
                  <a:lnTo>
                    <a:pt x="461997" y="27504"/>
                  </a:lnTo>
                  <a:lnTo>
                    <a:pt x="507198" y="15659"/>
                  </a:lnTo>
                  <a:lnTo>
                    <a:pt x="553618" y="7043"/>
                  </a:lnTo>
                  <a:lnTo>
                    <a:pt x="601132" y="1781"/>
                  </a:lnTo>
                  <a:lnTo>
                    <a:pt x="649614" y="0"/>
                  </a:lnTo>
                  <a:lnTo>
                    <a:pt x="698095" y="1781"/>
                  </a:lnTo>
                  <a:lnTo>
                    <a:pt x="745609" y="7043"/>
                  </a:lnTo>
                  <a:lnTo>
                    <a:pt x="792029" y="15659"/>
                  </a:lnTo>
                  <a:lnTo>
                    <a:pt x="837231" y="27504"/>
                  </a:lnTo>
                  <a:lnTo>
                    <a:pt x="881088" y="42451"/>
                  </a:lnTo>
                  <a:lnTo>
                    <a:pt x="923474" y="60376"/>
                  </a:lnTo>
                  <a:lnTo>
                    <a:pt x="964266" y="81153"/>
                  </a:lnTo>
                  <a:lnTo>
                    <a:pt x="1003335" y="104656"/>
                  </a:lnTo>
                  <a:lnTo>
                    <a:pt x="1040558" y="130760"/>
                  </a:lnTo>
                  <a:lnTo>
                    <a:pt x="1075808" y="159339"/>
                  </a:lnTo>
                  <a:lnTo>
                    <a:pt x="1108960" y="190267"/>
                  </a:lnTo>
                  <a:lnTo>
                    <a:pt x="1139888" y="223419"/>
                  </a:lnTo>
                  <a:lnTo>
                    <a:pt x="1168467" y="258669"/>
                  </a:lnTo>
                  <a:lnTo>
                    <a:pt x="1194571" y="295892"/>
                  </a:lnTo>
                  <a:lnTo>
                    <a:pt x="1218074" y="334962"/>
                  </a:lnTo>
                  <a:lnTo>
                    <a:pt x="1238851" y="375753"/>
                  </a:lnTo>
                  <a:lnTo>
                    <a:pt x="1256776" y="418140"/>
                  </a:lnTo>
                  <a:lnTo>
                    <a:pt x="1271724" y="461997"/>
                  </a:lnTo>
                  <a:lnTo>
                    <a:pt x="1283568" y="507198"/>
                  </a:lnTo>
                  <a:lnTo>
                    <a:pt x="1292184" y="553619"/>
                  </a:lnTo>
                  <a:lnTo>
                    <a:pt x="1297446" y="601133"/>
                  </a:lnTo>
                  <a:lnTo>
                    <a:pt x="1299228" y="649614"/>
                  </a:lnTo>
                  <a:lnTo>
                    <a:pt x="1297446" y="698096"/>
                  </a:lnTo>
                  <a:lnTo>
                    <a:pt x="1292184" y="745609"/>
                  </a:lnTo>
                  <a:lnTo>
                    <a:pt x="1283568" y="792030"/>
                  </a:lnTo>
                  <a:lnTo>
                    <a:pt x="1271724" y="837231"/>
                  </a:lnTo>
                  <a:lnTo>
                    <a:pt x="1256776" y="881088"/>
                  </a:lnTo>
                  <a:lnTo>
                    <a:pt x="1238851" y="923475"/>
                  </a:lnTo>
                  <a:lnTo>
                    <a:pt x="1218074" y="964266"/>
                  </a:lnTo>
                  <a:lnTo>
                    <a:pt x="1194571" y="1003336"/>
                  </a:lnTo>
                  <a:lnTo>
                    <a:pt x="1168467" y="1040559"/>
                  </a:lnTo>
                  <a:lnTo>
                    <a:pt x="1139888" y="1075809"/>
                  </a:lnTo>
                  <a:lnTo>
                    <a:pt x="1108960" y="1108961"/>
                  </a:lnTo>
                  <a:lnTo>
                    <a:pt x="1075808" y="1139889"/>
                  </a:lnTo>
                  <a:lnTo>
                    <a:pt x="1040558" y="1168468"/>
                  </a:lnTo>
                  <a:lnTo>
                    <a:pt x="1003335" y="1194572"/>
                  </a:lnTo>
                  <a:lnTo>
                    <a:pt x="964266" y="1218075"/>
                  </a:lnTo>
                  <a:lnTo>
                    <a:pt x="923474" y="1238852"/>
                  </a:lnTo>
                  <a:lnTo>
                    <a:pt x="881088" y="1256777"/>
                  </a:lnTo>
                  <a:lnTo>
                    <a:pt x="837231" y="1271725"/>
                  </a:lnTo>
                  <a:lnTo>
                    <a:pt x="792029" y="1283569"/>
                  </a:lnTo>
                  <a:lnTo>
                    <a:pt x="745609" y="1292185"/>
                  </a:lnTo>
                  <a:lnTo>
                    <a:pt x="698095" y="1297447"/>
                  </a:lnTo>
                  <a:lnTo>
                    <a:pt x="649614" y="1299229"/>
                  </a:lnTo>
                  <a:lnTo>
                    <a:pt x="601132" y="1297447"/>
                  </a:lnTo>
                  <a:lnTo>
                    <a:pt x="553618" y="1292185"/>
                  </a:lnTo>
                  <a:lnTo>
                    <a:pt x="507198" y="1283569"/>
                  </a:lnTo>
                  <a:lnTo>
                    <a:pt x="461997" y="1271725"/>
                  </a:lnTo>
                  <a:lnTo>
                    <a:pt x="418140" y="1256777"/>
                  </a:lnTo>
                  <a:lnTo>
                    <a:pt x="375753" y="1238852"/>
                  </a:lnTo>
                  <a:lnTo>
                    <a:pt x="334962" y="1218075"/>
                  </a:lnTo>
                  <a:lnTo>
                    <a:pt x="295892" y="1194572"/>
                  </a:lnTo>
                  <a:lnTo>
                    <a:pt x="258669" y="1168468"/>
                  </a:lnTo>
                  <a:lnTo>
                    <a:pt x="223419" y="1139889"/>
                  </a:lnTo>
                  <a:lnTo>
                    <a:pt x="190267" y="1108961"/>
                  </a:lnTo>
                  <a:lnTo>
                    <a:pt x="159339" y="1075809"/>
                  </a:lnTo>
                  <a:lnTo>
                    <a:pt x="130760" y="1040559"/>
                  </a:lnTo>
                  <a:lnTo>
                    <a:pt x="104656" y="1003336"/>
                  </a:lnTo>
                  <a:lnTo>
                    <a:pt x="81153" y="964266"/>
                  </a:lnTo>
                  <a:lnTo>
                    <a:pt x="60376" y="923475"/>
                  </a:lnTo>
                  <a:lnTo>
                    <a:pt x="42451" y="881088"/>
                  </a:lnTo>
                  <a:lnTo>
                    <a:pt x="27504" y="837231"/>
                  </a:lnTo>
                  <a:lnTo>
                    <a:pt x="15659" y="792030"/>
                  </a:lnTo>
                  <a:lnTo>
                    <a:pt x="7043" y="745609"/>
                  </a:lnTo>
                  <a:lnTo>
                    <a:pt x="1781" y="698096"/>
                  </a:lnTo>
                  <a:lnTo>
                    <a:pt x="0" y="649614"/>
                  </a:lnTo>
                  <a:close/>
                </a:path>
              </a:pathLst>
            </a:custGeom>
            <a:ln w="62825">
              <a:solidFill>
                <a:srgbClr val="EA33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359090" y="6345798"/>
              <a:ext cx="704850" cy="704850"/>
            </a:xfrm>
            <a:custGeom>
              <a:avLst/>
              <a:gdLst/>
              <a:ahLst/>
              <a:cxnLst/>
              <a:rect l="l" t="t" r="r" b="b"/>
              <a:pathLst>
                <a:path w="704850" h="704850">
                  <a:moveTo>
                    <a:pt x="548915" y="111061"/>
                  </a:moveTo>
                  <a:lnTo>
                    <a:pt x="0" y="659976"/>
                  </a:lnTo>
                  <a:lnTo>
                    <a:pt x="44424" y="704400"/>
                  </a:lnTo>
                  <a:lnTo>
                    <a:pt x="593339" y="155484"/>
                  </a:lnTo>
                  <a:lnTo>
                    <a:pt x="548915" y="111061"/>
                  </a:lnTo>
                  <a:close/>
                </a:path>
                <a:path w="704850" h="704850">
                  <a:moveTo>
                    <a:pt x="674784" y="88848"/>
                  </a:moveTo>
                  <a:lnTo>
                    <a:pt x="571128" y="88848"/>
                  </a:lnTo>
                  <a:lnTo>
                    <a:pt x="615551" y="133272"/>
                  </a:lnTo>
                  <a:lnTo>
                    <a:pt x="593339" y="155484"/>
                  </a:lnTo>
                  <a:lnTo>
                    <a:pt x="637763" y="199909"/>
                  </a:lnTo>
                  <a:lnTo>
                    <a:pt x="674784" y="88848"/>
                  </a:lnTo>
                  <a:close/>
                </a:path>
                <a:path w="704850" h="704850">
                  <a:moveTo>
                    <a:pt x="571128" y="88848"/>
                  </a:moveTo>
                  <a:lnTo>
                    <a:pt x="548915" y="111061"/>
                  </a:lnTo>
                  <a:lnTo>
                    <a:pt x="593339" y="155484"/>
                  </a:lnTo>
                  <a:lnTo>
                    <a:pt x="615551" y="133272"/>
                  </a:lnTo>
                  <a:lnTo>
                    <a:pt x="571128" y="88848"/>
                  </a:lnTo>
                  <a:close/>
                </a:path>
                <a:path w="704850" h="704850">
                  <a:moveTo>
                    <a:pt x="704400" y="0"/>
                  </a:moveTo>
                  <a:lnTo>
                    <a:pt x="504491" y="66636"/>
                  </a:lnTo>
                  <a:lnTo>
                    <a:pt x="548915" y="111061"/>
                  </a:lnTo>
                  <a:lnTo>
                    <a:pt x="571128" y="88848"/>
                  </a:lnTo>
                  <a:lnTo>
                    <a:pt x="674784" y="88848"/>
                  </a:lnTo>
                  <a:lnTo>
                    <a:pt x="704400" y="0"/>
                  </a:lnTo>
                  <a:close/>
                </a:path>
              </a:pathLst>
            </a:custGeom>
            <a:solidFill>
              <a:srgbClr val="EE22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7151614" y="5057017"/>
            <a:ext cx="2156460" cy="2080895"/>
            <a:chOff x="7151614" y="5057017"/>
            <a:chExt cx="2156460" cy="2080895"/>
          </a:xfrm>
        </p:grpSpPr>
        <p:sp>
          <p:nvSpPr>
            <p:cNvPr id="14" name="object 14"/>
            <p:cNvSpPr/>
            <p:nvPr/>
          </p:nvSpPr>
          <p:spPr>
            <a:xfrm>
              <a:off x="7413386" y="5088430"/>
              <a:ext cx="1299845" cy="1299845"/>
            </a:xfrm>
            <a:custGeom>
              <a:avLst/>
              <a:gdLst/>
              <a:ahLst/>
              <a:cxnLst/>
              <a:rect l="l" t="t" r="r" b="b"/>
              <a:pathLst>
                <a:path w="1299845" h="1299845">
                  <a:moveTo>
                    <a:pt x="0" y="649614"/>
                  </a:moveTo>
                  <a:lnTo>
                    <a:pt x="1781" y="601133"/>
                  </a:lnTo>
                  <a:lnTo>
                    <a:pt x="7043" y="553619"/>
                  </a:lnTo>
                  <a:lnTo>
                    <a:pt x="15659" y="507198"/>
                  </a:lnTo>
                  <a:lnTo>
                    <a:pt x="27504" y="461997"/>
                  </a:lnTo>
                  <a:lnTo>
                    <a:pt x="42451" y="418140"/>
                  </a:lnTo>
                  <a:lnTo>
                    <a:pt x="60376" y="375753"/>
                  </a:lnTo>
                  <a:lnTo>
                    <a:pt x="81153" y="334962"/>
                  </a:lnTo>
                  <a:lnTo>
                    <a:pt x="104656" y="295892"/>
                  </a:lnTo>
                  <a:lnTo>
                    <a:pt x="130760" y="258669"/>
                  </a:lnTo>
                  <a:lnTo>
                    <a:pt x="159339" y="223419"/>
                  </a:lnTo>
                  <a:lnTo>
                    <a:pt x="190267" y="190267"/>
                  </a:lnTo>
                  <a:lnTo>
                    <a:pt x="223419" y="159339"/>
                  </a:lnTo>
                  <a:lnTo>
                    <a:pt x="258669" y="130760"/>
                  </a:lnTo>
                  <a:lnTo>
                    <a:pt x="295892" y="104656"/>
                  </a:lnTo>
                  <a:lnTo>
                    <a:pt x="334962" y="81153"/>
                  </a:lnTo>
                  <a:lnTo>
                    <a:pt x="375753" y="60376"/>
                  </a:lnTo>
                  <a:lnTo>
                    <a:pt x="418140" y="42451"/>
                  </a:lnTo>
                  <a:lnTo>
                    <a:pt x="461997" y="27504"/>
                  </a:lnTo>
                  <a:lnTo>
                    <a:pt x="507198" y="15659"/>
                  </a:lnTo>
                  <a:lnTo>
                    <a:pt x="553618" y="7043"/>
                  </a:lnTo>
                  <a:lnTo>
                    <a:pt x="601132" y="1781"/>
                  </a:lnTo>
                  <a:lnTo>
                    <a:pt x="649614" y="0"/>
                  </a:lnTo>
                  <a:lnTo>
                    <a:pt x="698095" y="1781"/>
                  </a:lnTo>
                  <a:lnTo>
                    <a:pt x="745609" y="7043"/>
                  </a:lnTo>
                  <a:lnTo>
                    <a:pt x="792029" y="15659"/>
                  </a:lnTo>
                  <a:lnTo>
                    <a:pt x="837231" y="27504"/>
                  </a:lnTo>
                  <a:lnTo>
                    <a:pt x="881088" y="42451"/>
                  </a:lnTo>
                  <a:lnTo>
                    <a:pt x="923474" y="60376"/>
                  </a:lnTo>
                  <a:lnTo>
                    <a:pt x="964266" y="81153"/>
                  </a:lnTo>
                  <a:lnTo>
                    <a:pt x="1003335" y="104656"/>
                  </a:lnTo>
                  <a:lnTo>
                    <a:pt x="1040558" y="130760"/>
                  </a:lnTo>
                  <a:lnTo>
                    <a:pt x="1075808" y="159339"/>
                  </a:lnTo>
                  <a:lnTo>
                    <a:pt x="1108960" y="190267"/>
                  </a:lnTo>
                  <a:lnTo>
                    <a:pt x="1139888" y="223419"/>
                  </a:lnTo>
                  <a:lnTo>
                    <a:pt x="1168467" y="258669"/>
                  </a:lnTo>
                  <a:lnTo>
                    <a:pt x="1194571" y="295892"/>
                  </a:lnTo>
                  <a:lnTo>
                    <a:pt x="1218074" y="334962"/>
                  </a:lnTo>
                  <a:lnTo>
                    <a:pt x="1238851" y="375753"/>
                  </a:lnTo>
                  <a:lnTo>
                    <a:pt x="1256776" y="418140"/>
                  </a:lnTo>
                  <a:lnTo>
                    <a:pt x="1271724" y="461997"/>
                  </a:lnTo>
                  <a:lnTo>
                    <a:pt x="1283568" y="507198"/>
                  </a:lnTo>
                  <a:lnTo>
                    <a:pt x="1292184" y="553619"/>
                  </a:lnTo>
                  <a:lnTo>
                    <a:pt x="1297446" y="601133"/>
                  </a:lnTo>
                  <a:lnTo>
                    <a:pt x="1299228" y="649614"/>
                  </a:lnTo>
                  <a:lnTo>
                    <a:pt x="1297446" y="698096"/>
                  </a:lnTo>
                  <a:lnTo>
                    <a:pt x="1292184" y="745609"/>
                  </a:lnTo>
                  <a:lnTo>
                    <a:pt x="1283568" y="792030"/>
                  </a:lnTo>
                  <a:lnTo>
                    <a:pt x="1271724" y="837231"/>
                  </a:lnTo>
                  <a:lnTo>
                    <a:pt x="1256776" y="881088"/>
                  </a:lnTo>
                  <a:lnTo>
                    <a:pt x="1238851" y="923475"/>
                  </a:lnTo>
                  <a:lnTo>
                    <a:pt x="1218074" y="964266"/>
                  </a:lnTo>
                  <a:lnTo>
                    <a:pt x="1194571" y="1003336"/>
                  </a:lnTo>
                  <a:lnTo>
                    <a:pt x="1168467" y="1040559"/>
                  </a:lnTo>
                  <a:lnTo>
                    <a:pt x="1139888" y="1075809"/>
                  </a:lnTo>
                  <a:lnTo>
                    <a:pt x="1108960" y="1108961"/>
                  </a:lnTo>
                  <a:lnTo>
                    <a:pt x="1075808" y="1139889"/>
                  </a:lnTo>
                  <a:lnTo>
                    <a:pt x="1040558" y="1168468"/>
                  </a:lnTo>
                  <a:lnTo>
                    <a:pt x="1003335" y="1194572"/>
                  </a:lnTo>
                  <a:lnTo>
                    <a:pt x="964266" y="1218075"/>
                  </a:lnTo>
                  <a:lnTo>
                    <a:pt x="923474" y="1238852"/>
                  </a:lnTo>
                  <a:lnTo>
                    <a:pt x="881088" y="1256777"/>
                  </a:lnTo>
                  <a:lnTo>
                    <a:pt x="837231" y="1271725"/>
                  </a:lnTo>
                  <a:lnTo>
                    <a:pt x="792029" y="1283569"/>
                  </a:lnTo>
                  <a:lnTo>
                    <a:pt x="745609" y="1292185"/>
                  </a:lnTo>
                  <a:lnTo>
                    <a:pt x="698095" y="1297447"/>
                  </a:lnTo>
                  <a:lnTo>
                    <a:pt x="649614" y="1299229"/>
                  </a:lnTo>
                  <a:lnTo>
                    <a:pt x="601132" y="1297447"/>
                  </a:lnTo>
                  <a:lnTo>
                    <a:pt x="553618" y="1292185"/>
                  </a:lnTo>
                  <a:lnTo>
                    <a:pt x="507198" y="1283569"/>
                  </a:lnTo>
                  <a:lnTo>
                    <a:pt x="461997" y="1271725"/>
                  </a:lnTo>
                  <a:lnTo>
                    <a:pt x="418140" y="1256777"/>
                  </a:lnTo>
                  <a:lnTo>
                    <a:pt x="375753" y="1238852"/>
                  </a:lnTo>
                  <a:lnTo>
                    <a:pt x="334962" y="1218075"/>
                  </a:lnTo>
                  <a:lnTo>
                    <a:pt x="295892" y="1194572"/>
                  </a:lnTo>
                  <a:lnTo>
                    <a:pt x="258669" y="1168468"/>
                  </a:lnTo>
                  <a:lnTo>
                    <a:pt x="223419" y="1139889"/>
                  </a:lnTo>
                  <a:lnTo>
                    <a:pt x="190267" y="1108961"/>
                  </a:lnTo>
                  <a:lnTo>
                    <a:pt x="159339" y="1075809"/>
                  </a:lnTo>
                  <a:lnTo>
                    <a:pt x="130760" y="1040559"/>
                  </a:lnTo>
                  <a:lnTo>
                    <a:pt x="104656" y="1003336"/>
                  </a:lnTo>
                  <a:lnTo>
                    <a:pt x="81153" y="964266"/>
                  </a:lnTo>
                  <a:lnTo>
                    <a:pt x="60376" y="923475"/>
                  </a:lnTo>
                  <a:lnTo>
                    <a:pt x="42451" y="881088"/>
                  </a:lnTo>
                  <a:lnTo>
                    <a:pt x="27504" y="837231"/>
                  </a:lnTo>
                  <a:lnTo>
                    <a:pt x="15659" y="792030"/>
                  </a:lnTo>
                  <a:lnTo>
                    <a:pt x="7043" y="745609"/>
                  </a:lnTo>
                  <a:lnTo>
                    <a:pt x="1781" y="698096"/>
                  </a:lnTo>
                  <a:lnTo>
                    <a:pt x="0" y="649614"/>
                  </a:lnTo>
                  <a:close/>
                </a:path>
              </a:pathLst>
            </a:custGeom>
            <a:ln w="62825">
              <a:solidFill>
                <a:srgbClr val="EA33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151611" y="6258350"/>
              <a:ext cx="2156460" cy="879475"/>
            </a:xfrm>
            <a:custGeom>
              <a:avLst/>
              <a:gdLst/>
              <a:ahLst/>
              <a:cxnLst/>
              <a:rect l="l" t="t" r="r" b="b"/>
              <a:pathLst>
                <a:path w="2156459" h="879475">
                  <a:moveTo>
                    <a:pt x="188468" y="188480"/>
                  </a:moveTo>
                  <a:lnTo>
                    <a:pt x="172770" y="157073"/>
                  </a:lnTo>
                  <a:lnTo>
                    <a:pt x="94234" y="0"/>
                  </a:lnTo>
                  <a:lnTo>
                    <a:pt x="0" y="188480"/>
                  </a:lnTo>
                  <a:lnTo>
                    <a:pt x="62826" y="188480"/>
                  </a:lnTo>
                  <a:lnTo>
                    <a:pt x="62826" y="879309"/>
                  </a:lnTo>
                  <a:lnTo>
                    <a:pt x="125653" y="879309"/>
                  </a:lnTo>
                  <a:lnTo>
                    <a:pt x="125653" y="188480"/>
                  </a:lnTo>
                  <a:lnTo>
                    <a:pt x="188468" y="188480"/>
                  </a:lnTo>
                  <a:close/>
                </a:path>
                <a:path w="2156459" h="879475">
                  <a:moveTo>
                    <a:pt x="2155901" y="834885"/>
                  </a:moveTo>
                  <a:lnTo>
                    <a:pt x="1432077" y="111061"/>
                  </a:lnTo>
                  <a:lnTo>
                    <a:pt x="1454289" y="88849"/>
                  </a:lnTo>
                  <a:lnTo>
                    <a:pt x="1476502" y="66636"/>
                  </a:lnTo>
                  <a:lnTo>
                    <a:pt x="1276591" y="0"/>
                  </a:lnTo>
                  <a:lnTo>
                    <a:pt x="1343228" y="199910"/>
                  </a:lnTo>
                  <a:lnTo>
                    <a:pt x="1387652" y="155486"/>
                  </a:lnTo>
                  <a:lnTo>
                    <a:pt x="2111476" y="879309"/>
                  </a:lnTo>
                  <a:lnTo>
                    <a:pt x="2155901" y="834885"/>
                  </a:lnTo>
                  <a:close/>
                </a:path>
              </a:pathLst>
            </a:custGeom>
            <a:solidFill>
              <a:srgbClr val="EE22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1076272" y="6962166"/>
            <a:ext cx="9279890" cy="31375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297554">
              <a:lnSpc>
                <a:spcPct val="100000"/>
              </a:lnSpc>
              <a:spcBef>
                <a:spcPts val="114"/>
              </a:spcBef>
              <a:tabLst>
                <a:tab pos="5474970" algn="l"/>
                <a:tab pos="7674609" algn="l"/>
              </a:tabLst>
            </a:pPr>
            <a:r>
              <a:rPr sz="3200" spc="-10" dirty="0">
                <a:latin typeface="Arial MT"/>
                <a:cs typeface="Arial MT"/>
              </a:rPr>
              <a:t>Operand</a:t>
            </a:r>
            <a:r>
              <a:rPr sz="3200" dirty="0">
                <a:latin typeface="Arial MT"/>
                <a:cs typeface="Arial MT"/>
              </a:rPr>
              <a:t>	</a:t>
            </a:r>
            <a:r>
              <a:rPr sz="3200" spc="-10" dirty="0">
                <a:latin typeface="Arial MT"/>
                <a:cs typeface="Arial MT"/>
              </a:rPr>
              <a:t>Operator</a:t>
            </a:r>
            <a:r>
              <a:rPr sz="3200" dirty="0">
                <a:latin typeface="Arial MT"/>
                <a:cs typeface="Arial MT"/>
              </a:rPr>
              <a:t>	</a:t>
            </a:r>
            <a:r>
              <a:rPr sz="3200" spc="-10" dirty="0">
                <a:latin typeface="Arial MT"/>
                <a:cs typeface="Arial MT"/>
              </a:rPr>
              <a:t>Operand</a:t>
            </a:r>
            <a:endParaRPr sz="3200">
              <a:latin typeface="Arial MT"/>
              <a:cs typeface="Arial MT"/>
            </a:endParaRPr>
          </a:p>
          <a:p>
            <a:pPr marL="371475" indent="-358775">
              <a:lnSpc>
                <a:spcPct val="100000"/>
              </a:lnSpc>
              <a:spcBef>
                <a:spcPts val="2560"/>
              </a:spcBef>
              <a:buFont typeface="Georgia"/>
              <a:buChar char="•"/>
              <a:tabLst>
                <a:tab pos="371475" algn="l"/>
              </a:tabLst>
            </a:pPr>
            <a:r>
              <a:rPr sz="3050" b="1" dirty="0">
                <a:latin typeface="Times New Roman"/>
                <a:cs typeface="Times New Roman"/>
              </a:rPr>
              <a:t>Arithmetic</a:t>
            </a:r>
            <a:r>
              <a:rPr sz="3050" b="1" spc="55" dirty="0">
                <a:latin typeface="Times New Roman"/>
                <a:cs typeface="Times New Roman"/>
              </a:rPr>
              <a:t> </a:t>
            </a:r>
            <a:r>
              <a:rPr sz="3050" b="1" dirty="0">
                <a:latin typeface="Times New Roman"/>
                <a:cs typeface="Times New Roman"/>
              </a:rPr>
              <a:t>Operators:</a:t>
            </a:r>
            <a:r>
              <a:rPr sz="3050" b="1" spc="60" dirty="0">
                <a:latin typeface="Times New Roman"/>
                <a:cs typeface="Times New Roman"/>
              </a:rPr>
              <a:t> </a:t>
            </a:r>
            <a:r>
              <a:rPr sz="3050" b="1" dirty="0">
                <a:latin typeface="Times New Roman"/>
                <a:cs typeface="Times New Roman"/>
              </a:rPr>
              <a:t>+,</a:t>
            </a:r>
            <a:r>
              <a:rPr sz="3050" b="1" spc="50" dirty="0">
                <a:latin typeface="Times New Roman"/>
                <a:cs typeface="Times New Roman"/>
              </a:rPr>
              <a:t> </a:t>
            </a:r>
            <a:r>
              <a:rPr sz="3050" b="1" dirty="0">
                <a:latin typeface="Times New Roman"/>
                <a:cs typeface="Times New Roman"/>
              </a:rPr>
              <a:t>-,</a:t>
            </a:r>
            <a:r>
              <a:rPr sz="3050" b="1" spc="55" dirty="0">
                <a:latin typeface="Times New Roman"/>
                <a:cs typeface="Times New Roman"/>
              </a:rPr>
              <a:t> </a:t>
            </a:r>
            <a:r>
              <a:rPr sz="3050" b="1" dirty="0">
                <a:latin typeface="Times New Roman"/>
                <a:cs typeface="Times New Roman"/>
              </a:rPr>
              <a:t>*,</a:t>
            </a:r>
            <a:r>
              <a:rPr sz="3050" b="1" spc="60" dirty="0">
                <a:latin typeface="Times New Roman"/>
                <a:cs typeface="Times New Roman"/>
              </a:rPr>
              <a:t> </a:t>
            </a:r>
            <a:r>
              <a:rPr sz="3050" b="1" dirty="0">
                <a:latin typeface="Times New Roman"/>
                <a:cs typeface="Times New Roman"/>
              </a:rPr>
              <a:t>/,</a:t>
            </a:r>
            <a:r>
              <a:rPr sz="3050" b="1" spc="55" dirty="0">
                <a:latin typeface="Times New Roman"/>
                <a:cs typeface="Times New Roman"/>
              </a:rPr>
              <a:t> </a:t>
            </a:r>
            <a:r>
              <a:rPr sz="3050" b="1" dirty="0">
                <a:latin typeface="Times New Roman"/>
                <a:cs typeface="Times New Roman"/>
              </a:rPr>
              <a:t>%,</a:t>
            </a:r>
            <a:r>
              <a:rPr sz="3050" b="1" spc="60" dirty="0">
                <a:latin typeface="Times New Roman"/>
                <a:cs typeface="Times New Roman"/>
              </a:rPr>
              <a:t> </a:t>
            </a:r>
            <a:r>
              <a:rPr sz="3050" b="1" dirty="0">
                <a:latin typeface="Times New Roman"/>
                <a:cs typeface="Times New Roman"/>
              </a:rPr>
              <a:t>++,</a:t>
            </a:r>
            <a:r>
              <a:rPr sz="3050" b="1" spc="55" dirty="0">
                <a:latin typeface="Times New Roman"/>
                <a:cs typeface="Times New Roman"/>
              </a:rPr>
              <a:t> </a:t>
            </a:r>
            <a:r>
              <a:rPr sz="3050" b="1" dirty="0">
                <a:latin typeface="Times New Roman"/>
                <a:cs typeface="Times New Roman"/>
              </a:rPr>
              <a:t>-</a:t>
            </a:r>
            <a:r>
              <a:rPr sz="3050" b="1" spc="65" dirty="0">
                <a:latin typeface="Times New Roman"/>
                <a:cs typeface="Times New Roman"/>
              </a:rPr>
              <a:t> </a:t>
            </a:r>
            <a:r>
              <a:rPr sz="3050" b="1" spc="-50" dirty="0">
                <a:latin typeface="Times New Roman"/>
                <a:cs typeface="Times New Roman"/>
              </a:rPr>
              <a:t>-</a:t>
            </a:r>
            <a:endParaRPr sz="3050">
              <a:latin typeface="Times New Roman"/>
              <a:cs typeface="Times New Roman"/>
            </a:endParaRPr>
          </a:p>
          <a:p>
            <a:pPr marL="371475" indent="-358775">
              <a:lnSpc>
                <a:spcPct val="100000"/>
              </a:lnSpc>
              <a:spcBef>
                <a:spcPts val="1130"/>
              </a:spcBef>
              <a:buFont typeface="Georgia"/>
              <a:buChar char="•"/>
              <a:tabLst>
                <a:tab pos="371475" algn="l"/>
              </a:tabLst>
            </a:pPr>
            <a:r>
              <a:rPr sz="3050" b="1" dirty="0">
                <a:latin typeface="Times New Roman"/>
                <a:cs typeface="Times New Roman"/>
              </a:rPr>
              <a:t>Relational</a:t>
            </a:r>
            <a:r>
              <a:rPr sz="3050" b="1" spc="70" dirty="0">
                <a:latin typeface="Times New Roman"/>
                <a:cs typeface="Times New Roman"/>
              </a:rPr>
              <a:t> </a:t>
            </a:r>
            <a:r>
              <a:rPr sz="3050" b="1" dirty="0">
                <a:latin typeface="Times New Roman"/>
                <a:cs typeface="Times New Roman"/>
              </a:rPr>
              <a:t>Operators:</a:t>
            </a:r>
            <a:r>
              <a:rPr sz="3050" b="1" spc="80" dirty="0">
                <a:latin typeface="Times New Roman"/>
                <a:cs typeface="Times New Roman"/>
              </a:rPr>
              <a:t> </a:t>
            </a:r>
            <a:r>
              <a:rPr sz="3050" b="1" dirty="0">
                <a:latin typeface="Times New Roman"/>
                <a:cs typeface="Times New Roman"/>
              </a:rPr>
              <a:t>&lt;,</a:t>
            </a:r>
            <a:r>
              <a:rPr sz="3050" b="1" spc="70" dirty="0">
                <a:latin typeface="Times New Roman"/>
                <a:cs typeface="Times New Roman"/>
              </a:rPr>
              <a:t> </a:t>
            </a:r>
            <a:r>
              <a:rPr sz="3050" b="1" dirty="0">
                <a:latin typeface="Times New Roman"/>
                <a:cs typeface="Times New Roman"/>
              </a:rPr>
              <a:t>&gt;,</a:t>
            </a:r>
            <a:r>
              <a:rPr sz="3050" b="1" spc="70" dirty="0">
                <a:latin typeface="Times New Roman"/>
                <a:cs typeface="Times New Roman"/>
              </a:rPr>
              <a:t> </a:t>
            </a:r>
            <a:r>
              <a:rPr sz="3050" b="1" dirty="0">
                <a:latin typeface="Times New Roman"/>
                <a:cs typeface="Times New Roman"/>
              </a:rPr>
              <a:t>&lt;=,</a:t>
            </a:r>
            <a:r>
              <a:rPr sz="3050" b="1" spc="75" dirty="0">
                <a:latin typeface="Times New Roman"/>
                <a:cs typeface="Times New Roman"/>
              </a:rPr>
              <a:t> </a:t>
            </a:r>
            <a:r>
              <a:rPr sz="3050" b="1" dirty="0">
                <a:latin typeface="Times New Roman"/>
                <a:cs typeface="Times New Roman"/>
              </a:rPr>
              <a:t>&gt;=,</a:t>
            </a:r>
            <a:r>
              <a:rPr sz="3050" b="1" spc="70" dirty="0">
                <a:latin typeface="Times New Roman"/>
                <a:cs typeface="Times New Roman"/>
              </a:rPr>
              <a:t> </a:t>
            </a:r>
            <a:r>
              <a:rPr sz="3050" b="1" dirty="0">
                <a:latin typeface="Times New Roman"/>
                <a:cs typeface="Times New Roman"/>
              </a:rPr>
              <a:t>==,</a:t>
            </a:r>
            <a:r>
              <a:rPr sz="3050" b="1" spc="70" dirty="0">
                <a:latin typeface="Times New Roman"/>
                <a:cs typeface="Times New Roman"/>
              </a:rPr>
              <a:t> </a:t>
            </a:r>
            <a:r>
              <a:rPr sz="3050" b="1" spc="-25" dirty="0">
                <a:latin typeface="Times New Roman"/>
                <a:cs typeface="Times New Roman"/>
              </a:rPr>
              <a:t>!=</a:t>
            </a:r>
            <a:endParaRPr sz="3050">
              <a:latin typeface="Times New Roman"/>
              <a:cs typeface="Times New Roman"/>
            </a:endParaRPr>
          </a:p>
          <a:p>
            <a:pPr marL="371475" indent="-358775">
              <a:lnSpc>
                <a:spcPct val="100000"/>
              </a:lnSpc>
              <a:spcBef>
                <a:spcPts val="1110"/>
              </a:spcBef>
              <a:buFont typeface="Georgia"/>
              <a:buChar char="•"/>
              <a:tabLst>
                <a:tab pos="371475" algn="l"/>
              </a:tabLst>
            </a:pPr>
            <a:r>
              <a:rPr sz="3050" b="1" dirty="0">
                <a:latin typeface="Times New Roman"/>
                <a:cs typeface="Times New Roman"/>
              </a:rPr>
              <a:t>Assignment</a:t>
            </a:r>
            <a:r>
              <a:rPr sz="3050" b="1" spc="70" dirty="0">
                <a:latin typeface="Times New Roman"/>
                <a:cs typeface="Times New Roman"/>
              </a:rPr>
              <a:t> </a:t>
            </a:r>
            <a:r>
              <a:rPr sz="3050" b="1" dirty="0">
                <a:latin typeface="Times New Roman"/>
                <a:cs typeface="Times New Roman"/>
              </a:rPr>
              <a:t>Operators:</a:t>
            </a:r>
            <a:r>
              <a:rPr sz="3050" b="1" spc="80" dirty="0">
                <a:latin typeface="Times New Roman"/>
                <a:cs typeface="Times New Roman"/>
              </a:rPr>
              <a:t> </a:t>
            </a:r>
            <a:r>
              <a:rPr sz="3050" b="1" dirty="0">
                <a:latin typeface="Times New Roman"/>
                <a:cs typeface="Times New Roman"/>
              </a:rPr>
              <a:t>=,</a:t>
            </a:r>
            <a:r>
              <a:rPr sz="3050" b="1" spc="75" dirty="0">
                <a:latin typeface="Times New Roman"/>
                <a:cs typeface="Times New Roman"/>
              </a:rPr>
              <a:t> </a:t>
            </a:r>
            <a:r>
              <a:rPr sz="3050" b="1" dirty="0">
                <a:latin typeface="Times New Roman"/>
                <a:cs typeface="Times New Roman"/>
              </a:rPr>
              <a:t>??=,</a:t>
            </a:r>
            <a:r>
              <a:rPr sz="3050" b="1" spc="70" dirty="0">
                <a:latin typeface="Times New Roman"/>
                <a:cs typeface="Times New Roman"/>
              </a:rPr>
              <a:t> </a:t>
            </a:r>
            <a:r>
              <a:rPr sz="3050" b="1" dirty="0">
                <a:latin typeface="Times New Roman"/>
                <a:cs typeface="Times New Roman"/>
              </a:rPr>
              <a:t>-=,</a:t>
            </a:r>
            <a:r>
              <a:rPr sz="3050" b="1" spc="75" dirty="0">
                <a:latin typeface="Times New Roman"/>
                <a:cs typeface="Times New Roman"/>
              </a:rPr>
              <a:t> </a:t>
            </a:r>
            <a:r>
              <a:rPr sz="3050" b="1" dirty="0">
                <a:latin typeface="Times New Roman"/>
                <a:cs typeface="Times New Roman"/>
              </a:rPr>
              <a:t>+=,</a:t>
            </a:r>
            <a:r>
              <a:rPr sz="3050" b="1" spc="80" dirty="0">
                <a:latin typeface="Times New Roman"/>
                <a:cs typeface="Times New Roman"/>
              </a:rPr>
              <a:t> </a:t>
            </a:r>
            <a:r>
              <a:rPr sz="3050" b="1" dirty="0">
                <a:latin typeface="Times New Roman"/>
                <a:cs typeface="Times New Roman"/>
              </a:rPr>
              <a:t>*=,</a:t>
            </a:r>
            <a:r>
              <a:rPr sz="3050" b="1" spc="75" dirty="0">
                <a:latin typeface="Times New Roman"/>
                <a:cs typeface="Times New Roman"/>
              </a:rPr>
              <a:t> </a:t>
            </a:r>
            <a:r>
              <a:rPr sz="3050" b="1" dirty="0">
                <a:latin typeface="Times New Roman"/>
                <a:cs typeface="Times New Roman"/>
              </a:rPr>
              <a:t>/=,</a:t>
            </a:r>
            <a:r>
              <a:rPr sz="3050" b="1" spc="75" dirty="0">
                <a:latin typeface="Times New Roman"/>
                <a:cs typeface="Times New Roman"/>
              </a:rPr>
              <a:t> </a:t>
            </a:r>
            <a:r>
              <a:rPr sz="3050" b="1" spc="-25" dirty="0">
                <a:latin typeface="Times New Roman"/>
                <a:cs typeface="Times New Roman"/>
              </a:rPr>
              <a:t>%=</a:t>
            </a:r>
            <a:endParaRPr sz="3050">
              <a:latin typeface="Times New Roman"/>
              <a:cs typeface="Times New Roman"/>
            </a:endParaRPr>
          </a:p>
          <a:p>
            <a:pPr marL="371475" indent="-358775">
              <a:lnSpc>
                <a:spcPct val="100000"/>
              </a:lnSpc>
              <a:spcBef>
                <a:spcPts val="1205"/>
              </a:spcBef>
              <a:buFont typeface="Georgia"/>
              <a:buChar char="•"/>
              <a:tabLst>
                <a:tab pos="371475" algn="l"/>
              </a:tabLst>
            </a:pPr>
            <a:r>
              <a:rPr sz="3050" b="1" dirty="0">
                <a:latin typeface="Times New Roman"/>
                <a:cs typeface="Times New Roman"/>
              </a:rPr>
              <a:t>Logical</a:t>
            </a:r>
            <a:r>
              <a:rPr sz="3050" b="1" spc="70" dirty="0">
                <a:latin typeface="Times New Roman"/>
                <a:cs typeface="Times New Roman"/>
              </a:rPr>
              <a:t> </a:t>
            </a:r>
            <a:r>
              <a:rPr sz="3050" b="1" dirty="0">
                <a:latin typeface="Times New Roman"/>
                <a:cs typeface="Times New Roman"/>
              </a:rPr>
              <a:t>Operators:</a:t>
            </a:r>
            <a:r>
              <a:rPr sz="3050" b="1" spc="75" dirty="0">
                <a:latin typeface="Times New Roman"/>
                <a:cs typeface="Times New Roman"/>
              </a:rPr>
              <a:t> </a:t>
            </a:r>
            <a:r>
              <a:rPr sz="3050" b="1" dirty="0">
                <a:latin typeface="Times New Roman"/>
                <a:cs typeface="Times New Roman"/>
              </a:rPr>
              <a:t>&amp;&amp;,</a:t>
            </a:r>
            <a:r>
              <a:rPr sz="3050" b="1" spc="70" dirty="0">
                <a:latin typeface="Times New Roman"/>
                <a:cs typeface="Times New Roman"/>
              </a:rPr>
              <a:t> </a:t>
            </a:r>
            <a:r>
              <a:rPr sz="3050" b="1" dirty="0">
                <a:latin typeface="Times New Roman"/>
                <a:cs typeface="Times New Roman"/>
              </a:rPr>
              <a:t>||,</a:t>
            </a:r>
            <a:r>
              <a:rPr sz="3050" b="1" spc="70" dirty="0">
                <a:latin typeface="Times New Roman"/>
                <a:cs typeface="Times New Roman"/>
              </a:rPr>
              <a:t> </a:t>
            </a:r>
            <a:r>
              <a:rPr sz="3050" b="1" spc="-50" dirty="0">
                <a:latin typeface="Times New Roman"/>
                <a:cs typeface="Times New Roman"/>
              </a:rPr>
              <a:t>!</a:t>
            </a:r>
            <a:endParaRPr sz="30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2195" cy="2352675"/>
            <a:chOff x="0" y="0"/>
            <a:chExt cx="20102195" cy="235267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1586" cy="235217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99495" y="0"/>
              <a:ext cx="9773105" cy="228935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1675"/>
              <a:ext cx="20058204" cy="2034803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169035">
              <a:lnSpc>
                <a:spcPct val="100000"/>
              </a:lnSpc>
              <a:spcBef>
                <a:spcPts val="125"/>
              </a:spcBef>
            </a:pPr>
            <a:r>
              <a:rPr dirty="0"/>
              <a:t>Dart</a:t>
            </a:r>
            <a:r>
              <a:rPr spc="-10" dirty="0"/>
              <a:t> </a:t>
            </a:r>
            <a:r>
              <a:rPr dirty="0"/>
              <a:t>Data</a:t>
            </a:r>
            <a:r>
              <a:rPr spc="-10" dirty="0"/>
              <a:t> </a:t>
            </a:r>
            <a:r>
              <a:rPr dirty="0"/>
              <a:t>Type:</a:t>
            </a:r>
            <a:r>
              <a:rPr spc="-5" dirty="0"/>
              <a:t> </a:t>
            </a:r>
            <a:r>
              <a:rPr spc="-10" dirty="0"/>
              <a:t>String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076272" y="3525621"/>
            <a:ext cx="14225269" cy="54565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73075" indent="-460375">
              <a:lnSpc>
                <a:spcPct val="100000"/>
              </a:lnSpc>
              <a:spcBef>
                <a:spcPts val="105"/>
              </a:spcBef>
              <a:buClr>
                <a:srgbClr val="245796"/>
              </a:buClr>
              <a:buFont typeface="Georgia"/>
              <a:buChar char="•"/>
              <a:tabLst>
                <a:tab pos="473075" algn="l"/>
              </a:tabLst>
            </a:pPr>
            <a:r>
              <a:rPr sz="3950" dirty="0">
                <a:latin typeface="Times New Roman"/>
                <a:cs typeface="Times New Roman"/>
              </a:rPr>
              <a:t>The</a:t>
            </a:r>
            <a:r>
              <a:rPr sz="3950" spc="-2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String</a:t>
            </a:r>
            <a:r>
              <a:rPr sz="3950" spc="-1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data</a:t>
            </a:r>
            <a:r>
              <a:rPr sz="3950" spc="-1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type</a:t>
            </a:r>
            <a:r>
              <a:rPr sz="3950" spc="-1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represents</a:t>
            </a:r>
            <a:r>
              <a:rPr sz="3950" spc="-20" dirty="0">
                <a:latin typeface="Times New Roman"/>
                <a:cs typeface="Times New Roman"/>
              </a:rPr>
              <a:t> </a:t>
            </a:r>
            <a:r>
              <a:rPr sz="3950" dirty="0">
                <a:solidFill>
                  <a:srgbClr val="EE220D"/>
                </a:solidFill>
                <a:latin typeface="Times New Roman"/>
                <a:cs typeface="Times New Roman"/>
              </a:rPr>
              <a:t>a</a:t>
            </a:r>
            <a:r>
              <a:rPr sz="3950" spc="-15" dirty="0">
                <a:solidFill>
                  <a:srgbClr val="EE220D"/>
                </a:solidFill>
                <a:latin typeface="Times New Roman"/>
                <a:cs typeface="Times New Roman"/>
              </a:rPr>
              <a:t> </a:t>
            </a:r>
            <a:r>
              <a:rPr sz="3950" dirty="0">
                <a:solidFill>
                  <a:srgbClr val="EE220D"/>
                </a:solidFill>
                <a:latin typeface="Times New Roman"/>
                <a:cs typeface="Times New Roman"/>
              </a:rPr>
              <a:t>sequence</a:t>
            </a:r>
            <a:r>
              <a:rPr sz="3950" spc="-15" dirty="0">
                <a:solidFill>
                  <a:srgbClr val="EE220D"/>
                </a:solidFill>
                <a:latin typeface="Times New Roman"/>
                <a:cs typeface="Times New Roman"/>
              </a:rPr>
              <a:t> </a:t>
            </a:r>
            <a:r>
              <a:rPr sz="3950" dirty="0">
                <a:solidFill>
                  <a:srgbClr val="EE220D"/>
                </a:solidFill>
                <a:latin typeface="Times New Roman"/>
                <a:cs typeface="Times New Roman"/>
              </a:rPr>
              <a:t>of</a:t>
            </a:r>
            <a:r>
              <a:rPr sz="3950" spc="-10" dirty="0">
                <a:solidFill>
                  <a:srgbClr val="EE220D"/>
                </a:solidFill>
                <a:latin typeface="Times New Roman"/>
                <a:cs typeface="Times New Roman"/>
              </a:rPr>
              <a:t> characters</a:t>
            </a:r>
            <a:endParaRPr sz="3950">
              <a:latin typeface="Times New Roman"/>
              <a:cs typeface="Times New Roman"/>
            </a:endParaRPr>
          </a:p>
          <a:p>
            <a:pPr marL="473075" indent="-460375">
              <a:lnSpc>
                <a:spcPct val="100000"/>
              </a:lnSpc>
              <a:spcBef>
                <a:spcPts val="50"/>
              </a:spcBef>
              <a:buClr>
                <a:srgbClr val="245796"/>
              </a:buClr>
              <a:buFont typeface="Georgia"/>
              <a:buChar char="•"/>
              <a:tabLst>
                <a:tab pos="473075" algn="l"/>
              </a:tabLst>
            </a:pPr>
            <a:r>
              <a:rPr sz="3950" dirty="0">
                <a:latin typeface="Times New Roman"/>
                <a:cs typeface="Times New Roman"/>
              </a:rPr>
              <a:t>A</a:t>
            </a:r>
            <a:r>
              <a:rPr sz="3950" spc="-1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Dart</a:t>
            </a:r>
            <a:r>
              <a:rPr sz="3950" spc="-1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string</a:t>
            </a:r>
            <a:r>
              <a:rPr sz="3950" spc="-1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is</a:t>
            </a:r>
            <a:r>
              <a:rPr sz="3950" spc="-1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a</a:t>
            </a:r>
            <a:r>
              <a:rPr sz="3950" spc="-1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sequence</a:t>
            </a:r>
            <a:r>
              <a:rPr sz="3950" spc="-1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of</a:t>
            </a:r>
            <a:r>
              <a:rPr sz="3950" spc="-10" dirty="0">
                <a:latin typeface="Times New Roman"/>
                <a:cs typeface="Times New Roman"/>
              </a:rPr>
              <a:t> </a:t>
            </a:r>
            <a:r>
              <a:rPr sz="3950" dirty="0">
                <a:solidFill>
                  <a:srgbClr val="EE220D"/>
                </a:solidFill>
                <a:latin typeface="Times New Roman"/>
                <a:cs typeface="Times New Roman"/>
              </a:rPr>
              <a:t>UTF</a:t>
            </a:r>
            <a:r>
              <a:rPr sz="3950" spc="-5" dirty="0">
                <a:solidFill>
                  <a:srgbClr val="EE220D"/>
                </a:solidFill>
                <a:latin typeface="Times New Roman"/>
                <a:cs typeface="Times New Roman"/>
              </a:rPr>
              <a:t> </a:t>
            </a:r>
            <a:r>
              <a:rPr sz="3950" dirty="0">
                <a:solidFill>
                  <a:srgbClr val="EE220D"/>
                </a:solidFill>
                <a:latin typeface="Times New Roman"/>
                <a:cs typeface="Times New Roman"/>
              </a:rPr>
              <a:t>16</a:t>
            </a:r>
            <a:r>
              <a:rPr sz="3950" spc="-10" dirty="0">
                <a:solidFill>
                  <a:srgbClr val="EE220D"/>
                </a:solidFill>
                <a:latin typeface="Times New Roman"/>
                <a:cs typeface="Times New Roman"/>
              </a:rPr>
              <a:t> </a:t>
            </a:r>
            <a:r>
              <a:rPr sz="3950" dirty="0">
                <a:solidFill>
                  <a:srgbClr val="EE220D"/>
                </a:solidFill>
                <a:latin typeface="Times New Roman"/>
                <a:cs typeface="Times New Roman"/>
              </a:rPr>
              <a:t>code</a:t>
            </a:r>
            <a:r>
              <a:rPr sz="3950" spc="-10" dirty="0">
                <a:solidFill>
                  <a:srgbClr val="EE220D"/>
                </a:solidFill>
                <a:latin typeface="Times New Roman"/>
                <a:cs typeface="Times New Roman"/>
              </a:rPr>
              <a:t> units.</a:t>
            </a:r>
            <a:endParaRPr sz="3950">
              <a:latin typeface="Times New Roman"/>
              <a:cs typeface="Times New Roman"/>
            </a:endParaRPr>
          </a:p>
          <a:p>
            <a:pPr marL="473075" indent="-460375">
              <a:lnSpc>
                <a:spcPts val="4715"/>
              </a:lnSpc>
              <a:spcBef>
                <a:spcPts val="50"/>
              </a:spcBef>
              <a:buClr>
                <a:srgbClr val="245796"/>
              </a:buClr>
              <a:buFont typeface="Georgia"/>
              <a:buChar char="•"/>
              <a:tabLst>
                <a:tab pos="473075" algn="l"/>
              </a:tabLst>
            </a:pPr>
            <a:r>
              <a:rPr sz="3950" dirty="0">
                <a:latin typeface="Times New Roman"/>
                <a:cs typeface="Times New Roman"/>
              </a:rPr>
              <a:t>String</a:t>
            </a:r>
            <a:r>
              <a:rPr sz="3950" spc="-3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values</a:t>
            </a:r>
            <a:r>
              <a:rPr sz="3950" spc="-2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in</a:t>
            </a:r>
            <a:r>
              <a:rPr sz="3950" spc="-1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Dart</a:t>
            </a:r>
            <a:r>
              <a:rPr sz="3950" spc="-1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can</a:t>
            </a:r>
            <a:r>
              <a:rPr sz="3950" spc="-1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be</a:t>
            </a:r>
            <a:r>
              <a:rPr sz="3950" spc="-2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represented</a:t>
            </a:r>
            <a:r>
              <a:rPr sz="3950" spc="-15" dirty="0">
                <a:latin typeface="Times New Roman"/>
                <a:cs typeface="Times New Roman"/>
              </a:rPr>
              <a:t> </a:t>
            </a:r>
            <a:r>
              <a:rPr sz="3950" spc="-10" dirty="0">
                <a:latin typeface="Times New Roman"/>
                <a:cs typeface="Times New Roman"/>
              </a:rPr>
              <a:t>using</a:t>
            </a:r>
            <a:endParaRPr sz="3950">
              <a:latin typeface="Times New Roman"/>
              <a:cs typeface="Times New Roman"/>
            </a:endParaRPr>
          </a:p>
          <a:p>
            <a:pPr marL="933450" lvl="1" indent="-460375">
              <a:lnSpc>
                <a:spcPts val="4715"/>
              </a:lnSpc>
              <a:buClr>
                <a:srgbClr val="245796"/>
              </a:buClr>
              <a:buFont typeface="Georgia"/>
              <a:buChar char="•"/>
              <a:tabLst>
                <a:tab pos="933450" algn="l"/>
              </a:tabLst>
            </a:pPr>
            <a:r>
              <a:rPr sz="3950" dirty="0">
                <a:latin typeface="Times New Roman"/>
                <a:cs typeface="Times New Roman"/>
              </a:rPr>
              <a:t>Single</a:t>
            </a:r>
            <a:r>
              <a:rPr sz="3950" spc="-20" dirty="0">
                <a:latin typeface="Times New Roman"/>
                <a:cs typeface="Times New Roman"/>
              </a:rPr>
              <a:t> </a:t>
            </a:r>
            <a:r>
              <a:rPr sz="3950" spc="-10" dirty="0">
                <a:latin typeface="Times New Roman"/>
                <a:cs typeface="Times New Roman"/>
              </a:rPr>
              <a:t>quotes</a:t>
            </a:r>
            <a:endParaRPr sz="3950">
              <a:latin typeface="Times New Roman"/>
              <a:cs typeface="Times New Roman"/>
            </a:endParaRPr>
          </a:p>
          <a:p>
            <a:pPr marL="933450" lvl="1" indent="-460375">
              <a:lnSpc>
                <a:spcPts val="4715"/>
              </a:lnSpc>
              <a:spcBef>
                <a:spcPts val="45"/>
              </a:spcBef>
              <a:buClr>
                <a:srgbClr val="245796"/>
              </a:buClr>
              <a:buFont typeface="Georgia"/>
              <a:buChar char="•"/>
              <a:tabLst>
                <a:tab pos="933450" algn="l"/>
              </a:tabLst>
            </a:pPr>
            <a:r>
              <a:rPr sz="3950" dirty="0">
                <a:latin typeface="Times New Roman"/>
                <a:cs typeface="Times New Roman"/>
              </a:rPr>
              <a:t>Double</a:t>
            </a:r>
            <a:r>
              <a:rPr sz="3950" spc="-10" dirty="0">
                <a:latin typeface="Times New Roman"/>
                <a:cs typeface="Times New Roman"/>
              </a:rPr>
              <a:t> quotes</a:t>
            </a:r>
            <a:endParaRPr sz="3950">
              <a:latin typeface="Times New Roman"/>
              <a:cs typeface="Times New Roman"/>
            </a:endParaRPr>
          </a:p>
          <a:p>
            <a:pPr marL="933450" lvl="1" indent="-460375">
              <a:lnSpc>
                <a:spcPts val="4715"/>
              </a:lnSpc>
              <a:buClr>
                <a:srgbClr val="245796"/>
              </a:buClr>
              <a:buFont typeface="Georgia"/>
              <a:buChar char="•"/>
              <a:tabLst>
                <a:tab pos="933450" algn="l"/>
              </a:tabLst>
            </a:pPr>
            <a:r>
              <a:rPr sz="3950" dirty="0">
                <a:latin typeface="Times New Roman"/>
                <a:cs typeface="Times New Roman"/>
              </a:rPr>
              <a:t>Triple</a:t>
            </a:r>
            <a:r>
              <a:rPr sz="3950" spc="-20" dirty="0">
                <a:latin typeface="Times New Roman"/>
                <a:cs typeface="Times New Roman"/>
              </a:rPr>
              <a:t> </a:t>
            </a:r>
            <a:r>
              <a:rPr sz="3950" spc="-10" dirty="0">
                <a:latin typeface="Times New Roman"/>
                <a:cs typeface="Times New Roman"/>
              </a:rPr>
              <a:t>quotes</a:t>
            </a:r>
            <a:endParaRPr sz="395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295"/>
              </a:spcBef>
              <a:buClr>
                <a:srgbClr val="245796"/>
              </a:buClr>
              <a:buFont typeface="Georgia"/>
              <a:buChar char="•"/>
            </a:pPr>
            <a:endParaRPr sz="3950">
              <a:latin typeface="Times New Roman"/>
              <a:cs typeface="Times New Roman"/>
            </a:endParaRPr>
          </a:p>
          <a:p>
            <a:pPr marL="473075" indent="-460375">
              <a:lnSpc>
                <a:spcPts val="4715"/>
              </a:lnSpc>
              <a:buClr>
                <a:srgbClr val="245796"/>
              </a:buClr>
              <a:buFont typeface="Georgia"/>
              <a:buChar char="•"/>
              <a:tabLst>
                <a:tab pos="473075" algn="l"/>
              </a:tabLst>
            </a:pPr>
            <a:r>
              <a:rPr sz="3950" b="1" dirty="0">
                <a:latin typeface="Times New Roman"/>
                <a:cs typeface="Times New Roman"/>
              </a:rPr>
              <a:t>Single</a:t>
            </a:r>
            <a:r>
              <a:rPr sz="3950" b="1" spc="-25" dirty="0">
                <a:latin typeface="Times New Roman"/>
                <a:cs typeface="Times New Roman"/>
              </a:rPr>
              <a:t> </a:t>
            </a:r>
            <a:r>
              <a:rPr sz="3950" b="1" dirty="0">
                <a:latin typeface="Times New Roman"/>
                <a:cs typeface="Times New Roman"/>
              </a:rPr>
              <a:t>line</a:t>
            </a:r>
            <a:r>
              <a:rPr sz="3950" b="1" spc="-20" dirty="0">
                <a:latin typeface="Times New Roman"/>
                <a:cs typeface="Times New Roman"/>
              </a:rPr>
              <a:t> </a:t>
            </a:r>
            <a:r>
              <a:rPr sz="3950" b="1" dirty="0">
                <a:latin typeface="Times New Roman"/>
                <a:cs typeface="Times New Roman"/>
              </a:rPr>
              <a:t>strings</a:t>
            </a:r>
            <a:r>
              <a:rPr sz="3950" b="1" spc="-20" dirty="0">
                <a:latin typeface="Times New Roman"/>
                <a:cs typeface="Times New Roman"/>
              </a:rPr>
              <a:t> </a:t>
            </a:r>
            <a:r>
              <a:rPr sz="3950" b="1" dirty="0">
                <a:latin typeface="Times New Roman"/>
                <a:cs typeface="Times New Roman"/>
              </a:rPr>
              <a:t>are</a:t>
            </a:r>
            <a:r>
              <a:rPr sz="3950" b="1" spc="-25" dirty="0">
                <a:latin typeface="Times New Roman"/>
                <a:cs typeface="Times New Roman"/>
              </a:rPr>
              <a:t> </a:t>
            </a:r>
            <a:r>
              <a:rPr sz="3950" b="1" dirty="0">
                <a:latin typeface="Times New Roman"/>
                <a:cs typeface="Times New Roman"/>
              </a:rPr>
              <a:t>represented</a:t>
            </a:r>
            <a:r>
              <a:rPr sz="3950" b="1" spc="-10" dirty="0">
                <a:latin typeface="Times New Roman"/>
                <a:cs typeface="Times New Roman"/>
              </a:rPr>
              <a:t> </a:t>
            </a:r>
            <a:r>
              <a:rPr sz="3950" b="1" dirty="0">
                <a:latin typeface="Times New Roman"/>
                <a:cs typeface="Times New Roman"/>
              </a:rPr>
              <a:t>using</a:t>
            </a:r>
            <a:r>
              <a:rPr sz="3950" b="1" spc="-15" dirty="0">
                <a:latin typeface="Times New Roman"/>
                <a:cs typeface="Times New Roman"/>
              </a:rPr>
              <a:t> </a:t>
            </a:r>
            <a:r>
              <a:rPr sz="3950" b="1" dirty="0">
                <a:solidFill>
                  <a:srgbClr val="EE220D"/>
                </a:solidFill>
                <a:latin typeface="Times New Roman"/>
                <a:cs typeface="Times New Roman"/>
              </a:rPr>
              <a:t>single</a:t>
            </a:r>
            <a:r>
              <a:rPr sz="3950" b="1" spc="-20" dirty="0">
                <a:solidFill>
                  <a:srgbClr val="EE220D"/>
                </a:solidFill>
                <a:latin typeface="Times New Roman"/>
                <a:cs typeface="Times New Roman"/>
              </a:rPr>
              <a:t> </a:t>
            </a:r>
            <a:r>
              <a:rPr sz="3950" b="1" dirty="0">
                <a:solidFill>
                  <a:srgbClr val="EE220D"/>
                </a:solidFill>
                <a:latin typeface="Times New Roman"/>
                <a:cs typeface="Times New Roman"/>
              </a:rPr>
              <a:t>or</a:t>
            </a:r>
            <a:r>
              <a:rPr sz="3950" b="1" spc="-25" dirty="0">
                <a:solidFill>
                  <a:srgbClr val="EE220D"/>
                </a:solidFill>
                <a:latin typeface="Times New Roman"/>
                <a:cs typeface="Times New Roman"/>
              </a:rPr>
              <a:t> </a:t>
            </a:r>
            <a:r>
              <a:rPr sz="3950" b="1" dirty="0">
                <a:solidFill>
                  <a:srgbClr val="EE220D"/>
                </a:solidFill>
                <a:latin typeface="Times New Roman"/>
                <a:cs typeface="Times New Roman"/>
              </a:rPr>
              <a:t>double</a:t>
            </a:r>
            <a:r>
              <a:rPr sz="3950" b="1" spc="-20" dirty="0">
                <a:solidFill>
                  <a:srgbClr val="EE220D"/>
                </a:solidFill>
                <a:latin typeface="Times New Roman"/>
                <a:cs typeface="Times New Roman"/>
              </a:rPr>
              <a:t> </a:t>
            </a:r>
            <a:r>
              <a:rPr sz="3950" b="1" spc="-10" dirty="0">
                <a:solidFill>
                  <a:srgbClr val="EE220D"/>
                </a:solidFill>
                <a:latin typeface="Times New Roman"/>
                <a:cs typeface="Times New Roman"/>
              </a:rPr>
              <a:t>quotes</a:t>
            </a:r>
            <a:r>
              <a:rPr sz="3950" b="1" spc="-10" dirty="0">
                <a:latin typeface="Times New Roman"/>
                <a:cs typeface="Times New Roman"/>
              </a:rPr>
              <a:t>.</a:t>
            </a:r>
            <a:endParaRPr sz="3950">
              <a:latin typeface="Times New Roman"/>
              <a:cs typeface="Times New Roman"/>
            </a:endParaRPr>
          </a:p>
          <a:p>
            <a:pPr marL="473075" indent="-460375">
              <a:lnSpc>
                <a:spcPts val="4715"/>
              </a:lnSpc>
              <a:buClr>
                <a:srgbClr val="245796"/>
              </a:buClr>
              <a:buFont typeface="Georgia"/>
              <a:buChar char="•"/>
              <a:tabLst>
                <a:tab pos="473075" algn="l"/>
              </a:tabLst>
            </a:pPr>
            <a:r>
              <a:rPr sz="3950" b="1" dirty="0">
                <a:latin typeface="Times New Roman"/>
                <a:cs typeface="Times New Roman"/>
              </a:rPr>
              <a:t>Triple</a:t>
            </a:r>
            <a:r>
              <a:rPr sz="3950" b="1" spc="-20" dirty="0">
                <a:latin typeface="Times New Roman"/>
                <a:cs typeface="Times New Roman"/>
              </a:rPr>
              <a:t> </a:t>
            </a:r>
            <a:r>
              <a:rPr sz="3950" b="1" dirty="0">
                <a:latin typeface="Times New Roman"/>
                <a:cs typeface="Times New Roman"/>
              </a:rPr>
              <a:t>quotes</a:t>
            </a:r>
            <a:r>
              <a:rPr sz="3950" b="1" spc="-20" dirty="0">
                <a:latin typeface="Times New Roman"/>
                <a:cs typeface="Times New Roman"/>
              </a:rPr>
              <a:t> </a:t>
            </a:r>
            <a:r>
              <a:rPr sz="3950" b="1" dirty="0">
                <a:latin typeface="Times New Roman"/>
                <a:cs typeface="Times New Roman"/>
              </a:rPr>
              <a:t>are</a:t>
            </a:r>
            <a:r>
              <a:rPr sz="3950" b="1" spc="-20" dirty="0">
                <a:latin typeface="Times New Roman"/>
                <a:cs typeface="Times New Roman"/>
              </a:rPr>
              <a:t> </a:t>
            </a:r>
            <a:r>
              <a:rPr sz="3950" b="1" dirty="0">
                <a:latin typeface="Times New Roman"/>
                <a:cs typeface="Times New Roman"/>
              </a:rPr>
              <a:t>used</a:t>
            </a:r>
            <a:r>
              <a:rPr sz="3950" b="1" spc="-10" dirty="0">
                <a:latin typeface="Times New Roman"/>
                <a:cs typeface="Times New Roman"/>
              </a:rPr>
              <a:t> </a:t>
            </a:r>
            <a:r>
              <a:rPr sz="3950" b="1" dirty="0">
                <a:latin typeface="Times New Roman"/>
                <a:cs typeface="Times New Roman"/>
              </a:rPr>
              <a:t>to</a:t>
            </a:r>
            <a:r>
              <a:rPr sz="3950" b="1" spc="-15" dirty="0">
                <a:latin typeface="Times New Roman"/>
                <a:cs typeface="Times New Roman"/>
              </a:rPr>
              <a:t> </a:t>
            </a:r>
            <a:r>
              <a:rPr sz="3950" b="1" dirty="0">
                <a:latin typeface="Times New Roman"/>
                <a:cs typeface="Times New Roman"/>
              </a:rPr>
              <a:t>represent</a:t>
            </a:r>
            <a:r>
              <a:rPr sz="3950" b="1" spc="-15" dirty="0">
                <a:latin typeface="Times New Roman"/>
                <a:cs typeface="Times New Roman"/>
              </a:rPr>
              <a:t> </a:t>
            </a:r>
            <a:r>
              <a:rPr sz="3950" b="1" dirty="0">
                <a:solidFill>
                  <a:srgbClr val="EE220D"/>
                </a:solidFill>
                <a:latin typeface="Times New Roman"/>
                <a:cs typeface="Times New Roman"/>
              </a:rPr>
              <a:t>multi-line</a:t>
            </a:r>
            <a:r>
              <a:rPr sz="3950" b="1" spc="-20" dirty="0">
                <a:solidFill>
                  <a:srgbClr val="EE220D"/>
                </a:solidFill>
                <a:latin typeface="Times New Roman"/>
                <a:cs typeface="Times New Roman"/>
              </a:rPr>
              <a:t> </a:t>
            </a:r>
            <a:r>
              <a:rPr sz="3950" b="1" spc="-10" dirty="0">
                <a:solidFill>
                  <a:srgbClr val="EE220D"/>
                </a:solidFill>
                <a:latin typeface="Times New Roman"/>
                <a:cs typeface="Times New Roman"/>
              </a:rPr>
              <a:t>strings</a:t>
            </a:r>
            <a:r>
              <a:rPr sz="3950" b="1" spc="-10" dirty="0">
                <a:latin typeface="Times New Roman"/>
                <a:cs typeface="Times New Roman"/>
              </a:rPr>
              <a:t>.</a:t>
            </a:r>
            <a:endParaRPr sz="3950">
              <a:latin typeface="Times New Roman"/>
              <a:cs typeface="Times New Roman"/>
            </a:endParaRP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02691" y="336743"/>
            <a:ext cx="1364565" cy="136456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2195" cy="2352675"/>
            <a:chOff x="0" y="0"/>
            <a:chExt cx="20102195" cy="235267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1586" cy="235217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99495" y="0"/>
              <a:ext cx="9773105" cy="228935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1675"/>
              <a:ext cx="20058204" cy="2034899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169035">
              <a:lnSpc>
                <a:spcPct val="100000"/>
              </a:lnSpc>
              <a:spcBef>
                <a:spcPts val="125"/>
              </a:spcBef>
            </a:pPr>
            <a:r>
              <a:rPr dirty="0"/>
              <a:t>Dart</a:t>
            </a:r>
            <a:r>
              <a:rPr spc="-10" dirty="0"/>
              <a:t> </a:t>
            </a:r>
            <a:r>
              <a:rPr dirty="0"/>
              <a:t>Data</a:t>
            </a:r>
            <a:r>
              <a:rPr spc="-10" dirty="0"/>
              <a:t> </a:t>
            </a:r>
            <a:r>
              <a:rPr dirty="0"/>
              <a:t>Type:</a:t>
            </a:r>
            <a:r>
              <a:rPr spc="-5" dirty="0"/>
              <a:t> </a:t>
            </a:r>
            <a:r>
              <a:rPr spc="-10" dirty="0"/>
              <a:t>String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076272" y="3525621"/>
            <a:ext cx="11595735" cy="12369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72440" indent="-459740">
              <a:lnSpc>
                <a:spcPct val="100000"/>
              </a:lnSpc>
              <a:spcBef>
                <a:spcPts val="105"/>
              </a:spcBef>
              <a:buFont typeface="Georgia"/>
              <a:buChar char="●"/>
              <a:tabLst>
                <a:tab pos="472440" algn="l"/>
              </a:tabLst>
            </a:pPr>
            <a:r>
              <a:rPr sz="3950" b="1" dirty="0">
                <a:solidFill>
                  <a:srgbClr val="245796"/>
                </a:solidFill>
                <a:latin typeface="Times New Roman"/>
                <a:cs typeface="Times New Roman"/>
              </a:rPr>
              <a:t>String</a:t>
            </a:r>
            <a:r>
              <a:rPr sz="3950" b="1" spc="-2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950" b="1" spc="-10" dirty="0">
                <a:solidFill>
                  <a:srgbClr val="245796"/>
                </a:solidFill>
                <a:latin typeface="Times New Roman"/>
                <a:cs typeface="Times New Roman"/>
              </a:rPr>
              <a:t>Concatenation</a:t>
            </a:r>
            <a:endParaRPr sz="3950">
              <a:latin typeface="Times New Roman"/>
              <a:cs typeface="Times New Roman"/>
            </a:endParaRPr>
          </a:p>
          <a:p>
            <a:pPr marL="932815" lvl="1" indent="-459740">
              <a:lnSpc>
                <a:spcPct val="100000"/>
              </a:lnSpc>
              <a:spcBef>
                <a:spcPts val="50"/>
              </a:spcBef>
              <a:buChar char="○"/>
              <a:tabLst>
                <a:tab pos="932815" algn="l"/>
              </a:tabLst>
            </a:pPr>
            <a:r>
              <a:rPr sz="3950" dirty="0">
                <a:solidFill>
                  <a:srgbClr val="245796"/>
                </a:solidFill>
                <a:latin typeface="Times New Roman"/>
                <a:cs typeface="Times New Roman"/>
              </a:rPr>
              <a:t>The</a:t>
            </a:r>
            <a:r>
              <a:rPr sz="3950" spc="-1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950" dirty="0">
                <a:solidFill>
                  <a:srgbClr val="245796"/>
                </a:solidFill>
                <a:latin typeface="Times New Roman"/>
                <a:cs typeface="Times New Roman"/>
              </a:rPr>
              <a:t>+</a:t>
            </a:r>
            <a:r>
              <a:rPr sz="3950" spc="-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950" dirty="0">
                <a:solidFill>
                  <a:srgbClr val="245796"/>
                </a:solidFill>
                <a:latin typeface="Times New Roman"/>
                <a:cs typeface="Times New Roman"/>
              </a:rPr>
              <a:t>or</a:t>
            </a:r>
            <a:r>
              <a:rPr sz="3950" spc="-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950" dirty="0">
                <a:solidFill>
                  <a:srgbClr val="245796"/>
                </a:solidFill>
                <a:latin typeface="Times New Roman"/>
                <a:cs typeface="Times New Roman"/>
              </a:rPr>
              <a:t>+=</a:t>
            </a:r>
            <a:r>
              <a:rPr sz="3950" spc="-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950" dirty="0">
                <a:solidFill>
                  <a:srgbClr val="245796"/>
                </a:solidFill>
                <a:latin typeface="Times New Roman"/>
                <a:cs typeface="Times New Roman"/>
              </a:rPr>
              <a:t>operator</a:t>
            </a:r>
            <a:r>
              <a:rPr sz="3950" spc="-1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950" dirty="0">
                <a:solidFill>
                  <a:srgbClr val="245796"/>
                </a:solidFill>
                <a:latin typeface="Times New Roman"/>
                <a:cs typeface="Times New Roman"/>
              </a:rPr>
              <a:t>is</a:t>
            </a:r>
            <a:r>
              <a:rPr sz="3950" spc="-1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950" dirty="0">
                <a:solidFill>
                  <a:srgbClr val="245796"/>
                </a:solidFill>
                <a:latin typeface="Times New Roman"/>
                <a:cs typeface="Times New Roman"/>
              </a:rPr>
              <a:t>used</a:t>
            </a:r>
            <a:r>
              <a:rPr sz="3950" spc="-1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950" dirty="0">
                <a:solidFill>
                  <a:srgbClr val="245796"/>
                </a:solidFill>
                <a:latin typeface="Times New Roman"/>
                <a:cs typeface="Times New Roman"/>
              </a:rPr>
              <a:t>to</a:t>
            </a:r>
            <a:r>
              <a:rPr sz="3950" spc="-1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950" dirty="0">
                <a:solidFill>
                  <a:srgbClr val="245796"/>
                </a:solidFill>
                <a:latin typeface="Times New Roman"/>
                <a:cs typeface="Times New Roman"/>
              </a:rPr>
              <a:t>merge</a:t>
            </a:r>
            <a:r>
              <a:rPr sz="3950" spc="-1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950" dirty="0">
                <a:solidFill>
                  <a:srgbClr val="245796"/>
                </a:solidFill>
                <a:latin typeface="Times New Roman"/>
                <a:cs typeface="Times New Roman"/>
              </a:rPr>
              <a:t>the</a:t>
            </a:r>
            <a:r>
              <a:rPr sz="3950" spc="-1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950" dirty="0">
                <a:solidFill>
                  <a:srgbClr val="245796"/>
                </a:solidFill>
                <a:latin typeface="Times New Roman"/>
                <a:cs typeface="Times New Roman"/>
              </a:rPr>
              <a:t>two</a:t>
            </a:r>
            <a:r>
              <a:rPr sz="3950" spc="-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950" spc="-10" dirty="0">
                <a:solidFill>
                  <a:srgbClr val="245796"/>
                </a:solidFill>
                <a:latin typeface="Times New Roman"/>
                <a:cs typeface="Times New Roman"/>
              </a:rPr>
              <a:t>string.</a:t>
            </a:r>
            <a:endParaRPr sz="3950">
              <a:latin typeface="Times New Roman"/>
              <a:cs typeface="Times New Roman"/>
            </a:endParaRP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02691" y="336743"/>
            <a:ext cx="1364565" cy="1364565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857653" y="5513549"/>
            <a:ext cx="9888704" cy="2962841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2195" cy="2352675"/>
            <a:chOff x="0" y="0"/>
            <a:chExt cx="20102195" cy="235267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1586" cy="235217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99495" y="0"/>
              <a:ext cx="9773105" cy="228935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1675"/>
              <a:ext cx="20058204" cy="2034899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169035">
              <a:lnSpc>
                <a:spcPct val="100000"/>
              </a:lnSpc>
              <a:spcBef>
                <a:spcPts val="125"/>
              </a:spcBef>
            </a:pPr>
            <a:r>
              <a:rPr dirty="0"/>
              <a:t>Dart</a:t>
            </a:r>
            <a:r>
              <a:rPr spc="-10" dirty="0"/>
              <a:t> </a:t>
            </a:r>
            <a:r>
              <a:rPr dirty="0"/>
              <a:t>Data</a:t>
            </a:r>
            <a:r>
              <a:rPr spc="-10" dirty="0"/>
              <a:t> </a:t>
            </a:r>
            <a:r>
              <a:rPr dirty="0"/>
              <a:t>Type:</a:t>
            </a:r>
            <a:r>
              <a:rPr spc="-5" dirty="0"/>
              <a:t> </a:t>
            </a:r>
            <a:r>
              <a:rPr spc="-10" dirty="0"/>
              <a:t>String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076272" y="3525621"/>
            <a:ext cx="17654905" cy="53028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72440" indent="-459740">
              <a:lnSpc>
                <a:spcPts val="5940"/>
              </a:lnSpc>
              <a:spcBef>
                <a:spcPts val="95"/>
              </a:spcBef>
              <a:buClr>
                <a:srgbClr val="245796"/>
              </a:buClr>
              <a:buSzPct val="79797"/>
              <a:buFont typeface="Georgia"/>
              <a:buChar char="●"/>
              <a:tabLst>
                <a:tab pos="472440" algn="l"/>
              </a:tabLst>
            </a:pPr>
            <a:r>
              <a:rPr sz="4950" b="1" dirty="0">
                <a:latin typeface="Times New Roman"/>
                <a:cs typeface="Times New Roman"/>
              </a:rPr>
              <a:t>String</a:t>
            </a:r>
            <a:r>
              <a:rPr sz="4950" b="1" spc="-95" dirty="0">
                <a:latin typeface="Times New Roman"/>
                <a:cs typeface="Times New Roman"/>
              </a:rPr>
              <a:t> </a:t>
            </a:r>
            <a:r>
              <a:rPr sz="4950" b="1" spc="-10" dirty="0">
                <a:latin typeface="Times New Roman"/>
                <a:cs typeface="Times New Roman"/>
              </a:rPr>
              <a:t>Interpolation</a:t>
            </a:r>
            <a:endParaRPr sz="4950">
              <a:latin typeface="Times New Roman"/>
              <a:cs typeface="Times New Roman"/>
            </a:endParaRPr>
          </a:p>
          <a:p>
            <a:pPr marL="932815" marR="5080" lvl="1" indent="-459740">
              <a:lnSpc>
                <a:spcPts val="5940"/>
              </a:lnSpc>
              <a:spcBef>
                <a:spcPts val="195"/>
              </a:spcBef>
              <a:buClr>
                <a:srgbClr val="245796"/>
              </a:buClr>
              <a:buSzPct val="79797"/>
              <a:buChar char="○"/>
              <a:tabLst>
                <a:tab pos="934085" algn="l"/>
              </a:tabLst>
            </a:pPr>
            <a:r>
              <a:rPr sz="4950" dirty="0">
                <a:latin typeface="Times New Roman"/>
                <a:cs typeface="Times New Roman"/>
              </a:rPr>
              <a:t>The</a:t>
            </a:r>
            <a:r>
              <a:rPr sz="4950" spc="-125" dirty="0">
                <a:latin typeface="Times New Roman"/>
                <a:cs typeface="Times New Roman"/>
              </a:rPr>
              <a:t> </a:t>
            </a:r>
            <a:r>
              <a:rPr sz="4950" dirty="0">
                <a:latin typeface="Times New Roman"/>
                <a:cs typeface="Times New Roman"/>
              </a:rPr>
              <a:t>string</a:t>
            </a:r>
            <a:r>
              <a:rPr sz="4950" spc="-125" dirty="0">
                <a:latin typeface="Times New Roman"/>
                <a:cs typeface="Times New Roman"/>
              </a:rPr>
              <a:t> </a:t>
            </a:r>
            <a:r>
              <a:rPr sz="4950" dirty="0">
                <a:latin typeface="Times New Roman"/>
                <a:cs typeface="Times New Roman"/>
              </a:rPr>
              <a:t>interpolation</a:t>
            </a:r>
            <a:r>
              <a:rPr sz="4950" spc="-125" dirty="0">
                <a:latin typeface="Times New Roman"/>
                <a:cs typeface="Times New Roman"/>
              </a:rPr>
              <a:t> </a:t>
            </a:r>
            <a:r>
              <a:rPr sz="4950" dirty="0">
                <a:latin typeface="Times New Roman"/>
                <a:cs typeface="Times New Roman"/>
              </a:rPr>
              <a:t>is</a:t>
            </a:r>
            <a:r>
              <a:rPr sz="4950" spc="-120" dirty="0">
                <a:latin typeface="Times New Roman"/>
                <a:cs typeface="Times New Roman"/>
              </a:rPr>
              <a:t> </a:t>
            </a:r>
            <a:r>
              <a:rPr sz="4950" dirty="0">
                <a:latin typeface="Times New Roman"/>
                <a:cs typeface="Times New Roman"/>
              </a:rPr>
              <a:t>a</a:t>
            </a:r>
            <a:r>
              <a:rPr sz="4950" spc="-120" dirty="0">
                <a:latin typeface="Times New Roman"/>
                <a:cs typeface="Times New Roman"/>
              </a:rPr>
              <a:t> </a:t>
            </a:r>
            <a:r>
              <a:rPr sz="4950" dirty="0">
                <a:latin typeface="Times New Roman"/>
                <a:cs typeface="Times New Roman"/>
              </a:rPr>
              <a:t>technique</a:t>
            </a:r>
            <a:r>
              <a:rPr sz="4950" spc="-125" dirty="0">
                <a:latin typeface="Times New Roman"/>
                <a:cs typeface="Times New Roman"/>
              </a:rPr>
              <a:t> </a:t>
            </a:r>
            <a:r>
              <a:rPr sz="4950" dirty="0">
                <a:latin typeface="Times New Roman"/>
                <a:cs typeface="Times New Roman"/>
              </a:rPr>
              <a:t>to</a:t>
            </a:r>
            <a:r>
              <a:rPr sz="4950" spc="-125" dirty="0">
                <a:latin typeface="Times New Roman"/>
                <a:cs typeface="Times New Roman"/>
              </a:rPr>
              <a:t> </a:t>
            </a:r>
            <a:r>
              <a:rPr sz="4950" dirty="0">
                <a:latin typeface="Times New Roman"/>
                <a:cs typeface="Times New Roman"/>
              </a:rPr>
              <a:t>manipulate</a:t>
            </a:r>
            <a:r>
              <a:rPr sz="4950" spc="-125" dirty="0">
                <a:latin typeface="Times New Roman"/>
                <a:cs typeface="Times New Roman"/>
              </a:rPr>
              <a:t> </a:t>
            </a:r>
            <a:r>
              <a:rPr sz="4950" dirty="0">
                <a:latin typeface="Times New Roman"/>
                <a:cs typeface="Times New Roman"/>
              </a:rPr>
              <a:t>the</a:t>
            </a:r>
            <a:r>
              <a:rPr sz="4950" spc="-125" dirty="0">
                <a:latin typeface="Times New Roman"/>
                <a:cs typeface="Times New Roman"/>
              </a:rPr>
              <a:t> </a:t>
            </a:r>
            <a:r>
              <a:rPr sz="4950" dirty="0">
                <a:latin typeface="Times New Roman"/>
                <a:cs typeface="Times New Roman"/>
              </a:rPr>
              <a:t>string</a:t>
            </a:r>
            <a:r>
              <a:rPr sz="4950" spc="-120" dirty="0">
                <a:latin typeface="Times New Roman"/>
                <a:cs typeface="Times New Roman"/>
              </a:rPr>
              <a:t> </a:t>
            </a:r>
            <a:r>
              <a:rPr sz="4950" spc="-25" dirty="0">
                <a:latin typeface="Times New Roman"/>
                <a:cs typeface="Times New Roman"/>
              </a:rPr>
              <a:t>and 	</a:t>
            </a:r>
            <a:r>
              <a:rPr sz="4950" dirty="0">
                <a:latin typeface="Times New Roman"/>
                <a:cs typeface="Times New Roman"/>
              </a:rPr>
              <a:t>create</a:t>
            </a:r>
            <a:r>
              <a:rPr sz="4950" spc="-114" dirty="0">
                <a:latin typeface="Times New Roman"/>
                <a:cs typeface="Times New Roman"/>
              </a:rPr>
              <a:t> </a:t>
            </a:r>
            <a:r>
              <a:rPr sz="4950" dirty="0">
                <a:latin typeface="Times New Roman"/>
                <a:cs typeface="Times New Roman"/>
              </a:rPr>
              <a:t>the</a:t>
            </a:r>
            <a:r>
              <a:rPr sz="4950" spc="-110" dirty="0">
                <a:latin typeface="Times New Roman"/>
                <a:cs typeface="Times New Roman"/>
              </a:rPr>
              <a:t> </a:t>
            </a:r>
            <a:r>
              <a:rPr sz="4950" dirty="0">
                <a:latin typeface="Times New Roman"/>
                <a:cs typeface="Times New Roman"/>
              </a:rPr>
              <a:t>new</a:t>
            </a:r>
            <a:r>
              <a:rPr sz="4950" spc="-110" dirty="0">
                <a:latin typeface="Times New Roman"/>
                <a:cs typeface="Times New Roman"/>
              </a:rPr>
              <a:t> </a:t>
            </a:r>
            <a:r>
              <a:rPr sz="4950" dirty="0">
                <a:latin typeface="Times New Roman"/>
                <a:cs typeface="Times New Roman"/>
              </a:rPr>
              <a:t>string</a:t>
            </a:r>
            <a:r>
              <a:rPr sz="4950" spc="-110" dirty="0">
                <a:latin typeface="Times New Roman"/>
                <a:cs typeface="Times New Roman"/>
              </a:rPr>
              <a:t> </a:t>
            </a:r>
            <a:r>
              <a:rPr sz="4950" dirty="0">
                <a:latin typeface="Times New Roman"/>
                <a:cs typeface="Times New Roman"/>
              </a:rPr>
              <a:t>by</a:t>
            </a:r>
            <a:r>
              <a:rPr sz="4950" spc="-114" dirty="0">
                <a:latin typeface="Times New Roman"/>
                <a:cs typeface="Times New Roman"/>
              </a:rPr>
              <a:t> </a:t>
            </a:r>
            <a:r>
              <a:rPr sz="4950" dirty="0">
                <a:latin typeface="Times New Roman"/>
                <a:cs typeface="Times New Roman"/>
              </a:rPr>
              <a:t>adding</a:t>
            </a:r>
            <a:r>
              <a:rPr sz="4950" spc="-110" dirty="0">
                <a:latin typeface="Times New Roman"/>
                <a:cs typeface="Times New Roman"/>
              </a:rPr>
              <a:t> </a:t>
            </a:r>
            <a:r>
              <a:rPr sz="4950" dirty="0">
                <a:latin typeface="Times New Roman"/>
                <a:cs typeface="Times New Roman"/>
              </a:rPr>
              <a:t>another</a:t>
            </a:r>
            <a:r>
              <a:rPr sz="4950" spc="-110" dirty="0">
                <a:latin typeface="Times New Roman"/>
                <a:cs typeface="Times New Roman"/>
              </a:rPr>
              <a:t> </a:t>
            </a:r>
            <a:r>
              <a:rPr sz="4950" spc="-10" dirty="0">
                <a:latin typeface="Times New Roman"/>
                <a:cs typeface="Times New Roman"/>
              </a:rPr>
              <a:t>value.</a:t>
            </a:r>
            <a:endParaRPr sz="4950">
              <a:latin typeface="Times New Roman"/>
              <a:cs typeface="Times New Roman"/>
            </a:endParaRPr>
          </a:p>
          <a:p>
            <a:pPr marL="932815" lvl="1" indent="-459740">
              <a:lnSpc>
                <a:spcPts val="5735"/>
              </a:lnSpc>
              <a:buClr>
                <a:srgbClr val="245796"/>
              </a:buClr>
              <a:buSzPct val="79797"/>
              <a:buChar char="○"/>
              <a:tabLst>
                <a:tab pos="932815" algn="l"/>
              </a:tabLst>
            </a:pPr>
            <a:r>
              <a:rPr sz="4950" dirty="0">
                <a:latin typeface="Times New Roman"/>
                <a:cs typeface="Times New Roman"/>
              </a:rPr>
              <a:t>It</a:t>
            </a:r>
            <a:r>
              <a:rPr sz="4950" spc="-105" dirty="0">
                <a:latin typeface="Times New Roman"/>
                <a:cs typeface="Times New Roman"/>
              </a:rPr>
              <a:t> </a:t>
            </a:r>
            <a:r>
              <a:rPr sz="4950" dirty="0">
                <a:latin typeface="Times New Roman"/>
                <a:cs typeface="Times New Roman"/>
              </a:rPr>
              <a:t>can</a:t>
            </a:r>
            <a:r>
              <a:rPr sz="4950" spc="-100" dirty="0">
                <a:latin typeface="Times New Roman"/>
                <a:cs typeface="Times New Roman"/>
              </a:rPr>
              <a:t> </a:t>
            </a:r>
            <a:r>
              <a:rPr sz="4950" dirty="0">
                <a:latin typeface="Times New Roman"/>
                <a:cs typeface="Times New Roman"/>
              </a:rPr>
              <a:t>be</a:t>
            </a:r>
            <a:r>
              <a:rPr sz="4950" spc="-100" dirty="0">
                <a:latin typeface="Times New Roman"/>
                <a:cs typeface="Times New Roman"/>
              </a:rPr>
              <a:t> </a:t>
            </a:r>
            <a:r>
              <a:rPr sz="4950" dirty="0">
                <a:latin typeface="Times New Roman"/>
                <a:cs typeface="Times New Roman"/>
              </a:rPr>
              <a:t>used</a:t>
            </a:r>
            <a:r>
              <a:rPr sz="4950" spc="-100" dirty="0">
                <a:latin typeface="Times New Roman"/>
                <a:cs typeface="Times New Roman"/>
              </a:rPr>
              <a:t> </a:t>
            </a:r>
            <a:r>
              <a:rPr sz="4950" dirty="0">
                <a:latin typeface="Times New Roman"/>
                <a:cs typeface="Times New Roman"/>
              </a:rPr>
              <a:t>to</a:t>
            </a:r>
            <a:r>
              <a:rPr sz="4950" spc="-105" dirty="0">
                <a:latin typeface="Times New Roman"/>
                <a:cs typeface="Times New Roman"/>
              </a:rPr>
              <a:t> </a:t>
            </a:r>
            <a:r>
              <a:rPr sz="4950" dirty="0">
                <a:latin typeface="Times New Roman"/>
                <a:cs typeface="Times New Roman"/>
              </a:rPr>
              <a:t>evaluate</a:t>
            </a:r>
            <a:r>
              <a:rPr sz="4950" spc="-100" dirty="0">
                <a:latin typeface="Times New Roman"/>
                <a:cs typeface="Times New Roman"/>
              </a:rPr>
              <a:t> </a:t>
            </a:r>
            <a:r>
              <a:rPr sz="4950" dirty="0">
                <a:latin typeface="Times New Roman"/>
                <a:cs typeface="Times New Roman"/>
              </a:rPr>
              <a:t>the</a:t>
            </a:r>
            <a:r>
              <a:rPr sz="4950" spc="-100" dirty="0">
                <a:latin typeface="Times New Roman"/>
                <a:cs typeface="Times New Roman"/>
              </a:rPr>
              <a:t> </a:t>
            </a:r>
            <a:r>
              <a:rPr sz="4950" dirty="0">
                <a:latin typeface="Times New Roman"/>
                <a:cs typeface="Times New Roman"/>
              </a:rPr>
              <a:t>string</a:t>
            </a:r>
            <a:r>
              <a:rPr sz="4950" spc="-100" dirty="0">
                <a:latin typeface="Times New Roman"/>
                <a:cs typeface="Times New Roman"/>
              </a:rPr>
              <a:t> </a:t>
            </a:r>
            <a:r>
              <a:rPr sz="4950" dirty="0">
                <a:latin typeface="Times New Roman"/>
                <a:cs typeface="Times New Roman"/>
              </a:rPr>
              <a:t>including</a:t>
            </a:r>
            <a:r>
              <a:rPr sz="4950" spc="-105" dirty="0">
                <a:latin typeface="Times New Roman"/>
                <a:cs typeface="Times New Roman"/>
              </a:rPr>
              <a:t> </a:t>
            </a:r>
            <a:r>
              <a:rPr sz="4950" spc="-10" dirty="0">
                <a:latin typeface="Times New Roman"/>
                <a:cs typeface="Times New Roman"/>
              </a:rPr>
              <a:t>placeholders,</a:t>
            </a:r>
            <a:endParaRPr sz="4950">
              <a:latin typeface="Times New Roman"/>
              <a:cs typeface="Times New Roman"/>
            </a:endParaRPr>
          </a:p>
          <a:p>
            <a:pPr marL="934085">
              <a:lnSpc>
                <a:spcPts val="5935"/>
              </a:lnSpc>
            </a:pPr>
            <a:r>
              <a:rPr sz="4950" dirty="0">
                <a:latin typeface="Times New Roman"/>
                <a:cs typeface="Times New Roman"/>
              </a:rPr>
              <a:t>variables,</a:t>
            </a:r>
            <a:r>
              <a:rPr sz="4950" spc="-190" dirty="0">
                <a:latin typeface="Times New Roman"/>
                <a:cs typeface="Times New Roman"/>
              </a:rPr>
              <a:t> </a:t>
            </a:r>
            <a:r>
              <a:rPr sz="4950" dirty="0">
                <a:latin typeface="Times New Roman"/>
                <a:cs typeface="Times New Roman"/>
              </a:rPr>
              <a:t>and</a:t>
            </a:r>
            <a:r>
              <a:rPr sz="4950" spc="-185" dirty="0">
                <a:latin typeface="Times New Roman"/>
                <a:cs typeface="Times New Roman"/>
              </a:rPr>
              <a:t> </a:t>
            </a:r>
            <a:r>
              <a:rPr sz="4950" dirty="0">
                <a:latin typeface="Times New Roman"/>
                <a:cs typeface="Times New Roman"/>
              </a:rPr>
              <a:t>interpolated</a:t>
            </a:r>
            <a:r>
              <a:rPr sz="4950" spc="-185" dirty="0">
                <a:latin typeface="Times New Roman"/>
                <a:cs typeface="Times New Roman"/>
              </a:rPr>
              <a:t> </a:t>
            </a:r>
            <a:r>
              <a:rPr sz="4950" spc="-10" dirty="0">
                <a:latin typeface="Times New Roman"/>
                <a:cs typeface="Times New Roman"/>
              </a:rPr>
              <a:t>expression.</a:t>
            </a:r>
            <a:endParaRPr sz="4950">
              <a:latin typeface="Times New Roman"/>
              <a:cs typeface="Times New Roman"/>
            </a:endParaRPr>
          </a:p>
          <a:p>
            <a:pPr marL="932815" lvl="1" indent="-459740">
              <a:lnSpc>
                <a:spcPts val="5935"/>
              </a:lnSpc>
              <a:buClr>
                <a:srgbClr val="245796"/>
              </a:buClr>
              <a:buSzPct val="79797"/>
              <a:buChar char="○"/>
              <a:tabLst>
                <a:tab pos="932815" algn="l"/>
              </a:tabLst>
            </a:pPr>
            <a:r>
              <a:rPr sz="4950" dirty="0">
                <a:latin typeface="Times New Roman"/>
                <a:cs typeface="Times New Roman"/>
              </a:rPr>
              <a:t>The</a:t>
            </a:r>
            <a:r>
              <a:rPr sz="4950" spc="-110" dirty="0">
                <a:latin typeface="Times New Roman"/>
                <a:cs typeface="Times New Roman"/>
              </a:rPr>
              <a:t> </a:t>
            </a:r>
            <a:r>
              <a:rPr sz="4950" dirty="0">
                <a:latin typeface="Times New Roman"/>
                <a:cs typeface="Times New Roman"/>
              </a:rPr>
              <a:t>${expression}</a:t>
            </a:r>
            <a:r>
              <a:rPr sz="4950" spc="-110" dirty="0">
                <a:latin typeface="Times New Roman"/>
                <a:cs typeface="Times New Roman"/>
              </a:rPr>
              <a:t> </a:t>
            </a:r>
            <a:r>
              <a:rPr sz="4950" dirty="0">
                <a:latin typeface="Times New Roman"/>
                <a:cs typeface="Times New Roman"/>
              </a:rPr>
              <a:t>is</a:t>
            </a:r>
            <a:r>
              <a:rPr sz="4950" spc="-105" dirty="0">
                <a:latin typeface="Times New Roman"/>
                <a:cs typeface="Times New Roman"/>
              </a:rPr>
              <a:t> </a:t>
            </a:r>
            <a:r>
              <a:rPr sz="4950" dirty="0">
                <a:latin typeface="Times New Roman"/>
                <a:cs typeface="Times New Roman"/>
              </a:rPr>
              <a:t>used</a:t>
            </a:r>
            <a:r>
              <a:rPr sz="4950" spc="-110" dirty="0">
                <a:latin typeface="Times New Roman"/>
                <a:cs typeface="Times New Roman"/>
              </a:rPr>
              <a:t> </a:t>
            </a:r>
            <a:r>
              <a:rPr sz="4950" dirty="0">
                <a:latin typeface="Times New Roman"/>
                <a:cs typeface="Times New Roman"/>
              </a:rPr>
              <a:t>for</a:t>
            </a:r>
            <a:r>
              <a:rPr sz="4950" spc="-105" dirty="0">
                <a:latin typeface="Times New Roman"/>
                <a:cs typeface="Times New Roman"/>
              </a:rPr>
              <a:t> </a:t>
            </a:r>
            <a:r>
              <a:rPr sz="4950" dirty="0">
                <a:latin typeface="Times New Roman"/>
                <a:cs typeface="Times New Roman"/>
              </a:rPr>
              <a:t>string</a:t>
            </a:r>
            <a:r>
              <a:rPr sz="4950" spc="-110" dirty="0">
                <a:latin typeface="Times New Roman"/>
                <a:cs typeface="Times New Roman"/>
              </a:rPr>
              <a:t> </a:t>
            </a:r>
            <a:r>
              <a:rPr sz="4950" spc="-10" dirty="0">
                <a:latin typeface="Times New Roman"/>
                <a:cs typeface="Times New Roman"/>
              </a:rPr>
              <a:t>interpolation.</a:t>
            </a:r>
            <a:endParaRPr sz="4950">
              <a:latin typeface="Times New Roman"/>
              <a:cs typeface="Times New Roman"/>
            </a:endParaRPr>
          </a:p>
          <a:p>
            <a:pPr marL="932815" lvl="1" indent="-459740">
              <a:lnSpc>
                <a:spcPts val="5940"/>
              </a:lnSpc>
              <a:buClr>
                <a:srgbClr val="245796"/>
              </a:buClr>
              <a:buSzPct val="79797"/>
              <a:buChar char="○"/>
              <a:tabLst>
                <a:tab pos="932815" algn="l"/>
              </a:tabLst>
            </a:pPr>
            <a:r>
              <a:rPr sz="4950" dirty="0">
                <a:latin typeface="Times New Roman"/>
                <a:cs typeface="Times New Roman"/>
              </a:rPr>
              <a:t>The</a:t>
            </a:r>
            <a:r>
              <a:rPr sz="4950" spc="-155" dirty="0">
                <a:latin typeface="Times New Roman"/>
                <a:cs typeface="Times New Roman"/>
              </a:rPr>
              <a:t> </a:t>
            </a:r>
            <a:r>
              <a:rPr sz="4950" dirty="0">
                <a:latin typeface="Times New Roman"/>
                <a:cs typeface="Times New Roman"/>
              </a:rPr>
              <a:t>expressions</a:t>
            </a:r>
            <a:r>
              <a:rPr sz="4950" spc="-150" dirty="0">
                <a:latin typeface="Times New Roman"/>
                <a:cs typeface="Times New Roman"/>
              </a:rPr>
              <a:t> </a:t>
            </a:r>
            <a:r>
              <a:rPr sz="4950" dirty="0">
                <a:latin typeface="Times New Roman"/>
                <a:cs typeface="Times New Roman"/>
              </a:rPr>
              <a:t>are</a:t>
            </a:r>
            <a:r>
              <a:rPr sz="4950" spc="-155" dirty="0">
                <a:latin typeface="Times New Roman"/>
                <a:cs typeface="Times New Roman"/>
              </a:rPr>
              <a:t> </a:t>
            </a:r>
            <a:r>
              <a:rPr sz="4950" dirty="0">
                <a:latin typeface="Times New Roman"/>
                <a:cs typeface="Times New Roman"/>
              </a:rPr>
              <a:t>replaced</a:t>
            </a:r>
            <a:r>
              <a:rPr sz="4950" spc="-150" dirty="0">
                <a:latin typeface="Times New Roman"/>
                <a:cs typeface="Times New Roman"/>
              </a:rPr>
              <a:t> </a:t>
            </a:r>
            <a:r>
              <a:rPr sz="4950" dirty="0">
                <a:latin typeface="Times New Roman"/>
                <a:cs typeface="Times New Roman"/>
              </a:rPr>
              <a:t>with</a:t>
            </a:r>
            <a:r>
              <a:rPr sz="4950" spc="-155" dirty="0">
                <a:latin typeface="Times New Roman"/>
                <a:cs typeface="Times New Roman"/>
              </a:rPr>
              <a:t> </a:t>
            </a:r>
            <a:r>
              <a:rPr sz="4950" dirty="0">
                <a:latin typeface="Times New Roman"/>
                <a:cs typeface="Times New Roman"/>
              </a:rPr>
              <a:t>their</a:t>
            </a:r>
            <a:r>
              <a:rPr sz="4950" spc="-150" dirty="0">
                <a:latin typeface="Times New Roman"/>
                <a:cs typeface="Times New Roman"/>
              </a:rPr>
              <a:t> </a:t>
            </a:r>
            <a:r>
              <a:rPr sz="4950" dirty="0">
                <a:latin typeface="Times New Roman"/>
                <a:cs typeface="Times New Roman"/>
              </a:rPr>
              <a:t>corresponding</a:t>
            </a:r>
            <a:r>
              <a:rPr sz="4950" spc="-155" dirty="0">
                <a:latin typeface="Times New Roman"/>
                <a:cs typeface="Times New Roman"/>
              </a:rPr>
              <a:t> </a:t>
            </a:r>
            <a:r>
              <a:rPr sz="4950" spc="-10" dirty="0">
                <a:latin typeface="Times New Roman"/>
                <a:cs typeface="Times New Roman"/>
              </a:rPr>
              <a:t>values.</a:t>
            </a:r>
            <a:endParaRPr sz="4950">
              <a:latin typeface="Times New Roman"/>
              <a:cs typeface="Times New Roman"/>
            </a:endParaRP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02691" y="336743"/>
            <a:ext cx="1364565" cy="136456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2195" cy="2352675"/>
            <a:chOff x="0" y="0"/>
            <a:chExt cx="20102195" cy="235267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1586" cy="235217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73414" y="0"/>
              <a:ext cx="13072691" cy="228935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1675"/>
              <a:ext cx="20058204" cy="2034899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442720">
              <a:lnSpc>
                <a:spcPct val="100000"/>
              </a:lnSpc>
              <a:spcBef>
                <a:spcPts val="125"/>
              </a:spcBef>
            </a:pPr>
            <a:r>
              <a:rPr dirty="0"/>
              <a:t>Dart</a:t>
            </a:r>
            <a:r>
              <a:rPr spc="-5" dirty="0"/>
              <a:t> </a:t>
            </a:r>
            <a:r>
              <a:rPr dirty="0"/>
              <a:t>Data</a:t>
            </a:r>
            <a:r>
              <a:rPr spc="-10" dirty="0"/>
              <a:t> </a:t>
            </a:r>
            <a:r>
              <a:rPr dirty="0"/>
              <a:t>Type:</a:t>
            </a:r>
            <a:r>
              <a:rPr spc="-5" dirty="0"/>
              <a:t> </a:t>
            </a:r>
            <a:r>
              <a:rPr dirty="0"/>
              <a:t>String </a:t>
            </a:r>
            <a:r>
              <a:rPr spc="-10" dirty="0"/>
              <a:t>Methods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076272" y="2341154"/>
            <a:ext cx="17950815" cy="846709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472440" indent="-459740">
              <a:lnSpc>
                <a:spcPct val="100000"/>
              </a:lnSpc>
              <a:spcBef>
                <a:spcPts val="114"/>
              </a:spcBef>
              <a:buClr>
                <a:srgbClr val="245796"/>
              </a:buClr>
              <a:buSzPct val="85869"/>
              <a:buFont typeface="Georgia"/>
              <a:buChar char="●"/>
              <a:tabLst>
                <a:tab pos="472440" algn="l"/>
              </a:tabLst>
            </a:pPr>
            <a:r>
              <a:rPr sz="4600" b="1" dirty="0">
                <a:solidFill>
                  <a:srgbClr val="EE220D"/>
                </a:solidFill>
                <a:latin typeface="Times New Roman"/>
                <a:cs typeface="Times New Roman"/>
              </a:rPr>
              <a:t>toLowerCase():</a:t>
            </a:r>
            <a:r>
              <a:rPr sz="4600" b="1" spc="-15" dirty="0">
                <a:solidFill>
                  <a:srgbClr val="EE220D"/>
                </a:solidFill>
                <a:latin typeface="Times New Roman"/>
                <a:cs typeface="Times New Roman"/>
              </a:rPr>
              <a:t> </a:t>
            </a:r>
            <a:r>
              <a:rPr sz="4600" dirty="0">
                <a:latin typeface="Times New Roman"/>
                <a:cs typeface="Times New Roman"/>
              </a:rPr>
              <a:t>It</a:t>
            </a:r>
            <a:r>
              <a:rPr sz="4600" spc="-15" dirty="0">
                <a:latin typeface="Times New Roman"/>
                <a:cs typeface="Times New Roman"/>
              </a:rPr>
              <a:t> </a:t>
            </a:r>
            <a:r>
              <a:rPr sz="4600" dirty="0">
                <a:latin typeface="Times New Roman"/>
                <a:cs typeface="Times New Roman"/>
              </a:rPr>
              <a:t>converts</a:t>
            </a:r>
            <a:r>
              <a:rPr sz="4600" spc="-15" dirty="0">
                <a:latin typeface="Times New Roman"/>
                <a:cs typeface="Times New Roman"/>
              </a:rPr>
              <a:t> </a:t>
            </a:r>
            <a:r>
              <a:rPr sz="4600" dirty="0">
                <a:latin typeface="Times New Roman"/>
                <a:cs typeface="Times New Roman"/>
              </a:rPr>
              <a:t>all</a:t>
            </a:r>
            <a:r>
              <a:rPr sz="4600" spc="-15" dirty="0">
                <a:latin typeface="Times New Roman"/>
                <a:cs typeface="Times New Roman"/>
              </a:rPr>
              <a:t> </a:t>
            </a:r>
            <a:r>
              <a:rPr sz="4600" dirty="0">
                <a:latin typeface="Times New Roman"/>
                <a:cs typeface="Times New Roman"/>
              </a:rPr>
              <a:t>characters</a:t>
            </a:r>
            <a:r>
              <a:rPr sz="4600" spc="-15" dirty="0">
                <a:latin typeface="Times New Roman"/>
                <a:cs typeface="Times New Roman"/>
              </a:rPr>
              <a:t> </a:t>
            </a:r>
            <a:r>
              <a:rPr sz="4600" dirty="0">
                <a:latin typeface="Times New Roman"/>
                <a:cs typeface="Times New Roman"/>
              </a:rPr>
              <a:t>of</a:t>
            </a:r>
            <a:r>
              <a:rPr sz="4600" spc="-10" dirty="0">
                <a:latin typeface="Times New Roman"/>
                <a:cs typeface="Times New Roman"/>
              </a:rPr>
              <a:t> </a:t>
            </a:r>
            <a:r>
              <a:rPr sz="4600" dirty="0">
                <a:latin typeface="Times New Roman"/>
                <a:cs typeface="Times New Roman"/>
              </a:rPr>
              <a:t>the</a:t>
            </a:r>
            <a:r>
              <a:rPr sz="4600" spc="-5" dirty="0">
                <a:latin typeface="Times New Roman"/>
                <a:cs typeface="Times New Roman"/>
              </a:rPr>
              <a:t> </a:t>
            </a:r>
            <a:r>
              <a:rPr sz="4600" dirty="0">
                <a:latin typeface="Times New Roman"/>
                <a:cs typeface="Times New Roman"/>
              </a:rPr>
              <a:t>given</a:t>
            </a:r>
            <a:r>
              <a:rPr sz="4600" spc="-10" dirty="0">
                <a:latin typeface="Times New Roman"/>
                <a:cs typeface="Times New Roman"/>
              </a:rPr>
              <a:t> </a:t>
            </a:r>
            <a:r>
              <a:rPr sz="4600" dirty="0">
                <a:latin typeface="Times New Roman"/>
                <a:cs typeface="Times New Roman"/>
              </a:rPr>
              <a:t>string</a:t>
            </a:r>
            <a:r>
              <a:rPr sz="4600" spc="-10" dirty="0">
                <a:latin typeface="Times New Roman"/>
                <a:cs typeface="Times New Roman"/>
              </a:rPr>
              <a:t> </a:t>
            </a:r>
            <a:r>
              <a:rPr sz="4600" dirty="0">
                <a:latin typeface="Times New Roman"/>
                <a:cs typeface="Times New Roman"/>
              </a:rPr>
              <a:t>in</a:t>
            </a:r>
            <a:r>
              <a:rPr sz="4600" spc="-5" dirty="0">
                <a:latin typeface="Times New Roman"/>
                <a:cs typeface="Times New Roman"/>
              </a:rPr>
              <a:t> </a:t>
            </a:r>
            <a:r>
              <a:rPr sz="4600" spc="-10" dirty="0">
                <a:latin typeface="Times New Roman"/>
                <a:cs typeface="Times New Roman"/>
              </a:rPr>
              <a:t>lowercase.</a:t>
            </a:r>
            <a:endParaRPr sz="4600">
              <a:latin typeface="Times New Roman"/>
              <a:cs typeface="Times New Roman"/>
            </a:endParaRPr>
          </a:p>
          <a:p>
            <a:pPr marL="472440" indent="-459740">
              <a:lnSpc>
                <a:spcPct val="100000"/>
              </a:lnSpc>
              <a:buClr>
                <a:srgbClr val="245796"/>
              </a:buClr>
              <a:buSzPct val="85869"/>
              <a:buFont typeface="Georgia"/>
              <a:buChar char="●"/>
              <a:tabLst>
                <a:tab pos="472440" algn="l"/>
              </a:tabLst>
            </a:pPr>
            <a:r>
              <a:rPr sz="4600" b="1" dirty="0">
                <a:solidFill>
                  <a:srgbClr val="EE220D"/>
                </a:solidFill>
                <a:latin typeface="Times New Roman"/>
                <a:cs typeface="Times New Roman"/>
              </a:rPr>
              <a:t>toUpperCase():</a:t>
            </a:r>
            <a:r>
              <a:rPr sz="4600" b="1" spc="-15" dirty="0">
                <a:solidFill>
                  <a:srgbClr val="EE220D"/>
                </a:solidFill>
                <a:latin typeface="Times New Roman"/>
                <a:cs typeface="Times New Roman"/>
              </a:rPr>
              <a:t> </a:t>
            </a:r>
            <a:r>
              <a:rPr sz="4600" dirty="0">
                <a:latin typeface="Times New Roman"/>
                <a:cs typeface="Times New Roman"/>
              </a:rPr>
              <a:t>It</a:t>
            </a:r>
            <a:r>
              <a:rPr sz="4600" spc="-15" dirty="0">
                <a:latin typeface="Times New Roman"/>
                <a:cs typeface="Times New Roman"/>
              </a:rPr>
              <a:t> </a:t>
            </a:r>
            <a:r>
              <a:rPr sz="4600" dirty="0">
                <a:latin typeface="Times New Roman"/>
                <a:cs typeface="Times New Roman"/>
              </a:rPr>
              <a:t>converts</a:t>
            </a:r>
            <a:r>
              <a:rPr sz="4600" spc="-15" dirty="0">
                <a:latin typeface="Times New Roman"/>
                <a:cs typeface="Times New Roman"/>
              </a:rPr>
              <a:t> </a:t>
            </a:r>
            <a:r>
              <a:rPr sz="4600" dirty="0">
                <a:latin typeface="Times New Roman"/>
                <a:cs typeface="Times New Roman"/>
              </a:rPr>
              <a:t>all</a:t>
            </a:r>
            <a:r>
              <a:rPr sz="4600" spc="-20" dirty="0">
                <a:latin typeface="Times New Roman"/>
                <a:cs typeface="Times New Roman"/>
              </a:rPr>
              <a:t> </a:t>
            </a:r>
            <a:r>
              <a:rPr sz="4600" dirty="0">
                <a:latin typeface="Times New Roman"/>
                <a:cs typeface="Times New Roman"/>
              </a:rPr>
              <a:t>characters</a:t>
            </a:r>
            <a:r>
              <a:rPr sz="4600" spc="-15" dirty="0">
                <a:latin typeface="Times New Roman"/>
                <a:cs typeface="Times New Roman"/>
              </a:rPr>
              <a:t> </a:t>
            </a:r>
            <a:r>
              <a:rPr sz="4600" dirty="0">
                <a:latin typeface="Times New Roman"/>
                <a:cs typeface="Times New Roman"/>
              </a:rPr>
              <a:t>of</a:t>
            </a:r>
            <a:r>
              <a:rPr sz="4600" spc="-10" dirty="0">
                <a:latin typeface="Times New Roman"/>
                <a:cs typeface="Times New Roman"/>
              </a:rPr>
              <a:t> </a:t>
            </a:r>
            <a:r>
              <a:rPr sz="4600" dirty="0">
                <a:latin typeface="Times New Roman"/>
                <a:cs typeface="Times New Roman"/>
              </a:rPr>
              <a:t>the</a:t>
            </a:r>
            <a:r>
              <a:rPr sz="4600" spc="-10" dirty="0">
                <a:latin typeface="Times New Roman"/>
                <a:cs typeface="Times New Roman"/>
              </a:rPr>
              <a:t> </a:t>
            </a:r>
            <a:r>
              <a:rPr sz="4600" dirty="0">
                <a:latin typeface="Times New Roman"/>
                <a:cs typeface="Times New Roman"/>
              </a:rPr>
              <a:t>given</a:t>
            </a:r>
            <a:r>
              <a:rPr sz="4600" spc="-10" dirty="0">
                <a:latin typeface="Times New Roman"/>
                <a:cs typeface="Times New Roman"/>
              </a:rPr>
              <a:t> </a:t>
            </a:r>
            <a:r>
              <a:rPr sz="4600" dirty="0">
                <a:latin typeface="Times New Roman"/>
                <a:cs typeface="Times New Roman"/>
              </a:rPr>
              <a:t>string</a:t>
            </a:r>
            <a:r>
              <a:rPr sz="4600" spc="-10" dirty="0">
                <a:latin typeface="Times New Roman"/>
                <a:cs typeface="Times New Roman"/>
              </a:rPr>
              <a:t> </a:t>
            </a:r>
            <a:r>
              <a:rPr sz="4600" dirty="0">
                <a:latin typeface="Times New Roman"/>
                <a:cs typeface="Times New Roman"/>
              </a:rPr>
              <a:t>in</a:t>
            </a:r>
            <a:r>
              <a:rPr sz="4600" spc="-5" dirty="0">
                <a:latin typeface="Times New Roman"/>
                <a:cs typeface="Times New Roman"/>
              </a:rPr>
              <a:t> </a:t>
            </a:r>
            <a:r>
              <a:rPr sz="4600" spc="-10" dirty="0">
                <a:latin typeface="Times New Roman"/>
                <a:cs typeface="Times New Roman"/>
              </a:rPr>
              <a:t>uppercase.</a:t>
            </a:r>
            <a:endParaRPr sz="4600">
              <a:latin typeface="Times New Roman"/>
              <a:cs typeface="Times New Roman"/>
            </a:endParaRPr>
          </a:p>
          <a:p>
            <a:pPr marL="472440" indent="-459740">
              <a:lnSpc>
                <a:spcPct val="100000"/>
              </a:lnSpc>
              <a:buClr>
                <a:srgbClr val="245796"/>
              </a:buClr>
              <a:buSzPct val="85869"/>
              <a:buFont typeface="Georgia"/>
              <a:buChar char="●"/>
              <a:tabLst>
                <a:tab pos="472440" algn="l"/>
              </a:tabLst>
            </a:pPr>
            <a:r>
              <a:rPr sz="4600" b="1" dirty="0">
                <a:solidFill>
                  <a:srgbClr val="EE220D"/>
                </a:solidFill>
                <a:latin typeface="Times New Roman"/>
                <a:cs typeface="Times New Roman"/>
              </a:rPr>
              <a:t>trim():</a:t>
            </a:r>
            <a:r>
              <a:rPr sz="4600" b="1" spc="-15" dirty="0">
                <a:solidFill>
                  <a:srgbClr val="EE220D"/>
                </a:solidFill>
                <a:latin typeface="Times New Roman"/>
                <a:cs typeface="Times New Roman"/>
              </a:rPr>
              <a:t> </a:t>
            </a:r>
            <a:r>
              <a:rPr sz="4600" dirty="0">
                <a:latin typeface="Times New Roman"/>
                <a:cs typeface="Times New Roman"/>
              </a:rPr>
              <a:t>It</a:t>
            </a:r>
            <a:r>
              <a:rPr sz="4600" spc="-15" dirty="0">
                <a:latin typeface="Times New Roman"/>
                <a:cs typeface="Times New Roman"/>
              </a:rPr>
              <a:t> </a:t>
            </a:r>
            <a:r>
              <a:rPr sz="4600" dirty="0">
                <a:latin typeface="Times New Roman"/>
                <a:cs typeface="Times New Roman"/>
              </a:rPr>
              <a:t>eliminates</a:t>
            </a:r>
            <a:r>
              <a:rPr sz="4600" spc="-20" dirty="0">
                <a:latin typeface="Times New Roman"/>
                <a:cs typeface="Times New Roman"/>
              </a:rPr>
              <a:t> </a:t>
            </a:r>
            <a:r>
              <a:rPr sz="4600" dirty="0">
                <a:latin typeface="Times New Roman"/>
                <a:cs typeface="Times New Roman"/>
              </a:rPr>
              <a:t>all</a:t>
            </a:r>
            <a:r>
              <a:rPr sz="4600" spc="-15" dirty="0">
                <a:latin typeface="Times New Roman"/>
                <a:cs typeface="Times New Roman"/>
              </a:rPr>
              <a:t> </a:t>
            </a:r>
            <a:r>
              <a:rPr sz="4600" dirty="0">
                <a:latin typeface="Times New Roman"/>
                <a:cs typeface="Times New Roman"/>
              </a:rPr>
              <a:t>whitespace</a:t>
            </a:r>
            <a:r>
              <a:rPr sz="4600" spc="-15" dirty="0">
                <a:latin typeface="Times New Roman"/>
                <a:cs typeface="Times New Roman"/>
              </a:rPr>
              <a:t> </a:t>
            </a:r>
            <a:r>
              <a:rPr sz="4600" dirty="0">
                <a:latin typeface="Times New Roman"/>
                <a:cs typeface="Times New Roman"/>
              </a:rPr>
              <a:t>from</a:t>
            </a:r>
            <a:r>
              <a:rPr sz="4600" spc="-15" dirty="0">
                <a:latin typeface="Times New Roman"/>
                <a:cs typeface="Times New Roman"/>
              </a:rPr>
              <a:t> </a:t>
            </a:r>
            <a:r>
              <a:rPr sz="4600" dirty="0">
                <a:latin typeface="Times New Roman"/>
                <a:cs typeface="Times New Roman"/>
              </a:rPr>
              <a:t>the</a:t>
            </a:r>
            <a:r>
              <a:rPr sz="4600" spc="-10" dirty="0">
                <a:latin typeface="Times New Roman"/>
                <a:cs typeface="Times New Roman"/>
              </a:rPr>
              <a:t> </a:t>
            </a:r>
            <a:r>
              <a:rPr sz="4600" dirty="0">
                <a:latin typeface="Times New Roman"/>
                <a:cs typeface="Times New Roman"/>
              </a:rPr>
              <a:t>given</a:t>
            </a:r>
            <a:r>
              <a:rPr sz="4600" spc="-10" dirty="0">
                <a:latin typeface="Times New Roman"/>
                <a:cs typeface="Times New Roman"/>
              </a:rPr>
              <a:t> string.</a:t>
            </a:r>
            <a:endParaRPr sz="4600">
              <a:latin typeface="Times New Roman"/>
              <a:cs typeface="Times New Roman"/>
            </a:endParaRPr>
          </a:p>
          <a:p>
            <a:pPr marL="472440" indent="-459740">
              <a:lnSpc>
                <a:spcPct val="100000"/>
              </a:lnSpc>
              <a:spcBef>
                <a:spcPts val="80"/>
              </a:spcBef>
              <a:buClr>
                <a:srgbClr val="245796"/>
              </a:buClr>
              <a:buSzPct val="85869"/>
              <a:buFont typeface="Georgia"/>
              <a:buChar char="●"/>
              <a:tabLst>
                <a:tab pos="472440" algn="l"/>
              </a:tabLst>
            </a:pPr>
            <a:r>
              <a:rPr sz="4600" b="1" dirty="0">
                <a:solidFill>
                  <a:srgbClr val="EE220D"/>
                </a:solidFill>
                <a:latin typeface="Times New Roman"/>
                <a:cs typeface="Times New Roman"/>
              </a:rPr>
              <a:t>compareTo():</a:t>
            </a:r>
            <a:r>
              <a:rPr sz="4600" b="1" spc="-25" dirty="0">
                <a:solidFill>
                  <a:srgbClr val="EE220D"/>
                </a:solidFill>
                <a:latin typeface="Times New Roman"/>
                <a:cs typeface="Times New Roman"/>
              </a:rPr>
              <a:t> </a:t>
            </a:r>
            <a:r>
              <a:rPr sz="4600" dirty="0">
                <a:latin typeface="Times New Roman"/>
                <a:cs typeface="Times New Roman"/>
              </a:rPr>
              <a:t>It</a:t>
            </a:r>
            <a:r>
              <a:rPr sz="4600" spc="-15" dirty="0">
                <a:latin typeface="Times New Roman"/>
                <a:cs typeface="Times New Roman"/>
              </a:rPr>
              <a:t> </a:t>
            </a:r>
            <a:r>
              <a:rPr sz="4600" dirty="0">
                <a:latin typeface="Times New Roman"/>
                <a:cs typeface="Times New Roman"/>
              </a:rPr>
              <a:t>compares</a:t>
            </a:r>
            <a:r>
              <a:rPr sz="4600" spc="-15" dirty="0">
                <a:latin typeface="Times New Roman"/>
                <a:cs typeface="Times New Roman"/>
              </a:rPr>
              <a:t> </a:t>
            </a:r>
            <a:r>
              <a:rPr sz="4600" dirty="0">
                <a:latin typeface="Times New Roman"/>
                <a:cs typeface="Times New Roman"/>
              </a:rPr>
              <a:t>one</a:t>
            </a:r>
            <a:r>
              <a:rPr sz="4600" spc="-15" dirty="0">
                <a:latin typeface="Times New Roman"/>
                <a:cs typeface="Times New Roman"/>
              </a:rPr>
              <a:t> </a:t>
            </a:r>
            <a:r>
              <a:rPr sz="4600" dirty="0">
                <a:latin typeface="Times New Roman"/>
                <a:cs typeface="Times New Roman"/>
              </a:rPr>
              <a:t>string</a:t>
            </a:r>
            <a:r>
              <a:rPr sz="4600" spc="-10" dirty="0">
                <a:latin typeface="Times New Roman"/>
                <a:cs typeface="Times New Roman"/>
              </a:rPr>
              <a:t> </a:t>
            </a:r>
            <a:r>
              <a:rPr sz="4600" dirty="0">
                <a:latin typeface="Times New Roman"/>
                <a:cs typeface="Times New Roman"/>
              </a:rPr>
              <a:t>from</a:t>
            </a:r>
            <a:r>
              <a:rPr sz="4600" spc="-15" dirty="0">
                <a:latin typeface="Times New Roman"/>
                <a:cs typeface="Times New Roman"/>
              </a:rPr>
              <a:t> </a:t>
            </a:r>
            <a:r>
              <a:rPr sz="4600" spc="-10" dirty="0">
                <a:latin typeface="Times New Roman"/>
                <a:cs typeface="Times New Roman"/>
              </a:rPr>
              <a:t>another.</a:t>
            </a:r>
            <a:endParaRPr sz="4600">
              <a:latin typeface="Times New Roman"/>
              <a:cs typeface="Times New Roman"/>
            </a:endParaRPr>
          </a:p>
          <a:p>
            <a:pPr marL="471805" marR="5080" indent="-459740">
              <a:lnSpc>
                <a:spcPts val="5540"/>
              </a:lnSpc>
              <a:spcBef>
                <a:spcPts val="170"/>
              </a:spcBef>
              <a:buClr>
                <a:srgbClr val="245796"/>
              </a:buClr>
              <a:buSzPct val="85869"/>
              <a:buFont typeface="Georgia"/>
              <a:buChar char="●"/>
              <a:tabLst>
                <a:tab pos="473075" algn="l"/>
                <a:tab pos="3856990" algn="l"/>
                <a:tab pos="4440555" algn="l"/>
                <a:tab pos="6587490" algn="l"/>
                <a:tab pos="7399020" algn="l"/>
                <a:tab pos="9773920" algn="l"/>
                <a:tab pos="10878820" algn="l"/>
                <a:tab pos="13025755" algn="l"/>
                <a:tab pos="13968094" algn="l"/>
                <a:tab pos="16309975" algn="l"/>
              </a:tabLst>
            </a:pPr>
            <a:r>
              <a:rPr sz="4600" b="1" spc="-10" dirty="0">
                <a:solidFill>
                  <a:srgbClr val="EE220D"/>
                </a:solidFill>
                <a:latin typeface="Times New Roman"/>
                <a:cs typeface="Times New Roman"/>
              </a:rPr>
              <a:t>replaceAll():</a:t>
            </a:r>
            <a:r>
              <a:rPr sz="4600" b="1" dirty="0">
                <a:solidFill>
                  <a:srgbClr val="EE220D"/>
                </a:solidFill>
                <a:latin typeface="Times New Roman"/>
                <a:cs typeface="Times New Roman"/>
              </a:rPr>
              <a:t>	</a:t>
            </a:r>
            <a:r>
              <a:rPr sz="4600" spc="-25" dirty="0">
                <a:latin typeface="Times New Roman"/>
                <a:cs typeface="Times New Roman"/>
              </a:rPr>
              <a:t>It</a:t>
            </a:r>
            <a:r>
              <a:rPr sz="4600" dirty="0">
                <a:latin typeface="Times New Roman"/>
                <a:cs typeface="Times New Roman"/>
              </a:rPr>
              <a:t>	</a:t>
            </a:r>
            <a:r>
              <a:rPr sz="4600" spc="-10" dirty="0">
                <a:latin typeface="Times New Roman"/>
                <a:cs typeface="Times New Roman"/>
              </a:rPr>
              <a:t>replaces</a:t>
            </a:r>
            <a:r>
              <a:rPr sz="4600" dirty="0">
                <a:latin typeface="Times New Roman"/>
                <a:cs typeface="Times New Roman"/>
              </a:rPr>
              <a:t>	</a:t>
            </a:r>
            <a:r>
              <a:rPr sz="4600" spc="-25" dirty="0">
                <a:latin typeface="Times New Roman"/>
                <a:cs typeface="Times New Roman"/>
              </a:rPr>
              <a:t>all</a:t>
            </a:r>
            <a:r>
              <a:rPr sz="4600" dirty="0">
                <a:latin typeface="Times New Roman"/>
                <a:cs typeface="Times New Roman"/>
              </a:rPr>
              <a:t>	</a:t>
            </a:r>
            <a:r>
              <a:rPr sz="4600" spc="-10" dirty="0">
                <a:latin typeface="Times New Roman"/>
                <a:cs typeface="Times New Roman"/>
              </a:rPr>
              <a:t>substring</a:t>
            </a:r>
            <a:r>
              <a:rPr sz="4600" dirty="0">
                <a:latin typeface="Times New Roman"/>
                <a:cs typeface="Times New Roman"/>
              </a:rPr>
              <a:t>	</a:t>
            </a:r>
            <a:r>
              <a:rPr sz="4600" spc="-20" dirty="0">
                <a:latin typeface="Times New Roman"/>
                <a:cs typeface="Times New Roman"/>
              </a:rPr>
              <a:t>that</a:t>
            </a:r>
            <a:r>
              <a:rPr sz="4600" dirty="0">
                <a:latin typeface="Times New Roman"/>
                <a:cs typeface="Times New Roman"/>
              </a:rPr>
              <a:t>	</a:t>
            </a:r>
            <a:r>
              <a:rPr sz="4600" spc="-10" dirty="0">
                <a:latin typeface="Times New Roman"/>
                <a:cs typeface="Times New Roman"/>
              </a:rPr>
              <a:t>matches</a:t>
            </a:r>
            <a:r>
              <a:rPr sz="4600" dirty="0">
                <a:latin typeface="Times New Roman"/>
                <a:cs typeface="Times New Roman"/>
              </a:rPr>
              <a:t>	</a:t>
            </a:r>
            <a:r>
              <a:rPr sz="4600" spc="-25" dirty="0">
                <a:latin typeface="Times New Roman"/>
                <a:cs typeface="Times New Roman"/>
              </a:rPr>
              <a:t>the</a:t>
            </a:r>
            <a:r>
              <a:rPr sz="4600" dirty="0">
                <a:latin typeface="Times New Roman"/>
                <a:cs typeface="Times New Roman"/>
              </a:rPr>
              <a:t>	</a:t>
            </a:r>
            <a:r>
              <a:rPr sz="4600" spc="-10" dirty="0">
                <a:latin typeface="Times New Roman"/>
                <a:cs typeface="Times New Roman"/>
              </a:rPr>
              <a:t>specified</a:t>
            </a:r>
            <a:r>
              <a:rPr sz="4600" dirty="0">
                <a:latin typeface="Times New Roman"/>
                <a:cs typeface="Times New Roman"/>
              </a:rPr>
              <a:t>	</a:t>
            </a:r>
            <a:r>
              <a:rPr sz="4600" spc="-10" dirty="0">
                <a:latin typeface="Times New Roman"/>
                <a:cs typeface="Times New Roman"/>
              </a:rPr>
              <a:t>pattern 	</a:t>
            </a:r>
            <a:r>
              <a:rPr sz="4600" dirty="0">
                <a:latin typeface="Times New Roman"/>
                <a:cs typeface="Times New Roman"/>
              </a:rPr>
              <a:t>with</a:t>
            </a:r>
            <a:r>
              <a:rPr sz="4600" spc="-20" dirty="0">
                <a:latin typeface="Times New Roman"/>
                <a:cs typeface="Times New Roman"/>
              </a:rPr>
              <a:t> </a:t>
            </a:r>
            <a:r>
              <a:rPr sz="4600" dirty="0">
                <a:latin typeface="Times New Roman"/>
                <a:cs typeface="Times New Roman"/>
              </a:rPr>
              <a:t>a given </a:t>
            </a:r>
            <a:r>
              <a:rPr sz="4600" spc="-10" dirty="0">
                <a:latin typeface="Times New Roman"/>
                <a:cs typeface="Times New Roman"/>
              </a:rPr>
              <a:t>string.</a:t>
            </a:r>
            <a:endParaRPr sz="4600">
              <a:latin typeface="Times New Roman"/>
              <a:cs typeface="Times New Roman"/>
            </a:endParaRPr>
          </a:p>
          <a:p>
            <a:pPr marL="472440" indent="-459740">
              <a:lnSpc>
                <a:spcPts val="5335"/>
              </a:lnSpc>
              <a:buClr>
                <a:srgbClr val="245796"/>
              </a:buClr>
              <a:buSzPct val="85869"/>
              <a:buFont typeface="Georgia"/>
              <a:buChar char="●"/>
              <a:tabLst>
                <a:tab pos="472440" algn="l"/>
              </a:tabLst>
            </a:pPr>
            <a:r>
              <a:rPr sz="4600" b="1" dirty="0">
                <a:solidFill>
                  <a:srgbClr val="EE220D"/>
                </a:solidFill>
                <a:latin typeface="Times New Roman"/>
                <a:cs typeface="Times New Roman"/>
              </a:rPr>
              <a:t>split():</a:t>
            </a:r>
            <a:r>
              <a:rPr sz="4600" b="1" spc="85" dirty="0">
                <a:solidFill>
                  <a:srgbClr val="EE220D"/>
                </a:solidFill>
                <a:latin typeface="Times New Roman"/>
                <a:cs typeface="Times New Roman"/>
              </a:rPr>
              <a:t> </a:t>
            </a:r>
            <a:r>
              <a:rPr sz="4600" dirty="0">
                <a:latin typeface="Times New Roman"/>
                <a:cs typeface="Times New Roman"/>
              </a:rPr>
              <a:t>It</a:t>
            </a:r>
            <a:r>
              <a:rPr sz="4600" spc="85" dirty="0">
                <a:latin typeface="Times New Roman"/>
                <a:cs typeface="Times New Roman"/>
              </a:rPr>
              <a:t> </a:t>
            </a:r>
            <a:r>
              <a:rPr sz="4600" dirty="0">
                <a:latin typeface="Times New Roman"/>
                <a:cs typeface="Times New Roman"/>
              </a:rPr>
              <a:t>splits</a:t>
            </a:r>
            <a:r>
              <a:rPr sz="4600" spc="85" dirty="0">
                <a:latin typeface="Times New Roman"/>
                <a:cs typeface="Times New Roman"/>
              </a:rPr>
              <a:t> </a:t>
            </a:r>
            <a:r>
              <a:rPr sz="4600" dirty="0">
                <a:latin typeface="Times New Roman"/>
                <a:cs typeface="Times New Roman"/>
              </a:rPr>
              <a:t>the</a:t>
            </a:r>
            <a:r>
              <a:rPr sz="4600" spc="95" dirty="0">
                <a:latin typeface="Times New Roman"/>
                <a:cs typeface="Times New Roman"/>
              </a:rPr>
              <a:t> </a:t>
            </a:r>
            <a:r>
              <a:rPr sz="4600" dirty="0">
                <a:latin typeface="Times New Roman"/>
                <a:cs typeface="Times New Roman"/>
              </a:rPr>
              <a:t>string</a:t>
            </a:r>
            <a:r>
              <a:rPr sz="4600" spc="90" dirty="0">
                <a:latin typeface="Times New Roman"/>
                <a:cs typeface="Times New Roman"/>
              </a:rPr>
              <a:t> </a:t>
            </a:r>
            <a:r>
              <a:rPr sz="4600" dirty="0">
                <a:latin typeface="Times New Roman"/>
                <a:cs typeface="Times New Roman"/>
              </a:rPr>
              <a:t>at</a:t>
            </a:r>
            <a:r>
              <a:rPr sz="4600" spc="90" dirty="0">
                <a:latin typeface="Times New Roman"/>
                <a:cs typeface="Times New Roman"/>
              </a:rPr>
              <a:t> </a:t>
            </a:r>
            <a:r>
              <a:rPr sz="4600" dirty="0">
                <a:latin typeface="Times New Roman"/>
                <a:cs typeface="Times New Roman"/>
              </a:rPr>
              <a:t>matches</a:t>
            </a:r>
            <a:r>
              <a:rPr sz="4600" spc="85" dirty="0">
                <a:latin typeface="Times New Roman"/>
                <a:cs typeface="Times New Roman"/>
              </a:rPr>
              <a:t> </a:t>
            </a:r>
            <a:r>
              <a:rPr sz="4600" dirty="0">
                <a:latin typeface="Times New Roman"/>
                <a:cs typeface="Times New Roman"/>
              </a:rPr>
              <a:t>of</a:t>
            </a:r>
            <a:r>
              <a:rPr sz="4600" spc="90" dirty="0">
                <a:latin typeface="Times New Roman"/>
                <a:cs typeface="Times New Roman"/>
              </a:rPr>
              <a:t> </a:t>
            </a:r>
            <a:r>
              <a:rPr sz="4600" dirty="0">
                <a:latin typeface="Times New Roman"/>
                <a:cs typeface="Times New Roman"/>
              </a:rPr>
              <a:t>the</a:t>
            </a:r>
            <a:r>
              <a:rPr sz="4600" spc="90" dirty="0">
                <a:latin typeface="Times New Roman"/>
                <a:cs typeface="Times New Roman"/>
              </a:rPr>
              <a:t> </a:t>
            </a:r>
            <a:r>
              <a:rPr sz="4600" dirty="0">
                <a:latin typeface="Times New Roman"/>
                <a:cs typeface="Times New Roman"/>
              </a:rPr>
              <a:t>specified</a:t>
            </a:r>
            <a:r>
              <a:rPr sz="4600" spc="90" dirty="0">
                <a:latin typeface="Times New Roman"/>
                <a:cs typeface="Times New Roman"/>
              </a:rPr>
              <a:t> </a:t>
            </a:r>
            <a:r>
              <a:rPr sz="4600" dirty="0">
                <a:latin typeface="Times New Roman"/>
                <a:cs typeface="Times New Roman"/>
              </a:rPr>
              <a:t>delimiter</a:t>
            </a:r>
            <a:r>
              <a:rPr sz="4600" spc="85" dirty="0">
                <a:latin typeface="Times New Roman"/>
                <a:cs typeface="Times New Roman"/>
              </a:rPr>
              <a:t> </a:t>
            </a:r>
            <a:r>
              <a:rPr sz="4600" dirty="0">
                <a:latin typeface="Times New Roman"/>
                <a:cs typeface="Times New Roman"/>
              </a:rPr>
              <a:t>and</a:t>
            </a:r>
            <a:r>
              <a:rPr sz="4600" spc="95" dirty="0">
                <a:latin typeface="Times New Roman"/>
                <a:cs typeface="Times New Roman"/>
              </a:rPr>
              <a:t> </a:t>
            </a:r>
            <a:r>
              <a:rPr sz="4600" spc="-10" dirty="0">
                <a:latin typeface="Times New Roman"/>
                <a:cs typeface="Times New Roman"/>
              </a:rPr>
              <a:t>returns</a:t>
            </a:r>
            <a:endParaRPr sz="4600">
              <a:latin typeface="Times New Roman"/>
              <a:cs typeface="Times New Roman"/>
            </a:endParaRPr>
          </a:p>
          <a:p>
            <a:pPr marL="473075">
              <a:lnSpc>
                <a:spcPct val="100000"/>
              </a:lnSpc>
            </a:pPr>
            <a:r>
              <a:rPr sz="4600" dirty="0">
                <a:latin typeface="Times New Roman"/>
                <a:cs typeface="Times New Roman"/>
              </a:rPr>
              <a:t>the</a:t>
            </a:r>
            <a:r>
              <a:rPr sz="4600" spc="-15" dirty="0">
                <a:latin typeface="Times New Roman"/>
                <a:cs typeface="Times New Roman"/>
              </a:rPr>
              <a:t> </a:t>
            </a:r>
            <a:r>
              <a:rPr sz="4600" dirty="0">
                <a:latin typeface="Times New Roman"/>
                <a:cs typeface="Times New Roman"/>
              </a:rPr>
              <a:t>list</a:t>
            </a:r>
            <a:r>
              <a:rPr sz="4600" spc="-10" dirty="0">
                <a:latin typeface="Times New Roman"/>
                <a:cs typeface="Times New Roman"/>
              </a:rPr>
              <a:t> </a:t>
            </a:r>
            <a:r>
              <a:rPr sz="4600" dirty="0">
                <a:latin typeface="Times New Roman"/>
                <a:cs typeface="Times New Roman"/>
              </a:rPr>
              <a:t>of</a:t>
            </a:r>
            <a:r>
              <a:rPr sz="4600" spc="-10" dirty="0">
                <a:latin typeface="Times New Roman"/>
                <a:cs typeface="Times New Roman"/>
              </a:rPr>
              <a:t> </a:t>
            </a:r>
            <a:r>
              <a:rPr sz="4600" dirty="0">
                <a:latin typeface="Times New Roman"/>
                <a:cs typeface="Times New Roman"/>
              </a:rPr>
              <a:t>the </a:t>
            </a:r>
            <a:r>
              <a:rPr sz="4600" spc="-10" dirty="0">
                <a:latin typeface="Times New Roman"/>
                <a:cs typeface="Times New Roman"/>
              </a:rPr>
              <a:t>substring.</a:t>
            </a:r>
            <a:endParaRPr sz="4600">
              <a:latin typeface="Times New Roman"/>
              <a:cs typeface="Times New Roman"/>
            </a:endParaRPr>
          </a:p>
          <a:p>
            <a:pPr marL="471805" marR="5080" indent="-459740">
              <a:lnSpc>
                <a:spcPct val="100000"/>
              </a:lnSpc>
              <a:spcBef>
                <a:spcPts val="80"/>
              </a:spcBef>
              <a:buClr>
                <a:srgbClr val="245796"/>
              </a:buClr>
              <a:buSzPct val="85869"/>
              <a:buFont typeface="Georgia"/>
              <a:buChar char="●"/>
              <a:tabLst>
                <a:tab pos="473075" algn="l"/>
                <a:tab pos="3669665" algn="l"/>
                <a:tab pos="4294505" algn="l"/>
                <a:tab pos="6188710" algn="l"/>
                <a:tab pos="7171690" algn="l"/>
                <a:tab pos="9587230" algn="l"/>
                <a:tab pos="10993120" algn="l"/>
                <a:tab pos="12268835" algn="l"/>
                <a:tab pos="13984605" algn="l"/>
                <a:tab pos="16367125" algn="l"/>
                <a:tab pos="17090390" algn="l"/>
              </a:tabLst>
            </a:pPr>
            <a:r>
              <a:rPr sz="4600" b="1" spc="-10" dirty="0">
                <a:solidFill>
                  <a:srgbClr val="EE220D"/>
                </a:solidFill>
                <a:latin typeface="Times New Roman"/>
                <a:cs typeface="Times New Roman"/>
              </a:rPr>
              <a:t>substring():</a:t>
            </a:r>
            <a:r>
              <a:rPr sz="4600" b="1" dirty="0">
                <a:solidFill>
                  <a:srgbClr val="EE220D"/>
                </a:solidFill>
                <a:latin typeface="Times New Roman"/>
                <a:cs typeface="Times New Roman"/>
              </a:rPr>
              <a:t>	</a:t>
            </a:r>
            <a:r>
              <a:rPr sz="4600" spc="-25" dirty="0">
                <a:latin typeface="Times New Roman"/>
                <a:cs typeface="Times New Roman"/>
              </a:rPr>
              <a:t>It</a:t>
            </a:r>
            <a:r>
              <a:rPr sz="4600" dirty="0">
                <a:latin typeface="Times New Roman"/>
                <a:cs typeface="Times New Roman"/>
              </a:rPr>
              <a:t>	</a:t>
            </a:r>
            <a:r>
              <a:rPr sz="4600" spc="-10" dirty="0">
                <a:latin typeface="Times New Roman"/>
                <a:cs typeface="Times New Roman"/>
              </a:rPr>
              <a:t>returns</a:t>
            </a:r>
            <a:r>
              <a:rPr sz="4600" dirty="0">
                <a:latin typeface="Times New Roman"/>
                <a:cs typeface="Times New Roman"/>
              </a:rPr>
              <a:t>	</a:t>
            </a:r>
            <a:r>
              <a:rPr sz="4600" spc="-25" dirty="0">
                <a:latin typeface="Times New Roman"/>
                <a:cs typeface="Times New Roman"/>
              </a:rPr>
              <a:t>the</a:t>
            </a:r>
            <a:r>
              <a:rPr sz="4600" dirty="0">
                <a:latin typeface="Times New Roman"/>
                <a:cs typeface="Times New Roman"/>
              </a:rPr>
              <a:t>	</a:t>
            </a:r>
            <a:r>
              <a:rPr sz="4600" spc="-10" dirty="0">
                <a:latin typeface="Times New Roman"/>
                <a:cs typeface="Times New Roman"/>
              </a:rPr>
              <a:t>substring</a:t>
            </a:r>
            <a:r>
              <a:rPr sz="4600" dirty="0">
                <a:latin typeface="Times New Roman"/>
                <a:cs typeface="Times New Roman"/>
              </a:rPr>
              <a:t>	</a:t>
            </a:r>
            <a:r>
              <a:rPr sz="4600" spc="-20" dirty="0">
                <a:latin typeface="Times New Roman"/>
                <a:cs typeface="Times New Roman"/>
              </a:rPr>
              <a:t>from</a:t>
            </a:r>
            <a:r>
              <a:rPr sz="4600" dirty="0">
                <a:latin typeface="Times New Roman"/>
                <a:cs typeface="Times New Roman"/>
              </a:rPr>
              <a:t>	</a:t>
            </a:r>
            <a:r>
              <a:rPr sz="4600" spc="-10" dirty="0">
                <a:latin typeface="Times New Roman"/>
                <a:cs typeface="Times New Roman"/>
              </a:rPr>
              <a:t>start</a:t>
            </a:r>
            <a:r>
              <a:rPr sz="4600" dirty="0">
                <a:latin typeface="Times New Roman"/>
                <a:cs typeface="Times New Roman"/>
              </a:rPr>
              <a:t>	</a:t>
            </a:r>
            <a:r>
              <a:rPr sz="4600" spc="-10" dirty="0">
                <a:latin typeface="Times New Roman"/>
                <a:cs typeface="Times New Roman"/>
              </a:rPr>
              <a:t>index,</a:t>
            </a:r>
            <a:r>
              <a:rPr sz="4600" dirty="0">
                <a:latin typeface="Times New Roman"/>
                <a:cs typeface="Times New Roman"/>
              </a:rPr>
              <a:t>	</a:t>
            </a:r>
            <a:r>
              <a:rPr sz="4600" spc="-10" dirty="0">
                <a:latin typeface="Times New Roman"/>
                <a:cs typeface="Times New Roman"/>
              </a:rPr>
              <a:t>inclusive</a:t>
            </a:r>
            <a:r>
              <a:rPr sz="4600" dirty="0">
                <a:latin typeface="Times New Roman"/>
                <a:cs typeface="Times New Roman"/>
              </a:rPr>
              <a:t>	</a:t>
            </a:r>
            <a:r>
              <a:rPr sz="4600" spc="-25" dirty="0">
                <a:latin typeface="Times New Roman"/>
                <a:cs typeface="Times New Roman"/>
              </a:rPr>
              <a:t>to</a:t>
            </a:r>
            <a:r>
              <a:rPr sz="4600" dirty="0">
                <a:latin typeface="Times New Roman"/>
                <a:cs typeface="Times New Roman"/>
              </a:rPr>
              <a:t>	</a:t>
            </a:r>
            <a:r>
              <a:rPr sz="4600" spc="-25" dirty="0">
                <a:latin typeface="Times New Roman"/>
                <a:cs typeface="Times New Roman"/>
              </a:rPr>
              <a:t>end 	</a:t>
            </a:r>
            <a:r>
              <a:rPr sz="4600" spc="-10" dirty="0">
                <a:latin typeface="Times New Roman"/>
                <a:cs typeface="Times New Roman"/>
              </a:rPr>
              <a:t>index.</a:t>
            </a:r>
            <a:endParaRPr sz="4600">
              <a:latin typeface="Times New Roman"/>
              <a:cs typeface="Times New Roman"/>
            </a:endParaRPr>
          </a:p>
          <a:p>
            <a:pPr marL="472440" indent="-459740">
              <a:lnSpc>
                <a:spcPct val="100000"/>
              </a:lnSpc>
              <a:spcBef>
                <a:spcPts val="20"/>
              </a:spcBef>
              <a:buClr>
                <a:srgbClr val="245796"/>
              </a:buClr>
              <a:buSzPct val="85869"/>
              <a:buFont typeface="Georgia"/>
              <a:buChar char="●"/>
              <a:tabLst>
                <a:tab pos="472440" algn="l"/>
              </a:tabLst>
            </a:pPr>
            <a:r>
              <a:rPr sz="4600" b="1" dirty="0">
                <a:solidFill>
                  <a:srgbClr val="EE220D"/>
                </a:solidFill>
                <a:latin typeface="Times New Roman"/>
                <a:cs typeface="Times New Roman"/>
              </a:rPr>
              <a:t>toString():</a:t>
            </a:r>
            <a:r>
              <a:rPr sz="4600" b="1" spc="-15" dirty="0">
                <a:solidFill>
                  <a:srgbClr val="EE220D"/>
                </a:solidFill>
                <a:latin typeface="Times New Roman"/>
                <a:cs typeface="Times New Roman"/>
              </a:rPr>
              <a:t> </a:t>
            </a:r>
            <a:r>
              <a:rPr sz="4600" dirty="0">
                <a:latin typeface="Times New Roman"/>
                <a:cs typeface="Times New Roman"/>
              </a:rPr>
              <a:t>It</a:t>
            </a:r>
            <a:r>
              <a:rPr sz="4600" spc="-20" dirty="0">
                <a:latin typeface="Times New Roman"/>
                <a:cs typeface="Times New Roman"/>
              </a:rPr>
              <a:t> </a:t>
            </a:r>
            <a:r>
              <a:rPr sz="4600" dirty="0">
                <a:latin typeface="Times New Roman"/>
                <a:cs typeface="Times New Roman"/>
              </a:rPr>
              <a:t>returns</a:t>
            </a:r>
            <a:r>
              <a:rPr sz="4600" spc="-15" dirty="0">
                <a:latin typeface="Times New Roman"/>
                <a:cs typeface="Times New Roman"/>
              </a:rPr>
              <a:t> </a:t>
            </a:r>
            <a:r>
              <a:rPr sz="4600" dirty="0">
                <a:latin typeface="Times New Roman"/>
                <a:cs typeface="Times New Roman"/>
              </a:rPr>
              <a:t>the</a:t>
            </a:r>
            <a:r>
              <a:rPr sz="4600" spc="-10" dirty="0">
                <a:latin typeface="Times New Roman"/>
                <a:cs typeface="Times New Roman"/>
              </a:rPr>
              <a:t> </a:t>
            </a:r>
            <a:r>
              <a:rPr sz="4600" dirty="0">
                <a:latin typeface="Times New Roman"/>
                <a:cs typeface="Times New Roman"/>
              </a:rPr>
              <a:t>string</a:t>
            </a:r>
            <a:r>
              <a:rPr sz="4600" spc="-15" dirty="0">
                <a:latin typeface="Times New Roman"/>
                <a:cs typeface="Times New Roman"/>
              </a:rPr>
              <a:t> </a:t>
            </a:r>
            <a:r>
              <a:rPr sz="4600" dirty="0">
                <a:latin typeface="Times New Roman"/>
                <a:cs typeface="Times New Roman"/>
              </a:rPr>
              <a:t>representation</a:t>
            </a:r>
            <a:r>
              <a:rPr sz="4600" spc="-15" dirty="0">
                <a:latin typeface="Times New Roman"/>
                <a:cs typeface="Times New Roman"/>
              </a:rPr>
              <a:t> </a:t>
            </a:r>
            <a:r>
              <a:rPr sz="4600" dirty="0">
                <a:latin typeface="Times New Roman"/>
                <a:cs typeface="Times New Roman"/>
              </a:rPr>
              <a:t>of</a:t>
            </a:r>
            <a:r>
              <a:rPr sz="4600" spc="-15" dirty="0">
                <a:latin typeface="Times New Roman"/>
                <a:cs typeface="Times New Roman"/>
              </a:rPr>
              <a:t> </a:t>
            </a:r>
            <a:r>
              <a:rPr sz="4600" dirty="0">
                <a:latin typeface="Times New Roman"/>
                <a:cs typeface="Times New Roman"/>
              </a:rPr>
              <a:t>the</a:t>
            </a:r>
            <a:r>
              <a:rPr sz="4600" spc="-10" dirty="0">
                <a:latin typeface="Times New Roman"/>
                <a:cs typeface="Times New Roman"/>
              </a:rPr>
              <a:t> </a:t>
            </a:r>
            <a:r>
              <a:rPr sz="4600" dirty="0">
                <a:latin typeface="Times New Roman"/>
                <a:cs typeface="Times New Roman"/>
              </a:rPr>
              <a:t>given</a:t>
            </a:r>
            <a:r>
              <a:rPr sz="4600" spc="-10" dirty="0">
                <a:latin typeface="Times New Roman"/>
                <a:cs typeface="Times New Roman"/>
              </a:rPr>
              <a:t> object.</a:t>
            </a:r>
            <a:endParaRPr sz="4600">
              <a:latin typeface="Times New Roman"/>
              <a:cs typeface="Times New Roman"/>
            </a:endParaRPr>
          </a:p>
          <a:p>
            <a:pPr marL="472440" indent="-459740">
              <a:lnSpc>
                <a:spcPct val="100000"/>
              </a:lnSpc>
              <a:spcBef>
                <a:spcPts val="5"/>
              </a:spcBef>
              <a:buClr>
                <a:srgbClr val="245796"/>
              </a:buClr>
              <a:buSzPct val="85869"/>
              <a:buFont typeface="Georgia"/>
              <a:buChar char="●"/>
              <a:tabLst>
                <a:tab pos="472440" algn="l"/>
              </a:tabLst>
            </a:pPr>
            <a:r>
              <a:rPr sz="4600" b="1" dirty="0">
                <a:solidFill>
                  <a:srgbClr val="EE220D"/>
                </a:solidFill>
                <a:latin typeface="Times New Roman"/>
                <a:cs typeface="Times New Roman"/>
              </a:rPr>
              <a:t>codeUnitAt():</a:t>
            </a:r>
            <a:r>
              <a:rPr sz="4600" b="1" spc="-10" dirty="0">
                <a:solidFill>
                  <a:srgbClr val="EE220D"/>
                </a:solidFill>
                <a:latin typeface="Times New Roman"/>
                <a:cs typeface="Times New Roman"/>
              </a:rPr>
              <a:t> </a:t>
            </a:r>
            <a:r>
              <a:rPr sz="4600" dirty="0">
                <a:latin typeface="Times New Roman"/>
                <a:cs typeface="Times New Roman"/>
              </a:rPr>
              <a:t>It</a:t>
            </a:r>
            <a:r>
              <a:rPr sz="4600" spc="-10" dirty="0">
                <a:latin typeface="Times New Roman"/>
                <a:cs typeface="Times New Roman"/>
              </a:rPr>
              <a:t> </a:t>
            </a:r>
            <a:r>
              <a:rPr sz="4600" dirty="0">
                <a:latin typeface="Times New Roman"/>
                <a:cs typeface="Times New Roman"/>
              </a:rPr>
              <a:t>returns</a:t>
            </a:r>
            <a:r>
              <a:rPr sz="4600" spc="-10" dirty="0">
                <a:latin typeface="Times New Roman"/>
                <a:cs typeface="Times New Roman"/>
              </a:rPr>
              <a:t> </a:t>
            </a:r>
            <a:r>
              <a:rPr sz="4600" dirty="0">
                <a:latin typeface="Times New Roman"/>
                <a:cs typeface="Times New Roman"/>
              </a:rPr>
              <a:t>the </a:t>
            </a:r>
            <a:r>
              <a:rPr sz="4600" spc="-10" dirty="0">
                <a:latin typeface="Times New Roman"/>
                <a:cs typeface="Times New Roman"/>
              </a:rPr>
              <a:t>16-</a:t>
            </a:r>
            <a:r>
              <a:rPr sz="4600" dirty="0">
                <a:latin typeface="Times New Roman"/>
                <a:cs typeface="Times New Roman"/>
              </a:rPr>
              <a:t>bits</a:t>
            </a:r>
            <a:r>
              <a:rPr sz="4600" spc="-10" dirty="0">
                <a:latin typeface="Times New Roman"/>
                <a:cs typeface="Times New Roman"/>
              </a:rPr>
              <a:t> </a:t>
            </a:r>
            <a:r>
              <a:rPr sz="4600" dirty="0">
                <a:latin typeface="Times New Roman"/>
                <a:cs typeface="Times New Roman"/>
              </a:rPr>
              <a:t>code</a:t>
            </a:r>
            <a:r>
              <a:rPr sz="4600" spc="-10" dirty="0">
                <a:latin typeface="Times New Roman"/>
                <a:cs typeface="Times New Roman"/>
              </a:rPr>
              <a:t> </a:t>
            </a:r>
            <a:r>
              <a:rPr sz="4600" dirty="0">
                <a:latin typeface="Times New Roman"/>
                <a:cs typeface="Times New Roman"/>
              </a:rPr>
              <a:t>unit</a:t>
            </a:r>
            <a:r>
              <a:rPr sz="4600" spc="-10" dirty="0">
                <a:latin typeface="Times New Roman"/>
                <a:cs typeface="Times New Roman"/>
              </a:rPr>
              <a:t> </a:t>
            </a:r>
            <a:r>
              <a:rPr sz="4600" dirty="0">
                <a:latin typeface="Times New Roman"/>
                <a:cs typeface="Times New Roman"/>
              </a:rPr>
              <a:t>at</a:t>
            </a:r>
            <a:r>
              <a:rPr sz="4600" spc="-15" dirty="0">
                <a:latin typeface="Times New Roman"/>
                <a:cs typeface="Times New Roman"/>
              </a:rPr>
              <a:t> </a:t>
            </a:r>
            <a:r>
              <a:rPr sz="4600" dirty="0">
                <a:latin typeface="Times New Roman"/>
                <a:cs typeface="Times New Roman"/>
              </a:rPr>
              <a:t>the given</a:t>
            </a:r>
            <a:r>
              <a:rPr sz="4600" spc="-5" dirty="0">
                <a:latin typeface="Times New Roman"/>
                <a:cs typeface="Times New Roman"/>
              </a:rPr>
              <a:t> </a:t>
            </a:r>
            <a:r>
              <a:rPr sz="4600" spc="-10" dirty="0">
                <a:latin typeface="Times New Roman"/>
                <a:cs typeface="Times New Roman"/>
              </a:rPr>
              <a:t>index.</a:t>
            </a:r>
            <a:endParaRPr sz="4600">
              <a:latin typeface="Times New Roman"/>
              <a:cs typeface="Times New Roman"/>
            </a:endParaRP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02691" y="336743"/>
            <a:ext cx="1364565" cy="136456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245796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1299</Words>
  <Application>Microsoft Office PowerPoint</Application>
  <PresentationFormat>Custom</PresentationFormat>
  <Paragraphs>144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Arial</vt:lpstr>
      <vt:lpstr>Arial MT</vt:lpstr>
      <vt:lpstr>Georgia</vt:lpstr>
      <vt:lpstr>Segoe UI Symbol</vt:lpstr>
      <vt:lpstr>Times New Roman</vt:lpstr>
      <vt:lpstr>Wingdings</vt:lpstr>
      <vt:lpstr>Office Theme</vt:lpstr>
      <vt:lpstr>Mobile Learning Application Development</vt:lpstr>
      <vt:lpstr>Content</vt:lpstr>
      <vt:lpstr>Dart</vt:lpstr>
      <vt:lpstr>Why Dart ?</vt:lpstr>
      <vt:lpstr>Dart Installation</vt:lpstr>
      <vt:lpstr>Dart Installation</vt:lpstr>
      <vt:lpstr>Dart Environment</vt:lpstr>
      <vt:lpstr>Dart Syntax</vt:lpstr>
      <vt:lpstr>Dart Syntax</vt:lpstr>
      <vt:lpstr>Dart Data Types</vt:lpstr>
      <vt:lpstr>Dart Variables</vt:lpstr>
      <vt:lpstr>Dart Variables</vt:lpstr>
      <vt:lpstr>Dart Variables</vt:lpstr>
      <vt:lpstr>Dart Variables</vt:lpstr>
      <vt:lpstr>Dart Operators</vt:lpstr>
      <vt:lpstr>Dart Data Type: String</vt:lpstr>
      <vt:lpstr>Dart Data Type: String</vt:lpstr>
      <vt:lpstr>Dart Data Type: String</vt:lpstr>
      <vt:lpstr>Dart Data Type: String Methods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Slide 1</dc:title>
  <cp:lastModifiedBy>Rakib Hossen</cp:lastModifiedBy>
  <cp:revision>1</cp:revision>
  <dcterms:created xsi:type="dcterms:W3CDTF">2025-08-21T19:01:49Z</dcterms:created>
  <dcterms:modified xsi:type="dcterms:W3CDTF">2025-08-21T19:03:45Z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2024-09-28T00:00:00Z</vt:filetime>
  </property>
  <property fmtid="{D5CDD505-2E9C-101B-9397-08002B2CF9AE}" pid="3" name="Creator">
    <vt:lpwstr>PowerPoint</vt:lpwstr>
  </property>
  <property fmtid="{D5CDD505-2E9C-101B-9397-08002B2CF9AE}" pid="4" name="LastSaved">
    <vt:filetime>2025-08-21T00:00:00Z</vt:filetime>
  </property>
  <property fmtid="{D5CDD505-2E9C-101B-9397-08002B2CF9AE}" pid="5" name="Producer">
    <vt:lpwstr>macOS Version 14.6.1 (Build 23G93) Quartz PDFContext</vt:lpwstr>
  </property>
</Properties>
</file>