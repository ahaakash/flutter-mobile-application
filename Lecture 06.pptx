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1586" cy="23521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5000" y="0"/>
            <a:ext cx="4666664" cy="228935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675"/>
            <a:ext cx="20058204" cy="2034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20101586" cy="23521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142" y="344147"/>
            <a:ext cx="16262985" cy="1671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39980" y="4134608"/>
            <a:ext cx="16824139" cy="699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6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  <a:cs typeface="Arial MT"/>
              </a:rPr>
              <a:t>Mobile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Learning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Application </a:t>
            </a:r>
            <a:r>
              <a:rPr spc="-10" dirty="0">
                <a:latin typeface="Arial MT"/>
                <a:cs typeface="Arial MT"/>
              </a:rPr>
              <a:t>Development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5558" y="2656254"/>
            <a:ext cx="4385206" cy="12715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65451" y="5883275"/>
            <a:ext cx="135498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400" dirty="0" smtClean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b="1" dirty="0" err="1" smtClean="0">
                <a:solidFill>
                  <a:schemeClr val="tx1"/>
                </a:solidFill>
                <a:latin typeface="Georgia" panose="02040502050405020303" pitchFamily="18" charset="0"/>
              </a:rPr>
              <a:t>Rakib</a:t>
            </a:r>
            <a:r>
              <a:rPr lang="en-US" sz="48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US" sz="4800" b="1" dirty="0" err="1" smtClean="0">
                <a:solidFill>
                  <a:schemeClr val="tx1"/>
                </a:solidFill>
                <a:latin typeface="Georgia" panose="02040502050405020303" pitchFamily="18" charset="0"/>
              </a:rPr>
              <a:t>Hossen</a:t>
            </a:r>
            <a:r>
              <a:rPr lang="en-US" sz="48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400" dirty="0" err="1" smtClean="0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), GDU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1125" y="0"/>
              <a:ext cx="6036256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79595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245796"/>
                </a:solidFill>
              </a:rPr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1212" y="2804387"/>
            <a:ext cx="19278600" cy="63461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77850" marR="5080" indent="-565785" algn="just">
              <a:lnSpc>
                <a:spcPct val="100800"/>
              </a:lnSpc>
              <a:spcBef>
                <a:spcPts val="70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general,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creating</a:t>
            </a:r>
            <a:r>
              <a:rPr sz="3950" spc="1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mobile</a:t>
            </a:r>
            <a:r>
              <a:rPr sz="3950" spc="2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application</a:t>
            </a:r>
            <a:r>
              <a:rPr sz="3950" spc="1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very</a:t>
            </a:r>
            <a:r>
              <a:rPr sz="3950" spc="1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complex</a:t>
            </a:r>
            <a:r>
              <a:rPr sz="3950" spc="1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16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challenging</a:t>
            </a:r>
            <a:r>
              <a:rPr sz="3950" spc="1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task.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There</a:t>
            </a:r>
            <a:r>
              <a:rPr sz="3950" spc="15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are </a:t>
            </a:r>
            <a:r>
              <a:rPr sz="3950" dirty="0">
                <a:latin typeface="Times New Roman"/>
                <a:cs typeface="Times New Roman"/>
              </a:rPr>
              <a:t>many</a:t>
            </a:r>
            <a:r>
              <a:rPr sz="3950" spc="409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frameworks</a:t>
            </a:r>
            <a:r>
              <a:rPr sz="3950" spc="4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available,</a:t>
            </a:r>
            <a:r>
              <a:rPr sz="3950" spc="409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which</a:t>
            </a:r>
            <a:r>
              <a:rPr sz="3950" spc="890" dirty="0">
                <a:latin typeface="Times New Roman"/>
                <a:cs typeface="Times New Roman"/>
              </a:rPr>
              <a:t>   </a:t>
            </a:r>
            <a:r>
              <a:rPr sz="3950" dirty="0">
                <a:latin typeface="Times New Roman"/>
                <a:cs typeface="Times New Roman"/>
              </a:rPr>
              <a:t>provide</a:t>
            </a:r>
            <a:r>
              <a:rPr sz="3950" spc="4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excellent</a:t>
            </a:r>
            <a:r>
              <a:rPr sz="3950" spc="44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features</a:t>
            </a:r>
            <a:r>
              <a:rPr sz="3950" spc="430" dirty="0">
                <a:latin typeface="Times New Roman"/>
                <a:cs typeface="Times New Roman"/>
              </a:rPr>
              <a:t>  </a:t>
            </a:r>
            <a:r>
              <a:rPr sz="3950" spc="70" dirty="0">
                <a:latin typeface="Times New Roman"/>
                <a:cs typeface="Times New Roman"/>
              </a:rPr>
              <a:t>to</a:t>
            </a:r>
            <a:r>
              <a:rPr sz="3950" spc="49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develop</a:t>
            </a:r>
            <a:r>
              <a:rPr sz="3950" spc="425" dirty="0">
                <a:latin typeface="Times New Roman"/>
                <a:cs typeface="Times New Roman"/>
              </a:rPr>
              <a:t>  </a:t>
            </a:r>
            <a:r>
              <a:rPr sz="3950" spc="-10" dirty="0">
                <a:latin typeface="Times New Roman"/>
                <a:cs typeface="Times New Roman"/>
              </a:rPr>
              <a:t>mobile applications.</a:t>
            </a:r>
            <a:endParaRPr sz="3950">
              <a:latin typeface="Times New Roman"/>
              <a:cs typeface="Times New Roman"/>
            </a:endParaRPr>
          </a:p>
          <a:p>
            <a:pPr marL="577850" marR="191135" indent="-565785" algn="just">
              <a:lnSpc>
                <a:spcPct val="101000"/>
              </a:lnSpc>
              <a:spcBef>
                <a:spcPts val="49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dirty="0">
                <a:latin typeface="Times New Roman"/>
                <a:cs typeface="Times New Roman"/>
              </a:rPr>
              <a:t>For</a:t>
            </a:r>
            <a:r>
              <a:rPr sz="3950" spc="6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developing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mobile</a:t>
            </a:r>
            <a:r>
              <a:rPr sz="3950" spc="6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apps,</a:t>
            </a:r>
            <a:r>
              <a:rPr sz="3950" spc="6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Android</a:t>
            </a:r>
            <a:r>
              <a:rPr sz="3950" spc="6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provides</a:t>
            </a:r>
            <a:r>
              <a:rPr sz="3950" spc="6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6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native</a:t>
            </a:r>
            <a:r>
              <a:rPr sz="3950" spc="655" dirty="0">
                <a:latin typeface="Times New Roman"/>
                <a:cs typeface="Times New Roman"/>
              </a:rPr>
              <a:t>  </a:t>
            </a:r>
            <a:r>
              <a:rPr sz="3950" spc="50" dirty="0">
                <a:latin typeface="Times New Roman"/>
                <a:cs typeface="Times New Roman"/>
              </a:rPr>
              <a:t>framework</a:t>
            </a:r>
            <a:r>
              <a:rPr sz="3950" spc="7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based</a:t>
            </a:r>
            <a:r>
              <a:rPr sz="3950" spc="6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6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Java</a:t>
            </a:r>
            <a:r>
              <a:rPr sz="3950" spc="6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and </a:t>
            </a:r>
            <a:r>
              <a:rPr sz="3950" dirty="0">
                <a:latin typeface="Times New Roman"/>
                <a:cs typeface="Times New Roman"/>
              </a:rPr>
              <a:t>Kotlin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language,</a:t>
            </a:r>
            <a:r>
              <a:rPr sz="3950" spc="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while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iOS</a:t>
            </a:r>
            <a:r>
              <a:rPr sz="3950" spc="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provides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framework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based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Objective-C/Swift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language.</a:t>
            </a:r>
            <a:endParaRPr sz="3950">
              <a:latin typeface="Times New Roman"/>
              <a:cs typeface="Times New Roman"/>
            </a:endParaRPr>
          </a:p>
          <a:p>
            <a:pPr marL="577850" marR="11430" indent="-565785" algn="just">
              <a:lnSpc>
                <a:spcPct val="101000"/>
              </a:lnSpc>
              <a:spcBef>
                <a:spcPts val="730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dirty="0">
                <a:latin typeface="Times New Roman"/>
                <a:cs typeface="Times New Roman"/>
              </a:rPr>
              <a:t>Thus,</a:t>
            </a:r>
            <a:r>
              <a:rPr sz="3950" spc="3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40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need</a:t>
            </a:r>
            <a:r>
              <a:rPr sz="3950" spc="350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two</a:t>
            </a:r>
            <a:r>
              <a:rPr sz="3950" spc="484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different</a:t>
            </a:r>
            <a:r>
              <a:rPr sz="3950" spc="4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languages</a:t>
            </a:r>
            <a:r>
              <a:rPr sz="3950" spc="3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3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frameworks</a:t>
            </a:r>
            <a:r>
              <a:rPr sz="3950" spc="40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to</a:t>
            </a:r>
            <a:r>
              <a:rPr sz="3950" spc="42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develop</a:t>
            </a:r>
            <a:r>
              <a:rPr sz="3950" spc="3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applications</a:t>
            </a:r>
            <a:r>
              <a:rPr sz="3950" spc="350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for</a:t>
            </a:r>
            <a:r>
              <a:rPr sz="3950" spc="480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both </a:t>
            </a:r>
            <a:r>
              <a:rPr sz="3950" spc="-25" dirty="0">
                <a:latin typeface="Times New Roman"/>
                <a:cs typeface="Times New Roman"/>
              </a:rPr>
              <a:t>OS.</a:t>
            </a:r>
            <a:endParaRPr sz="3950">
              <a:latin typeface="Times New Roman"/>
              <a:cs typeface="Times New Roman"/>
            </a:endParaRPr>
          </a:p>
          <a:p>
            <a:pPr marL="577850" marR="34290" indent="-565785" algn="just">
              <a:lnSpc>
                <a:spcPct val="100600"/>
              </a:lnSpc>
              <a:spcBef>
                <a:spcPts val="260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spc="70" dirty="0">
                <a:latin typeface="Times New Roman"/>
                <a:cs typeface="Times New Roman"/>
              </a:rPr>
              <a:t>To</a:t>
            </a:r>
            <a:r>
              <a:rPr sz="3950" spc="7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overcome</a:t>
            </a:r>
            <a:r>
              <a:rPr sz="3950" spc="625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form</a:t>
            </a:r>
            <a:r>
              <a:rPr sz="3950" spc="7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this</a:t>
            </a:r>
            <a:r>
              <a:rPr sz="3950" spc="6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complexity,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there</a:t>
            </a:r>
            <a:r>
              <a:rPr sz="3950" spc="7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6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several</a:t>
            </a:r>
            <a:r>
              <a:rPr sz="3950" spc="6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frameworks</a:t>
            </a:r>
            <a:r>
              <a:rPr sz="3950" spc="6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have</a:t>
            </a:r>
            <a:r>
              <a:rPr sz="3950" spc="625" dirty="0">
                <a:latin typeface="Times New Roman"/>
                <a:cs typeface="Times New Roman"/>
              </a:rPr>
              <a:t> </a:t>
            </a:r>
            <a:r>
              <a:rPr sz="3950" spc="45" dirty="0">
                <a:latin typeface="Times New Roman"/>
                <a:cs typeface="Times New Roman"/>
              </a:rPr>
              <a:t>introduced</a:t>
            </a:r>
            <a:r>
              <a:rPr sz="3950" spc="695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that </a:t>
            </a:r>
            <a:r>
              <a:rPr sz="3950" dirty="0">
                <a:latin typeface="Times New Roman"/>
                <a:cs typeface="Times New Roman"/>
              </a:rPr>
              <a:t>support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both</a:t>
            </a:r>
            <a:r>
              <a:rPr sz="3950" spc="275" dirty="0">
                <a:latin typeface="Times New Roman"/>
                <a:cs typeface="Times New Roman"/>
              </a:rPr>
              <a:t> </a:t>
            </a:r>
            <a:r>
              <a:rPr sz="3950" spc="-60" dirty="0">
                <a:latin typeface="Times New Roman"/>
                <a:cs typeface="Times New Roman"/>
              </a:rPr>
              <a:t>OS</a:t>
            </a:r>
            <a:r>
              <a:rPr sz="3950" spc="-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along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with</a:t>
            </a:r>
            <a:r>
              <a:rPr sz="3950" spc="84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desktop</a:t>
            </a:r>
            <a:r>
              <a:rPr sz="3950" spc="7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apps.</a:t>
            </a:r>
            <a:endParaRPr sz="39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54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12820015" algn="l"/>
              </a:tabLst>
            </a:pPr>
            <a:r>
              <a:rPr sz="3950" dirty="0">
                <a:latin typeface="Times New Roman"/>
                <a:cs typeface="Times New Roman"/>
              </a:rPr>
              <a:t>These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types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of</a:t>
            </a:r>
            <a:r>
              <a:rPr sz="3950" spc="280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the</a:t>
            </a:r>
            <a:r>
              <a:rPr sz="3950" spc="180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framework</a:t>
            </a:r>
            <a:r>
              <a:rPr sz="3950" spc="1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known</a:t>
            </a:r>
            <a:r>
              <a:rPr sz="3950" spc="1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-1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cross-</a:t>
            </a:r>
            <a:r>
              <a:rPr sz="3950" spc="-10" dirty="0">
                <a:latin typeface="Times New Roman"/>
                <a:cs typeface="Times New Roman"/>
              </a:rPr>
              <a:t>platform</a:t>
            </a:r>
            <a:r>
              <a:rPr sz="3950" dirty="0">
                <a:latin typeface="Times New Roman"/>
                <a:cs typeface="Times New Roman"/>
              </a:rPr>
              <a:t>	development</a:t>
            </a:r>
            <a:r>
              <a:rPr sz="3950" spc="459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tools.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3710" y="296535"/>
            <a:ext cx="19518630" cy="998219"/>
            <a:chOff x="233710" y="296535"/>
            <a:chExt cx="19518630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710" y="296535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6" y="296535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1163" y="0"/>
              <a:ext cx="6036256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69180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245796"/>
                </a:solidFill>
              </a:rPr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36438" y="2824491"/>
            <a:ext cx="500507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9845" algn="l"/>
                <a:tab pos="2229485" algn="l"/>
                <a:tab pos="3382010" algn="l"/>
                <a:tab pos="4311650" algn="l"/>
              </a:tabLst>
            </a:pPr>
            <a:r>
              <a:rPr sz="3950" spc="45" dirty="0">
                <a:latin typeface="Times New Roman"/>
                <a:cs typeface="Times New Roman"/>
              </a:rPr>
              <a:t>write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one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0" dirty="0">
                <a:latin typeface="Times New Roman"/>
                <a:cs typeface="Times New Roman"/>
              </a:rPr>
              <a:t>code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and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30" dirty="0">
                <a:latin typeface="Times New Roman"/>
                <a:cs typeface="Times New Roman"/>
              </a:rPr>
              <a:t>can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1212" y="2824491"/>
            <a:ext cx="13711555" cy="12369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77850" marR="5080" indent="-565785">
              <a:lnSpc>
                <a:spcPct val="101000"/>
              </a:lnSpc>
              <a:spcBef>
                <a:spcPts val="60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1555750" algn="l"/>
                <a:tab pos="4735195" algn="l"/>
                <a:tab pos="7136765" algn="l"/>
                <a:tab pos="7587615" algn="l"/>
                <a:tab pos="10052685" algn="l"/>
                <a:tab pos="10906125" algn="l"/>
                <a:tab pos="11750040" algn="l"/>
                <a:tab pos="13280390" algn="l"/>
              </a:tabLst>
            </a:pPr>
            <a:r>
              <a:rPr sz="3950" spc="-25" dirty="0">
                <a:latin typeface="Times New Roman"/>
                <a:cs typeface="Times New Roman"/>
              </a:rPr>
              <a:t>The</a:t>
            </a:r>
            <a:r>
              <a:rPr sz="3950" dirty="0">
                <a:latin typeface="Times New Roman"/>
                <a:cs typeface="Times New Roman"/>
              </a:rPr>
              <a:t>	cross-</a:t>
            </a:r>
            <a:r>
              <a:rPr sz="3950" spc="-10" dirty="0">
                <a:latin typeface="Times New Roman"/>
                <a:cs typeface="Times New Roman"/>
              </a:rPr>
              <a:t>platform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development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framework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has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the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ability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80" dirty="0">
                <a:latin typeface="Times New Roman"/>
                <a:cs typeface="Times New Roman"/>
              </a:rPr>
              <a:t>to </a:t>
            </a:r>
            <a:r>
              <a:rPr sz="3950" dirty="0">
                <a:latin typeface="Times New Roman"/>
                <a:cs typeface="Times New Roman"/>
              </a:rPr>
              <a:t>deploy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various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platform</a:t>
            </a:r>
            <a:r>
              <a:rPr sz="3950" dirty="0">
                <a:latin typeface="Times New Roman"/>
                <a:cs typeface="Times New Roman"/>
              </a:rPr>
              <a:t>	(Android,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iOS,</a:t>
            </a:r>
            <a:r>
              <a:rPr sz="3950" spc="-1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6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Desktop).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212" y="4709250"/>
            <a:ext cx="19026505" cy="5707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7850" marR="13335" indent="-565785" algn="just">
              <a:lnSpc>
                <a:spcPct val="100299"/>
              </a:lnSpc>
              <a:spcBef>
                <a:spcPts val="90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7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saves</a:t>
            </a:r>
            <a:r>
              <a:rPr sz="3950" spc="6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605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lot</a:t>
            </a:r>
            <a:r>
              <a:rPr sz="3950" spc="79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of</a:t>
            </a:r>
            <a:r>
              <a:rPr sz="3950" spc="795" dirty="0">
                <a:latin typeface="Times New Roman"/>
                <a:cs typeface="Times New Roman"/>
              </a:rPr>
              <a:t> </a:t>
            </a:r>
            <a:r>
              <a:rPr sz="3950" spc="45" dirty="0">
                <a:latin typeface="Times New Roman"/>
                <a:cs typeface="Times New Roman"/>
              </a:rPr>
              <a:t>time</a:t>
            </a:r>
            <a:r>
              <a:rPr sz="3950" spc="7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development</a:t>
            </a:r>
            <a:r>
              <a:rPr sz="3950" spc="715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efforts</a:t>
            </a:r>
            <a:r>
              <a:rPr sz="3950" spc="75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of</a:t>
            </a:r>
            <a:r>
              <a:rPr sz="3950" spc="7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developers.</a:t>
            </a:r>
            <a:r>
              <a:rPr sz="3950" spc="67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There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6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several</a:t>
            </a:r>
            <a:r>
              <a:rPr sz="3950" spc="68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tools </a:t>
            </a:r>
            <a:r>
              <a:rPr sz="3950" dirty="0">
                <a:latin typeface="Times New Roman"/>
                <a:cs typeface="Times New Roman"/>
              </a:rPr>
              <a:t>available</a:t>
            </a:r>
            <a:r>
              <a:rPr sz="3950" spc="285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for</a:t>
            </a:r>
            <a:r>
              <a:rPr sz="3950" spc="4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cross-platform</a:t>
            </a:r>
            <a:r>
              <a:rPr sz="3950" spc="31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development,</a:t>
            </a:r>
            <a:r>
              <a:rPr sz="3950" spc="2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including</a:t>
            </a:r>
            <a:r>
              <a:rPr sz="3950" spc="3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web-</a:t>
            </a:r>
            <a:r>
              <a:rPr sz="3950" dirty="0">
                <a:latin typeface="Times New Roman"/>
                <a:cs typeface="Times New Roman"/>
              </a:rPr>
              <a:t>based</a:t>
            </a:r>
            <a:r>
              <a:rPr sz="3950" spc="2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tools,</a:t>
            </a:r>
            <a:r>
              <a:rPr sz="3950" spc="3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such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Ionic</a:t>
            </a:r>
            <a:r>
              <a:rPr sz="3950" spc="29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from </a:t>
            </a:r>
            <a:r>
              <a:rPr sz="3950" spc="60" dirty="0">
                <a:latin typeface="Times New Roman"/>
                <a:cs typeface="Times New Roman"/>
              </a:rPr>
              <a:t>Drifty</a:t>
            </a:r>
            <a:r>
              <a:rPr sz="3950" spc="5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Co.</a:t>
            </a:r>
            <a:r>
              <a:rPr sz="3950" spc="3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4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2013,</a:t>
            </a:r>
            <a:r>
              <a:rPr sz="3950" spc="4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Phonegap</a:t>
            </a:r>
            <a:r>
              <a:rPr sz="3950" spc="41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from</a:t>
            </a:r>
            <a:r>
              <a:rPr sz="3950" spc="5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Adobe,</a:t>
            </a:r>
            <a:r>
              <a:rPr sz="3950" spc="4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Xamarin</a:t>
            </a:r>
            <a:r>
              <a:rPr sz="3950" spc="430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from</a:t>
            </a:r>
            <a:r>
              <a:rPr sz="3950" spc="46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Microsoft,</a:t>
            </a:r>
            <a:r>
              <a:rPr sz="3950" spc="4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4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React</a:t>
            </a:r>
            <a:r>
              <a:rPr sz="3950" spc="4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Native </a:t>
            </a:r>
            <a:r>
              <a:rPr sz="3950" spc="60" dirty="0">
                <a:latin typeface="Times New Roman"/>
                <a:cs typeface="Times New Roman"/>
              </a:rPr>
              <a:t>from</a:t>
            </a:r>
            <a:r>
              <a:rPr sz="3950" spc="8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Facebook.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Clr>
                <a:srgbClr val="6696CC"/>
              </a:buClr>
              <a:buFont typeface="Wingdings"/>
              <a:buChar char=""/>
            </a:pPr>
            <a:endParaRPr sz="39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buClr>
                <a:srgbClr val="6696CC"/>
              </a:buClr>
              <a:buFont typeface="Wingdings"/>
              <a:buChar char=""/>
              <a:tabLst>
                <a:tab pos="577850" algn="l"/>
                <a:tab pos="13559790" algn="l"/>
              </a:tabLst>
            </a:pPr>
            <a:r>
              <a:rPr sz="3950" spc="-75" dirty="0">
                <a:latin typeface="Times New Roman"/>
                <a:cs typeface="Times New Roman"/>
              </a:rPr>
              <a:t>Each</a:t>
            </a:r>
            <a:r>
              <a:rPr sz="3950" spc="-18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of</a:t>
            </a:r>
            <a:r>
              <a:rPr sz="3950" spc="1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these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frameworks</a:t>
            </a:r>
            <a:r>
              <a:rPr sz="3950" spc="-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has</a:t>
            </a:r>
            <a:r>
              <a:rPr sz="3950" spc="-1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varying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degrees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of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spc="-65" dirty="0">
                <a:latin typeface="Times New Roman"/>
                <a:cs typeface="Times New Roman"/>
              </a:rPr>
              <a:t>success</a:t>
            </a:r>
            <a:r>
              <a:rPr sz="3950" spc="-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-25" dirty="0">
                <a:latin typeface="Times New Roman"/>
                <a:cs typeface="Times New Roman"/>
              </a:rPr>
              <a:t> the</a:t>
            </a:r>
            <a:r>
              <a:rPr sz="3950" dirty="0">
                <a:latin typeface="Times New Roman"/>
                <a:cs typeface="Times New Roman"/>
              </a:rPr>
              <a:t>	mobile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industry.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  <a:buClr>
                <a:srgbClr val="6696CC"/>
              </a:buClr>
              <a:buFont typeface="Wingdings"/>
              <a:buChar char=""/>
            </a:pPr>
            <a:endParaRPr sz="3950">
              <a:latin typeface="Times New Roman"/>
              <a:cs typeface="Times New Roman"/>
            </a:endParaRPr>
          </a:p>
          <a:p>
            <a:pPr marL="577850" marR="5080" indent="-565785" algn="just">
              <a:lnSpc>
                <a:spcPct val="100600"/>
              </a:lnSpc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5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recent,</a:t>
            </a:r>
            <a:r>
              <a:rPr sz="3950" spc="5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5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new</a:t>
            </a:r>
            <a:r>
              <a:rPr sz="3950" spc="5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framework</a:t>
            </a:r>
            <a:r>
              <a:rPr sz="3950" spc="6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has</a:t>
            </a:r>
            <a:r>
              <a:rPr sz="3950" spc="5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introduced</a:t>
            </a:r>
            <a:r>
              <a:rPr sz="3950" spc="6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5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6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cross-</a:t>
            </a:r>
            <a:r>
              <a:rPr sz="3950" spc="590" dirty="0">
                <a:latin typeface="Times New Roman"/>
                <a:cs typeface="Times New Roman"/>
              </a:rPr>
              <a:t>  </a:t>
            </a:r>
            <a:r>
              <a:rPr sz="3950" spc="55" dirty="0">
                <a:latin typeface="Times New Roman"/>
                <a:cs typeface="Times New Roman"/>
              </a:rPr>
              <a:t>platform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development</a:t>
            </a:r>
            <a:r>
              <a:rPr sz="3950" spc="6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family </a:t>
            </a:r>
            <a:r>
              <a:rPr sz="3950" dirty="0">
                <a:latin typeface="Times New Roman"/>
                <a:cs typeface="Times New Roman"/>
              </a:rPr>
              <a:t>named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spc="45" dirty="0">
                <a:latin typeface="Times New Roman"/>
                <a:cs typeface="Times New Roman"/>
              </a:rPr>
              <a:t>Flutter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developed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from</a:t>
            </a:r>
            <a:r>
              <a:rPr sz="3950" spc="105" dirty="0">
                <a:latin typeface="Times New Roman"/>
                <a:cs typeface="Times New Roman"/>
              </a:rPr>
              <a:t>  </a:t>
            </a:r>
            <a:r>
              <a:rPr sz="3950" spc="-10" dirty="0">
                <a:latin typeface="Times New Roman"/>
                <a:cs typeface="Times New Roman"/>
              </a:rPr>
              <a:t>Google.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7936" y="0"/>
              <a:ext cx="7355587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47515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-10" dirty="0"/>
              <a:t>Flutter?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1736" y="2774230"/>
            <a:ext cx="19147790" cy="82181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77850" marR="1261110" indent="-565785">
              <a:lnSpc>
                <a:spcPts val="4190"/>
              </a:lnSpc>
              <a:spcBef>
                <a:spcPts val="70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3419475" algn="l"/>
                <a:tab pos="10872470" algn="l"/>
              </a:tabLst>
            </a:pP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-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UI</a:t>
            </a:r>
            <a:r>
              <a:rPr sz="3950" spc="-60" dirty="0">
                <a:latin typeface="Times New Roman"/>
                <a:cs typeface="Times New Roman"/>
              </a:rPr>
              <a:t> </a:t>
            </a:r>
            <a:r>
              <a:rPr sz="3950" spc="90" dirty="0">
                <a:latin typeface="Times New Roman"/>
                <a:cs typeface="Times New Roman"/>
              </a:rPr>
              <a:t>toolkit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spc="90" dirty="0">
                <a:latin typeface="Times New Roman"/>
                <a:cs typeface="Times New Roman"/>
              </a:rPr>
              <a:t>for</a:t>
            </a:r>
            <a:r>
              <a:rPr sz="3950" spc="1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building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fast,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beautiful,</a:t>
            </a:r>
            <a:r>
              <a:rPr sz="3950" dirty="0">
                <a:latin typeface="Times New Roman"/>
                <a:cs typeface="Times New Roman"/>
              </a:rPr>
              <a:t>	natively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compiled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applications</a:t>
            </a:r>
            <a:r>
              <a:rPr sz="3950" spc="80" dirty="0">
                <a:latin typeface="Times New Roman"/>
                <a:cs typeface="Times New Roman"/>
              </a:rPr>
              <a:t> </a:t>
            </a:r>
            <a:r>
              <a:rPr sz="3950" spc="110" dirty="0">
                <a:latin typeface="Times New Roman"/>
                <a:cs typeface="Times New Roman"/>
              </a:rPr>
              <a:t>for </a:t>
            </a:r>
            <a:r>
              <a:rPr sz="3950" dirty="0">
                <a:latin typeface="Times New Roman"/>
                <a:cs typeface="Times New Roman"/>
              </a:rPr>
              <a:t>mobile,</a:t>
            </a:r>
            <a:r>
              <a:rPr sz="3950" spc="-5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web,</a:t>
            </a:r>
            <a:r>
              <a:rPr sz="3950" dirty="0">
                <a:latin typeface="Times New Roman"/>
                <a:cs typeface="Times New Roman"/>
              </a:rPr>
              <a:t>	and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desktop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with</a:t>
            </a:r>
            <a:r>
              <a:rPr sz="3950" spc="3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one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programing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43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single</a:t>
            </a:r>
            <a:r>
              <a:rPr sz="3950" spc="8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codebase.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6696CC"/>
              </a:buClr>
              <a:buFont typeface="Wingdings"/>
              <a:buChar char=""/>
            </a:pPr>
            <a:endParaRPr sz="3950">
              <a:latin typeface="Times New Roman"/>
              <a:cs typeface="Times New Roman"/>
            </a:endParaRPr>
          </a:p>
          <a:p>
            <a:pPr marL="577850" marR="5080" indent="-565785">
              <a:lnSpc>
                <a:spcPts val="4290"/>
              </a:lnSpc>
              <a:buClr>
                <a:srgbClr val="6696CC"/>
              </a:buClr>
              <a:buFont typeface="Wingdings"/>
              <a:buChar char=""/>
              <a:tabLst>
                <a:tab pos="577850" algn="l"/>
                <a:tab pos="9340215" algn="l"/>
              </a:tabLst>
            </a:pPr>
            <a:r>
              <a:rPr sz="3950" spc="60" dirty="0">
                <a:latin typeface="Times New Roman"/>
                <a:cs typeface="Times New Roman"/>
              </a:rPr>
              <a:t>It</a:t>
            </a:r>
            <a:r>
              <a:rPr sz="3950" spc="2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free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open-</a:t>
            </a:r>
            <a:r>
              <a:rPr sz="3950" dirty="0">
                <a:latin typeface="Times New Roman"/>
                <a:cs typeface="Times New Roman"/>
              </a:rPr>
              <a:t>source.</a:t>
            </a:r>
            <a:r>
              <a:rPr sz="3950" spc="-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Initially,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it</a:t>
            </a:r>
            <a:r>
              <a:rPr sz="3950" spc="31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was</a:t>
            </a:r>
            <a:r>
              <a:rPr sz="3950" dirty="0">
                <a:latin typeface="Times New Roman"/>
                <a:cs typeface="Times New Roman"/>
              </a:rPr>
              <a:t>	developed</a:t>
            </a:r>
            <a:r>
              <a:rPr sz="3950" spc="-35" dirty="0">
                <a:latin typeface="Times New Roman"/>
                <a:cs typeface="Times New Roman"/>
              </a:rPr>
              <a:t> </a:t>
            </a:r>
            <a:r>
              <a:rPr sz="3950" spc="85" dirty="0">
                <a:latin typeface="Times New Roman"/>
                <a:cs typeface="Times New Roman"/>
              </a:rPr>
              <a:t>from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Google</a:t>
            </a:r>
            <a:r>
              <a:rPr sz="3950" spc="-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now</a:t>
            </a:r>
            <a:r>
              <a:rPr sz="3950" spc="1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manages</a:t>
            </a:r>
            <a:r>
              <a:rPr sz="3950" spc="-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by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an </a:t>
            </a:r>
            <a:r>
              <a:rPr sz="3950" spc="-95" dirty="0">
                <a:latin typeface="Times New Roman"/>
                <a:cs typeface="Times New Roman"/>
              </a:rPr>
              <a:t>ECMA</a:t>
            </a:r>
            <a:r>
              <a:rPr sz="3950" spc="-16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standard.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Clr>
                <a:srgbClr val="6696CC"/>
              </a:buClr>
              <a:buFont typeface="Wingdings"/>
              <a:buChar char=""/>
            </a:pPr>
            <a:endParaRPr sz="3950">
              <a:latin typeface="Times New Roman"/>
              <a:cs typeface="Times New Roman"/>
            </a:endParaRPr>
          </a:p>
          <a:p>
            <a:pPr marL="577850" indent="-565150">
              <a:lnSpc>
                <a:spcPts val="4505"/>
              </a:lnSpc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apps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programming</a:t>
            </a:r>
            <a:r>
              <a:rPr sz="3950" spc="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</a:t>
            </a:r>
            <a:r>
              <a:rPr sz="3950" spc="405" dirty="0">
                <a:latin typeface="Times New Roman"/>
                <a:cs typeface="Times New Roman"/>
              </a:rPr>
              <a:t> </a:t>
            </a:r>
            <a:r>
              <a:rPr sz="3950" spc="90" dirty="0">
                <a:latin typeface="Times New Roman"/>
                <a:cs typeface="Times New Roman"/>
              </a:rPr>
              <a:t>for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creating</a:t>
            </a:r>
            <a:r>
              <a:rPr sz="3950" spc="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</a:t>
            </a:r>
            <a:r>
              <a:rPr sz="3950" spc="3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app.</a:t>
            </a:r>
            <a:endParaRPr sz="3950">
              <a:latin typeface="Times New Roman"/>
              <a:cs typeface="Times New Roman"/>
            </a:endParaRPr>
          </a:p>
          <a:p>
            <a:pPr marL="577850" marR="1851025" indent="-565785">
              <a:lnSpc>
                <a:spcPts val="4290"/>
              </a:lnSpc>
              <a:spcBef>
                <a:spcPts val="28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9997440" algn="l"/>
              </a:tabLst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95" dirty="0">
                <a:latin typeface="Times New Roman"/>
                <a:cs typeface="Times New Roman"/>
              </a:rPr>
              <a:t> </a:t>
            </a:r>
            <a:r>
              <a:rPr sz="3950" spc="85" dirty="0">
                <a:latin typeface="Times New Roman"/>
                <a:cs typeface="Times New Roman"/>
              </a:rPr>
              <a:t>first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version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of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was</a:t>
            </a:r>
            <a:r>
              <a:rPr sz="3950" spc="-1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announced</a:t>
            </a:r>
            <a:r>
              <a:rPr sz="3950" spc="-8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in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60" dirty="0">
                <a:latin typeface="Times New Roman"/>
                <a:cs typeface="Times New Roman"/>
              </a:rPr>
              <a:t>the</a:t>
            </a:r>
            <a:r>
              <a:rPr sz="3950" spc="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year 2015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at</a:t>
            </a:r>
            <a:r>
              <a:rPr sz="3950" spc="9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the</a:t>
            </a:r>
            <a:r>
              <a:rPr sz="3950" spc="1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Developer Summit.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Clr>
                <a:srgbClr val="6696CC"/>
              </a:buClr>
              <a:buFont typeface="Wingdings"/>
              <a:buChar char=""/>
            </a:pPr>
            <a:endParaRPr sz="3950">
              <a:latin typeface="Times New Roman"/>
              <a:cs typeface="Times New Roman"/>
            </a:endParaRPr>
          </a:p>
          <a:p>
            <a:pPr marL="577850" marR="138430" indent="-565785">
              <a:lnSpc>
                <a:spcPts val="4270"/>
              </a:lnSpc>
              <a:buClr>
                <a:srgbClr val="6696CC"/>
              </a:buClr>
              <a:buFont typeface="Wingdings"/>
              <a:buChar char=""/>
              <a:tabLst>
                <a:tab pos="577850" algn="l"/>
                <a:tab pos="1941830" algn="l"/>
                <a:tab pos="10539095" algn="l"/>
                <a:tab pos="12027535" algn="l"/>
              </a:tabLst>
            </a:pPr>
            <a:r>
              <a:rPr sz="3950" spc="60" dirty="0">
                <a:latin typeface="Times New Roman"/>
                <a:cs typeface="Times New Roman"/>
              </a:rPr>
              <a:t>It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was</a:t>
            </a:r>
            <a:r>
              <a:rPr sz="3950" spc="-4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initially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known</a:t>
            </a:r>
            <a:r>
              <a:rPr sz="3950" spc="105" dirty="0">
                <a:latin typeface="Times New Roman"/>
                <a:cs typeface="Times New Roman"/>
              </a:rPr>
              <a:t> </a:t>
            </a:r>
            <a:r>
              <a:rPr sz="3950" spc="-70" dirty="0">
                <a:latin typeface="Times New Roman"/>
                <a:cs typeface="Times New Roman"/>
              </a:rPr>
              <a:t>as</a:t>
            </a:r>
            <a:r>
              <a:rPr sz="3950" spc="-2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codename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75" dirty="0">
                <a:latin typeface="Times New Roman"/>
                <a:cs typeface="Times New Roman"/>
              </a:rPr>
              <a:t>Sky</a:t>
            </a:r>
            <a:r>
              <a:rPr sz="3950" spc="-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can</a:t>
            </a:r>
            <a:r>
              <a:rPr sz="3950" dirty="0">
                <a:latin typeface="Times New Roman"/>
                <a:cs typeface="Times New Roman"/>
              </a:rPr>
              <a:t>	run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the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Android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spc="-105" dirty="0">
                <a:latin typeface="Times New Roman"/>
                <a:cs typeface="Times New Roman"/>
              </a:rPr>
              <a:t>OS.</a:t>
            </a:r>
            <a:r>
              <a:rPr sz="3950" spc="-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December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4, </a:t>
            </a:r>
            <a:r>
              <a:rPr sz="3950" spc="-10" dirty="0">
                <a:latin typeface="Times New Roman"/>
                <a:cs typeface="Times New Roman"/>
              </a:rPr>
              <a:t>2018,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60" dirty="0">
                <a:latin typeface="Times New Roman"/>
                <a:cs typeface="Times New Roman"/>
              </a:rPr>
              <a:t>the </a:t>
            </a:r>
            <a:r>
              <a:rPr sz="3950" spc="85" dirty="0">
                <a:latin typeface="Times New Roman"/>
                <a:cs typeface="Times New Roman"/>
              </a:rPr>
              <a:t>first</a:t>
            </a:r>
            <a:r>
              <a:rPr sz="3950" spc="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stable</a:t>
            </a:r>
            <a:r>
              <a:rPr sz="3950" spc="-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version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of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the </a:t>
            </a: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spc="35" dirty="0">
                <a:latin typeface="Times New Roman"/>
                <a:cs typeface="Times New Roman"/>
              </a:rPr>
              <a:t>framework</a:t>
            </a:r>
            <a:r>
              <a:rPr sz="3950" dirty="0">
                <a:latin typeface="Times New Roman"/>
                <a:cs typeface="Times New Roman"/>
              </a:rPr>
              <a:t>	was</a:t>
            </a:r>
            <a:r>
              <a:rPr sz="3950" spc="-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released,</a:t>
            </a:r>
            <a:r>
              <a:rPr sz="3950" spc="-12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denoting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-5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1.0.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Clr>
                <a:srgbClr val="6696CC"/>
              </a:buClr>
              <a:buFont typeface="Wingdings"/>
              <a:buChar char=""/>
            </a:pPr>
            <a:endParaRPr sz="39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buClr>
                <a:srgbClr val="6696CC"/>
              </a:buClr>
              <a:buFont typeface="Wingdings"/>
              <a:buChar char=""/>
              <a:tabLst>
                <a:tab pos="577850" algn="l"/>
              </a:tabLst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35" dirty="0">
                <a:latin typeface="Times New Roman"/>
                <a:cs typeface="Times New Roman"/>
              </a:rPr>
              <a:t> </a:t>
            </a:r>
            <a:r>
              <a:rPr sz="3950" spc="45" dirty="0">
                <a:latin typeface="Times New Roman"/>
                <a:cs typeface="Times New Roman"/>
              </a:rPr>
              <a:t>current</a:t>
            </a:r>
            <a:r>
              <a:rPr sz="3950" spc="1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stable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release</a:t>
            </a:r>
            <a:r>
              <a:rPr sz="3950" spc="25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of</a:t>
            </a:r>
            <a:r>
              <a:rPr sz="3950" spc="320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the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framework</a:t>
            </a:r>
            <a:r>
              <a:rPr sz="3950" spc="1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365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1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v3.24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August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07,</a:t>
            </a:r>
            <a:r>
              <a:rPr sz="3950" spc="8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2024.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7936" y="0"/>
              <a:ext cx="7355587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47515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-10" dirty="0"/>
              <a:t>Flutter?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1212" y="2746588"/>
            <a:ext cx="19034125" cy="45516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720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10709275" algn="l"/>
              </a:tabLst>
            </a:pP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apps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programming</a:t>
            </a:r>
            <a:r>
              <a:rPr sz="3950" spc="1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for</a:t>
            </a:r>
            <a:r>
              <a:rPr sz="3950" dirty="0">
                <a:latin typeface="Times New Roman"/>
                <a:cs typeface="Times New Roman"/>
              </a:rPr>
              <a:t>	creating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app.</a:t>
            </a:r>
            <a:endParaRPr sz="3950">
              <a:latin typeface="Times New Roman"/>
              <a:cs typeface="Times New Roman"/>
            </a:endParaRPr>
          </a:p>
          <a:p>
            <a:pPr marL="577850" marR="5080" indent="-565785">
              <a:lnSpc>
                <a:spcPct val="101000"/>
              </a:lnSpc>
              <a:spcBef>
                <a:spcPts val="57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3498850" algn="l"/>
                <a:tab pos="11239500" algn="l"/>
                <a:tab pos="13602335" algn="l"/>
              </a:tabLst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dart</a:t>
            </a:r>
            <a:r>
              <a:rPr sz="3950" spc="2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programming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shares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several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same</a:t>
            </a:r>
            <a:r>
              <a:rPr sz="3950" spc="-3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features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55" dirty="0">
                <a:latin typeface="Times New Roman"/>
                <a:cs typeface="Times New Roman"/>
              </a:rPr>
              <a:t>as</a:t>
            </a:r>
            <a:r>
              <a:rPr sz="3950" spc="-12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other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programming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languages,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such </a:t>
            </a:r>
            <a:r>
              <a:rPr sz="3950" spc="-45" dirty="0">
                <a:latin typeface="Times New Roman"/>
                <a:cs typeface="Times New Roman"/>
              </a:rPr>
              <a:t>as</a:t>
            </a:r>
            <a:r>
              <a:rPr sz="3950" spc="-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Kotlin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and</a:t>
            </a:r>
            <a:r>
              <a:rPr sz="3950" dirty="0">
                <a:latin typeface="Times New Roman"/>
                <a:cs typeface="Times New Roman"/>
              </a:rPr>
              <a:t>	Swift,</a:t>
            </a:r>
            <a:r>
              <a:rPr sz="3950" spc="1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trans-compiled</a:t>
            </a:r>
            <a:r>
              <a:rPr sz="3950" spc="80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into</a:t>
            </a:r>
            <a:r>
              <a:rPr sz="3950" spc="24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JavaScript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0" dirty="0">
                <a:latin typeface="Times New Roman"/>
                <a:cs typeface="Times New Roman"/>
              </a:rPr>
              <a:t>code.</a:t>
            </a:r>
            <a:endParaRPr sz="3950">
              <a:latin typeface="Times New Roman"/>
              <a:cs typeface="Times New Roman"/>
            </a:endParaRPr>
          </a:p>
          <a:p>
            <a:pPr marL="577850" marR="847090" indent="-565785">
              <a:lnSpc>
                <a:spcPct val="100600"/>
              </a:lnSpc>
              <a:spcBef>
                <a:spcPts val="51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11423015" algn="l"/>
              </a:tabLst>
            </a:pP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2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mainly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optimized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for</a:t>
            </a:r>
            <a:r>
              <a:rPr sz="3950" spc="3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2D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mobile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apps</a:t>
            </a:r>
            <a:r>
              <a:rPr sz="3950" spc="50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that</a:t>
            </a:r>
            <a:r>
              <a:rPr sz="3950" dirty="0">
                <a:latin typeface="Times New Roman"/>
                <a:cs typeface="Times New Roman"/>
              </a:rPr>
              <a:t>	can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run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both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Android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25" dirty="0">
                <a:latin typeface="Times New Roman"/>
                <a:cs typeface="Times New Roman"/>
              </a:rPr>
              <a:t> iOS </a:t>
            </a:r>
            <a:r>
              <a:rPr sz="3950" spc="-10" dirty="0">
                <a:latin typeface="Times New Roman"/>
                <a:cs typeface="Times New Roman"/>
              </a:rPr>
              <a:t>platforms.</a:t>
            </a:r>
            <a:endParaRPr sz="3950">
              <a:latin typeface="Times New Roman"/>
              <a:cs typeface="Times New Roman"/>
            </a:endParaRPr>
          </a:p>
          <a:p>
            <a:pPr marL="577850" marR="852805" indent="-565785">
              <a:lnSpc>
                <a:spcPct val="101000"/>
              </a:lnSpc>
              <a:spcBef>
                <a:spcPts val="495"/>
              </a:spcBef>
              <a:buClr>
                <a:srgbClr val="6696CC"/>
              </a:buClr>
              <a:buFont typeface="Wingdings"/>
              <a:buChar char=""/>
              <a:tabLst>
                <a:tab pos="577850" algn="l"/>
                <a:tab pos="2669540" algn="l"/>
                <a:tab pos="10218420" algn="l"/>
              </a:tabLst>
            </a:pP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also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 </a:t>
            </a: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30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to</a:t>
            </a:r>
            <a:r>
              <a:rPr sz="3950" spc="3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build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full-</a:t>
            </a:r>
            <a:r>
              <a:rPr sz="3950" spc="55" dirty="0">
                <a:latin typeface="Times New Roman"/>
                <a:cs typeface="Times New Roman"/>
              </a:rPr>
              <a:t>featured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apps,</a:t>
            </a:r>
            <a:r>
              <a:rPr sz="3950" dirty="0">
                <a:latin typeface="Times New Roman"/>
                <a:cs typeface="Times New Roman"/>
              </a:rPr>
              <a:t>	including</a:t>
            </a:r>
            <a:r>
              <a:rPr sz="3950" spc="1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camera,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storage,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geolocation, network,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55" dirty="0">
                <a:latin typeface="Times New Roman"/>
                <a:cs typeface="Times New Roman"/>
              </a:rPr>
              <a:t>third-</a:t>
            </a:r>
            <a:r>
              <a:rPr sz="3950" dirty="0">
                <a:latin typeface="Times New Roman"/>
                <a:cs typeface="Times New Roman"/>
              </a:rPr>
              <a:t>party</a:t>
            </a:r>
            <a:r>
              <a:rPr sz="3950" spc="145" dirty="0">
                <a:latin typeface="Times New Roman"/>
                <a:cs typeface="Times New Roman"/>
              </a:rPr>
              <a:t> </a:t>
            </a:r>
            <a:r>
              <a:rPr sz="3950" spc="-100" dirty="0">
                <a:latin typeface="Times New Roman"/>
                <a:cs typeface="Times New Roman"/>
              </a:rPr>
              <a:t>SDKs,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more.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8827" y="0"/>
              <a:ext cx="11675456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88565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makes</a:t>
            </a:r>
            <a:r>
              <a:rPr spc="-140" dirty="0"/>
              <a:t> </a:t>
            </a:r>
            <a:r>
              <a:rPr spc="85" dirty="0"/>
              <a:t>Flutter</a:t>
            </a:r>
            <a:r>
              <a:rPr spc="35" dirty="0"/>
              <a:t> </a:t>
            </a:r>
            <a:r>
              <a:rPr spc="-10" dirty="0"/>
              <a:t>unique?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1212" y="2824491"/>
            <a:ext cx="19281775" cy="63988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66065" marR="5080" indent="-254000">
              <a:lnSpc>
                <a:spcPct val="101000"/>
              </a:lnSpc>
              <a:spcBef>
                <a:spcPts val="60"/>
              </a:spcBef>
              <a:buClr>
                <a:srgbClr val="6696CC"/>
              </a:buClr>
              <a:buFont typeface="Arial MT"/>
              <a:buChar char="•"/>
              <a:tabLst>
                <a:tab pos="266065" algn="l"/>
                <a:tab pos="3097530" algn="l"/>
                <a:tab pos="11714480" algn="l"/>
              </a:tabLst>
            </a:pPr>
            <a:r>
              <a:rPr sz="3950" spc="65" dirty="0">
                <a:latin typeface="Times New Roman"/>
                <a:cs typeface="Times New Roman"/>
              </a:rPr>
              <a:t>Flutter</a:t>
            </a:r>
            <a:r>
              <a:rPr sz="3950" spc="3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spc="90" dirty="0">
                <a:latin typeface="Times New Roman"/>
                <a:cs typeface="Times New Roman"/>
              </a:rPr>
              <a:t>different</a:t>
            </a:r>
            <a:r>
              <a:rPr sz="3950" spc="370" dirty="0">
                <a:latin typeface="Times New Roman"/>
                <a:cs typeface="Times New Roman"/>
              </a:rPr>
              <a:t> </a:t>
            </a:r>
            <a:r>
              <a:rPr sz="3950" spc="85" dirty="0">
                <a:latin typeface="Times New Roman"/>
                <a:cs typeface="Times New Roman"/>
              </a:rPr>
              <a:t>from</a:t>
            </a:r>
            <a:r>
              <a:rPr sz="3950" spc="375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other</a:t>
            </a:r>
            <a:r>
              <a:rPr sz="3950" spc="3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frameworks</a:t>
            </a:r>
            <a:r>
              <a:rPr sz="3950" spc="3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because</a:t>
            </a:r>
            <a:r>
              <a:rPr sz="3950" spc="229" dirty="0">
                <a:latin typeface="Times New Roman"/>
                <a:cs typeface="Times New Roman"/>
              </a:rPr>
              <a:t> </a:t>
            </a:r>
            <a:r>
              <a:rPr sz="3950" spc="30" dirty="0">
                <a:latin typeface="Times New Roman"/>
                <a:cs typeface="Times New Roman"/>
              </a:rPr>
              <a:t>it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45" dirty="0">
                <a:latin typeface="Times New Roman"/>
                <a:cs typeface="Times New Roman"/>
              </a:rPr>
              <a:t>neither</a:t>
            </a:r>
            <a:r>
              <a:rPr sz="3950" spc="2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uses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WebView</a:t>
            </a:r>
            <a:r>
              <a:rPr sz="3950" spc="185" dirty="0">
                <a:latin typeface="Times New Roman"/>
                <a:cs typeface="Times New Roman"/>
              </a:rPr>
              <a:t> </a:t>
            </a:r>
            <a:r>
              <a:rPr sz="3950" spc="45" dirty="0">
                <a:latin typeface="Times New Roman"/>
                <a:cs typeface="Times New Roman"/>
              </a:rPr>
              <a:t>nor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27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OEM </a:t>
            </a:r>
            <a:r>
              <a:rPr sz="3950" dirty="0">
                <a:latin typeface="Times New Roman"/>
                <a:cs typeface="Times New Roman"/>
              </a:rPr>
              <a:t>widgets</a:t>
            </a:r>
            <a:r>
              <a:rPr sz="3950" spc="41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that</a:t>
            </a:r>
            <a:r>
              <a:rPr sz="3950" dirty="0">
                <a:latin typeface="Times New Roman"/>
                <a:cs typeface="Times New Roman"/>
              </a:rPr>
              <a:t>	shipped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with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8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device.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6696CC"/>
              </a:buClr>
              <a:buFont typeface="Arial MT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Clr>
                <a:srgbClr val="6696CC"/>
              </a:buClr>
              <a:buFont typeface="Arial MT"/>
              <a:buChar char="•"/>
              <a:tabLst>
                <a:tab pos="266700" algn="l"/>
                <a:tab pos="11005820" algn="l"/>
              </a:tabLst>
            </a:pPr>
            <a:r>
              <a:rPr sz="3950" dirty="0">
                <a:latin typeface="Times New Roman"/>
                <a:cs typeface="Times New Roman"/>
              </a:rPr>
              <a:t>Instead,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it</a:t>
            </a:r>
            <a:r>
              <a:rPr sz="3950" spc="3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uses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its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own</a:t>
            </a:r>
            <a:r>
              <a:rPr sz="3950" spc="2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high-performance</a:t>
            </a:r>
            <a:r>
              <a:rPr sz="3950" spc="14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rendering</a:t>
            </a:r>
            <a:r>
              <a:rPr sz="3950" dirty="0">
                <a:latin typeface="Times New Roman"/>
                <a:cs typeface="Times New Roman"/>
              </a:rPr>
              <a:t>	engine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to</a:t>
            </a:r>
            <a:r>
              <a:rPr sz="3950" spc="1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draw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widgets.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Clr>
                <a:srgbClr val="6696CC"/>
              </a:buClr>
              <a:buFont typeface="Arial MT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66065" marR="196215" indent="-254000" algn="just">
              <a:lnSpc>
                <a:spcPct val="101000"/>
              </a:lnSpc>
              <a:spcBef>
                <a:spcPts val="5"/>
              </a:spcBef>
              <a:buClr>
                <a:srgbClr val="6696CC"/>
              </a:buClr>
              <a:buFont typeface="Arial MT"/>
              <a:buChar char="•"/>
              <a:tabLst>
                <a:tab pos="266065" algn="l"/>
              </a:tabLst>
            </a:pPr>
            <a:r>
              <a:rPr sz="3950" spc="50" dirty="0">
                <a:latin typeface="Times New Roman"/>
                <a:cs typeface="Times New Roman"/>
              </a:rPr>
              <a:t>It</a:t>
            </a:r>
            <a:r>
              <a:rPr sz="3950" spc="7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also</a:t>
            </a:r>
            <a:r>
              <a:rPr sz="3950" spc="6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implements</a:t>
            </a:r>
            <a:r>
              <a:rPr sz="3950" spc="6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most</a:t>
            </a:r>
            <a:r>
              <a:rPr sz="3950" spc="720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of</a:t>
            </a:r>
            <a:r>
              <a:rPr sz="3950" spc="7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its</a:t>
            </a:r>
            <a:r>
              <a:rPr sz="3950" spc="7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systems</a:t>
            </a:r>
            <a:r>
              <a:rPr sz="3950" spc="6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such</a:t>
            </a:r>
            <a:r>
              <a:rPr sz="3950" spc="6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63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animation,</a:t>
            </a:r>
            <a:r>
              <a:rPr sz="3950" spc="6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gesture,</a:t>
            </a:r>
            <a:r>
              <a:rPr sz="3950" spc="6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6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widgets</a:t>
            </a:r>
            <a:r>
              <a:rPr sz="3950" spc="7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69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Dart </a:t>
            </a:r>
            <a:r>
              <a:rPr sz="3950" dirty="0">
                <a:latin typeface="Times New Roman"/>
                <a:cs typeface="Times New Roman"/>
              </a:rPr>
              <a:t>programing</a:t>
            </a:r>
            <a:r>
              <a:rPr sz="3950" spc="59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language</a:t>
            </a:r>
            <a:r>
              <a:rPr sz="3950" spc="56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that</a:t>
            </a:r>
            <a:r>
              <a:rPr sz="3950" spc="7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allows</a:t>
            </a:r>
            <a:r>
              <a:rPr sz="3950" spc="5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developers</a:t>
            </a:r>
            <a:r>
              <a:rPr sz="3950" spc="560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to</a:t>
            </a:r>
            <a:r>
              <a:rPr sz="3950" spc="7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read,</a:t>
            </a:r>
            <a:r>
              <a:rPr sz="3950" spc="5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change,</a:t>
            </a:r>
            <a:r>
              <a:rPr sz="3950" spc="57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replace,</a:t>
            </a:r>
            <a:r>
              <a:rPr sz="3950" spc="5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6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remove</a:t>
            </a:r>
            <a:r>
              <a:rPr sz="3950" spc="61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things easily.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20"/>
              </a:spcBef>
              <a:buClr>
                <a:srgbClr val="6696CC"/>
              </a:buClr>
              <a:buFont typeface="Arial MT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Clr>
                <a:srgbClr val="6696CC"/>
              </a:buClr>
              <a:buFont typeface="Arial MT"/>
              <a:buChar char="•"/>
              <a:tabLst>
                <a:tab pos="266700" algn="l"/>
                <a:tab pos="11077575" algn="l"/>
              </a:tabLst>
            </a:pPr>
            <a:r>
              <a:rPr sz="3950" spc="50" dirty="0">
                <a:latin typeface="Times New Roman"/>
                <a:cs typeface="Times New Roman"/>
              </a:rPr>
              <a:t>It</a:t>
            </a:r>
            <a:r>
              <a:rPr sz="3950" spc="2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gives</a:t>
            </a:r>
            <a:r>
              <a:rPr sz="3950" spc="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excellent</a:t>
            </a:r>
            <a:r>
              <a:rPr sz="3950" spc="14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control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37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developers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over</a:t>
            </a:r>
            <a:r>
              <a:rPr sz="3950" spc="140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the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system.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092825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245796"/>
                </a:solidFill>
              </a:rPr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2081" y="520193"/>
            <a:ext cx="19350355" cy="9890760"/>
            <a:chOff x="402081" y="520193"/>
            <a:chExt cx="19350355" cy="9890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4182" y="2289935"/>
              <a:ext cx="10382330" cy="8120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7669" y="0"/>
              <a:ext cx="5825162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2711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Advantages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1265" y="2824491"/>
            <a:ext cx="19281140" cy="68383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05435" marR="5080" indent="-283210" algn="just">
              <a:lnSpc>
                <a:spcPct val="101000"/>
              </a:lnSpc>
              <a:spcBef>
                <a:spcPts val="60"/>
              </a:spcBef>
              <a:buClr>
                <a:srgbClr val="6696CC"/>
              </a:buClr>
              <a:buFont typeface="Arial MT"/>
              <a:buChar char="•"/>
              <a:tabLst>
                <a:tab pos="305435" algn="l"/>
              </a:tabLst>
            </a:pP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8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makes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7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</a:t>
            </a:r>
            <a:r>
              <a:rPr sz="3950" spc="6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development</a:t>
            </a:r>
            <a:r>
              <a:rPr sz="3950" spc="7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process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extremely</a:t>
            </a:r>
            <a:r>
              <a:rPr sz="3950" spc="71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fast</a:t>
            </a:r>
            <a:r>
              <a:rPr sz="3950" spc="7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because</a:t>
            </a:r>
            <a:r>
              <a:rPr sz="3950" spc="65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of</a:t>
            </a:r>
            <a:r>
              <a:rPr sz="3950" spc="82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7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hot-reload</a:t>
            </a:r>
            <a:r>
              <a:rPr sz="3950" spc="7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feature. </a:t>
            </a:r>
            <a:r>
              <a:rPr sz="3950" dirty="0">
                <a:latin typeface="Times New Roman"/>
                <a:cs typeface="Times New Roman"/>
              </a:rPr>
              <a:t>This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feature</a:t>
            </a:r>
            <a:r>
              <a:rPr sz="3950" spc="19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allows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3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change</a:t>
            </a:r>
            <a:r>
              <a:rPr sz="3950" spc="1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2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update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code</a:t>
            </a:r>
            <a:r>
              <a:rPr sz="3950" spc="1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150" dirty="0">
                <a:latin typeface="Times New Roman"/>
                <a:cs typeface="Times New Roman"/>
              </a:rPr>
              <a:t>  </a:t>
            </a:r>
            <a:r>
              <a:rPr sz="3950" spc="60" dirty="0">
                <a:latin typeface="Times New Roman"/>
                <a:cs typeface="Times New Roman"/>
              </a:rPr>
              <a:t>reflected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soon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spc="50" dirty="0">
                <a:latin typeface="Times New Roman"/>
                <a:cs typeface="Times New Roman"/>
              </a:rPr>
              <a:t>the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alterations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made.</a:t>
            </a:r>
            <a:endParaRPr sz="3950">
              <a:latin typeface="Times New Roman"/>
              <a:cs typeface="Times New Roman"/>
            </a:endParaRPr>
          </a:p>
          <a:p>
            <a:pPr marL="305435" marR="114300" indent="-293370" algn="just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05435" algn="l"/>
                <a:tab pos="452120" algn="l"/>
              </a:tabLst>
            </a:pP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1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provides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1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smoother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seamless</a:t>
            </a:r>
            <a:r>
              <a:rPr sz="3950" spc="-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scrolling</a:t>
            </a:r>
            <a:r>
              <a:rPr sz="3950" spc="1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experiences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of</a:t>
            </a:r>
            <a:r>
              <a:rPr sz="3950" spc="2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using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1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spc="85" dirty="0">
                <a:latin typeface="Times New Roman"/>
                <a:cs typeface="Times New Roman"/>
              </a:rPr>
              <a:t>without</a:t>
            </a:r>
            <a:r>
              <a:rPr sz="3950" spc="18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much </a:t>
            </a:r>
            <a:r>
              <a:rPr sz="3950" dirty="0">
                <a:latin typeface="Times New Roman"/>
                <a:cs typeface="Times New Roman"/>
              </a:rPr>
              <a:t>hangs</a:t>
            </a:r>
            <a:r>
              <a:rPr sz="3950" spc="20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2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cuts,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which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makes</a:t>
            </a:r>
            <a:r>
              <a:rPr sz="3950" spc="1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running</a:t>
            </a:r>
            <a:r>
              <a:rPr sz="3950" spc="2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applications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faster</a:t>
            </a:r>
            <a:r>
              <a:rPr sz="3950" spc="2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19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comparison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37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other</a:t>
            </a:r>
            <a:r>
              <a:rPr sz="3950" spc="3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mobile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app </a:t>
            </a:r>
            <a:r>
              <a:rPr sz="3950" dirty="0">
                <a:latin typeface="Times New Roman"/>
                <a:cs typeface="Times New Roman"/>
              </a:rPr>
              <a:t>development</a:t>
            </a:r>
            <a:r>
              <a:rPr sz="3950" spc="245" dirty="0">
                <a:latin typeface="Times New Roman"/>
                <a:cs typeface="Times New Roman"/>
              </a:rPr>
              <a:t>  </a:t>
            </a:r>
            <a:r>
              <a:rPr sz="3950" spc="-10" dirty="0">
                <a:latin typeface="Times New Roman"/>
                <a:cs typeface="Times New Roman"/>
              </a:rPr>
              <a:t>frameworks.</a:t>
            </a:r>
            <a:endParaRPr sz="3950">
              <a:latin typeface="Times New Roman"/>
              <a:cs typeface="Times New Roman"/>
            </a:endParaRPr>
          </a:p>
          <a:p>
            <a:pPr marL="305435" marR="67310" indent="-283210">
              <a:lnSpc>
                <a:spcPct val="100000"/>
              </a:lnSpc>
              <a:spcBef>
                <a:spcPts val="130"/>
              </a:spcBef>
              <a:buClr>
                <a:srgbClr val="6696CC"/>
              </a:buClr>
              <a:buFont typeface="Arial MT"/>
              <a:buChar char="•"/>
              <a:tabLst>
                <a:tab pos="305435" algn="l"/>
                <a:tab pos="1956435" algn="l"/>
                <a:tab pos="10667365" algn="l"/>
                <a:tab pos="12066905" algn="l"/>
              </a:tabLst>
            </a:pPr>
            <a:r>
              <a:rPr sz="3950" spc="60" dirty="0">
                <a:latin typeface="Times New Roman"/>
                <a:cs typeface="Times New Roman"/>
              </a:rPr>
              <a:t>Flutter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reduces</a:t>
            </a:r>
            <a:r>
              <a:rPr sz="3950" spc="-65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the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time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40" dirty="0">
                <a:latin typeface="Times New Roman"/>
                <a:cs typeface="Times New Roman"/>
              </a:rPr>
              <a:t> </a:t>
            </a:r>
            <a:r>
              <a:rPr sz="3950" spc="90" dirty="0">
                <a:latin typeface="Times New Roman"/>
                <a:cs typeface="Times New Roman"/>
              </a:rPr>
              <a:t>efforts</a:t>
            </a:r>
            <a:r>
              <a:rPr sz="3950" spc="7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of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testing.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As</a:t>
            </a:r>
            <a:r>
              <a:rPr sz="3950" dirty="0">
                <a:latin typeface="Times New Roman"/>
                <a:cs typeface="Times New Roman"/>
              </a:rPr>
              <a:t>	we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know,</a:t>
            </a:r>
            <a:r>
              <a:rPr sz="3950" spc="35" dirty="0">
                <a:latin typeface="Times New Roman"/>
                <a:cs typeface="Times New Roman"/>
              </a:rPr>
              <a:t> </a:t>
            </a:r>
            <a:r>
              <a:rPr sz="3950" spc="114" dirty="0">
                <a:latin typeface="Times New Roman"/>
                <a:cs typeface="Times New Roman"/>
              </a:rPr>
              <a:t>flutter</a:t>
            </a:r>
            <a:r>
              <a:rPr sz="3950" spc="3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apps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cross-</a:t>
            </a:r>
            <a:r>
              <a:rPr sz="3950" spc="-10" dirty="0">
                <a:latin typeface="Times New Roman"/>
                <a:cs typeface="Times New Roman"/>
              </a:rPr>
              <a:t>platform </a:t>
            </a:r>
            <a:r>
              <a:rPr sz="3950" dirty="0">
                <a:latin typeface="Times New Roman"/>
                <a:cs typeface="Times New Roman"/>
              </a:rPr>
              <a:t>so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that</a:t>
            </a:r>
            <a:r>
              <a:rPr sz="3950" dirty="0">
                <a:latin typeface="Times New Roman"/>
                <a:cs typeface="Times New Roman"/>
              </a:rPr>
              <a:t>	testers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do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70" dirty="0">
                <a:latin typeface="Times New Roman"/>
                <a:cs typeface="Times New Roman"/>
              </a:rPr>
              <a:t>not</a:t>
            </a:r>
            <a:r>
              <a:rPr sz="3950" spc="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always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need</a:t>
            </a:r>
            <a:r>
              <a:rPr sz="3950" spc="-45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run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the</a:t>
            </a:r>
            <a:r>
              <a:rPr sz="3950" spc="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same</a:t>
            </a:r>
            <a:r>
              <a:rPr sz="3950" spc="-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set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30" dirty="0">
                <a:latin typeface="Times New Roman"/>
                <a:cs typeface="Times New Roman"/>
              </a:rPr>
              <a:t>of</a:t>
            </a:r>
            <a:r>
              <a:rPr sz="3950" dirty="0">
                <a:latin typeface="Times New Roman"/>
                <a:cs typeface="Times New Roman"/>
              </a:rPr>
              <a:t>	tests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spc="90" dirty="0">
                <a:latin typeface="Times New Roman"/>
                <a:cs typeface="Times New Roman"/>
              </a:rPr>
              <a:t>different</a:t>
            </a:r>
            <a:r>
              <a:rPr sz="3950" spc="50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platforms</a:t>
            </a:r>
            <a:r>
              <a:rPr sz="3950" spc="2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for</a:t>
            </a:r>
            <a:r>
              <a:rPr sz="3950" spc="120" dirty="0">
                <a:latin typeface="Times New Roman"/>
                <a:cs typeface="Times New Roman"/>
              </a:rPr>
              <a:t> </a:t>
            </a:r>
            <a:r>
              <a:rPr sz="3950" spc="30" dirty="0">
                <a:latin typeface="Times New Roman"/>
                <a:cs typeface="Times New Roman"/>
              </a:rPr>
              <a:t>the </a:t>
            </a:r>
            <a:r>
              <a:rPr sz="3950" dirty="0">
                <a:latin typeface="Times New Roman"/>
                <a:cs typeface="Times New Roman"/>
              </a:rPr>
              <a:t>same</a:t>
            </a:r>
            <a:r>
              <a:rPr sz="3950" spc="-21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app.</a:t>
            </a:r>
            <a:endParaRPr sz="3950">
              <a:latin typeface="Times New Roman"/>
              <a:cs typeface="Times New Roman"/>
            </a:endParaRPr>
          </a:p>
          <a:p>
            <a:pPr marL="305435" marR="261620" indent="-293370">
              <a:lnSpc>
                <a:spcPts val="4690"/>
              </a:lnSpc>
              <a:spcBef>
                <a:spcPts val="850"/>
              </a:spcBef>
              <a:buChar char="•"/>
              <a:tabLst>
                <a:tab pos="305435" algn="l"/>
                <a:tab pos="452120" algn="l"/>
                <a:tab pos="1698625" algn="l"/>
                <a:tab pos="10631805" algn="l"/>
              </a:tabLst>
            </a:pPr>
            <a:r>
              <a:rPr sz="3950" dirty="0">
                <a:latin typeface="Arial MT"/>
                <a:cs typeface="Arial MT"/>
              </a:rPr>
              <a:t>	</a:t>
            </a: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8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has</a:t>
            </a:r>
            <a:r>
              <a:rPr sz="3950" spc="-1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</a:t>
            </a:r>
            <a:r>
              <a:rPr sz="3950" spc="-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excellent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user</a:t>
            </a:r>
            <a:r>
              <a:rPr sz="3950" spc="-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interface</a:t>
            </a:r>
            <a:r>
              <a:rPr sz="3950" spc="5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because</a:t>
            </a:r>
            <a:r>
              <a:rPr sz="3950" spc="-7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it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uses</a:t>
            </a:r>
            <a:r>
              <a:rPr sz="3950" spc="-120" dirty="0">
                <a:latin typeface="Times New Roman"/>
                <a:cs typeface="Times New Roman"/>
              </a:rPr>
              <a:t> </a:t>
            </a:r>
            <a:r>
              <a:rPr sz="3950" spc="-50" dirty="0">
                <a:latin typeface="Times New Roman"/>
                <a:cs typeface="Times New Roman"/>
              </a:rPr>
              <a:t>a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design-</a:t>
            </a:r>
            <a:r>
              <a:rPr sz="3950" dirty="0">
                <a:latin typeface="Times New Roman"/>
                <a:cs typeface="Times New Roman"/>
              </a:rPr>
              <a:t>centric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spc="45" dirty="0">
                <a:latin typeface="Times New Roman"/>
                <a:cs typeface="Times New Roman"/>
              </a:rPr>
              <a:t>widget,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high-</a:t>
            </a:r>
            <a:r>
              <a:rPr sz="3950" spc="-10" dirty="0">
                <a:latin typeface="Times New Roman"/>
                <a:cs typeface="Times New Roman"/>
              </a:rPr>
              <a:t>development tools,</a:t>
            </a:r>
            <a:r>
              <a:rPr sz="3950" dirty="0">
                <a:latin typeface="Times New Roman"/>
                <a:cs typeface="Times New Roman"/>
              </a:rPr>
              <a:t>	advanced</a:t>
            </a:r>
            <a:r>
              <a:rPr sz="3950" spc="-75" dirty="0">
                <a:latin typeface="Times New Roman"/>
                <a:cs typeface="Times New Roman"/>
              </a:rPr>
              <a:t> </a:t>
            </a:r>
            <a:r>
              <a:rPr sz="3950" spc="-70" dirty="0">
                <a:latin typeface="Times New Roman"/>
                <a:cs typeface="Times New Roman"/>
              </a:rPr>
              <a:t>APIs,</a:t>
            </a:r>
            <a:r>
              <a:rPr sz="3950" spc="-1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many</a:t>
            </a:r>
            <a:r>
              <a:rPr sz="3950" spc="-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more</a:t>
            </a:r>
            <a:r>
              <a:rPr sz="3950" spc="-3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features.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7669" y="0"/>
              <a:ext cx="5825162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2711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Advantages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1265" y="2824491"/>
            <a:ext cx="18915380" cy="25260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05435" marR="666750" indent="-283210">
              <a:lnSpc>
                <a:spcPct val="101000"/>
              </a:lnSpc>
              <a:spcBef>
                <a:spcPts val="60"/>
              </a:spcBef>
              <a:buClr>
                <a:srgbClr val="6696CC"/>
              </a:buClr>
              <a:buFont typeface="Arial MT"/>
              <a:buChar char="•"/>
              <a:tabLst>
                <a:tab pos="305435" algn="l"/>
                <a:tab pos="2112010" algn="l"/>
                <a:tab pos="10095230" algn="l"/>
              </a:tabLst>
            </a:pP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similar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3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reactive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framework</a:t>
            </a:r>
            <a:r>
              <a:rPr sz="3950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where</a:t>
            </a:r>
            <a:r>
              <a:rPr sz="3950" spc="10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the</a:t>
            </a:r>
            <a:r>
              <a:rPr sz="3950" dirty="0">
                <a:latin typeface="Times New Roman"/>
                <a:cs typeface="Times New Roman"/>
              </a:rPr>
              <a:t>	developers</a:t>
            </a:r>
            <a:r>
              <a:rPr sz="3950" spc="-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do</a:t>
            </a:r>
            <a:r>
              <a:rPr sz="3950" spc="7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not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1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update</a:t>
            </a:r>
            <a:r>
              <a:rPr sz="3950" spc="5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10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UI </a:t>
            </a:r>
            <a:r>
              <a:rPr sz="3950" spc="35" dirty="0">
                <a:latin typeface="Times New Roman"/>
                <a:cs typeface="Times New Roman"/>
              </a:rPr>
              <a:t>content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manually.</a:t>
            </a:r>
            <a:endParaRPr sz="3950">
              <a:latin typeface="Times New Roman"/>
              <a:cs typeface="Times New Roman"/>
            </a:endParaRPr>
          </a:p>
          <a:p>
            <a:pPr marL="305435" marR="5080" indent="-293370">
              <a:lnSpc>
                <a:spcPts val="4710"/>
              </a:lnSpc>
              <a:spcBef>
                <a:spcPts val="830"/>
              </a:spcBef>
              <a:buChar char="•"/>
              <a:tabLst>
                <a:tab pos="305435" algn="l"/>
                <a:tab pos="452120" algn="l"/>
                <a:tab pos="2052955" algn="l"/>
                <a:tab pos="10840085" algn="l"/>
              </a:tabLst>
            </a:pPr>
            <a:r>
              <a:rPr sz="3950" dirty="0">
                <a:latin typeface="Arial MT"/>
                <a:cs typeface="Arial MT"/>
              </a:rPr>
              <a:t>	</a:t>
            </a: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suitable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for</a:t>
            </a:r>
            <a:r>
              <a:rPr sz="3950" spc="2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MVP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(Minimum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Viable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Product)</a:t>
            </a:r>
            <a:r>
              <a:rPr sz="3950" dirty="0">
                <a:latin typeface="Times New Roman"/>
                <a:cs typeface="Times New Roman"/>
              </a:rPr>
              <a:t>	apps</a:t>
            </a:r>
            <a:r>
              <a:rPr sz="3950" spc="-11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because</a:t>
            </a:r>
            <a:r>
              <a:rPr sz="3950" spc="-11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of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speedy</a:t>
            </a:r>
            <a:r>
              <a:rPr sz="3950" spc="-10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development process</a:t>
            </a:r>
            <a:r>
              <a:rPr sz="3950" dirty="0">
                <a:latin typeface="Times New Roman"/>
                <a:cs typeface="Times New Roman"/>
              </a:rPr>
              <a:t>	and</a:t>
            </a:r>
            <a:r>
              <a:rPr sz="3950" spc="1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cross-platform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nature.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2658" y="0"/>
              <a:ext cx="6795185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64070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Disadvantages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1265" y="2824491"/>
            <a:ext cx="19098260" cy="50393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05435" marR="979805" indent="-283210">
              <a:lnSpc>
                <a:spcPct val="101000"/>
              </a:lnSpc>
              <a:spcBef>
                <a:spcPts val="60"/>
              </a:spcBef>
              <a:buClr>
                <a:srgbClr val="6696CC"/>
              </a:buClr>
              <a:buFont typeface="Arial MT"/>
              <a:buChar char="•"/>
              <a:tabLst>
                <a:tab pos="305435" algn="l"/>
                <a:tab pos="2906395" algn="l"/>
                <a:tab pos="10542270" algn="l"/>
              </a:tabLst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Flutter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comparatively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new</a:t>
            </a:r>
            <a:r>
              <a:rPr sz="3950" spc="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language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that</a:t>
            </a:r>
            <a:r>
              <a:rPr sz="3950" dirty="0">
                <a:latin typeface="Times New Roman"/>
                <a:cs typeface="Times New Roman"/>
              </a:rPr>
              <a:t>	needs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continuous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integration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spc="40" dirty="0">
                <a:latin typeface="Times New Roman"/>
                <a:cs typeface="Times New Roman"/>
              </a:rPr>
              <a:t>support </a:t>
            </a:r>
            <a:r>
              <a:rPr sz="3950" spc="65" dirty="0">
                <a:latin typeface="Times New Roman"/>
                <a:cs typeface="Times New Roman"/>
              </a:rPr>
              <a:t>through</a:t>
            </a:r>
            <a:r>
              <a:rPr sz="3950" spc="155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the</a:t>
            </a:r>
            <a:r>
              <a:rPr sz="3950" dirty="0">
                <a:latin typeface="Times New Roman"/>
                <a:cs typeface="Times New Roman"/>
              </a:rPr>
              <a:t>	maintenance</a:t>
            </a:r>
            <a:r>
              <a:rPr sz="3950" spc="-5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of</a:t>
            </a:r>
            <a:r>
              <a:rPr sz="3950" spc="14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scripts.</a:t>
            </a:r>
            <a:endParaRPr sz="3950">
              <a:latin typeface="Times New Roman"/>
              <a:cs typeface="Times New Roman"/>
            </a:endParaRPr>
          </a:p>
          <a:p>
            <a:pPr marL="305435" marR="5080" indent="-293370">
              <a:lnSpc>
                <a:spcPct val="100000"/>
              </a:lnSpc>
              <a:spcBef>
                <a:spcPts val="700"/>
              </a:spcBef>
              <a:buChar char="•"/>
              <a:tabLst>
                <a:tab pos="305435" algn="l"/>
                <a:tab pos="452120" algn="l"/>
                <a:tab pos="3286125" algn="l"/>
                <a:tab pos="10887075" algn="l"/>
                <a:tab pos="10925175" algn="l"/>
              </a:tabLst>
            </a:pPr>
            <a:r>
              <a:rPr sz="3950" dirty="0">
                <a:latin typeface="Arial MT"/>
                <a:cs typeface="Arial MT"/>
              </a:rPr>
              <a:t>	</a:t>
            </a: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provides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very </a:t>
            </a:r>
            <a:r>
              <a:rPr sz="3950" spc="65" dirty="0">
                <a:latin typeface="Times New Roman"/>
                <a:cs typeface="Times New Roman"/>
              </a:rPr>
              <a:t>limited</a:t>
            </a:r>
            <a:r>
              <a:rPr sz="3950" spc="155" dirty="0">
                <a:latin typeface="Times New Roman"/>
                <a:cs typeface="Times New Roman"/>
              </a:rPr>
              <a:t> </a:t>
            </a:r>
            <a:r>
              <a:rPr sz="3950" spc="-85" dirty="0">
                <a:latin typeface="Times New Roman"/>
                <a:cs typeface="Times New Roman"/>
              </a:rPr>
              <a:t>access</a:t>
            </a:r>
            <a:r>
              <a:rPr sz="3950" spc="-170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315" dirty="0">
                <a:latin typeface="Times New Roman"/>
                <a:cs typeface="Times New Roman"/>
              </a:rPr>
              <a:t> </a:t>
            </a:r>
            <a:r>
              <a:rPr sz="3950" spc="-100" dirty="0">
                <a:latin typeface="Times New Roman"/>
                <a:cs typeface="Times New Roman"/>
              </a:rPr>
              <a:t>SDK</a:t>
            </a:r>
            <a:r>
              <a:rPr sz="3950" spc="-3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libraries.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It</a:t>
            </a:r>
            <a:r>
              <a:rPr sz="3950" dirty="0">
                <a:latin typeface="Times New Roman"/>
                <a:cs typeface="Times New Roman"/>
              </a:rPr>
              <a:t>	means</a:t>
            </a:r>
            <a:r>
              <a:rPr sz="3950" spc="-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developer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does</a:t>
            </a:r>
            <a:r>
              <a:rPr sz="3950" spc="-75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not</a:t>
            </a:r>
            <a:r>
              <a:rPr sz="3950" spc="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have</a:t>
            </a:r>
            <a:r>
              <a:rPr sz="3950" spc="-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60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lot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spc="30" dirty="0">
                <a:latin typeface="Times New Roman"/>
                <a:cs typeface="Times New Roman"/>
              </a:rPr>
              <a:t>of </a:t>
            </a:r>
            <a:r>
              <a:rPr sz="3950" dirty="0">
                <a:latin typeface="Times New Roman"/>
                <a:cs typeface="Times New Roman"/>
              </a:rPr>
              <a:t>functionalities</a:t>
            </a:r>
            <a:r>
              <a:rPr sz="3950" spc="245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4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create</a:t>
            </a:r>
            <a:r>
              <a:rPr sz="3950" spc="1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mobile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application.</a:t>
            </a:r>
            <a:r>
              <a:rPr sz="3950" spc="13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Such</a:t>
            </a:r>
            <a:r>
              <a:rPr sz="3950" dirty="0">
                <a:latin typeface="Times New Roman"/>
                <a:cs typeface="Times New Roman"/>
              </a:rPr>
              <a:t>		types</a:t>
            </a:r>
            <a:r>
              <a:rPr sz="3950" spc="100" dirty="0">
                <a:latin typeface="Times New Roman"/>
                <a:cs typeface="Times New Roman"/>
              </a:rPr>
              <a:t> </a:t>
            </a:r>
            <a:r>
              <a:rPr sz="3950" spc="65" dirty="0">
                <a:latin typeface="Times New Roman"/>
                <a:cs typeface="Times New Roman"/>
              </a:rPr>
              <a:t>of</a:t>
            </a:r>
            <a:r>
              <a:rPr sz="3950" spc="4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functionalities</a:t>
            </a:r>
            <a:r>
              <a:rPr sz="3950" spc="22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need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46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be </a:t>
            </a:r>
            <a:r>
              <a:rPr sz="3950" dirty="0">
                <a:latin typeface="Times New Roman"/>
                <a:cs typeface="Times New Roman"/>
              </a:rPr>
              <a:t>developed</a:t>
            </a:r>
            <a:r>
              <a:rPr sz="3950" spc="315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by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114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Flutter</a:t>
            </a:r>
            <a:r>
              <a:rPr sz="3950" spc="1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developer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themselves.</a:t>
            </a:r>
            <a:endParaRPr sz="3950">
              <a:latin typeface="Times New Roman"/>
              <a:cs typeface="Times New Roman"/>
            </a:endParaRPr>
          </a:p>
          <a:p>
            <a:pPr marL="305435" indent="-282575">
              <a:lnSpc>
                <a:spcPct val="100000"/>
              </a:lnSpc>
              <a:spcBef>
                <a:spcPts val="50"/>
              </a:spcBef>
              <a:buClr>
                <a:srgbClr val="6696CC"/>
              </a:buClr>
              <a:buFont typeface="Arial MT"/>
              <a:buChar char="•"/>
              <a:tabLst>
                <a:tab pos="305435" algn="l"/>
                <a:tab pos="10121900" algn="l"/>
              </a:tabLst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75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Flutter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apps</a:t>
            </a:r>
            <a:r>
              <a:rPr sz="3950" spc="-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do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not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support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55" dirty="0">
                <a:latin typeface="Times New Roman"/>
                <a:cs typeface="Times New Roman"/>
              </a:rPr>
              <a:t>the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browser.</a:t>
            </a:r>
            <a:r>
              <a:rPr sz="3950" spc="-80" dirty="0">
                <a:latin typeface="Times New Roman"/>
                <a:cs typeface="Times New Roman"/>
              </a:rPr>
              <a:t> </a:t>
            </a:r>
            <a:r>
              <a:rPr sz="3950" spc="20" dirty="0">
                <a:latin typeface="Times New Roman"/>
                <a:cs typeface="Times New Roman"/>
              </a:rPr>
              <a:t>It</a:t>
            </a:r>
            <a:r>
              <a:rPr sz="3950" dirty="0">
                <a:latin typeface="Times New Roman"/>
                <a:cs typeface="Times New Roman"/>
              </a:rPr>
              <a:t>	only</a:t>
            </a:r>
            <a:r>
              <a:rPr sz="3950" spc="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supports</a:t>
            </a:r>
            <a:r>
              <a:rPr sz="3950" spc="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Android</a:t>
            </a:r>
            <a:r>
              <a:rPr sz="3950" spc="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spc="-50" dirty="0">
                <a:latin typeface="Times New Roman"/>
                <a:cs typeface="Times New Roman"/>
              </a:rPr>
              <a:t>iOS</a:t>
            </a:r>
            <a:r>
              <a:rPr sz="3950" spc="-6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platforms.</a:t>
            </a:r>
            <a:endParaRPr sz="3950">
              <a:latin typeface="Times New Roman"/>
              <a:cs typeface="Times New Roman"/>
            </a:endParaRPr>
          </a:p>
          <a:p>
            <a:pPr marL="305435" marR="1165225" indent="-283210">
              <a:lnSpc>
                <a:spcPct val="101000"/>
              </a:lnSpc>
              <a:spcBef>
                <a:spcPts val="655"/>
              </a:spcBef>
              <a:buClr>
                <a:srgbClr val="6696CC"/>
              </a:buClr>
              <a:buFont typeface="Arial MT"/>
              <a:buChar char="•"/>
              <a:tabLst>
                <a:tab pos="305435" algn="l"/>
                <a:tab pos="9153525" algn="l"/>
              </a:tabLst>
            </a:pPr>
            <a:r>
              <a:rPr sz="3950" spc="55" dirty="0">
                <a:latin typeface="Times New Roman"/>
                <a:cs typeface="Times New Roman"/>
              </a:rPr>
              <a:t>It</a:t>
            </a:r>
            <a:r>
              <a:rPr sz="3950" spc="29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uses</a:t>
            </a:r>
            <a:r>
              <a:rPr sz="3950" spc="-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programming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for</a:t>
            </a:r>
            <a:r>
              <a:rPr sz="3950" spc="3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coding,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so</a:t>
            </a:r>
            <a:r>
              <a:rPr sz="3950" spc="45" dirty="0">
                <a:latin typeface="Times New Roman"/>
                <a:cs typeface="Times New Roman"/>
              </a:rPr>
              <a:t> </a:t>
            </a:r>
            <a:r>
              <a:rPr sz="3950" spc="-50" dirty="0">
                <a:latin typeface="Times New Roman"/>
                <a:cs typeface="Times New Roman"/>
              </a:rPr>
              <a:t>a</a:t>
            </a:r>
            <a:r>
              <a:rPr sz="3950" dirty="0">
                <a:latin typeface="Times New Roman"/>
                <a:cs typeface="Times New Roman"/>
              </a:rPr>
              <a:t>	developer</a:t>
            </a:r>
            <a:r>
              <a:rPr sz="3950" spc="1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needs</a:t>
            </a:r>
            <a:r>
              <a:rPr sz="3950" spc="60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4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learn</a:t>
            </a:r>
            <a:r>
              <a:rPr sz="3950" spc="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new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technologies. </a:t>
            </a:r>
            <a:r>
              <a:rPr sz="3950" dirty="0">
                <a:latin typeface="Times New Roman"/>
                <a:cs typeface="Times New Roman"/>
              </a:rPr>
              <a:t>However,</a:t>
            </a:r>
            <a:r>
              <a:rPr sz="3950" spc="-110" dirty="0">
                <a:latin typeface="Times New Roman"/>
                <a:cs typeface="Times New Roman"/>
              </a:rPr>
              <a:t> </a:t>
            </a:r>
            <a:r>
              <a:rPr sz="3950" spc="60" dirty="0">
                <a:latin typeface="Times New Roman"/>
                <a:cs typeface="Times New Roman"/>
              </a:rPr>
              <a:t>it</a:t>
            </a:r>
            <a:r>
              <a:rPr sz="3950" spc="10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-7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easy</a:t>
            </a:r>
            <a:r>
              <a:rPr sz="3950" spc="-140" dirty="0">
                <a:latin typeface="Times New Roman"/>
                <a:cs typeface="Times New Roman"/>
              </a:rPr>
              <a:t> </a:t>
            </a:r>
            <a:r>
              <a:rPr sz="3950" spc="75" dirty="0">
                <a:latin typeface="Times New Roman"/>
                <a:cs typeface="Times New Roman"/>
              </a:rPr>
              <a:t>to</a:t>
            </a:r>
            <a:r>
              <a:rPr sz="3950" spc="1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learn</a:t>
            </a:r>
            <a:r>
              <a:rPr sz="3950" spc="-75" dirty="0">
                <a:latin typeface="Times New Roman"/>
                <a:cs typeface="Times New Roman"/>
              </a:rPr>
              <a:t> </a:t>
            </a:r>
            <a:r>
              <a:rPr sz="3950" spc="80" dirty="0">
                <a:latin typeface="Times New Roman"/>
                <a:cs typeface="Times New Roman"/>
              </a:rPr>
              <a:t>for</a:t>
            </a:r>
            <a:r>
              <a:rPr sz="3950" spc="8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developers.</a:t>
            </a:r>
            <a:endParaRPr sz="3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081" y="520193"/>
            <a:ext cx="19350355" cy="998219"/>
            <a:chOff x="402081" y="520193"/>
            <a:chExt cx="19350355" cy="9982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081" y="520193"/>
              <a:ext cx="3430262" cy="9976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22015" y="520193"/>
              <a:ext cx="3430262" cy="997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282</Words>
  <Application>Microsoft Office PowerPoint</Application>
  <PresentationFormat>Custom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Georgia</vt:lpstr>
      <vt:lpstr>Times New Roman</vt:lpstr>
      <vt:lpstr>Wingdings</vt:lpstr>
      <vt:lpstr>Office Theme</vt:lpstr>
      <vt:lpstr>Mobile Learning Application Development</vt:lpstr>
      <vt:lpstr>Introduction</vt:lpstr>
      <vt:lpstr>Introduction</vt:lpstr>
      <vt:lpstr>What is Flutter?</vt:lpstr>
      <vt:lpstr>What is Flutter?</vt:lpstr>
      <vt:lpstr>What makes Flutter unique?</vt:lpstr>
      <vt:lpstr>Features</vt:lpstr>
      <vt:lpstr>Advantages</vt:lpstr>
      <vt:lpstr>Advantages</vt:lpstr>
      <vt:lpstr>Disadvantages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</dc:title>
  <cp:lastModifiedBy>User</cp:lastModifiedBy>
  <cp:revision>1</cp:revision>
  <dcterms:created xsi:type="dcterms:W3CDTF">2025-09-12T06:02:43Z</dcterms:created>
  <dcterms:modified xsi:type="dcterms:W3CDTF">2025-09-12T06:05:07Z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2025-09-12T00:00:00Z</vt:filetime>
  </property>
  <property fmtid="{D5CDD505-2E9C-101B-9397-08002B2CF9AE}" pid="5" name="Producer">
    <vt:lpwstr>macOS Version 14.6.1 (Build 23G93) Quartz PDFContext</vt:lpwstr>
  </property>
</Properties>
</file>