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697" y="4053"/>
            <a:ext cx="10869236" cy="1030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409" y="-7673"/>
            <a:ext cx="19647281" cy="153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031" y="2869725"/>
            <a:ext cx="18496915" cy="688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142" y="934705"/>
            <a:ext cx="162629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b="0" dirty="0">
                <a:latin typeface="Arial MT"/>
                <a:cs typeface="Arial MT"/>
              </a:rPr>
              <a:t>Mobile</a:t>
            </a:r>
            <a:r>
              <a:rPr sz="6900" b="0" spc="-5" dirty="0">
                <a:latin typeface="Arial MT"/>
                <a:cs typeface="Arial MT"/>
              </a:rPr>
              <a:t> </a:t>
            </a:r>
            <a:r>
              <a:rPr sz="6900" b="0" dirty="0">
                <a:latin typeface="Arial MT"/>
                <a:cs typeface="Arial MT"/>
              </a:rPr>
              <a:t>Learning</a:t>
            </a:r>
            <a:r>
              <a:rPr sz="6900" b="0" spc="-5" dirty="0">
                <a:latin typeface="Arial MT"/>
                <a:cs typeface="Arial MT"/>
              </a:rPr>
              <a:t> </a:t>
            </a:r>
            <a:r>
              <a:rPr sz="6900" b="0" dirty="0">
                <a:latin typeface="Arial MT"/>
                <a:cs typeface="Arial MT"/>
              </a:rPr>
              <a:t>Application </a:t>
            </a:r>
            <a:r>
              <a:rPr sz="6900" b="0" spc="-10" dirty="0">
                <a:latin typeface="Arial MT"/>
                <a:cs typeface="Arial MT"/>
              </a:rPr>
              <a:t>Development</a:t>
            </a:r>
            <a:endParaRPr sz="6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5558" y="2656254"/>
            <a:ext cx="4385206" cy="127158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751CAEAF-FE33-118E-43C0-622BE178A760}"/>
              </a:ext>
            </a:extLst>
          </p:cNvPr>
          <p:cNvSpPr txBox="1"/>
          <p:nvPr/>
        </p:nvSpPr>
        <p:spPr>
          <a:xfrm>
            <a:off x="1746250" y="6645275"/>
            <a:ext cx="16840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4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025" y="182769"/>
            <a:ext cx="19585794" cy="10911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9" y="-7673"/>
            <a:ext cx="19647281" cy="1214376"/>
          </a:xfrm>
          <a:prstGeom prst="rect">
            <a:avLst/>
          </a:prstGeom>
        </p:spPr>
        <p:txBody>
          <a:bodyPr vert="horz" wrap="square" lIns="0" tIns="196792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50"/>
              </a:spcBef>
            </a:pPr>
            <a:r>
              <a:rPr sz="6600" dirty="0">
                <a:latin typeface="Times New Roman"/>
                <a:cs typeface="Times New Roman"/>
              </a:rPr>
              <a:t>Flutter</a:t>
            </a:r>
            <a:r>
              <a:rPr sz="6600" spc="-125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–</a:t>
            </a:r>
            <a:r>
              <a:rPr sz="6600" spc="-120" dirty="0">
                <a:latin typeface="Times New Roman"/>
                <a:cs typeface="Times New Roman"/>
              </a:rPr>
              <a:t> </a:t>
            </a:r>
            <a:r>
              <a:rPr sz="6600" spc="-20" dirty="0">
                <a:latin typeface="Times New Roman"/>
                <a:cs typeface="Times New Roman"/>
              </a:rPr>
              <a:t>Tabs</a:t>
            </a:r>
            <a:endParaRPr sz="6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025" y="2731670"/>
            <a:ext cx="18779054" cy="60647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0" y="2736535"/>
            <a:ext cx="20104099" cy="61183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3950" b="1" dirty="0">
                <a:latin typeface="Comic Sans MS" panose="030F0702030302020204" pitchFamily="66" charset="0"/>
                <a:cs typeface="Times New Roman"/>
              </a:rPr>
              <a:t>Tabs</a:t>
            </a:r>
            <a:r>
              <a:rPr sz="3950" b="1" spc="5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are</a:t>
            </a:r>
            <a:r>
              <a:rPr sz="3950" spc="5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exactly</a:t>
            </a:r>
            <a:r>
              <a:rPr sz="3950" spc="5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what</a:t>
            </a:r>
            <a:r>
              <a:rPr sz="3950" spc="5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you</a:t>
            </a:r>
            <a:r>
              <a:rPr sz="3950" spc="5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think</a:t>
            </a:r>
            <a:r>
              <a:rPr sz="3950" spc="5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it</a:t>
            </a:r>
            <a:r>
              <a:rPr sz="3950" spc="5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is.</a:t>
            </a:r>
            <a:r>
              <a:rPr sz="3950" spc="5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It’s</a:t>
            </a:r>
            <a:r>
              <a:rPr sz="3950" spc="5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part</a:t>
            </a:r>
            <a:r>
              <a:rPr sz="3950" spc="5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5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5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UI</a:t>
            </a:r>
            <a:r>
              <a:rPr sz="3950" spc="5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that</a:t>
            </a:r>
            <a:r>
              <a:rPr sz="3950" spc="5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navigates</a:t>
            </a:r>
            <a:r>
              <a:rPr sz="3950" spc="5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5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user</a:t>
            </a:r>
            <a:r>
              <a:rPr sz="3950" spc="5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through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different</a:t>
            </a:r>
            <a:r>
              <a:rPr sz="3950" spc="5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routes(ie,</a:t>
            </a:r>
            <a:r>
              <a:rPr sz="3950" spc="5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pages)</a:t>
            </a:r>
            <a:r>
              <a:rPr sz="3950" spc="509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when</a:t>
            </a:r>
            <a:r>
              <a:rPr sz="3950" spc="5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clicked</a:t>
            </a:r>
            <a:r>
              <a:rPr sz="3950" spc="5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upon.</a:t>
            </a:r>
            <a:r>
              <a:rPr sz="3950" spc="5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5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use</a:t>
            </a:r>
            <a:r>
              <a:rPr sz="3950" spc="5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5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tabs</a:t>
            </a:r>
            <a:r>
              <a:rPr sz="3950" spc="5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509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applications</a:t>
            </a:r>
            <a:r>
              <a:rPr sz="3950" spc="509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950" spc="50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standard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practice.</a:t>
            </a:r>
            <a:r>
              <a:rPr sz="3950" spc="4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Flutter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provides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simple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way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3950" spc="4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create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tab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layouts</a:t>
            </a:r>
            <a:r>
              <a:rPr sz="3950" spc="4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using</a:t>
            </a:r>
            <a:r>
              <a:rPr sz="3950" spc="4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4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material</a:t>
            </a:r>
            <a:r>
              <a:rPr sz="3950" spc="43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library.</a:t>
            </a:r>
            <a:r>
              <a:rPr sz="3950" spc="4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25" dirty="0">
                <a:latin typeface="Comic Sans MS" panose="030F0702030302020204" pitchFamily="66" charset="0"/>
                <a:cs typeface="Times New Roman"/>
              </a:rPr>
              <a:t>In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this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article,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exploring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will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be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exploring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same</a:t>
            </a:r>
            <a:r>
              <a:rPr sz="395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detail.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3950" dirty="0">
              <a:latin typeface="Comic Sans MS" panose="030F0702030302020204" pitchFamily="66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950" b="1" spc="-10" dirty="0">
                <a:latin typeface="Comic Sans MS" panose="030F0702030302020204" pitchFamily="66" charset="0"/>
                <a:cs typeface="Times New Roman"/>
              </a:rPr>
              <a:t>Process: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  <a:p>
            <a:pPr marL="187960" indent="-184150">
              <a:lnSpc>
                <a:spcPct val="100000"/>
              </a:lnSpc>
              <a:spcBef>
                <a:spcPts val="25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Comic Sans MS" panose="030F0702030302020204" pitchFamily="66" charset="0"/>
                <a:cs typeface="Times New Roman"/>
              </a:rPr>
              <a:t>Design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TabController.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  <a:p>
            <a:pPr marL="187960" indent="-184150">
              <a:lnSpc>
                <a:spcPts val="4725"/>
              </a:lnSpc>
              <a:spcBef>
                <a:spcPts val="5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Comic Sans MS" panose="030F0702030302020204" pitchFamily="66" charset="0"/>
                <a:cs typeface="Times New Roman"/>
              </a:rPr>
              <a:t>Add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tabs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app.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  <a:p>
            <a:pPr marL="187960" indent="-184150">
              <a:lnSpc>
                <a:spcPts val="4725"/>
              </a:lnSpc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Comic Sans MS" panose="030F0702030302020204" pitchFamily="66" charset="0"/>
                <a:cs typeface="Times New Roman"/>
              </a:rPr>
              <a:t>Add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content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each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tab.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388" y="0"/>
            <a:ext cx="19745709" cy="1091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29697" y="4053"/>
            <a:ext cx="197744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 algn="ctr">
              <a:lnSpc>
                <a:spcPct val="100000"/>
              </a:lnSpc>
              <a:spcBef>
                <a:spcPts val="95"/>
              </a:spcBef>
            </a:pPr>
            <a:r>
              <a:rPr sz="6600" dirty="0"/>
              <a:t>Designing</a:t>
            </a:r>
            <a:r>
              <a:rPr sz="6600" spc="-185" dirty="0"/>
              <a:t> </a:t>
            </a:r>
            <a:r>
              <a:rPr sz="6600" dirty="0"/>
              <a:t>a</a:t>
            </a:r>
            <a:r>
              <a:rPr sz="6600" spc="-175" dirty="0"/>
              <a:t> </a:t>
            </a:r>
            <a:r>
              <a:rPr sz="6600" spc="-10" dirty="0" smtClean="0"/>
              <a:t>Tab</a:t>
            </a:r>
            <a:r>
              <a:rPr lang="en-US" sz="6600" spc="-10" dirty="0" smtClean="0"/>
              <a:t> </a:t>
            </a:r>
            <a:r>
              <a:rPr sz="6600" spc="-10" dirty="0" smtClean="0"/>
              <a:t>Controller</a:t>
            </a:r>
            <a:r>
              <a:rPr sz="6600" spc="-10" dirty="0"/>
              <a:t>:</a:t>
            </a:r>
            <a:endParaRPr sz="6600" dirty="0"/>
          </a:p>
        </p:txBody>
      </p:sp>
      <p:sp>
        <p:nvSpPr>
          <p:cNvPr id="4" name="object 4"/>
          <p:cNvSpPr txBox="1"/>
          <p:nvPr/>
        </p:nvSpPr>
        <p:spPr>
          <a:xfrm>
            <a:off x="0" y="2628380"/>
            <a:ext cx="20104100" cy="26435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70"/>
              </a:spcBef>
            </a:pP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b="1" dirty="0">
                <a:latin typeface="Comic Sans MS" panose="030F0702030302020204" pitchFamily="66" charset="0"/>
                <a:cs typeface="Times New Roman"/>
              </a:rPr>
              <a:t>TabController</a:t>
            </a:r>
            <a:r>
              <a:rPr sz="3950" b="1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name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suggests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controls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functioning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each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tab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by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syncing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tabs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and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contents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with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each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other.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b="1" dirty="0">
                <a:latin typeface="Comic Sans MS" panose="030F0702030302020204" pitchFamily="66" charset="0"/>
                <a:cs typeface="Times New Roman"/>
              </a:rPr>
              <a:t>DefaultTabController</a:t>
            </a:r>
            <a:r>
              <a:rPr sz="3950" b="1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widget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one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25" dirty="0">
                <a:latin typeface="Comic Sans MS" panose="030F0702030302020204" pitchFamily="66" charset="0"/>
                <a:cs typeface="Times New Roman"/>
              </a:rPr>
              <a:t>the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simplest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ways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create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tabs</a:t>
            </a:r>
            <a:r>
              <a:rPr sz="395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flutter.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It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done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as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shown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>
                <a:latin typeface="Comic Sans MS" panose="030F0702030302020204" pitchFamily="66" charset="0"/>
                <a:cs typeface="Times New Roman"/>
              </a:rPr>
              <a:t>below: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0249" y="6492875"/>
            <a:ext cx="5523601" cy="4010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15" y="198674"/>
            <a:ext cx="19882782" cy="10911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9" y="-7673"/>
            <a:ext cx="19647281" cy="1240153"/>
          </a:xfrm>
          <a:prstGeom prst="rect">
            <a:avLst/>
          </a:prstGeom>
        </p:spPr>
        <p:txBody>
          <a:bodyPr vert="horz" wrap="square" lIns="0" tIns="222319" rIns="0" bIns="0" rtlCol="0">
            <a:spAutoFit/>
          </a:bodyPr>
          <a:lstStyle/>
          <a:p>
            <a:pPr marL="67945" algn="ctr">
              <a:lnSpc>
                <a:spcPct val="100000"/>
              </a:lnSpc>
              <a:spcBef>
                <a:spcPts val="95"/>
              </a:spcBef>
            </a:pPr>
            <a:r>
              <a:rPr sz="6600" dirty="0"/>
              <a:t>Adding</a:t>
            </a:r>
            <a:r>
              <a:rPr sz="6600" spc="-235" dirty="0"/>
              <a:t> </a:t>
            </a:r>
            <a:r>
              <a:rPr sz="6600" spc="-10" dirty="0"/>
              <a:t>tabs:</a:t>
            </a:r>
            <a:endParaRPr sz="6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6250" y="2378075"/>
            <a:ext cx="9187573" cy="6827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006" y="0"/>
            <a:ext cx="19837091" cy="1091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4059614" y="4053"/>
            <a:ext cx="10869236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6600" dirty="0"/>
              <a:t>Adding</a:t>
            </a:r>
            <a:r>
              <a:rPr sz="6600" spc="-195" dirty="0"/>
              <a:t> </a:t>
            </a:r>
            <a:r>
              <a:rPr sz="6600" dirty="0"/>
              <a:t>content</a:t>
            </a:r>
            <a:r>
              <a:rPr sz="6600" spc="-190" dirty="0"/>
              <a:t> </a:t>
            </a:r>
            <a:r>
              <a:rPr sz="6600" dirty="0"/>
              <a:t>to</a:t>
            </a:r>
            <a:r>
              <a:rPr sz="6600" spc="-190" dirty="0"/>
              <a:t> </a:t>
            </a:r>
            <a:r>
              <a:rPr sz="6600" spc="-10" dirty="0"/>
              <a:t>tabs:</a:t>
            </a:r>
            <a:endParaRPr sz="6600" dirty="0"/>
          </a:p>
        </p:txBody>
      </p:sp>
      <p:sp>
        <p:nvSpPr>
          <p:cNvPr id="4" name="object 4"/>
          <p:cNvSpPr txBox="1"/>
          <p:nvPr/>
        </p:nvSpPr>
        <p:spPr>
          <a:xfrm>
            <a:off x="580998" y="2392252"/>
            <a:ext cx="19523102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Tab</a:t>
            </a:r>
            <a:r>
              <a:rPr lang="en-US" sz="395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err="1" smtClean="0">
                <a:latin typeface="Comic Sans MS" panose="030F0702030302020204" pitchFamily="66" charset="0"/>
                <a:cs typeface="Times New Roman"/>
              </a:rPr>
              <a:t>BarView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widget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can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be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used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specify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contents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>
                <a:latin typeface="Comic Sans MS" panose="030F0702030302020204" pitchFamily="66" charset="0"/>
                <a:cs typeface="Times New Roman"/>
              </a:rPr>
              <a:t>each</a:t>
            </a:r>
            <a:r>
              <a:rPr sz="395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20" dirty="0">
                <a:latin typeface="Comic Sans MS" panose="030F0702030302020204" pitchFamily="66" charset="0"/>
                <a:cs typeface="Times New Roman"/>
              </a:rPr>
              <a:t>tab.</a:t>
            </a:r>
            <a:endParaRPr sz="3950" dirty="0">
              <a:latin typeface="Comic Sans MS" panose="030F0702030302020204" pitchFamily="66" charset="0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5073" y="3779570"/>
            <a:ext cx="8134621" cy="53652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93404" y="1135881"/>
            <a:ext cx="4556091" cy="63629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0930" y="437264"/>
            <a:ext cx="9267990" cy="10783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4032" y="4354915"/>
            <a:ext cx="9628505" cy="1231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Icon</a:t>
            </a:r>
            <a:r>
              <a:rPr sz="7900" spc="-40" dirty="0"/>
              <a:t> </a:t>
            </a:r>
            <a:r>
              <a:rPr sz="7900" dirty="0"/>
              <a:t>Class</a:t>
            </a:r>
            <a:r>
              <a:rPr sz="7900" spc="-35" dirty="0"/>
              <a:t> </a:t>
            </a:r>
            <a:r>
              <a:rPr sz="7900" dirty="0"/>
              <a:t>in</a:t>
            </a:r>
            <a:r>
              <a:rPr sz="7900" spc="-40" dirty="0"/>
              <a:t> </a:t>
            </a:r>
            <a:r>
              <a:rPr sz="7900" spc="-10" dirty="0"/>
              <a:t>Flutter</a:t>
            </a:r>
            <a:endParaRPr sz="7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161" y="0"/>
            <a:ext cx="19859937" cy="1091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9" y="-7673"/>
            <a:ext cx="19647281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05" algn="ctr">
              <a:lnSpc>
                <a:spcPct val="100000"/>
              </a:lnSpc>
              <a:spcBef>
                <a:spcPts val="95"/>
              </a:spcBef>
            </a:pPr>
            <a:r>
              <a:rPr sz="6600" dirty="0"/>
              <a:t>Icon</a:t>
            </a:r>
            <a:r>
              <a:rPr sz="6600" spc="-135" dirty="0"/>
              <a:t> </a:t>
            </a:r>
            <a:r>
              <a:rPr sz="6600" dirty="0"/>
              <a:t>Class</a:t>
            </a:r>
            <a:r>
              <a:rPr sz="6600" spc="-130" dirty="0"/>
              <a:t> </a:t>
            </a:r>
            <a:r>
              <a:rPr sz="6600" dirty="0"/>
              <a:t>in</a:t>
            </a:r>
            <a:r>
              <a:rPr sz="6600" spc="-130" dirty="0"/>
              <a:t> </a:t>
            </a:r>
            <a:r>
              <a:rPr sz="6600" spc="-10" dirty="0"/>
              <a:t>Flutter</a:t>
            </a:r>
            <a:endParaRPr sz="6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76965" y="6035675"/>
            <a:ext cx="5227065" cy="49732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0" y="1082675"/>
            <a:ext cx="20104097" cy="6295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Icon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class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Flutter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950" spc="-2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used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show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specific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icons</a:t>
            </a:r>
            <a:r>
              <a:rPr sz="3950" spc="-2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our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app.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Instead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creating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an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20" dirty="0" smtClean="0">
                <a:latin typeface="Comic Sans MS" panose="030F0702030302020204" pitchFamily="66" charset="0"/>
                <a:cs typeface="Times New Roman"/>
              </a:rPr>
              <a:t>image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for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our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icon,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we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can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simply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use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Icon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class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for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inserting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an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icon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our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app.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For</a:t>
            </a:r>
            <a:r>
              <a:rPr sz="3950" spc="-10" dirty="0" smtClean="0">
                <a:latin typeface="Comic Sans MS" panose="030F0702030302020204" pitchFamily="66" charset="0"/>
                <a:cs typeface="Times New Roman"/>
              </a:rPr>
              <a:t> using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this</a:t>
            </a:r>
            <a:r>
              <a:rPr sz="395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latin typeface="Comic Sans MS" panose="030F0702030302020204" pitchFamily="66" charset="0"/>
                <a:cs typeface="Times New Roman"/>
              </a:rPr>
              <a:t>class,</a:t>
            </a:r>
            <a:r>
              <a:rPr sz="3950" spc="-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you</a:t>
            </a:r>
            <a:r>
              <a:rPr sz="3950" spc="-1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must</a:t>
            </a:r>
            <a:r>
              <a:rPr sz="3950" spc="-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ensure</a:t>
            </a:r>
            <a:r>
              <a:rPr sz="3950" spc="-1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that</a:t>
            </a:r>
            <a:r>
              <a:rPr sz="3950" spc="-1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you</a:t>
            </a:r>
            <a:r>
              <a:rPr sz="3950" spc="-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have</a:t>
            </a:r>
            <a:r>
              <a:rPr sz="3950" spc="-1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set</a:t>
            </a:r>
            <a:r>
              <a:rPr sz="3950" spc="-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uses-material-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design:</a:t>
            </a:r>
            <a:r>
              <a:rPr sz="3950" spc="-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true</a:t>
            </a:r>
            <a:r>
              <a:rPr sz="3950" spc="-1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in</a:t>
            </a:r>
            <a:r>
              <a:rPr sz="3950" spc="-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the</a:t>
            </a:r>
            <a:r>
              <a:rPr sz="3950" spc="-1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spc="-10" dirty="0" err="1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pubsec.yml</a:t>
            </a:r>
            <a:r>
              <a:rPr sz="3950" spc="-1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file</a:t>
            </a:r>
            <a:r>
              <a:rPr sz="3950" spc="-1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of</a:t>
            </a:r>
            <a:r>
              <a:rPr sz="3950" spc="-5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395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your</a:t>
            </a:r>
            <a:r>
              <a:rPr sz="3950" spc="-10" dirty="0" smtClean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object.</a:t>
            </a:r>
            <a:endParaRPr sz="3950" dirty="0" smtClean="0">
              <a:latin typeface="Comic Sans MS" panose="030F0702030302020204" pitchFamily="66" charset="0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360"/>
              </a:spcBef>
            </a:pPr>
            <a:endParaRPr sz="3950" dirty="0" smtClean="0">
              <a:latin typeface="Comic Sans MS" panose="030F0702030302020204" pitchFamily="66" charset="0"/>
              <a:cs typeface="Times New Roman"/>
            </a:endParaRPr>
          </a:p>
          <a:p>
            <a:pPr marL="385445" algn="just">
              <a:lnSpc>
                <a:spcPts val="3960"/>
              </a:lnSpc>
            </a:pPr>
            <a:r>
              <a:rPr sz="3600" b="1" spc="-10" dirty="0" smtClean="0">
                <a:latin typeface="Comic Sans MS" panose="030F0702030302020204" pitchFamily="66" charset="0"/>
                <a:cs typeface="Arial"/>
              </a:rPr>
              <a:t>Properties:</a:t>
            </a:r>
            <a:endParaRPr sz="3600" dirty="0" smtClean="0">
              <a:latin typeface="Comic Sans MS" panose="030F0702030302020204" pitchFamily="66" charset="0"/>
              <a:cs typeface="Arial"/>
            </a:endParaRPr>
          </a:p>
          <a:p>
            <a:pPr marL="856615" indent="-471170" algn="just">
              <a:lnSpc>
                <a:spcPts val="3954"/>
              </a:lnSpc>
              <a:buFont typeface="Arial MT"/>
              <a:buChar char="•"/>
              <a:tabLst>
                <a:tab pos="856615" algn="l"/>
              </a:tabLst>
            </a:pPr>
            <a:r>
              <a:rPr sz="3600" b="1" dirty="0" smtClean="0">
                <a:latin typeface="Comic Sans MS" panose="030F0702030302020204" pitchFamily="66" charset="0"/>
                <a:cs typeface="Arial"/>
              </a:rPr>
              <a:t>color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: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It</a:t>
            </a:r>
            <a:r>
              <a:rPr sz="3600" spc="-40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is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used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to</a:t>
            </a:r>
            <a:r>
              <a:rPr sz="3600" spc="-40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set</a:t>
            </a:r>
            <a:r>
              <a:rPr sz="3600" spc="-40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the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color</a:t>
            </a:r>
            <a:r>
              <a:rPr sz="3600" spc="-3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of</a:t>
            </a:r>
            <a:r>
              <a:rPr sz="3600" spc="-40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the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spc="-20" dirty="0" smtClean="0">
                <a:latin typeface="Comic Sans MS" panose="030F0702030302020204" pitchFamily="66" charset="0"/>
                <a:cs typeface="Arial MT"/>
              </a:rPr>
              <a:t>icon</a:t>
            </a:r>
            <a:endParaRPr sz="3600" dirty="0" smtClean="0">
              <a:latin typeface="Comic Sans MS" panose="030F0702030302020204" pitchFamily="66" charset="0"/>
              <a:cs typeface="Arial MT"/>
            </a:endParaRPr>
          </a:p>
          <a:p>
            <a:pPr marL="856615" indent="-471170" algn="just">
              <a:lnSpc>
                <a:spcPts val="3954"/>
              </a:lnSpc>
              <a:buFont typeface="Arial MT"/>
              <a:buChar char="•"/>
              <a:tabLst>
                <a:tab pos="856615" algn="l"/>
              </a:tabLst>
            </a:pPr>
            <a:r>
              <a:rPr sz="3600" b="1" dirty="0" smtClean="0">
                <a:latin typeface="Comic Sans MS" panose="030F0702030302020204" pitchFamily="66" charset="0"/>
                <a:cs typeface="Arial"/>
              </a:rPr>
              <a:t>size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:</a:t>
            </a:r>
            <a:r>
              <a:rPr sz="3600" spc="-50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It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is</a:t>
            </a:r>
            <a:r>
              <a:rPr sz="3600" spc="-5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used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to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resize</a:t>
            </a:r>
            <a:r>
              <a:rPr sz="3600" spc="-50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the</a:t>
            </a:r>
            <a:r>
              <a:rPr sz="3600" spc="-4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spc="-20" dirty="0" smtClean="0">
                <a:latin typeface="Comic Sans MS" panose="030F0702030302020204" pitchFamily="66" charset="0"/>
                <a:cs typeface="Arial MT"/>
              </a:rPr>
              <a:t>Icon</a:t>
            </a:r>
            <a:endParaRPr sz="3600" dirty="0" smtClean="0">
              <a:latin typeface="Comic Sans MS" panose="030F0702030302020204" pitchFamily="66" charset="0"/>
              <a:cs typeface="Arial MT"/>
            </a:endParaRPr>
          </a:p>
          <a:p>
            <a:pPr marL="856615" marR="5881370" indent="-471805" algn="just">
              <a:lnSpc>
                <a:spcPts val="3960"/>
              </a:lnSpc>
              <a:spcBef>
                <a:spcPts val="135"/>
              </a:spcBef>
              <a:buFont typeface="Arial MT"/>
              <a:buChar char="•"/>
              <a:tabLst>
                <a:tab pos="856615" algn="l"/>
                <a:tab pos="4137660" algn="l"/>
                <a:tab pos="4625975" algn="l"/>
                <a:tab pos="6115050" algn="l"/>
                <a:tab pos="6696075" algn="l"/>
                <a:tab pos="7719059" algn="l"/>
                <a:tab pos="8928100" algn="l"/>
                <a:tab pos="10184130" algn="l"/>
                <a:tab pos="11021695" algn="l"/>
                <a:tab pos="11975465" algn="l"/>
              </a:tabLst>
            </a:pPr>
            <a:r>
              <a:rPr sz="3600" b="1" spc="-10" dirty="0" err="1" smtClean="0">
                <a:latin typeface="Comic Sans MS" panose="030F0702030302020204" pitchFamily="66" charset="0"/>
                <a:cs typeface="Arial"/>
              </a:rPr>
              <a:t>semanticLable</a:t>
            </a:r>
            <a:r>
              <a:rPr sz="3600" spc="-10" dirty="0" smtClean="0">
                <a:latin typeface="Comic Sans MS" panose="030F0702030302020204" pitchFamily="66" charset="0"/>
                <a:cs typeface="Arial MT"/>
              </a:rPr>
              <a:t>: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25" dirty="0" smtClean="0">
                <a:latin typeface="Comic Sans MS" panose="030F0702030302020204" pitchFamily="66" charset="0"/>
                <a:cs typeface="Arial MT"/>
              </a:rPr>
              <a:t>It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10" dirty="0" smtClean="0">
                <a:latin typeface="Comic Sans MS" panose="030F0702030302020204" pitchFamily="66" charset="0"/>
                <a:cs typeface="Arial MT"/>
              </a:rPr>
              <a:t>comes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25" dirty="0" smtClean="0">
                <a:latin typeface="Comic Sans MS" panose="030F0702030302020204" pitchFamily="66" charset="0"/>
                <a:cs typeface="Arial MT"/>
              </a:rPr>
              <a:t>in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20" dirty="0" smtClean="0">
                <a:latin typeface="Comic Sans MS" panose="030F0702030302020204" pitchFamily="66" charset="0"/>
                <a:cs typeface="Arial MT"/>
              </a:rPr>
              <a:t>play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10" dirty="0" smtClean="0">
                <a:latin typeface="Comic Sans MS" panose="030F0702030302020204" pitchFamily="66" charset="0"/>
                <a:cs typeface="Arial MT"/>
              </a:rPr>
              <a:t>while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10" dirty="0" smtClean="0">
                <a:latin typeface="Comic Sans MS" panose="030F0702030302020204" pitchFamily="66" charset="0"/>
                <a:cs typeface="Arial MT"/>
              </a:rPr>
              <a:t>using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25" dirty="0" smtClean="0">
                <a:latin typeface="Comic Sans MS" panose="030F0702030302020204" pitchFamily="66" charset="0"/>
                <a:cs typeface="Arial MT"/>
              </a:rPr>
              <a:t>the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25" dirty="0" smtClean="0">
                <a:latin typeface="Comic Sans MS" panose="030F0702030302020204" pitchFamily="66" charset="0"/>
                <a:cs typeface="Arial MT"/>
              </a:rPr>
              <a:t>app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	</a:t>
            </a:r>
            <a:r>
              <a:rPr sz="3600" spc="-25" dirty="0" smtClean="0">
                <a:latin typeface="Comic Sans MS" panose="030F0702030302020204" pitchFamily="66" charset="0"/>
                <a:cs typeface="Arial MT"/>
              </a:rPr>
              <a:t>in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accessibility</a:t>
            </a:r>
            <a:r>
              <a:rPr sz="3600" spc="-9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mode</a:t>
            </a:r>
            <a:r>
              <a:rPr sz="3600" spc="-9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(i.e.,</a:t>
            </a:r>
            <a:r>
              <a:rPr sz="3600" spc="-9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spc="-25" dirty="0" smtClean="0">
                <a:latin typeface="Comic Sans MS" panose="030F0702030302020204" pitchFamily="66" charset="0"/>
                <a:cs typeface="Arial MT"/>
              </a:rPr>
              <a:t>voice-</a:t>
            </a:r>
            <a:r>
              <a:rPr sz="3600" spc="-10" dirty="0" smtClean="0">
                <a:latin typeface="Comic Sans MS" panose="030F0702030302020204" pitchFamily="66" charset="0"/>
                <a:cs typeface="Arial MT"/>
              </a:rPr>
              <a:t>over)</a:t>
            </a:r>
            <a:endParaRPr sz="3600" dirty="0" smtClean="0">
              <a:latin typeface="Comic Sans MS" panose="030F0702030302020204" pitchFamily="66" charset="0"/>
              <a:cs typeface="Arial MT"/>
            </a:endParaRPr>
          </a:p>
          <a:p>
            <a:pPr marL="856615" indent="-471170" algn="just">
              <a:lnSpc>
                <a:spcPts val="3825"/>
              </a:lnSpc>
              <a:buFont typeface="Arial MT"/>
              <a:buChar char="•"/>
              <a:tabLst>
                <a:tab pos="856615" algn="l"/>
              </a:tabLst>
            </a:pPr>
            <a:r>
              <a:rPr sz="3600" b="1" dirty="0" err="1" smtClean="0">
                <a:latin typeface="Comic Sans MS" panose="030F0702030302020204" pitchFamily="66" charset="0"/>
                <a:cs typeface="Arial"/>
              </a:rPr>
              <a:t>textDirection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:</a:t>
            </a:r>
            <a:r>
              <a:rPr sz="3600" spc="-7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It</a:t>
            </a:r>
            <a:r>
              <a:rPr sz="3600" spc="-7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is</a:t>
            </a:r>
            <a:r>
              <a:rPr sz="3600" spc="-7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used</a:t>
            </a:r>
            <a:r>
              <a:rPr sz="3600" spc="-7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for</a:t>
            </a:r>
            <a:r>
              <a:rPr sz="3600" spc="-6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dirty="0" smtClean="0">
                <a:latin typeface="Comic Sans MS" panose="030F0702030302020204" pitchFamily="66" charset="0"/>
                <a:cs typeface="Arial MT"/>
              </a:rPr>
              <a:t>rendering</a:t>
            </a:r>
            <a:r>
              <a:rPr sz="3600" spc="-75" dirty="0" smtClean="0">
                <a:latin typeface="Comic Sans MS" panose="030F0702030302020204" pitchFamily="66" charset="0"/>
                <a:cs typeface="Arial MT"/>
              </a:rPr>
              <a:t> </a:t>
            </a:r>
            <a:r>
              <a:rPr sz="3600" spc="-20" dirty="0" smtClean="0">
                <a:latin typeface="Comic Sans MS" panose="030F0702030302020204" pitchFamily="66" charset="0"/>
                <a:cs typeface="Arial MT"/>
              </a:rPr>
              <a:t>Icon</a:t>
            </a:r>
            <a:endParaRPr sz="3600" dirty="0">
              <a:latin typeface="Comic Sans MS" panose="030F0702030302020204" pitchFamily="66" charset="0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14" y="0"/>
            <a:ext cx="19882783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Icon</a:t>
            </a:r>
            <a:r>
              <a:rPr sz="7900" spc="-40" dirty="0"/>
              <a:t> </a:t>
            </a:r>
            <a:r>
              <a:rPr sz="7900" dirty="0"/>
              <a:t>Class</a:t>
            </a:r>
            <a:r>
              <a:rPr sz="7900" spc="-35" dirty="0"/>
              <a:t> </a:t>
            </a:r>
            <a:r>
              <a:rPr sz="7900" dirty="0"/>
              <a:t>in</a:t>
            </a:r>
            <a:r>
              <a:rPr sz="7900" spc="-40" dirty="0"/>
              <a:t> </a:t>
            </a:r>
            <a:r>
              <a:rPr sz="7900" spc="-10" dirty="0"/>
              <a:t>Flutter</a:t>
            </a:r>
            <a:endParaRPr sz="79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2864" y="2882425"/>
            <a:ext cx="12640452" cy="72198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4032" y="4354915"/>
            <a:ext cx="12365990" cy="1231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Expanded</a:t>
            </a:r>
            <a:r>
              <a:rPr sz="7900" spc="-35" dirty="0"/>
              <a:t> </a:t>
            </a:r>
            <a:r>
              <a:rPr sz="7900" dirty="0"/>
              <a:t>Class</a:t>
            </a:r>
            <a:r>
              <a:rPr sz="7900" spc="-35" dirty="0"/>
              <a:t> </a:t>
            </a:r>
            <a:r>
              <a:rPr sz="7900" dirty="0"/>
              <a:t>in</a:t>
            </a:r>
            <a:r>
              <a:rPr sz="7900" spc="-30" dirty="0"/>
              <a:t> </a:t>
            </a:r>
            <a:r>
              <a:rPr sz="7900" spc="-10" dirty="0"/>
              <a:t>Flutter</a:t>
            </a:r>
            <a:endParaRPr sz="7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07" y="175827"/>
            <a:ext cx="19585791" cy="12941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51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Expanded</a:t>
            </a:r>
            <a:r>
              <a:rPr sz="7900" spc="-35" dirty="0"/>
              <a:t> </a:t>
            </a:r>
            <a:r>
              <a:rPr sz="7900" dirty="0"/>
              <a:t>Class</a:t>
            </a:r>
            <a:r>
              <a:rPr sz="7900" spc="-35" dirty="0"/>
              <a:t> </a:t>
            </a:r>
            <a:r>
              <a:rPr sz="7900" dirty="0"/>
              <a:t>in</a:t>
            </a:r>
            <a:r>
              <a:rPr sz="7900" spc="-30" dirty="0"/>
              <a:t> </a:t>
            </a:r>
            <a:r>
              <a:rPr sz="7900" spc="-10" dirty="0"/>
              <a:t>Flutter</a:t>
            </a:r>
            <a:endParaRPr sz="7900"/>
          </a:p>
        </p:txBody>
      </p:sp>
      <p:sp>
        <p:nvSpPr>
          <p:cNvPr id="4" name="object 4"/>
          <p:cNvSpPr txBox="1"/>
          <p:nvPr/>
        </p:nvSpPr>
        <p:spPr>
          <a:xfrm>
            <a:off x="580997" y="2532982"/>
            <a:ext cx="18307050" cy="54514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50300"/>
              </a:lnSpc>
              <a:spcBef>
                <a:spcPts val="75"/>
              </a:spcBef>
            </a:pPr>
            <a:r>
              <a:rPr sz="3950" dirty="0">
                <a:latin typeface="Times New Roman"/>
                <a:cs typeface="Times New Roman"/>
              </a:rPr>
              <a:t>When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create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any</a:t>
            </a:r>
            <a:r>
              <a:rPr sz="3950" spc="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row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column,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provide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size</a:t>
            </a:r>
            <a:r>
              <a:rPr sz="3950" spc="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widget</a:t>
            </a:r>
            <a:r>
              <a:rPr sz="3950" spc="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according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6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screen</a:t>
            </a:r>
            <a:r>
              <a:rPr sz="3950" spc="6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size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but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sometimes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when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provide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more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size</a:t>
            </a:r>
            <a:r>
              <a:rPr sz="3950" spc="6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6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</a:t>
            </a:r>
            <a:r>
              <a:rPr sz="3950" spc="6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6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compared</a:t>
            </a:r>
            <a:r>
              <a:rPr sz="3950" spc="67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to </a:t>
            </a:r>
            <a:r>
              <a:rPr sz="3950" dirty="0">
                <a:latin typeface="Times New Roman"/>
                <a:cs typeface="Times New Roman"/>
              </a:rPr>
              <a:t>screen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size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get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warning,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our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widget</a:t>
            </a:r>
            <a:r>
              <a:rPr sz="3950" spc="2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goes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out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screen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for</a:t>
            </a:r>
            <a:r>
              <a:rPr sz="3950" spc="2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resolving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this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we </a:t>
            </a:r>
            <a:r>
              <a:rPr sz="3950" dirty="0">
                <a:latin typeface="Times New Roman"/>
                <a:cs typeface="Times New Roman"/>
              </a:rPr>
              <a:t>put</a:t>
            </a:r>
            <a:r>
              <a:rPr sz="3950" spc="2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22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row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column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</a:t>
            </a:r>
            <a:r>
              <a:rPr sz="3950" spc="2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expanded</a:t>
            </a:r>
            <a:r>
              <a:rPr sz="3950" spc="22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widget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so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that</a:t>
            </a:r>
            <a:r>
              <a:rPr sz="3950" spc="2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22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</a:t>
            </a:r>
            <a:r>
              <a:rPr sz="3950" spc="2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occupies</a:t>
            </a:r>
            <a:r>
              <a:rPr sz="3950" spc="22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only</a:t>
            </a:r>
            <a:r>
              <a:rPr sz="3950" spc="24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the </a:t>
            </a:r>
            <a:r>
              <a:rPr sz="3950" dirty="0">
                <a:latin typeface="Times New Roman"/>
                <a:cs typeface="Times New Roman"/>
              </a:rPr>
              <a:t>available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space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along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main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axis.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When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create</a:t>
            </a:r>
            <a:r>
              <a:rPr sz="3950" spc="2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multiple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children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then</a:t>
            </a:r>
            <a:r>
              <a:rPr sz="3950" spc="2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254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available </a:t>
            </a:r>
            <a:r>
              <a:rPr sz="3950" dirty="0">
                <a:latin typeface="Times New Roman"/>
                <a:cs typeface="Times New Roman"/>
              </a:rPr>
              <a:t>space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between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children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will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divide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according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flex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factor.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080" y="0"/>
            <a:ext cx="19700018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Expanded</a:t>
            </a:r>
            <a:r>
              <a:rPr sz="7900" spc="-35" dirty="0"/>
              <a:t> </a:t>
            </a:r>
            <a:r>
              <a:rPr sz="7900" dirty="0"/>
              <a:t>Class</a:t>
            </a:r>
            <a:r>
              <a:rPr sz="7900" spc="-35" dirty="0"/>
              <a:t> </a:t>
            </a:r>
            <a:r>
              <a:rPr sz="7900" dirty="0"/>
              <a:t>in</a:t>
            </a:r>
            <a:r>
              <a:rPr sz="7900" spc="-30" dirty="0"/>
              <a:t> </a:t>
            </a:r>
            <a:r>
              <a:rPr sz="7900" spc="-10" dirty="0"/>
              <a:t>Flutter</a:t>
            </a:r>
            <a:endParaRPr sz="79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7500" y="3136239"/>
            <a:ext cx="7528985" cy="56165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2031" y="2882290"/>
            <a:ext cx="9933940" cy="564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4715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Properties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of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Expanded</a:t>
            </a:r>
            <a:r>
              <a:rPr sz="3950" b="1" spc="5" dirty="0">
                <a:latin typeface="Arial"/>
                <a:cs typeface="Arial"/>
              </a:rPr>
              <a:t> </a:t>
            </a:r>
            <a:r>
              <a:rPr sz="3950" b="1" spc="-10" dirty="0">
                <a:latin typeface="Arial"/>
                <a:cs typeface="Arial"/>
              </a:rPr>
              <a:t>Class:</a:t>
            </a:r>
            <a:endParaRPr sz="3950">
              <a:latin typeface="Arial"/>
              <a:cs typeface="Arial"/>
            </a:endParaRPr>
          </a:p>
          <a:p>
            <a:pPr marL="481330" marR="5080" indent="-469265" algn="just">
              <a:lnSpc>
                <a:spcPts val="3960"/>
              </a:lnSpc>
              <a:spcBef>
                <a:spcPts val="105"/>
              </a:spcBef>
              <a:buFont typeface="Arial MT"/>
              <a:buChar char="•"/>
              <a:tabLst>
                <a:tab pos="483870" algn="l"/>
              </a:tabLst>
            </a:pPr>
            <a:r>
              <a:rPr sz="3300" b="1" dirty="0">
                <a:latin typeface="Arial"/>
                <a:cs typeface="Arial"/>
              </a:rPr>
              <a:t>child:</a:t>
            </a:r>
            <a:r>
              <a:rPr sz="3300" b="1" spc="370" dirty="0">
                <a:latin typeface="Arial"/>
                <a:cs typeface="Arial"/>
              </a:rPr>
              <a:t>  </a:t>
            </a:r>
            <a:r>
              <a:rPr sz="3300" dirty="0">
                <a:latin typeface="Arial MT"/>
                <a:cs typeface="Arial MT"/>
              </a:rPr>
              <a:t>This</a:t>
            </a:r>
            <a:r>
              <a:rPr sz="3300" spc="37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is</a:t>
            </a:r>
            <a:r>
              <a:rPr sz="3300" spc="37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37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widget</a:t>
            </a:r>
            <a:r>
              <a:rPr sz="3300" spc="37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present</a:t>
            </a:r>
            <a:r>
              <a:rPr sz="3300" spc="37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below</a:t>
            </a:r>
            <a:r>
              <a:rPr sz="3300" spc="370" dirty="0">
                <a:latin typeface="Arial MT"/>
                <a:cs typeface="Arial MT"/>
              </a:rPr>
              <a:t>  </a:t>
            </a:r>
            <a:r>
              <a:rPr sz="3300" spc="-25" dirty="0">
                <a:latin typeface="Arial MT"/>
                <a:cs typeface="Arial MT"/>
              </a:rPr>
              <a:t>the 	</a:t>
            </a:r>
            <a:r>
              <a:rPr sz="3300" dirty="0">
                <a:latin typeface="Arial MT"/>
                <a:cs typeface="Arial MT"/>
              </a:rPr>
              <a:t>expanded</a:t>
            </a:r>
            <a:r>
              <a:rPr sz="3300" spc="-15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class</a:t>
            </a:r>
            <a:endParaRPr sz="3300">
              <a:latin typeface="Arial MT"/>
              <a:cs typeface="Arial MT"/>
            </a:endParaRPr>
          </a:p>
          <a:p>
            <a:pPr marL="481965" indent="-469265" algn="just">
              <a:lnSpc>
                <a:spcPts val="3820"/>
              </a:lnSpc>
              <a:buFont typeface="Arial MT"/>
              <a:buChar char="•"/>
              <a:tabLst>
                <a:tab pos="481965" algn="l"/>
              </a:tabLst>
            </a:pPr>
            <a:r>
              <a:rPr sz="3300" b="1" dirty="0">
                <a:latin typeface="Arial"/>
                <a:cs typeface="Arial"/>
              </a:rPr>
              <a:t>Flex</a:t>
            </a:r>
            <a:r>
              <a:rPr sz="3300" b="1" spc="215" dirty="0">
                <a:latin typeface="Arial"/>
                <a:cs typeface="Arial"/>
              </a:rPr>
              <a:t>  </a:t>
            </a:r>
            <a:r>
              <a:rPr sz="3300" b="1" dirty="0">
                <a:latin typeface="Arial"/>
                <a:cs typeface="Arial"/>
              </a:rPr>
              <a:t>factor:</a:t>
            </a:r>
            <a:r>
              <a:rPr sz="3300" b="1" spc="215" dirty="0">
                <a:latin typeface="Arial"/>
                <a:cs typeface="Arial"/>
              </a:rPr>
              <a:t>  </a:t>
            </a:r>
            <a:r>
              <a:rPr sz="3300" dirty="0">
                <a:latin typeface="Arial MT"/>
                <a:cs typeface="Arial MT"/>
              </a:rPr>
              <a:t>Flex</a:t>
            </a:r>
            <a:r>
              <a:rPr sz="3300" spc="21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factor</a:t>
            </a:r>
            <a:r>
              <a:rPr sz="3300" spc="21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is</a:t>
            </a:r>
            <a:r>
              <a:rPr sz="3300" spc="21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21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ratio</a:t>
            </a:r>
            <a:r>
              <a:rPr sz="3300" spc="21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in</a:t>
            </a:r>
            <a:r>
              <a:rPr sz="3300" spc="220" dirty="0">
                <a:latin typeface="Arial MT"/>
                <a:cs typeface="Arial MT"/>
              </a:rPr>
              <a:t>  </a:t>
            </a:r>
            <a:r>
              <a:rPr sz="3300" spc="-10" dirty="0">
                <a:latin typeface="Arial MT"/>
                <a:cs typeface="Arial MT"/>
              </a:rPr>
              <a:t>which</a:t>
            </a:r>
            <a:endParaRPr sz="3300">
              <a:latin typeface="Arial MT"/>
              <a:cs typeface="Arial MT"/>
            </a:endParaRPr>
          </a:p>
          <a:p>
            <a:pPr marL="483870" marR="5080" algn="just">
              <a:lnSpc>
                <a:spcPts val="3960"/>
              </a:lnSpc>
              <a:spcBef>
                <a:spcPts val="130"/>
              </a:spcBef>
            </a:pPr>
            <a:r>
              <a:rPr sz="3300" dirty="0">
                <a:latin typeface="Arial MT"/>
                <a:cs typeface="Arial MT"/>
              </a:rPr>
              <a:t>available</a:t>
            </a:r>
            <a:r>
              <a:rPr sz="3300" spc="5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space</a:t>
            </a:r>
            <a:r>
              <a:rPr sz="3300" spc="5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is</a:t>
            </a:r>
            <a:r>
              <a:rPr sz="3300" spc="5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divided</a:t>
            </a:r>
            <a:r>
              <a:rPr sz="3300" spc="5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among</a:t>
            </a:r>
            <a:r>
              <a:rPr sz="3300" spc="5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5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children</a:t>
            </a:r>
            <a:r>
              <a:rPr sz="3300" spc="50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to </a:t>
            </a:r>
            <a:r>
              <a:rPr sz="3300" dirty="0">
                <a:latin typeface="Arial MT"/>
                <a:cs typeface="Arial MT"/>
              </a:rPr>
              <a:t>occupy</a:t>
            </a:r>
            <a:r>
              <a:rPr sz="3300" spc="39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4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main</a:t>
            </a:r>
            <a:r>
              <a:rPr sz="3300" spc="39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axis.</a:t>
            </a:r>
            <a:r>
              <a:rPr sz="3300" spc="4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If</a:t>
            </a:r>
            <a:r>
              <a:rPr sz="3300" spc="4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39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flex</a:t>
            </a:r>
            <a:r>
              <a:rPr sz="3300" spc="39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factor</a:t>
            </a:r>
            <a:r>
              <a:rPr sz="3300" spc="39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is</a:t>
            </a:r>
            <a:r>
              <a:rPr sz="3300" spc="39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zero</a:t>
            </a:r>
            <a:r>
              <a:rPr sz="3300" spc="400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or </a:t>
            </a:r>
            <a:r>
              <a:rPr sz="3300" dirty="0">
                <a:latin typeface="Arial MT"/>
                <a:cs typeface="Arial MT"/>
              </a:rPr>
              <a:t>NULL,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7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child</a:t>
            </a:r>
            <a:r>
              <a:rPr sz="3300" spc="-6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will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allocate</a:t>
            </a:r>
            <a:r>
              <a:rPr sz="3300" spc="-6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its</a:t>
            </a:r>
            <a:r>
              <a:rPr sz="3300" spc="-7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size</a:t>
            </a:r>
            <a:r>
              <a:rPr sz="3300" spc="-6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on</a:t>
            </a:r>
            <a:r>
              <a:rPr sz="3300" spc="-7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its</a:t>
            </a:r>
            <a:r>
              <a:rPr sz="3300" spc="-65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own.</a:t>
            </a:r>
            <a:endParaRPr sz="3300">
              <a:latin typeface="Arial MT"/>
              <a:cs typeface="Arial MT"/>
            </a:endParaRPr>
          </a:p>
          <a:p>
            <a:pPr marL="481965" indent="-469265" algn="just">
              <a:lnSpc>
                <a:spcPts val="3820"/>
              </a:lnSpc>
              <a:buFont typeface="Arial MT"/>
              <a:buChar char="•"/>
              <a:tabLst>
                <a:tab pos="481965" algn="l"/>
              </a:tabLst>
            </a:pPr>
            <a:r>
              <a:rPr sz="3300" b="1" dirty="0">
                <a:latin typeface="Arial"/>
                <a:cs typeface="Arial"/>
              </a:rPr>
              <a:t>Key:</a:t>
            </a:r>
            <a:r>
              <a:rPr sz="3300" b="1" spc="520" dirty="0">
                <a:latin typeface="Arial"/>
                <a:cs typeface="Arial"/>
              </a:rPr>
              <a:t> </a:t>
            </a:r>
            <a:r>
              <a:rPr sz="3300" dirty="0">
                <a:latin typeface="Arial MT"/>
                <a:cs typeface="Arial MT"/>
              </a:rPr>
              <a:t>It</a:t>
            </a:r>
            <a:r>
              <a:rPr sz="3300" spc="5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manages</a:t>
            </a:r>
            <a:r>
              <a:rPr sz="3300" spc="5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how</a:t>
            </a:r>
            <a:r>
              <a:rPr sz="3300" spc="5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one</a:t>
            </a:r>
            <a:r>
              <a:rPr sz="3300" spc="5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widget</a:t>
            </a:r>
            <a:r>
              <a:rPr sz="3300" spc="5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is</a:t>
            </a:r>
            <a:r>
              <a:rPr sz="3300" spc="5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replaced</a:t>
            </a:r>
            <a:r>
              <a:rPr sz="3300" spc="520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by</a:t>
            </a:r>
            <a:endParaRPr sz="3300">
              <a:latin typeface="Arial MT"/>
              <a:cs typeface="Arial MT"/>
            </a:endParaRPr>
          </a:p>
          <a:p>
            <a:pPr marL="483870" algn="just">
              <a:lnSpc>
                <a:spcPts val="3954"/>
              </a:lnSpc>
            </a:pPr>
            <a:r>
              <a:rPr sz="3300" dirty="0">
                <a:latin typeface="Arial MT"/>
                <a:cs typeface="Arial MT"/>
              </a:rPr>
              <a:t>another</a:t>
            </a:r>
            <a:r>
              <a:rPr sz="3300" spc="-114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widget</a:t>
            </a:r>
            <a:endParaRPr sz="3300">
              <a:latin typeface="Arial MT"/>
              <a:cs typeface="Arial MT"/>
            </a:endParaRPr>
          </a:p>
          <a:p>
            <a:pPr marL="481330" marR="5080" indent="-469265" algn="just">
              <a:lnSpc>
                <a:spcPts val="3960"/>
              </a:lnSpc>
              <a:spcBef>
                <a:spcPts val="100"/>
              </a:spcBef>
              <a:buFont typeface="Arial MT"/>
              <a:buChar char="•"/>
              <a:tabLst>
                <a:tab pos="483870" algn="l"/>
              </a:tabLst>
            </a:pPr>
            <a:r>
              <a:rPr sz="3300" b="1" dirty="0">
                <a:latin typeface="Arial"/>
                <a:cs typeface="Arial"/>
              </a:rPr>
              <a:t>FlexFit:</a:t>
            </a:r>
            <a:r>
              <a:rPr sz="3300" b="1" spc="190" dirty="0">
                <a:latin typeface="Arial"/>
                <a:cs typeface="Arial"/>
              </a:rPr>
              <a:t>  </a:t>
            </a:r>
            <a:r>
              <a:rPr sz="3300" dirty="0">
                <a:latin typeface="Arial MT"/>
                <a:cs typeface="Arial MT"/>
              </a:rPr>
              <a:t>It</a:t>
            </a:r>
            <a:r>
              <a:rPr sz="3300" spc="18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defines</a:t>
            </a:r>
            <a:r>
              <a:rPr sz="3300" spc="18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how</a:t>
            </a:r>
            <a:r>
              <a:rPr sz="3300" spc="19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flexible</a:t>
            </a:r>
            <a:r>
              <a:rPr sz="3300" spc="190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one</a:t>
            </a:r>
            <a:r>
              <a:rPr sz="3300" spc="185" dirty="0">
                <a:latin typeface="Arial MT"/>
                <a:cs typeface="Arial MT"/>
              </a:rPr>
              <a:t>  </a:t>
            </a:r>
            <a:r>
              <a:rPr sz="3300" dirty="0">
                <a:latin typeface="Arial MT"/>
                <a:cs typeface="Arial MT"/>
              </a:rPr>
              <a:t>widget</a:t>
            </a:r>
            <a:r>
              <a:rPr sz="3300" spc="190" dirty="0">
                <a:latin typeface="Arial MT"/>
                <a:cs typeface="Arial MT"/>
              </a:rPr>
              <a:t>  </a:t>
            </a:r>
            <a:r>
              <a:rPr sz="3300" spc="-25" dirty="0">
                <a:latin typeface="Arial MT"/>
                <a:cs typeface="Arial MT"/>
              </a:rPr>
              <a:t>to 	</a:t>
            </a:r>
            <a:r>
              <a:rPr sz="3300" dirty="0">
                <a:latin typeface="Arial MT"/>
                <a:cs typeface="Arial MT"/>
              </a:rPr>
              <a:t>acquire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available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space.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729" y="0"/>
            <a:ext cx="19719368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Expanded</a:t>
            </a:r>
            <a:r>
              <a:rPr sz="7900" spc="-35" dirty="0"/>
              <a:t> </a:t>
            </a:r>
            <a:r>
              <a:rPr sz="7900" dirty="0"/>
              <a:t>Class</a:t>
            </a:r>
            <a:r>
              <a:rPr sz="7900" spc="-35" dirty="0"/>
              <a:t> </a:t>
            </a:r>
            <a:r>
              <a:rPr sz="7900" dirty="0"/>
              <a:t>in</a:t>
            </a:r>
            <a:r>
              <a:rPr sz="7900" spc="-30" dirty="0"/>
              <a:t> </a:t>
            </a:r>
            <a:r>
              <a:rPr sz="7900" spc="-10" dirty="0"/>
              <a:t>Flutter</a:t>
            </a:r>
            <a:endParaRPr sz="79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1585" y="3101306"/>
            <a:ext cx="3329741" cy="57563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81178" y="3101306"/>
            <a:ext cx="3251209" cy="5638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4032" y="4354915"/>
            <a:ext cx="7898765" cy="1231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Flutter</a:t>
            </a:r>
            <a:r>
              <a:rPr sz="7900" spc="-25" dirty="0"/>
              <a:t> </a:t>
            </a:r>
            <a:r>
              <a:rPr sz="7900" dirty="0"/>
              <a:t>–</a:t>
            </a:r>
            <a:r>
              <a:rPr sz="7900" spc="-25" dirty="0"/>
              <a:t> </a:t>
            </a:r>
            <a:r>
              <a:rPr sz="7900" spc="-10" dirty="0"/>
              <a:t>Dialogs</a:t>
            </a:r>
            <a:endParaRPr sz="7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340" y="0"/>
            <a:ext cx="19464757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115"/>
              </a:spcBef>
            </a:pPr>
            <a:r>
              <a:rPr sz="7900" dirty="0"/>
              <a:t>Flutter</a:t>
            </a:r>
            <a:r>
              <a:rPr sz="7900" spc="-25" dirty="0"/>
              <a:t> </a:t>
            </a:r>
            <a:r>
              <a:rPr sz="7900" dirty="0"/>
              <a:t>–</a:t>
            </a:r>
            <a:r>
              <a:rPr sz="7900" spc="-25" dirty="0"/>
              <a:t> </a:t>
            </a:r>
            <a:r>
              <a:rPr sz="7900" spc="-10" dirty="0"/>
              <a:t>Dialogs</a:t>
            </a:r>
            <a:endParaRPr sz="79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345" dirty="0"/>
              <a:t> </a:t>
            </a:r>
            <a:r>
              <a:rPr dirty="0"/>
              <a:t>dialog</a:t>
            </a:r>
            <a:r>
              <a:rPr spc="360" dirty="0"/>
              <a:t> </a:t>
            </a:r>
            <a:r>
              <a:rPr dirty="0"/>
              <a:t>is</a:t>
            </a:r>
            <a:r>
              <a:rPr spc="355" dirty="0"/>
              <a:t> </a:t>
            </a:r>
            <a:r>
              <a:rPr dirty="0"/>
              <a:t>a</a:t>
            </a:r>
            <a:r>
              <a:rPr spc="355" dirty="0"/>
              <a:t> </a:t>
            </a:r>
            <a:r>
              <a:rPr dirty="0"/>
              <a:t>type</a:t>
            </a:r>
            <a:r>
              <a:rPr spc="355" dirty="0"/>
              <a:t> </a:t>
            </a:r>
            <a:r>
              <a:rPr dirty="0"/>
              <a:t>of</a:t>
            </a:r>
            <a:r>
              <a:rPr spc="360" dirty="0"/>
              <a:t> </a:t>
            </a:r>
            <a:r>
              <a:rPr dirty="0"/>
              <a:t>widget</a:t>
            </a:r>
            <a:r>
              <a:rPr spc="360" dirty="0"/>
              <a:t> </a:t>
            </a:r>
            <a:r>
              <a:rPr dirty="0"/>
              <a:t>which</a:t>
            </a:r>
            <a:r>
              <a:rPr spc="360" dirty="0"/>
              <a:t> </a:t>
            </a:r>
            <a:r>
              <a:rPr dirty="0"/>
              <a:t>comes</a:t>
            </a:r>
            <a:r>
              <a:rPr spc="355" dirty="0"/>
              <a:t> </a:t>
            </a:r>
            <a:r>
              <a:rPr dirty="0"/>
              <a:t>on</a:t>
            </a:r>
            <a:r>
              <a:rPr spc="360" dirty="0"/>
              <a:t> </a:t>
            </a:r>
            <a:r>
              <a:rPr dirty="0"/>
              <a:t>the</a:t>
            </a:r>
            <a:r>
              <a:rPr spc="355" dirty="0"/>
              <a:t> </a:t>
            </a:r>
            <a:r>
              <a:rPr dirty="0"/>
              <a:t>window</a:t>
            </a:r>
            <a:r>
              <a:rPr spc="360" dirty="0"/>
              <a:t> </a:t>
            </a:r>
            <a:r>
              <a:rPr dirty="0"/>
              <a:t>or</a:t>
            </a:r>
            <a:r>
              <a:rPr spc="360" dirty="0"/>
              <a:t> </a:t>
            </a:r>
            <a:r>
              <a:rPr dirty="0"/>
              <a:t>the</a:t>
            </a:r>
            <a:r>
              <a:rPr spc="355" dirty="0"/>
              <a:t> </a:t>
            </a:r>
            <a:r>
              <a:rPr dirty="0"/>
              <a:t>screen</a:t>
            </a:r>
            <a:r>
              <a:rPr spc="355" dirty="0"/>
              <a:t> </a:t>
            </a:r>
            <a:r>
              <a:rPr dirty="0"/>
              <a:t>which</a:t>
            </a:r>
            <a:r>
              <a:rPr spc="360" dirty="0"/>
              <a:t> </a:t>
            </a:r>
            <a:r>
              <a:rPr spc="-10" dirty="0"/>
              <a:t>contains </a:t>
            </a:r>
            <a:r>
              <a:rPr dirty="0"/>
              <a:t>any</a:t>
            </a:r>
            <a:r>
              <a:rPr spc="20" dirty="0"/>
              <a:t> </a:t>
            </a:r>
            <a:r>
              <a:rPr dirty="0"/>
              <a:t>critical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20" dirty="0"/>
              <a:t> </a:t>
            </a:r>
            <a:r>
              <a:rPr dirty="0"/>
              <a:t>or</a:t>
            </a:r>
            <a:r>
              <a:rPr spc="20" dirty="0"/>
              <a:t> </a:t>
            </a:r>
            <a:r>
              <a:rPr dirty="0"/>
              <a:t>can</a:t>
            </a:r>
            <a:r>
              <a:rPr spc="20" dirty="0"/>
              <a:t> </a:t>
            </a:r>
            <a:r>
              <a:rPr dirty="0"/>
              <a:t>ask</a:t>
            </a:r>
            <a:r>
              <a:rPr spc="3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any</a:t>
            </a:r>
            <a:r>
              <a:rPr spc="20" dirty="0"/>
              <a:t> </a:t>
            </a:r>
            <a:r>
              <a:rPr dirty="0"/>
              <a:t>decision.</a:t>
            </a:r>
            <a:r>
              <a:rPr spc="25" dirty="0"/>
              <a:t> </a:t>
            </a:r>
            <a:r>
              <a:rPr dirty="0"/>
              <a:t>When</a:t>
            </a:r>
            <a:r>
              <a:rPr spc="2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dialog</a:t>
            </a:r>
            <a:r>
              <a:rPr spc="25" dirty="0"/>
              <a:t> </a:t>
            </a:r>
            <a:r>
              <a:rPr dirty="0"/>
              <a:t>box</a:t>
            </a:r>
            <a:r>
              <a:rPr spc="20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dirty="0"/>
              <a:t>popped</a:t>
            </a:r>
            <a:r>
              <a:rPr spc="20" dirty="0"/>
              <a:t> </a:t>
            </a:r>
            <a:r>
              <a:rPr dirty="0"/>
              <a:t>up</a:t>
            </a:r>
            <a:r>
              <a:rPr spc="25" dirty="0"/>
              <a:t> </a:t>
            </a:r>
            <a:r>
              <a:rPr dirty="0"/>
              <a:t>all</a:t>
            </a:r>
            <a:r>
              <a:rPr spc="25" dirty="0"/>
              <a:t> </a:t>
            </a:r>
            <a:r>
              <a:rPr spc="-25" dirty="0"/>
              <a:t>the </a:t>
            </a:r>
            <a:r>
              <a:rPr dirty="0"/>
              <a:t>other</a:t>
            </a:r>
            <a:r>
              <a:rPr spc="175" dirty="0"/>
              <a:t> </a:t>
            </a:r>
            <a:r>
              <a:rPr dirty="0"/>
              <a:t>functions</a:t>
            </a:r>
            <a:r>
              <a:rPr spc="165" dirty="0"/>
              <a:t> </a:t>
            </a:r>
            <a:r>
              <a:rPr dirty="0"/>
              <a:t>get</a:t>
            </a:r>
            <a:r>
              <a:rPr spc="175" dirty="0"/>
              <a:t> </a:t>
            </a:r>
            <a:r>
              <a:rPr dirty="0"/>
              <a:t>disabled</a:t>
            </a:r>
            <a:r>
              <a:rPr spc="170" dirty="0"/>
              <a:t> </a:t>
            </a:r>
            <a:r>
              <a:rPr dirty="0"/>
              <a:t>until</a:t>
            </a:r>
            <a:r>
              <a:rPr spc="175" dirty="0"/>
              <a:t> </a:t>
            </a:r>
            <a:r>
              <a:rPr dirty="0"/>
              <a:t>you</a:t>
            </a:r>
            <a:r>
              <a:rPr spc="170" dirty="0"/>
              <a:t> </a:t>
            </a:r>
            <a:r>
              <a:rPr dirty="0"/>
              <a:t>close</a:t>
            </a:r>
            <a:r>
              <a:rPr spc="170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dialog</a:t>
            </a:r>
            <a:r>
              <a:rPr spc="175" dirty="0"/>
              <a:t> </a:t>
            </a:r>
            <a:r>
              <a:rPr dirty="0"/>
              <a:t>box</a:t>
            </a:r>
            <a:r>
              <a:rPr spc="170" dirty="0"/>
              <a:t> </a:t>
            </a:r>
            <a:r>
              <a:rPr dirty="0"/>
              <a:t>or</a:t>
            </a:r>
            <a:r>
              <a:rPr spc="175" dirty="0"/>
              <a:t> </a:t>
            </a:r>
            <a:r>
              <a:rPr dirty="0"/>
              <a:t>provide</a:t>
            </a:r>
            <a:r>
              <a:rPr spc="165" dirty="0"/>
              <a:t> </a:t>
            </a:r>
            <a:r>
              <a:rPr dirty="0"/>
              <a:t>an</a:t>
            </a:r>
            <a:r>
              <a:rPr spc="175" dirty="0"/>
              <a:t> </a:t>
            </a:r>
            <a:r>
              <a:rPr dirty="0"/>
              <a:t>answer.</a:t>
            </a:r>
            <a:r>
              <a:rPr spc="170" dirty="0"/>
              <a:t> </a:t>
            </a:r>
            <a:r>
              <a:rPr dirty="0"/>
              <a:t>We</a:t>
            </a:r>
            <a:r>
              <a:rPr spc="170" dirty="0"/>
              <a:t> </a:t>
            </a:r>
            <a:r>
              <a:rPr dirty="0"/>
              <a:t>use</a:t>
            </a:r>
            <a:r>
              <a:rPr spc="165" dirty="0"/>
              <a:t> </a:t>
            </a:r>
            <a:r>
              <a:rPr spc="-50" dirty="0"/>
              <a:t>a </a:t>
            </a:r>
            <a:r>
              <a:rPr dirty="0"/>
              <a:t>dialog</a:t>
            </a:r>
            <a:r>
              <a:rPr spc="70" dirty="0"/>
              <a:t>  </a:t>
            </a:r>
            <a:r>
              <a:rPr dirty="0"/>
              <a:t>box</a:t>
            </a:r>
            <a:r>
              <a:rPr spc="80" dirty="0"/>
              <a:t>  </a:t>
            </a:r>
            <a:r>
              <a:rPr dirty="0"/>
              <a:t>for</a:t>
            </a:r>
            <a:r>
              <a:rPr spc="85" dirty="0"/>
              <a:t>  </a:t>
            </a:r>
            <a:r>
              <a:rPr dirty="0"/>
              <a:t>a</a:t>
            </a:r>
            <a:r>
              <a:rPr spc="80" dirty="0"/>
              <a:t>  </a:t>
            </a:r>
            <a:r>
              <a:rPr dirty="0"/>
              <a:t>different</a:t>
            </a:r>
            <a:r>
              <a:rPr spc="80" dirty="0"/>
              <a:t>  </a:t>
            </a:r>
            <a:r>
              <a:rPr dirty="0"/>
              <a:t>type</a:t>
            </a:r>
            <a:r>
              <a:rPr spc="80" dirty="0"/>
              <a:t>  </a:t>
            </a:r>
            <a:r>
              <a:rPr dirty="0"/>
              <a:t>of</a:t>
            </a:r>
            <a:r>
              <a:rPr spc="80" dirty="0"/>
              <a:t>  </a:t>
            </a:r>
            <a:r>
              <a:rPr dirty="0"/>
              <a:t>condition</a:t>
            </a:r>
            <a:r>
              <a:rPr spc="80" dirty="0"/>
              <a:t>  </a:t>
            </a:r>
            <a:r>
              <a:rPr dirty="0"/>
              <a:t>such</a:t>
            </a:r>
            <a:r>
              <a:rPr spc="80" dirty="0"/>
              <a:t>  </a:t>
            </a:r>
            <a:r>
              <a:rPr dirty="0"/>
              <a:t>as</a:t>
            </a:r>
            <a:r>
              <a:rPr spc="80" dirty="0"/>
              <a:t>  </a:t>
            </a:r>
            <a:r>
              <a:rPr dirty="0"/>
              <a:t>an</a:t>
            </a:r>
            <a:r>
              <a:rPr spc="85" dirty="0"/>
              <a:t>  </a:t>
            </a:r>
            <a:r>
              <a:rPr dirty="0"/>
              <a:t>alert</a:t>
            </a:r>
            <a:r>
              <a:rPr spc="80" dirty="0"/>
              <a:t>  </a:t>
            </a:r>
            <a:r>
              <a:rPr dirty="0"/>
              <a:t>notification,</a:t>
            </a:r>
            <a:r>
              <a:rPr spc="80" dirty="0"/>
              <a:t>  </a:t>
            </a:r>
            <a:r>
              <a:rPr dirty="0"/>
              <a:t>or</a:t>
            </a:r>
            <a:r>
              <a:rPr spc="85" dirty="0"/>
              <a:t>  </a:t>
            </a:r>
            <a:r>
              <a:rPr spc="-10" dirty="0"/>
              <a:t>simple </a:t>
            </a:r>
            <a:r>
              <a:rPr dirty="0"/>
              <a:t>notification</a:t>
            </a:r>
            <a:r>
              <a:rPr spc="400" dirty="0"/>
              <a:t> </a:t>
            </a:r>
            <a:r>
              <a:rPr dirty="0"/>
              <a:t>in</a:t>
            </a:r>
            <a:r>
              <a:rPr spc="409" dirty="0"/>
              <a:t> </a:t>
            </a:r>
            <a:r>
              <a:rPr dirty="0"/>
              <a:t>which</a:t>
            </a:r>
            <a:r>
              <a:rPr spc="409" dirty="0"/>
              <a:t> </a:t>
            </a:r>
            <a:r>
              <a:rPr dirty="0"/>
              <a:t>different</a:t>
            </a:r>
            <a:r>
              <a:rPr spc="409" dirty="0"/>
              <a:t> </a:t>
            </a:r>
            <a:r>
              <a:rPr dirty="0"/>
              <a:t>options</a:t>
            </a:r>
            <a:r>
              <a:rPr spc="409" dirty="0"/>
              <a:t> </a:t>
            </a:r>
            <a:r>
              <a:rPr dirty="0"/>
              <a:t>are</a:t>
            </a:r>
            <a:r>
              <a:rPr spc="400" dirty="0"/>
              <a:t> </a:t>
            </a:r>
            <a:r>
              <a:rPr dirty="0"/>
              <a:t>shown,</a:t>
            </a:r>
            <a:r>
              <a:rPr spc="415" dirty="0"/>
              <a:t> </a:t>
            </a:r>
            <a:r>
              <a:rPr dirty="0"/>
              <a:t>or</a:t>
            </a:r>
            <a:r>
              <a:rPr spc="409" dirty="0"/>
              <a:t> </a:t>
            </a:r>
            <a:r>
              <a:rPr dirty="0"/>
              <a:t>we</a:t>
            </a:r>
            <a:r>
              <a:rPr spc="405" dirty="0"/>
              <a:t> </a:t>
            </a:r>
            <a:r>
              <a:rPr dirty="0"/>
              <a:t>can</a:t>
            </a:r>
            <a:r>
              <a:rPr spc="409" dirty="0"/>
              <a:t> </a:t>
            </a:r>
            <a:r>
              <a:rPr dirty="0"/>
              <a:t>also</a:t>
            </a:r>
            <a:r>
              <a:rPr spc="409" dirty="0"/>
              <a:t> </a:t>
            </a:r>
            <a:r>
              <a:rPr dirty="0"/>
              <a:t>make</a:t>
            </a:r>
            <a:r>
              <a:rPr spc="400" dirty="0"/>
              <a:t> </a:t>
            </a:r>
            <a:r>
              <a:rPr dirty="0"/>
              <a:t>a</a:t>
            </a:r>
            <a:r>
              <a:rPr spc="405" dirty="0"/>
              <a:t> </a:t>
            </a:r>
            <a:r>
              <a:rPr dirty="0"/>
              <a:t>dialog</a:t>
            </a:r>
            <a:r>
              <a:rPr spc="405" dirty="0"/>
              <a:t> </a:t>
            </a:r>
            <a:r>
              <a:rPr dirty="0"/>
              <a:t>box</a:t>
            </a:r>
            <a:r>
              <a:rPr spc="409" dirty="0"/>
              <a:t> </a:t>
            </a:r>
            <a:r>
              <a:rPr spc="-20" dirty="0"/>
              <a:t>that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used</a:t>
            </a:r>
            <a:r>
              <a:rPr spc="-10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tab</a:t>
            </a:r>
            <a:r>
              <a:rPr spc="-1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showing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dialog</a:t>
            </a:r>
            <a:r>
              <a:rPr spc="-10" dirty="0"/>
              <a:t> </a:t>
            </a:r>
            <a:r>
              <a:rPr spc="-20" dirty="0"/>
              <a:t>box.</a:t>
            </a:r>
          </a:p>
          <a:p>
            <a:pPr>
              <a:lnSpc>
                <a:spcPct val="100000"/>
              </a:lnSpc>
              <a:spcBef>
                <a:spcPts val="3635"/>
              </a:spcBef>
            </a:pPr>
            <a:endParaRPr spc="-20" dirty="0"/>
          </a:p>
          <a:p>
            <a:pPr marL="204470">
              <a:lnSpc>
                <a:spcPct val="100000"/>
              </a:lnSpc>
            </a:pPr>
            <a:r>
              <a:rPr sz="3600" b="1" dirty="0">
                <a:latin typeface="Arial"/>
                <a:cs typeface="Arial"/>
              </a:rPr>
              <a:t>Types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of</a:t>
            </a:r>
            <a:r>
              <a:rPr sz="3600" b="1" spc="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dialogs</a:t>
            </a:r>
            <a:r>
              <a:rPr sz="3600" b="1" spc="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</a:t>
            </a:r>
            <a:r>
              <a:rPr sz="3600" b="1" spc="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flutter</a:t>
            </a:r>
            <a:endParaRPr sz="3600">
              <a:latin typeface="Arial"/>
              <a:cs typeface="Arial"/>
            </a:endParaRPr>
          </a:p>
          <a:p>
            <a:pPr marL="365125" indent="-168275">
              <a:lnSpc>
                <a:spcPts val="4295"/>
              </a:lnSpc>
              <a:spcBef>
                <a:spcPts val="55"/>
              </a:spcBef>
              <a:buSzPct val="97222"/>
              <a:buChar char="•"/>
              <a:tabLst>
                <a:tab pos="365125" algn="l"/>
              </a:tabLst>
            </a:pPr>
            <a:r>
              <a:rPr sz="3600" spc="-10" dirty="0">
                <a:latin typeface="Arial MT"/>
                <a:cs typeface="Arial MT"/>
              </a:rPr>
              <a:t>AlertDialog</a:t>
            </a:r>
            <a:endParaRPr sz="3600">
              <a:latin typeface="Arial MT"/>
              <a:cs typeface="Arial MT"/>
            </a:endParaRPr>
          </a:p>
          <a:p>
            <a:pPr marL="365125" indent="-168275">
              <a:lnSpc>
                <a:spcPts val="4295"/>
              </a:lnSpc>
              <a:buSzPct val="97222"/>
              <a:buChar char="•"/>
              <a:tabLst>
                <a:tab pos="365125" algn="l"/>
              </a:tabLst>
            </a:pPr>
            <a:r>
              <a:rPr sz="3600" spc="-10" dirty="0">
                <a:latin typeface="Arial MT"/>
                <a:cs typeface="Arial MT"/>
              </a:rPr>
              <a:t>SimpleDialog</a:t>
            </a:r>
            <a:endParaRPr sz="3600">
              <a:latin typeface="Arial MT"/>
              <a:cs typeface="Arial MT"/>
            </a:endParaRPr>
          </a:p>
          <a:p>
            <a:pPr marL="365125" indent="-168275">
              <a:lnSpc>
                <a:spcPct val="100000"/>
              </a:lnSpc>
              <a:spcBef>
                <a:spcPts val="50"/>
              </a:spcBef>
              <a:buSzPct val="97222"/>
              <a:buChar char="•"/>
              <a:tabLst>
                <a:tab pos="365125" algn="l"/>
              </a:tabLst>
            </a:pPr>
            <a:r>
              <a:rPr sz="3600" spc="-10" dirty="0">
                <a:latin typeface="Arial MT"/>
                <a:cs typeface="Arial MT"/>
              </a:rPr>
              <a:t>showDialog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07" y="0"/>
            <a:ext cx="19585790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15"/>
              </a:spcBef>
            </a:pPr>
            <a:r>
              <a:rPr sz="7900" b="0" spc="-10" dirty="0">
                <a:latin typeface="Arial MT"/>
                <a:cs typeface="Arial MT"/>
              </a:rPr>
              <a:t>AlertDialog</a:t>
            </a:r>
            <a:endParaRPr sz="7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4950" dirty="0">
                <a:latin typeface="Arial MT"/>
                <a:cs typeface="Arial MT"/>
              </a:rPr>
              <a:t>Alert</a:t>
            </a:r>
            <a:r>
              <a:rPr sz="4950" spc="83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dialog</a:t>
            </a:r>
            <a:r>
              <a:rPr sz="4950" spc="83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tells</a:t>
            </a:r>
            <a:r>
              <a:rPr sz="4950" spc="83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the</a:t>
            </a:r>
            <a:r>
              <a:rPr sz="4950" spc="84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user</a:t>
            </a:r>
            <a:r>
              <a:rPr sz="4950" spc="84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about</a:t>
            </a:r>
            <a:r>
              <a:rPr sz="4950" spc="819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any</a:t>
            </a:r>
            <a:r>
              <a:rPr sz="4950" spc="83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condition</a:t>
            </a:r>
            <a:r>
              <a:rPr sz="4950" spc="83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that</a:t>
            </a:r>
            <a:r>
              <a:rPr sz="4950" spc="83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requires</a:t>
            </a:r>
            <a:r>
              <a:rPr sz="4950" spc="830" dirty="0">
                <a:latin typeface="Arial MT"/>
                <a:cs typeface="Arial MT"/>
              </a:rPr>
              <a:t> </a:t>
            </a:r>
            <a:r>
              <a:rPr sz="4950" spc="-25" dirty="0">
                <a:latin typeface="Arial MT"/>
                <a:cs typeface="Arial MT"/>
              </a:rPr>
              <a:t>any </a:t>
            </a:r>
            <a:r>
              <a:rPr sz="4950" dirty="0">
                <a:latin typeface="Arial MT"/>
                <a:cs typeface="Arial MT"/>
              </a:rPr>
              <a:t>recognition.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The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alert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dialog</a:t>
            </a:r>
            <a:r>
              <a:rPr sz="4950" spc="30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contains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an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optional</a:t>
            </a:r>
            <a:r>
              <a:rPr sz="4950" spc="30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title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and</a:t>
            </a:r>
            <a:r>
              <a:rPr sz="4950" spc="35" dirty="0">
                <a:latin typeface="Arial MT"/>
                <a:cs typeface="Arial MT"/>
              </a:rPr>
              <a:t>  </a:t>
            </a:r>
            <a:r>
              <a:rPr sz="4950" spc="-25" dirty="0">
                <a:latin typeface="Arial MT"/>
                <a:cs typeface="Arial MT"/>
              </a:rPr>
              <a:t>an </a:t>
            </a:r>
            <a:r>
              <a:rPr sz="4950" dirty="0">
                <a:latin typeface="Arial MT"/>
                <a:cs typeface="Arial MT"/>
              </a:rPr>
              <a:t>optional</a:t>
            </a:r>
            <a:r>
              <a:rPr sz="4950" spc="84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list</a:t>
            </a:r>
            <a:r>
              <a:rPr sz="4950" spc="85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of</a:t>
            </a:r>
            <a:r>
              <a:rPr sz="4950" spc="844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actions.</a:t>
            </a:r>
            <a:r>
              <a:rPr sz="4950" spc="855" dirty="0">
                <a:latin typeface="Arial MT"/>
                <a:cs typeface="Arial MT"/>
              </a:rPr>
              <a:t>  </a:t>
            </a:r>
            <a:r>
              <a:rPr sz="4950" dirty="0">
                <a:latin typeface="Arial MT"/>
                <a:cs typeface="Arial MT"/>
              </a:rPr>
              <a:t>We</a:t>
            </a:r>
            <a:r>
              <a:rPr sz="4950" spc="85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have</a:t>
            </a:r>
            <a:r>
              <a:rPr sz="4950" spc="82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different</a:t>
            </a:r>
            <a:r>
              <a:rPr sz="4950" spc="844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no</a:t>
            </a:r>
            <a:r>
              <a:rPr sz="4950" spc="85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of</a:t>
            </a:r>
            <a:r>
              <a:rPr sz="4950" spc="844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actions</a:t>
            </a:r>
            <a:r>
              <a:rPr sz="4950" spc="85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as</a:t>
            </a:r>
            <a:r>
              <a:rPr sz="4950" spc="850" dirty="0">
                <a:latin typeface="Arial MT"/>
                <a:cs typeface="Arial MT"/>
              </a:rPr>
              <a:t> </a:t>
            </a:r>
            <a:r>
              <a:rPr sz="4950" spc="-25" dirty="0">
                <a:latin typeface="Arial MT"/>
                <a:cs typeface="Arial MT"/>
              </a:rPr>
              <a:t>our </a:t>
            </a:r>
            <a:r>
              <a:rPr sz="4950" dirty="0">
                <a:latin typeface="Arial MT"/>
                <a:cs typeface="Arial MT"/>
              </a:rPr>
              <a:t>requirements.</a:t>
            </a:r>
            <a:r>
              <a:rPr sz="4950" spc="-1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Sometimes</a:t>
            </a:r>
            <a:r>
              <a:rPr sz="4950" spc="-1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the</a:t>
            </a:r>
            <a:r>
              <a:rPr sz="4950" spc="-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content</a:t>
            </a:r>
            <a:r>
              <a:rPr sz="4950" spc="-1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is</a:t>
            </a:r>
            <a:r>
              <a:rPr sz="4950" spc="-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too</a:t>
            </a:r>
            <a:r>
              <a:rPr sz="4950" spc="-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large compared</a:t>
            </a:r>
            <a:r>
              <a:rPr sz="4950" spc="-1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to</a:t>
            </a:r>
            <a:r>
              <a:rPr sz="4950" spc="-5" dirty="0">
                <a:latin typeface="Arial MT"/>
                <a:cs typeface="Arial MT"/>
              </a:rPr>
              <a:t> </a:t>
            </a:r>
            <a:r>
              <a:rPr sz="4950" spc="-25" dirty="0">
                <a:latin typeface="Arial MT"/>
                <a:cs typeface="Arial MT"/>
              </a:rPr>
              <a:t>the </a:t>
            </a:r>
            <a:r>
              <a:rPr sz="4950" dirty="0">
                <a:latin typeface="Arial MT"/>
                <a:cs typeface="Arial MT"/>
              </a:rPr>
              <a:t>screen</a:t>
            </a:r>
            <a:r>
              <a:rPr sz="4950" spc="22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size</a:t>
            </a:r>
            <a:r>
              <a:rPr sz="4950" spc="21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so</a:t>
            </a:r>
            <a:r>
              <a:rPr sz="4950" spc="21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for</a:t>
            </a:r>
            <a:r>
              <a:rPr sz="4950" spc="229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resolving</a:t>
            </a:r>
            <a:r>
              <a:rPr sz="4950" spc="229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this</a:t>
            </a:r>
            <a:r>
              <a:rPr sz="4950" spc="22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problem</a:t>
            </a:r>
            <a:r>
              <a:rPr sz="4950" spc="22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we</a:t>
            </a:r>
            <a:r>
              <a:rPr sz="4950" spc="225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may</a:t>
            </a:r>
            <a:r>
              <a:rPr sz="4950" spc="229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have</a:t>
            </a:r>
            <a:r>
              <a:rPr sz="4950" spc="210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to</a:t>
            </a:r>
            <a:r>
              <a:rPr sz="4950" spc="229" dirty="0">
                <a:latin typeface="Arial MT"/>
                <a:cs typeface="Arial MT"/>
              </a:rPr>
              <a:t> </a:t>
            </a:r>
            <a:r>
              <a:rPr sz="4950" dirty="0">
                <a:latin typeface="Arial MT"/>
                <a:cs typeface="Arial MT"/>
              </a:rPr>
              <a:t>use</a:t>
            </a:r>
            <a:r>
              <a:rPr sz="4950" spc="210" dirty="0">
                <a:latin typeface="Arial MT"/>
                <a:cs typeface="Arial MT"/>
              </a:rPr>
              <a:t> </a:t>
            </a:r>
            <a:r>
              <a:rPr sz="4950" spc="-25" dirty="0">
                <a:latin typeface="Arial MT"/>
                <a:cs typeface="Arial MT"/>
              </a:rPr>
              <a:t>the </a:t>
            </a:r>
            <a:r>
              <a:rPr sz="4950" dirty="0">
                <a:latin typeface="Arial MT"/>
                <a:cs typeface="Arial MT"/>
              </a:rPr>
              <a:t>expanded</a:t>
            </a:r>
            <a:r>
              <a:rPr sz="4950" spc="-65" dirty="0">
                <a:latin typeface="Arial MT"/>
                <a:cs typeface="Arial MT"/>
              </a:rPr>
              <a:t> </a:t>
            </a:r>
            <a:r>
              <a:rPr sz="4950" spc="-10" dirty="0">
                <a:latin typeface="Arial MT"/>
                <a:cs typeface="Arial MT"/>
              </a:rPr>
              <a:t>class.</a:t>
            </a:r>
            <a:endParaRPr sz="4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341" y="120918"/>
            <a:ext cx="19464757" cy="12941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742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115"/>
              </a:spcBef>
            </a:pPr>
            <a:r>
              <a:rPr sz="7900" b="0" spc="-10" dirty="0">
                <a:latin typeface="Arial MT"/>
                <a:cs typeface="Arial MT"/>
              </a:rPr>
              <a:t>AlertDialog</a:t>
            </a:r>
            <a:endParaRPr sz="7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031" y="2869725"/>
            <a:ext cx="9789795" cy="6659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10" dirty="0">
                <a:latin typeface="Times New Roman"/>
                <a:cs typeface="Times New Roman"/>
              </a:rPr>
              <a:t>Properties:</a:t>
            </a:r>
            <a:endParaRPr sz="3950">
              <a:latin typeface="Times New Roman"/>
              <a:cs typeface="Times New Roman"/>
            </a:endParaRPr>
          </a:p>
          <a:p>
            <a:pPr marL="12700" marR="5080" indent="-8890" algn="just">
              <a:lnSpc>
                <a:spcPct val="100000"/>
              </a:lnSpc>
              <a:spcBef>
                <a:spcPts val="5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b="1" dirty="0">
                <a:latin typeface="Times New Roman"/>
                <a:cs typeface="Times New Roman"/>
              </a:rPr>
              <a:t>	Title:</a:t>
            </a:r>
            <a:r>
              <a:rPr sz="3950" b="1" spc="5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5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5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always</a:t>
            </a:r>
            <a:r>
              <a:rPr sz="3950" spc="5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recommended</a:t>
            </a:r>
            <a:r>
              <a:rPr sz="3950" spc="5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55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make</a:t>
            </a:r>
            <a:r>
              <a:rPr sz="3950" spc="55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our </a:t>
            </a:r>
            <a:r>
              <a:rPr sz="3950" dirty="0">
                <a:latin typeface="Times New Roman"/>
                <a:cs typeface="Times New Roman"/>
              </a:rPr>
              <a:t>dialog</a:t>
            </a:r>
            <a:r>
              <a:rPr sz="3950" spc="19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title</a:t>
            </a:r>
            <a:r>
              <a:rPr sz="3950" spc="2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short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possible.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20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will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19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easily </a:t>
            </a:r>
            <a:r>
              <a:rPr sz="3950" dirty="0">
                <a:latin typeface="Times New Roman"/>
                <a:cs typeface="Times New Roman"/>
              </a:rPr>
              <a:t>understandable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user.</a:t>
            </a:r>
            <a:endParaRPr sz="3950">
              <a:latin typeface="Times New Roman"/>
              <a:cs typeface="Times New Roman"/>
            </a:endParaRPr>
          </a:p>
          <a:p>
            <a:pPr marL="12700" marR="5080" indent="-8890">
              <a:lnSpc>
                <a:spcPts val="4690"/>
              </a:lnSpc>
              <a:spcBef>
                <a:spcPts val="245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b="1" dirty="0">
                <a:latin typeface="Times New Roman"/>
                <a:cs typeface="Times New Roman"/>
              </a:rPr>
              <a:t>	Action:</a:t>
            </a:r>
            <a:r>
              <a:rPr sz="3950" b="1" spc="1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used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show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content</a:t>
            </a:r>
            <a:r>
              <a:rPr sz="3950" spc="1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for</a:t>
            </a:r>
            <a:r>
              <a:rPr sz="3950" spc="17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what </a:t>
            </a:r>
            <a:r>
              <a:rPr sz="3950" dirty="0">
                <a:latin typeface="Times New Roman"/>
                <a:cs typeface="Times New Roman"/>
              </a:rPr>
              <a:t>action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has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perform.</a:t>
            </a:r>
            <a:endParaRPr sz="3950">
              <a:latin typeface="Times New Roman"/>
              <a:cs typeface="Times New Roman"/>
            </a:endParaRPr>
          </a:p>
          <a:p>
            <a:pPr marL="12700" marR="5080" indent="-8890">
              <a:lnSpc>
                <a:spcPts val="4790"/>
              </a:lnSpc>
              <a:spcBef>
                <a:spcPts val="2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b="1" dirty="0">
                <a:latin typeface="Times New Roman"/>
                <a:cs typeface="Times New Roman"/>
              </a:rPr>
              <a:t>	Content:</a:t>
            </a:r>
            <a:r>
              <a:rPr sz="3950" b="1" spc="43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4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body</a:t>
            </a:r>
            <a:r>
              <a:rPr sz="3950" spc="4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44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44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alertDialog</a:t>
            </a:r>
            <a:r>
              <a:rPr sz="3950" b="1" spc="45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widget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defined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by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content.</a:t>
            </a:r>
            <a:endParaRPr sz="3950">
              <a:latin typeface="Times New Roman"/>
              <a:cs typeface="Times New Roman"/>
            </a:endParaRPr>
          </a:p>
          <a:p>
            <a:pPr marL="187960" indent="-184150">
              <a:lnSpc>
                <a:spcPts val="4520"/>
              </a:lnSpc>
              <a:buSzPct val="97468"/>
              <a:buFont typeface="Arial MT"/>
              <a:buChar char="•"/>
              <a:tabLst>
                <a:tab pos="187960" algn="l"/>
                <a:tab pos="1897380" algn="l"/>
                <a:tab pos="2432685" algn="l"/>
                <a:tab pos="2995930" algn="l"/>
                <a:tab pos="4144010" algn="l"/>
                <a:tab pos="4763770" algn="l"/>
                <a:tab pos="6246495" algn="l"/>
                <a:tab pos="7088505" algn="l"/>
                <a:tab pos="8459470" algn="l"/>
                <a:tab pos="9106535" algn="l"/>
              </a:tabLst>
            </a:pPr>
            <a:r>
              <a:rPr sz="3950" b="1" spc="-10" dirty="0">
                <a:latin typeface="Times New Roman"/>
                <a:cs typeface="Times New Roman"/>
              </a:rPr>
              <a:t>Shape:</a:t>
            </a:r>
            <a:r>
              <a:rPr sz="3950" b="1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It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is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0" dirty="0">
                <a:latin typeface="Times New Roman"/>
                <a:cs typeface="Times New Roman"/>
              </a:rPr>
              <a:t>used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to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define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the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shape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of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our</a:t>
            </a:r>
            <a:endParaRPr sz="3950">
              <a:latin typeface="Times New Roman"/>
              <a:cs typeface="Times New Roman"/>
            </a:endParaRPr>
          </a:p>
          <a:p>
            <a:pPr marL="12700" marR="5080">
              <a:lnSpc>
                <a:spcPts val="4690"/>
              </a:lnSpc>
              <a:spcBef>
                <a:spcPts val="200"/>
              </a:spcBef>
              <a:tabLst>
                <a:tab pos="1503680" algn="l"/>
                <a:tab pos="2492375" algn="l"/>
                <a:tab pos="4344670" algn="l"/>
                <a:tab pos="4859655" algn="l"/>
                <a:tab pos="5429885" algn="l"/>
                <a:tab pos="7324090" algn="l"/>
                <a:tab pos="9051290" algn="l"/>
              </a:tabLst>
            </a:pPr>
            <a:r>
              <a:rPr sz="3950" spc="-10" dirty="0">
                <a:latin typeface="Times New Roman"/>
                <a:cs typeface="Times New Roman"/>
              </a:rPr>
              <a:t>dialog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box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whether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it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is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circular,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10" dirty="0">
                <a:latin typeface="Times New Roman"/>
                <a:cs typeface="Times New Roman"/>
              </a:rPr>
              <a:t>curved,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3950" spc="-25" dirty="0">
                <a:latin typeface="Times New Roman"/>
                <a:cs typeface="Times New Roman"/>
              </a:rPr>
              <a:t>and </a:t>
            </a:r>
            <a:r>
              <a:rPr sz="3950" dirty="0">
                <a:latin typeface="Times New Roman"/>
                <a:cs typeface="Times New Roman"/>
              </a:rPr>
              <a:t>many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more.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3753" y="2012923"/>
            <a:ext cx="8602041" cy="84814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115"/>
              </a:spcBef>
            </a:pPr>
            <a:r>
              <a:rPr sz="7900" b="0" spc="-10" dirty="0">
                <a:latin typeface="Arial MT"/>
                <a:cs typeface="Arial MT"/>
              </a:rPr>
              <a:t>AlertDialog</a:t>
            </a:r>
            <a:endParaRPr sz="7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5587" y="2178190"/>
            <a:ext cx="4715363" cy="84261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06" y="0"/>
            <a:ext cx="19403027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5"/>
              </a:spcBef>
            </a:pPr>
            <a:r>
              <a:rPr sz="7900" spc="-10" dirty="0"/>
              <a:t>Simpledialog</a:t>
            </a:r>
            <a:endParaRPr sz="79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499"/>
              </a:lnSpc>
              <a:spcBef>
                <a:spcPts val="100"/>
              </a:spcBef>
            </a:pPr>
            <a:r>
              <a:rPr sz="5900" dirty="0">
                <a:latin typeface="Arial MT"/>
                <a:cs typeface="Arial MT"/>
              </a:rPr>
              <a:t>A</a:t>
            </a:r>
            <a:r>
              <a:rPr sz="5900" spc="-1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simple</a:t>
            </a:r>
            <a:r>
              <a:rPr sz="5900" spc="-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dialog</a:t>
            </a:r>
            <a:r>
              <a:rPr sz="5900" spc="-1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allows</a:t>
            </a:r>
            <a:r>
              <a:rPr sz="5900" spc="-1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the</a:t>
            </a:r>
            <a:r>
              <a:rPr sz="5900" spc="-1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user to</a:t>
            </a:r>
            <a:r>
              <a:rPr sz="5900" spc="-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choose</a:t>
            </a:r>
            <a:r>
              <a:rPr sz="5900" spc="-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from</a:t>
            </a:r>
            <a:r>
              <a:rPr sz="5900" spc="-5" dirty="0">
                <a:latin typeface="Arial MT"/>
                <a:cs typeface="Arial MT"/>
              </a:rPr>
              <a:t> </a:t>
            </a:r>
            <a:r>
              <a:rPr sz="5900" spc="-10" dirty="0">
                <a:latin typeface="Arial MT"/>
                <a:cs typeface="Arial MT"/>
              </a:rPr>
              <a:t>different </a:t>
            </a:r>
            <a:r>
              <a:rPr sz="5900" dirty="0">
                <a:latin typeface="Arial MT"/>
                <a:cs typeface="Arial MT"/>
              </a:rPr>
              <a:t>choices.</a:t>
            </a:r>
            <a:r>
              <a:rPr sz="5900" spc="254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It</a:t>
            </a:r>
            <a:r>
              <a:rPr sz="5900" spc="270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contains</a:t>
            </a:r>
            <a:r>
              <a:rPr sz="5900" spc="265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the</a:t>
            </a:r>
            <a:r>
              <a:rPr sz="5900" spc="270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title</a:t>
            </a:r>
            <a:r>
              <a:rPr sz="5900" spc="270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which</a:t>
            </a:r>
            <a:r>
              <a:rPr sz="5900" spc="265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is</a:t>
            </a:r>
            <a:r>
              <a:rPr sz="5900" spc="265" dirty="0">
                <a:latin typeface="Arial MT"/>
                <a:cs typeface="Arial MT"/>
              </a:rPr>
              <a:t>  </a:t>
            </a:r>
            <a:r>
              <a:rPr sz="5900" dirty="0">
                <a:latin typeface="Arial MT"/>
                <a:cs typeface="Arial MT"/>
              </a:rPr>
              <a:t>optional</a:t>
            </a:r>
            <a:r>
              <a:rPr sz="5900" spc="270" dirty="0">
                <a:latin typeface="Arial MT"/>
                <a:cs typeface="Arial MT"/>
              </a:rPr>
              <a:t>  </a:t>
            </a:r>
            <a:r>
              <a:rPr sz="5900" spc="-25" dirty="0">
                <a:latin typeface="Arial MT"/>
                <a:cs typeface="Arial MT"/>
              </a:rPr>
              <a:t>and </a:t>
            </a:r>
            <a:r>
              <a:rPr sz="5900" dirty="0">
                <a:latin typeface="Arial MT"/>
                <a:cs typeface="Arial MT"/>
              </a:rPr>
              <a:t>presented</a:t>
            </a:r>
            <a:r>
              <a:rPr sz="5900" spc="22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above</a:t>
            </a:r>
            <a:r>
              <a:rPr sz="5900" spc="23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the</a:t>
            </a:r>
            <a:r>
              <a:rPr sz="5900" spc="229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choices.</a:t>
            </a:r>
            <a:r>
              <a:rPr sz="5900" spc="24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We</a:t>
            </a:r>
            <a:r>
              <a:rPr sz="5900" spc="23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can</a:t>
            </a:r>
            <a:r>
              <a:rPr sz="5900" spc="23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show</a:t>
            </a:r>
            <a:r>
              <a:rPr sz="5900" spc="23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options</a:t>
            </a:r>
            <a:r>
              <a:rPr sz="5900" spc="240" dirty="0">
                <a:latin typeface="Arial MT"/>
                <a:cs typeface="Arial MT"/>
              </a:rPr>
              <a:t> </a:t>
            </a:r>
            <a:r>
              <a:rPr sz="5900" spc="-25" dirty="0">
                <a:latin typeface="Arial MT"/>
                <a:cs typeface="Arial MT"/>
              </a:rPr>
              <a:t>by </a:t>
            </a:r>
            <a:r>
              <a:rPr sz="5900" dirty="0">
                <a:latin typeface="Arial MT"/>
                <a:cs typeface="Arial MT"/>
              </a:rPr>
              <a:t>using</a:t>
            </a:r>
            <a:r>
              <a:rPr sz="5900" spc="140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the</a:t>
            </a:r>
            <a:r>
              <a:rPr sz="5900" spc="141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padding</a:t>
            </a:r>
            <a:r>
              <a:rPr sz="5900" spc="141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also.</a:t>
            </a:r>
            <a:r>
              <a:rPr sz="5900" spc="141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Padding</a:t>
            </a:r>
            <a:r>
              <a:rPr sz="5900" spc="141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is</a:t>
            </a:r>
            <a:r>
              <a:rPr sz="5900" spc="142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used</a:t>
            </a:r>
            <a:r>
              <a:rPr sz="5900" spc="141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to</a:t>
            </a:r>
            <a:r>
              <a:rPr sz="5900" spc="1415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make</a:t>
            </a:r>
            <a:r>
              <a:rPr sz="5900" spc="1420" dirty="0">
                <a:latin typeface="Arial MT"/>
                <a:cs typeface="Arial MT"/>
              </a:rPr>
              <a:t> </a:t>
            </a:r>
            <a:r>
              <a:rPr sz="5900" spc="-50" dirty="0">
                <a:latin typeface="Arial MT"/>
                <a:cs typeface="Arial MT"/>
              </a:rPr>
              <a:t>a </a:t>
            </a:r>
            <a:r>
              <a:rPr sz="5900" dirty="0">
                <a:latin typeface="Arial MT"/>
                <a:cs typeface="Arial MT"/>
              </a:rPr>
              <a:t>widget</a:t>
            </a:r>
            <a:r>
              <a:rPr sz="5900" spc="-20" dirty="0">
                <a:latin typeface="Arial MT"/>
                <a:cs typeface="Arial MT"/>
              </a:rPr>
              <a:t> </a:t>
            </a:r>
            <a:r>
              <a:rPr sz="5900" dirty="0">
                <a:latin typeface="Arial MT"/>
                <a:cs typeface="Arial MT"/>
              </a:rPr>
              <a:t>more</a:t>
            </a:r>
            <a:r>
              <a:rPr sz="5900" spc="-10" dirty="0">
                <a:latin typeface="Arial MT"/>
                <a:cs typeface="Arial MT"/>
              </a:rPr>
              <a:t> flexible.</a:t>
            </a:r>
            <a:endParaRPr sz="5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341" y="236966"/>
            <a:ext cx="19152243" cy="1294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894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65"/>
              </a:spcBef>
            </a:pPr>
            <a:r>
              <a:rPr sz="7900" spc="-10" dirty="0"/>
              <a:t>SimpleDialog</a:t>
            </a:r>
            <a:endParaRPr sz="7900"/>
          </a:p>
        </p:txBody>
      </p:sp>
      <p:sp>
        <p:nvSpPr>
          <p:cNvPr id="4" name="object 4"/>
          <p:cNvSpPr txBox="1"/>
          <p:nvPr/>
        </p:nvSpPr>
        <p:spPr>
          <a:xfrm>
            <a:off x="702031" y="2869725"/>
            <a:ext cx="9670415" cy="6171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10" dirty="0">
                <a:latin typeface="Times New Roman"/>
                <a:cs typeface="Times New Roman"/>
              </a:rPr>
              <a:t>Properties:</a:t>
            </a:r>
            <a:endParaRPr sz="3950">
              <a:latin typeface="Times New Roman"/>
              <a:cs typeface="Times New Roman"/>
            </a:endParaRPr>
          </a:p>
          <a:p>
            <a:pPr marL="12700" marR="144145" indent="-7620">
              <a:lnSpc>
                <a:spcPct val="101200"/>
              </a:lnSpc>
              <a:spcBef>
                <a:spcPts val="10"/>
              </a:spcBef>
              <a:buSzPct val="97222"/>
              <a:buFont typeface="Arial MT"/>
              <a:buChar char="•"/>
              <a:tabLst>
                <a:tab pos="173355" algn="l"/>
              </a:tabLst>
            </a:pPr>
            <a:r>
              <a:rPr sz="3600" b="1" dirty="0">
                <a:latin typeface="Arial"/>
                <a:cs typeface="Arial"/>
              </a:rPr>
              <a:t>	Title: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It is always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recommended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 make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our </a:t>
            </a:r>
            <a:r>
              <a:rPr sz="3600" dirty="0">
                <a:latin typeface="Arial MT"/>
                <a:cs typeface="Arial MT"/>
              </a:rPr>
              <a:t>dialog title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short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possible.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It will be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easily </a:t>
            </a:r>
            <a:r>
              <a:rPr sz="3600" dirty="0">
                <a:latin typeface="Arial MT"/>
                <a:cs typeface="Arial MT"/>
              </a:rPr>
              <a:t>understandable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user.</a:t>
            </a:r>
            <a:endParaRPr sz="3600">
              <a:latin typeface="Arial MT"/>
              <a:cs typeface="Arial MT"/>
            </a:endParaRPr>
          </a:p>
          <a:p>
            <a:pPr marL="12700" marR="618490" indent="-7620">
              <a:lnSpc>
                <a:spcPct val="100099"/>
              </a:lnSpc>
              <a:spcBef>
                <a:spcPts val="50"/>
              </a:spcBef>
              <a:buSzPct val="97222"/>
              <a:buFont typeface="Arial MT"/>
              <a:buChar char="•"/>
              <a:tabLst>
                <a:tab pos="173355" algn="l"/>
              </a:tabLst>
            </a:pPr>
            <a:r>
              <a:rPr sz="3600" b="1" dirty="0">
                <a:latin typeface="Arial"/>
                <a:cs typeface="Arial"/>
              </a:rPr>
              <a:t>	Shape: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used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define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shape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our </a:t>
            </a:r>
            <a:r>
              <a:rPr sz="3600" dirty="0">
                <a:latin typeface="Arial MT"/>
                <a:cs typeface="Arial MT"/>
              </a:rPr>
              <a:t>dialog box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whether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it is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circular, curve, </a:t>
            </a:r>
            <a:r>
              <a:rPr sz="3600" spc="-25" dirty="0">
                <a:latin typeface="Arial MT"/>
                <a:cs typeface="Arial MT"/>
              </a:rPr>
              <a:t>and </a:t>
            </a:r>
            <a:r>
              <a:rPr sz="3600" dirty="0">
                <a:latin typeface="Arial MT"/>
                <a:cs typeface="Arial MT"/>
              </a:rPr>
              <a:t>many </a:t>
            </a:r>
            <a:r>
              <a:rPr sz="3600" spc="-20" dirty="0">
                <a:latin typeface="Arial MT"/>
                <a:cs typeface="Arial MT"/>
              </a:rPr>
              <a:t>more.</a:t>
            </a:r>
            <a:endParaRPr sz="3600">
              <a:latin typeface="Arial MT"/>
              <a:cs typeface="Arial MT"/>
            </a:endParaRPr>
          </a:p>
          <a:p>
            <a:pPr marL="12700" marR="1572260" indent="-7620">
              <a:lnSpc>
                <a:spcPct val="101200"/>
              </a:lnSpc>
              <a:buSzPct val="97222"/>
              <a:buFont typeface="Arial MT"/>
              <a:buChar char="•"/>
              <a:tabLst>
                <a:tab pos="173355" algn="l"/>
              </a:tabLst>
            </a:pPr>
            <a:r>
              <a:rPr sz="3600" b="1" dirty="0">
                <a:latin typeface="Arial"/>
                <a:cs typeface="Arial"/>
              </a:rPr>
              <a:t>	backgroundcolor: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It is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used to set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the </a:t>
            </a:r>
            <a:r>
              <a:rPr sz="3600" dirty="0">
                <a:latin typeface="Arial MT"/>
                <a:cs typeface="Arial MT"/>
              </a:rPr>
              <a:t>background color of our dialog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box.</a:t>
            </a:r>
            <a:endParaRPr sz="3600">
              <a:latin typeface="Arial MT"/>
              <a:cs typeface="Arial MT"/>
            </a:endParaRPr>
          </a:p>
          <a:p>
            <a:pPr marL="12700" marR="5080" indent="-7620">
              <a:lnSpc>
                <a:spcPct val="101200"/>
              </a:lnSpc>
              <a:buSzPct val="97222"/>
              <a:buFont typeface="Arial MT"/>
              <a:buChar char="•"/>
              <a:tabLst>
                <a:tab pos="173355" algn="l"/>
              </a:tabLst>
            </a:pPr>
            <a:r>
              <a:rPr sz="3600" b="1" dirty="0">
                <a:latin typeface="Arial"/>
                <a:cs typeface="Arial"/>
              </a:rPr>
              <a:t>	TextStyle: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is used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change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style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our </a:t>
            </a:r>
            <a:r>
              <a:rPr sz="3600" spc="-10" dirty="0">
                <a:latin typeface="Arial MT"/>
                <a:cs typeface="Arial MT"/>
              </a:rPr>
              <a:t>text.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4652" y="1530424"/>
            <a:ext cx="9237833" cy="83633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462" y="175827"/>
            <a:ext cx="19608636" cy="12941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515" rIns="0" bIns="0" rtlCol="0">
            <a:spAutoFit/>
          </a:bodyPr>
          <a:lstStyle/>
          <a:p>
            <a:pPr marL="342265">
              <a:lnSpc>
                <a:spcPct val="100000"/>
              </a:lnSpc>
              <a:spcBef>
                <a:spcPts val="115"/>
              </a:spcBef>
            </a:pPr>
            <a:r>
              <a:rPr sz="7900" spc="-10" dirty="0"/>
              <a:t>SimpleDialog</a:t>
            </a:r>
            <a:endParaRPr sz="79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4041" y="2335852"/>
            <a:ext cx="4715364" cy="81108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543" y="0"/>
            <a:ext cx="19768555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9" y="-7673"/>
            <a:ext cx="19647281" cy="12304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15"/>
              </a:spcBef>
            </a:pPr>
            <a:r>
              <a:rPr lang="en-US" sz="7900" spc="-10" dirty="0" smtClean="0"/>
              <a:t>S</a:t>
            </a:r>
            <a:r>
              <a:rPr sz="7900" spc="-10" dirty="0" smtClean="0"/>
              <a:t>how</a:t>
            </a:r>
            <a:r>
              <a:rPr lang="en-US" sz="7900" spc="-10" dirty="0" smtClean="0"/>
              <a:t> </a:t>
            </a:r>
            <a:r>
              <a:rPr sz="7900" spc="-10" dirty="0" smtClean="0"/>
              <a:t>Dialog</a:t>
            </a:r>
            <a:endParaRPr sz="790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0" y="2869725"/>
            <a:ext cx="20104097" cy="244297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dirty="0"/>
              <a:t>It</a:t>
            </a:r>
            <a:r>
              <a:rPr spc="440" dirty="0"/>
              <a:t> </a:t>
            </a:r>
            <a:r>
              <a:rPr dirty="0"/>
              <a:t>basically</a:t>
            </a:r>
            <a:r>
              <a:rPr spc="450" dirty="0"/>
              <a:t> </a:t>
            </a:r>
            <a:r>
              <a:rPr dirty="0"/>
              <a:t>used</a:t>
            </a:r>
            <a:r>
              <a:rPr spc="450" dirty="0"/>
              <a:t> </a:t>
            </a:r>
            <a:r>
              <a:rPr dirty="0"/>
              <a:t>to</a:t>
            </a:r>
            <a:r>
              <a:rPr spc="450" dirty="0"/>
              <a:t> </a:t>
            </a:r>
            <a:r>
              <a:rPr dirty="0"/>
              <a:t>change</a:t>
            </a:r>
            <a:r>
              <a:rPr spc="440" dirty="0"/>
              <a:t> </a:t>
            </a:r>
            <a:r>
              <a:rPr dirty="0"/>
              <a:t>the</a:t>
            </a:r>
            <a:r>
              <a:rPr spc="445" dirty="0"/>
              <a:t> </a:t>
            </a:r>
            <a:r>
              <a:rPr dirty="0"/>
              <a:t>current</a:t>
            </a:r>
            <a:r>
              <a:rPr spc="445" dirty="0"/>
              <a:t> </a:t>
            </a:r>
            <a:r>
              <a:rPr dirty="0"/>
              <a:t>screen</a:t>
            </a:r>
            <a:r>
              <a:rPr spc="445" dirty="0"/>
              <a:t> </a:t>
            </a:r>
            <a:r>
              <a:rPr dirty="0"/>
              <a:t>of</a:t>
            </a:r>
            <a:r>
              <a:rPr spc="450" dirty="0"/>
              <a:t> </a:t>
            </a:r>
            <a:r>
              <a:rPr dirty="0"/>
              <a:t>our</a:t>
            </a:r>
            <a:r>
              <a:rPr spc="450" dirty="0"/>
              <a:t> </a:t>
            </a:r>
            <a:r>
              <a:rPr dirty="0"/>
              <a:t>app</a:t>
            </a:r>
            <a:r>
              <a:rPr spc="450" dirty="0"/>
              <a:t> </a:t>
            </a:r>
            <a:r>
              <a:rPr dirty="0"/>
              <a:t>to</a:t>
            </a:r>
            <a:r>
              <a:rPr spc="450" dirty="0"/>
              <a:t> </a:t>
            </a:r>
            <a:r>
              <a:rPr dirty="0"/>
              <a:t>show</a:t>
            </a:r>
            <a:r>
              <a:rPr spc="445" dirty="0"/>
              <a:t> </a:t>
            </a:r>
            <a:r>
              <a:rPr dirty="0"/>
              <a:t>the</a:t>
            </a:r>
            <a:r>
              <a:rPr spc="445" dirty="0"/>
              <a:t> </a:t>
            </a:r>
            <a:r>
              <a:rPr dirty="0"/>
              <a:t>dialog</a:t>
            </a:r>
            <a:r>
              <a:rPr spc="450" dirty="0"/>
              <a:t> </a:t>
            </a:r>
            <a:r>
              <a:rPr dirty="0"/>
              <a:t>popup.</a:t>
            </a:r>
            <a:r>
              <a:rPr spc="450" dirty="0"/>
              <a:t> </a:t>
            </a:r>
            <a:r>
              <a:rPr spc="-25" dirty="0"/>
              <a:t>You </a:t>
            </a:r>
            <a:r>
              <a:rPr dirty="0"/>
              <a:t>must</a:t>
            </a:r>
            <a:r>
              <a:rPr spc="170" dirty="0"/>
              <a:t> </a:t>
            </a:r>
            <a:r>
              <a:rPr dirty="0"/>
              <a:t>call</a:t>
            </a:r>
            <a:r>
              <a:rPr spc="170" dirty="0"/>
              <a:t> </a:t>
            </a:r>
            <a:r>
              <a:rPr dirty="0"/>
              <a:t>before</a:t>
            </a:r>
            <a:r>
              <a:rPr spc="155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dirty="0"/>
              <a:t>dialog</a:t>
            </a:r>
            <a:r>
              <a:rPr spc="165" dirty="0"/>
              <a:t> </a:t>
            </a:r>
            <a:r>
              <a:rPr dirty="0"/>
              <a:t>popup.</a:t>
            </a:r>
            <a:r>
              <a:rPr spc="165" dirty="0"/>
              <a:t> </a:t>
            </a:r>
            <a:r>
              <a:rPr dirty="0"/>
              <a:t>It</a:t>
            </a:r>
            <a:r>
              <a:rPr spc="160" dirty="0"/>
              <a:t> </a:t>
            </a:r>
            <a:r>
              <a:rPr dirty="0"/>
              <a:t>exits</a:t>
            </a:r>
            <a:r>
              <a:rPr spc="160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dirty="0"/>
              <a:t>current</a:t>
            </a:r>
            <a:r>
              <a:rPr spc="170" dirty="0"/>
              <a:t> </a:t>
            </a:r>
            <a:r>
              <a:rPr dirty="0"/>
              <a:t>animation</a:t>
            </a:r>
            <a:r>
              <a:rPr spc="160" dirty="0"/>
              <a:t> </a:t>
            </a:r>
            <a:r>
              <a:rPr dirty="0"/>
              <a:t>and</a:t>
            </a:r>
            <a:r>
              <a:rPr spc="165" dirty="0"/>
              <a:t> </a:t>
            </a:r>
            <a:r>
              <a:rPr dirty="0"/>
              <a:t>presents</a:t>
            </a:r>
            <a:r>
              <a:rPr spc="160" dirty="0"/>
              <a:t> </a:t>
            </a:r>
            <a:r>
              <a:rPr dirty="0"/>
              <a:t>a</a:t>
            </a:r>
            <a:r>
              <a:rPr spc="160" dirty="0"/>
              <a:t> </a:t>
            </a:r>
            <a:r>
              <a:rPr dirty="0"/>
              <a:t>new</a:t>
            </a:r>
            <a:r>
              <a:rPr spc="155" dirty="0"/>
              <a:t> </a:t>
            </a:r>
            <a:r>
              <a:rPr spc="-10" dirty="0"/>
              <a:t>screen </a:t>
            </a:r>
            <a:r>
              <a:rPr dirty="0"/>
              <a:t>animation.</a:t>
            </a:r>
            <a:r>
              <a:rPr spc="90" dirty="0"/>
              <a:t> </a:t>
            </a:r>
            <a:r>
              <a:rPr dirty="0"/>
              <a:t>We</a:t>
            </a:r>
            <a:r>
              <a:rPr spc="85" dirty="0"/>
              <a:t> </a:t>
            </a:r>
            <a:r>
              <a:rPr dirty="0"/>
              <a:t>use</a:t>
            </a:r>
            <a:r>
              <a:rPr spc="85" dirty="0"/>
              <a:t> </a:t>
            </a:r>
            <a:r>
              <a:rPr dirty="0"/>
              <a:t>this</a:t>
            </a:r>
            <a:r>
              <a:rPr spc="85" dirty="0"/>
              <a:t> </a:t>
            </a:r>
            <a:r>
              <a:rPr dirty="0"/>
              <a:t>dialog</a:t>
            </a:r>
            <a:r>
              <a:rPr spc="90" dirty="0"/>
              <a:t> </a:t>
            </a:r>
            <a:r>
              <a:rPr dirty="0"/>
              <a:t>box</a:t>
            </a:r>
            <a:r>
              <a:rPr spc="85" dirty="0"/>
              <a:t> </a:t>
            </a:r>
            <a:r>
              <a:rPr dirty="0"/>
              <a:t>when</a:t>
            </a:r>
            <a:r>
              <a:rPr spc="90" dirty="0"/>
              <a:t> </a:t>
            </a:r>
            <a:r>
              <a:rPr dirty="0"/>
              <a:t>we</a:t>
            </a:r>
            <a:r>
              <a:rPr spc="85" dirty="0"/>
              <a:t> </a:t>
            </a:r>
            <a:r>
              <a:rPr dirty="0"/>
              <a:t>want</a:t>
            </a:r>
            <a:r>
              <a:rPr spc="95" dirty="0"/>
              <a:t> </a:t>
            </a:r>
            <a:r>
              <a:rPr dirty="0"/>
              <a:t>to</a:t>
            </a:r>
            <a:r>
              <a:rPr spc="90" dirty="0"/>
              <a:t> </a:t>
            </a:r>
            <a:r>
              <a:rPr dirty="0"/>
              <a:t>show</a:t>
            </a:r>
            <a:r>
              <a:rPr spc="90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dirty="0"/>
              <a:t>tab</a:t>
            </a:r>
            <a:r>
              <a:rPr spc="90" dirty="0"/>
              <a:t> </a:t>
            </a:r>
            <a:r>
              <a:rPr dirty="0"/>
              <a:t>that</a:t>
            </a:r>
            <a:r>
              <a:rPr spc="95" dirty="0"/>
              <a:t> </a:t>
            </a:r>
            <a:r>
              <a:rPr dirty="0"/>
              <a:t>will</a:t>
            </a:r>
            <a:r>
              <a:rPr spc="95" dirty="0"/>
              <a:t> </a:t>
            </a:r>
            <a:r>
              <a:rPr dirty="0"/>
              <a:t>popup</a:t>
            </a:r>
            <a:r>
              <a:rPr spc="85" dirty="0"/>
              <a:t> </a:t>
            </a:r>
            <a:r>
              <a:rPr dirty="0"/>
              <a:t>any</a:t>
            </a:r>
            <a:r>
              <a:rPr spc="90" dirty="0"/>
              <a:t> </a:t>
            </a:r>
            <a:r>
              <a:rPr dirty="0"/>
              <a:t>type</a:t>
            </a:r>
            <a:r>
              <a:rPr spc="85" dirty="0"/>
              <a:t> </a:t>
            </a:r>
            <a:r>
              <a:rPr spc="-25" dirty="0"/>
              <a:t>of </a:t>
            </a:r>
            <a:r>
              <a:rPr dirty="0"/>
              <a:t>dialog</a:t>
            </a:r>
            <a:r>
              <a:rPr spc="-10" dirty="0"/>
              <a:t> </a:t>
            </a:r>
            <a:r>
              <a:rPr dirty="0"/>
              <a:t>box,</a:t>
            </a:r>
            <a:r>
              <a:rPr spc="-5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we</a:t>
            </a:r>
            <a:r>
              <a:rPr spc="-10" dirty="0"/>
              <a:t> </a:t>
            </a:r>
            <a:r>
              <a:rPr dirty="0"/>
              <a:t>create</a:t>
            </a:r>
            <a:r>
              <a:rPr spc="-1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front</a:t>
            </a:r>
            <a:r>
              <a:rPr spc="-5" dirty="0"/>
              <a:t> </a:t>
            </a:r>
            <a:r>
              <a:rPr dirty="0"/>
              <a:t>tab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show</a:t>
            </a:r>
            <a:r>
              <a:rPr spc="-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background</a:t>
            </a:r>
            <a:r>
              <a:rPr spc="-5" dirty="0"/>
              <a:t> </a:t>
            </a:r>
            <a:r>
              <a:rPr spc="-10" dirty="0"/>
              <a:t>process.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616" y="175827"/>
            <a:ext cx="19448712" cy="12941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9" y="-7673"/>
            <a:ext cx="19647281" cy="1408093"/>
          </a:xfrm>
          <a:prstGeom prst="rect">
            <a:avLst/>
          </a:prstGeom>
        </p:spPr>
        <p:txBody>
          <a:bodyPr vert="horz" wrap="square" lIns="0" tIns="19051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115"/>
              </a:spcBef>
            </a:pPr>
            <a:r>
              <a:rPr lang="en-US" sz="7900" spc="-10" dirty="0" smtClean="0"/>
              <a:t>S</a:t>
            </a:r>
            <a:r>
              <a:rPr sz="7900" spc="-10" dirty="0" smtClean="0"/>
              <a:t>how</a:t>
            </a:r>
            <a:r>
              <a:rPr lang="en-US" sz="7900" spc="-10" dirty="0" smtClean="0"/>
              <a:t> </a:t>
            </a:r>
            <a:r>
              <a:rPr sz="7900" spc="-10" dirty="0" smtClean="0"/>
              <a:t>Dialog</a:t>
            </a:r>
            <a:endParaRPr sz="7900" dirty="0"/>
          </a:p>
        </p:txBody>
      </p:sp>
      <p:sp>
        <p:nvSpPr>
          <p:cNvPr id="4" name="object 4"/>
          <p:cNvSpPr txBox="1"/>
          <p:nvPr/>
        </p:nvSpPr>
        <p:spPr>
          <a:xfrm>
            <a:off x="702031" y="2869725"/>
            <a:ext cx="9649460" cy="4860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10" dirty="0">
                <a:latin typeface="Times New Roman"/>
                <a:cs typeface="Times New Roman"/>
              </a:rPr>
              <a:t>Properties:</a:t>
            </a:r>
            <a:endParaRPr sz="3950">
              <a:latin typeface="Times New Roman"/>
              <a:cs typeface="Times New Roman"/>
            </a:endParaRPr>
          </a:p>
          <a:p>
            <a:pPr marL="12700" marR="5080" indent="-8890">
              <a:lnSpc>
                <a:spcPct val="101000"/>
              </a:lnSpc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b="1" dirty="0">
                <a:latin typeface="Times New Roman"/>
                <a:cs typeface="Times New Roman"/>
              </a:rPr>
              <a:t>	Builder: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returns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instead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creating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child</a:t>
            </a:r>
            <a:r>
              <a:rPr sz="3950" spc="-10" dirty="0">
                <a:latin typeface="Times New Roman"/>
                <a:cs typeface="Times New Roman"/>
              </a:rPr>
              <a:t> argument.</a:t>
            </a:r>
            <a:endParaRPr sz="3950">
              <a:latin typeface="Times New Roman"/>
              <a:cs typeface="Times New Roman"/>
            </a:endParaRPr>
          </a:p>
          <a:p>
            <a:pPr marL="12700" marR="515620" indent="-8890">
              <a:lnSpc>
                <a:spcPts val="4790"/>
              </a:lnSpc>
              <a:spcBef>
                <a:spcPts val="7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b="1" dirty="0">
                <a:latin typeface="Times New Roman"/>
                <a:cs typeface="Times New Roman"/>
              </a:rPr>
              <a:t>	Barriercolor:</a:t>
            </a:r>
            <a:r>
              <a:rPr sz="3950" b="1" spc="-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defines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modal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barrier </a:t>
            </a:r>
            <a:r>
              <a:rPr sz="3950" dirty="0">
                <a:latin typeface="Times New Roman"/>
                <a:cs typeface="Times New Roman"/>
              </a:rPr>
              <a:t>color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which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darkens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everything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dialog.</a:t>
            </a:r>
            <a:endParaRPr sz="3950">
              <a:latin typeface="Times New Roman"/>
              <a:cs typeface="Times New Roman"/>
            </a:endParaRPr>
          </a:p>
          <a:p>
            <a:pPr marL="187960" indent="-184150">
              <a:lnSpc>
                <a:spcPts val="4520"/>
              </a:lnSpc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b="1" dirty="0">
                <a:latin typeface="Times New Roman"/>
                <a:cs typeface="Times New Roman"/>
              </a:rPr>
              <a:t>useSafeArea: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makes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sure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that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dialog</a:t>
            </a:r>
            <a:endParaRPr sz="3950">
              <a:latin typeface="Times New Roman"/>
              <a:cs typeface="Times New Roman"/>
            </a:endParaRPr>
          </a:p>
          <a:p>
            <a:pPr marL="12700" marR="1652270">
              <a:lnSpc>
                <a:spcPct val="101000"/>
              </a:lnSpc>
            </a:pPr>
            <a:r>
              <a:rPr sz="3950" dirty="0">
                <a:latin typeface="Times New Roman"/>
                <a:cs typeface="Times New Roman"/>
              </a:rPr>
              <a:t>uses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safe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area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screen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only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not </a:t>
            </a:r>
            <a:r>
              <a:rPr sz="3950" dirty="0">
                <a:latin typeface="Times New Roman"/>
                <a:cs typeface="Times New Roman"/>
              </a:rPr>
              <a:t>overlapping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screen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area.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2020" y="2138573"/>
            <a:ext cx="8461313" cy="71319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462" y="0"/>
            <a:ext cx="19608636" cy="1294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09" y="-7673"/>
            <a:ext cx="19647281" cy="12304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42265">
              <a:lnSpc>
                <a:spcPct val="100000"/>
              </a:lnSpc>
              <a:spcBef>
                <a:spcPts val="115"/>
              </a:spcBef>
            </a:pPr>
            <a:r>
              <a:rPr lang="en-US" sz="7900" spc="-10" dirty="0" smtClean="0"/>
              <a:t>S</a:t>
            </a:r>
            <a:r>
              <a:rPr sz="7900" spc="-10" dirty="0" smtClean="0"/>
              <a:t>how</a:t>
            </a:r>
            <a:r>
              <a:rPr lang="en-US" sz="7900" spc="-10" dirty="0" smtClean="0"/>
              <a:t> </a:t>
            </a:r>
            <a:r>
              <a:rPr sz="7900" spc="-10" dirty="0" smtClean="0"/>
              <a:t>Dialog</a:t>
            </a:r>
            <a:endParaRPr sz="79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1015" y="2598454"/>
            <a:ext cx="3995689" cy="75164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71" y="0"/>
            <a:ext cx="19494405" cy="989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Difference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410" y="2470156"/>
            <a:ext cx="19875690" cy="6659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10" dirty="0">
                <a:latin typeface="Times New Roman"/>
                <a:cs typeface="Times New Roman"/>
              </a:rPr>
              <a:t>AlertDialog</a:t>
            </a:r>
            <a:endParaRPr sz="3950" dirty="0">
              <a:latin typeface="Times New Roman"/>
              <a:cs typeface="Times New Roman"/>
            </a:endParaRPr>
          </a:p>
          <a:p>
            <a:pPr marL="187960" indent="-184150">
              <a:lnSpc>
                <a:spcPct val="100000"/>
              </a:lnSpc>
              <a:spcBef>
                <a:spcPts val="5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Times New Roman"/>
                <a:cs typeface="Times New Roman"/>
              </a:rPr>
              <a:t>Used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show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any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type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alert</a:t>
            </a:r>
            <a:r>
              <a:rPr sz="3950" spc="-10" dirty="0">
                <a:latin typeface="Times New Roman"/>
                <a:cs typeface="Times New Roman"/>
              </a:rPr>
              <a:t> notification.</a:t>
            </a:r>
            <a:endParaRPr sz="3950" dirty="0">
              <a:latin typeface="Times New Roman"/>
              <a:cs typeface="Times New Roman"/>
            </a:endParaRPr>
          </a:p>
          <a:p>
            <a:pPr marL="187960" indent="-184150">
              <a:lnSpc>
                <a:spcPts val="4725"/>
              </a:lnSpc>
              <a:spcBef>
                <a:spcPts val="3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give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option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react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alert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popup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like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accept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button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reject</a:t>
            </a:r>
            <a:r>
              <a:rPr sz="3950" spc="-10" dirty="0">
                <a:latin typeface="Times New Roman"/>
                <a:cs typeface="Times New Roman"/>
              </a:rPr>
              <a:t> button.</a:t>
            </a:r>
            <a:endParaRPr sz="3950" dirty="0">
              <a:latin typeface="Times New Roman"/>
              <a:cs typeface="Times New Roman"/>
            </a:endParaRPr>
          </a:p>
          <a:p>
            <a:pPr marL="12700">
              <a:lnSpc>
                <a:spcPts val="4725"/>
              </a:lnSpc>
            </a:pPr>
            <a:r>
              <a:rPr sz="3950" b="1" spc="-10" dirty="0">
                <a:latin typeface="Times New Roman"/>
                <a:cs typeface="Times New Roman"/>
              </a:rPr>
              <a:t>SimpleDialog</a:t>
            </a:r>
            <a:endParaRPr sz="3950" dirty="0">
              <a:latin typeface="Times New Roman"/>
              <a:cs typeface="Times New Roman"/>
            </a:endParaRPr>
          </a:p>
          <a:p>
            <a:pPr marL="187960" indent="-184150">
              <a:lnSpc>
                <a:spcPts val="4715"/>
              </a:lnSpc>
              <a:spcBef>
                <a:spcPts val="45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Times New Roman"/>
                <a:cs typeface="Times New Roman"/>
              </a:rPr>
              <a:t>Used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show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simple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options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dialog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box.</a:t>
            </a:r>
            <a:endParaRPr sz="3950" dirty="0">
              <a:latin typeface="Times New Roman"/>
              <a:cs typeface="Times New Roman"/>
            </a:endParaRPr>
          </a:p>
          <a:p>
            <a:pPr marL="12700" marR="716280" indent="-8890">
              <a:lnSpc>
                <a:spcPts val="4790"/>
              </a:lnSpc>
              <a:spcBef>
                <a:spcPts val="95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Times New Roman"/>
                <a:cs typeface="Times New Roman"/>
              </a:rPr>
              <a:t>	There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different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options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choose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from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perform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functions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according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them.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option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simple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like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choosing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between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different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emails.</a:t>
            </a:r>
            <a:endParaRPr sz="3950" dirty="0">
              <a:latin typeface="Times New Roman"/>
              <a:cs typeface="Times New Roman"/>
            </a:endParaRPr>
          </a:p>
          <a:p>
            <a:pPr marL="12700">
              <a:lnSpc>
                <a:spcPts val="4585"/>
              </a:lnSpc>
            </a:pPr>
            <a:r>
              <a:rPr sz="3950" b="1" spc="-10" dirty="0">
                <a:latin typeface="Times New Roman"/>
                <a:cs typeface="Times New Roman"/>
              </a:rPr>
              <a:t>ShowDialog</a:t>
            </a:r>
            <a:endParaRPr sz="3950" dirty="0">
              <a:latin typeface="Times New Roman"/>
              <a:cs typeface="Times New Roman"/>
            </a:endParaRPr>
          </a:p>
          <a:p>
            <a:pPr marL="187960" indent="-184150">
              <a:lnSpc>
                <a:spcPts val="4725"/>
              </a:lnSpc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Times New Roman"/>
                <a:cs typeface="Times New Roman"/>
              </a:rPr>
              <a:t>Used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create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option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that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will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popup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dialog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box.</a:t>
            </a:r>
            <a:endParaRPr sz="3950" dirty="0">
              <a:latin typeface="Times New Roman"/>
              <a:cs typeface="Times New Roman"/>
            </a:endParaRPr>
          </a:p>
          <a:p>
            <a:pPr marL="12700" marR="1623060" indent="-8890">
              <a:lnSpc>
                <a:spcPts val="4690"/>
              </a:lnSpc>
              <a:spcBef>
                <a:spcPts val="200"/>
              </a:spcBef>
              <a:buSzPct val="97468"/>
              <a:buFont typeface="Arial MT"/>
              <a:buChar char="•"/>
              <a:tabLst>
                <a:tab pos="187960" algn="l"/>
              </a:tabLst>
            </a:pPr>
            <a:r>
              <a:rPr sz="3950" dirty="0">
                <a:latin typeface="Times New Roman"/>
                <a:cs typeface="Times New Roman"/>
              </a:rPr>
              <a:t>	By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using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this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popup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different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types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dialog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boxes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like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alertDialog,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and </a:t>
            </a:r>
            <a:r>
              <a:rPr sz="3950" dirty="0">
                <a:latin typeface="Times New Roman"/>
                <a:cs typeface="Times New Roman"/>
              </a:rPr>
              <a:t>SimpleDialog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sub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widget.</a:t>
            </a:r>
            <a:endParaRPr sz="3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4032" y="4354915"/>
            <a:ext cx="12366625" cy="244602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40"/>
              </a:spcBef>
            </a:pPr>
            <a:r>
              <a:rPr sz="7900" dirty="0"/>
              <a:t>Flutter</a:t>
            </a:r>
            <a:r>
              <a:rPr sz="7900" spc="-30" dirty="0"/>
              <a:t> </a:t>
            </a:r>
            <a:r>
              <a:rPr sz="7900" dirty="0"/>
              <a:t>–</a:t>
            </a:r>
            <a:r>
              <a:rPr sz="7900" spc="-30" dirty="0"/>
              <a:t> </a:t>
            </a:r>
            <a:r>
              <a:rPr sz="7900" dirty="0"/>
              <a:t>Circular</a:t>
            </a:r>
            <a:r>
              <a:rPr sz="7900" spc="-25" dirty="0"/>
              <a:t> </a:t>
            </a:r>
            <a:r>
              <a:rPr sz="7900" dirty="0"/>
              <a:t>&amp;</a:t>
            </a:r>
            <a:r>
              <a:rPr sz="7900" spc="-30" dirty="0"/>
              <a:t> </a:t>
            </a:r>
            <a:r>
              <a:rPr sz="7900" spc="-10" dirty="0"/>
              <a:t>Linear </a:t>
            </a:r>
            <a:r>
              <a:rPr sz="7900" dirty="0"/>
              <a:t>Progress</a:t>
            </a:r>
            <a:r>
              <a:rPr sz="7900" spc="-40" dirty="0"/>
              <a:t> </a:t>
            </a:r>
            <a:r>
              <a:rPr sz="7900" spc="-10" dirty="0"/>
              <a:t>Indicators</a:t>
            </a:r>
            <a:endParaRPr sz="7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07" y="198674"/>
            <a:ext cx="19265957" cy="9896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938" rIns="0" bIns="0" rtlCol="0">
            <a:spAutoFit/>
          </a:bodyPr>
          <a:lstStyle/>
          <a:p>
            <a:pPr marL="364490">
              <a:lnSpc>
                <a:spcPct val="100000"/>
              </a:lnSpc>
              <a:spcBef>
                <a:spcPts val="170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Circular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Linear</a:t>
            </a:r>
            <a:r>
              <a:rPr spc="-5" dirty="0"/>
              <a:t> </a:t>
            </a:r>
            <a:r>
              <a:rPr dirty="0"/>
              <a:t>Progress</a:t>
            </a:r>
            <a:r>
              <a:rPr spc="-10" dirty="0"/>
              <a:t> Indicators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2469318"/>
            <a:ext cx="19072385" cy="17405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  <a:spcBef>
                <a:spcPts val="80"/>
              </a:spcBef>
            </a:pPr>
            <a:r>
              <a:rPr sz="3600" dirty="0">
                <a:latin typeface="Times New Roman"/>
                <a:cs typeface="Times New Roman"/>
              </a:rPr>
              <a:t>Progress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Indicator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any</a:t>
            </a:r>
            <a:r>
              <a:rPr sz="3600" spc="2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application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displays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2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time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which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needed</a:t>
            </a:r>
            <a:r>
              <a:rPr sz="3600" spc="20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some</a:t>
            </a:r>
            <a:r>
              <a:rPr sz="3600" spc="15" dirty="0">
                <a:latin typeface="Times New Roman"/>
                <a:cs typeface="Times New Roman"/>
              </a:rPr>
              <a:t>  </a:t>
            </a:r>
            <a:r>
              <a:rPr sz="3600" dirty="0">
                <a:latin typeface="Times New Roman"/>
                <a:cs typeface="Times New Roman"/>
              </a:rPr>
              <a:t>tasks</a:t>
            </a:r>
            <a:r>
              <a:rPr sz="3600" spc="20" dirty="0">
                <a:latin typeface="Times New Roman"/>
                <a:cs typeface="Times New Roman"/>
              </a:rPr>
              <a:t>  </a:t>
            </a:r>
            <a:r>
              <a:rPr sz="3600" spc="-25" dirty="0">
                <a:latin typeface="Times New Roman"/>
                <a:cs typeface="Times New Roman"/>
              </a:rPr>
              <a:t>to </a:t>
            </a:r>
            <a:r>
              <a:rPr sz="3600" dirty="0">
                <a:latin typeface="Times New Roman"/>
                <a:cs typeface="Times New Roman"/>
              </a:rPr>
              <a:t>complete</a:t>
            </a:r>
            <a:r>
              <a:rPr sz="3600" spc="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such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downloading,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installation,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uploading,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transfer,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etc.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This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shows</a:t>
            </a:r>
            <a:r>
              <a:rPr sz="3600" spc="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progress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 task or the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time to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display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length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 the </a:t>
            </a:r>
            <a:r>
              <a:rPr sz="3600" spc="-10" dirty="0">
                <a:latin typeface="Times New Roman"/>
                <a:cs typeface="Times New Roman"/>
              </a:rPr>
              <a:t>processes</a:t>
            </a:r>
            <a:r>
              <a:rPr sz="3950" spc="-10" dirty="0">
                <a:latin typeface="Arial MT"/>
                <a:cs typeface="Arial MT"/>
              </a:rPr>
              <a:t>.</a:t>
            </a:r>
            <a:endParaRPr sz="39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410" y="5397815"/>
            <a:ext cx="19875690" cy="319510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latin typeface="Times New Roman"/>
                <a:cs typeface="Times New Roman"/>
              </a:rPr>
              <a:t>In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Flutter,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progress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can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be displayed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two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ways</a:t>
            </a:r>
            <a:r>
              <a:rPr sz="2950" spc="-10" dirty="0" smtClean="0">
                <a:latin typeface="Times New Roman"/>
                <a:cs typeface="Times New Roman"/>
              </a:rPr>
              <a:t>:</a:t>
            </a:r>
            <a:endParaRPr lang="en-US" sz="2950" spc="-10" dirty="0" smtClean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4"/>
              </a:spcBef>
              <a:buFont typeface="Wingdings" panose="05000000000000000000" pitchFamily="2" charset="2"/>
              <a:buChar char="v"/>
            </a:pPr>
            <a:endParaRPr sz="2800" dirty="0">
              <a:latin typeface="Times New Roman"/>
              <a:cs typeface="Times New Roman"/>
            </a:endParaRPr>
          </a:p>
          <a:p>
            <a:pPr marL="467995" marR="5080" indent="-457200">
              <a:lnSpc>
                <a:spcPts val="3560"/>
              </a:lnSpc>
              <a:spcBef>
                <a:spcPts val="105"/>
              </a:spcBef>
              <a:buSzPct val="96610"/>
              <a:buFont typeface="Wingdings" panose="05000000000000000000" pitchFamily="2" charset="2"/>
              <a:buChar char="v"/>
              <a:tabLst>
                <a:tab pos="295275" algn="l"/>
              </a:tabLst>
            </a:pPr>
            <a:r>
              <a:rPr sz="3200" b="1" dirty="0" smtClean="0">
                <a:latin typeface="Comic Sans MS" panose="030F0702030302020204" pitchFamily="66" charset="0"/>
                <a:cs typeface="Times New Roman"/>
              </a:rPr>
              <a:t>Circular</a:t>
            </a:r>
            <a:r>
              <a:rPr lang="en-US" sz="3200" b="1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b="1" dirty="0" smtClean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lang="en-US" sz="3200" b="1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b="1" dirty="0" smtClean="0">
                <a:latin typeface="Comic Sans MS" panose="030F0702030302020204" pitchFamily="66" charset="0"/>
                <a:cs typeface="Times New Roman"/>
              </a:rPr>
              <a:t>Indicator</a:t>
            </a:r>
            <a:r>
              <a:rPr sz="3200" b="1" dirty="0">
                <a:latin typeface="Comic Sans MS" panose="030F0702030302020204" pitchFamily="66" charset="0"/>
                <a:cs typeface="Times New Roman"/>
              </a:rPr>
              <a:t>:</a:t>
            </a:r>
            <a:r>
              <a:rPr sz="3200" b="1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3200" spc="2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i="1" dirty="0" smtClean="0">
                <a:latin typeface="Comic Sans MS" panose="030F0702030302020204" pitchFamily="66" charset="0"/>
                <a:cs typeface="Times New Roman"/>
              </a:rPr>
              <a:t>Circular</a:t>
            </a:r>
            <a:r>
              <a:rPr lang="en-US" sz="3200" i="1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i="1" dirty="0" smtClean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lang="en-US" sz="3200" i="1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i="1" dirty="0" smtClean="0">
                <a:latin typeface="Comic Sans MS" panose="030F0702030302020204" pitchFamily="66" charset="0"/>
                <a:cs typeface="Times New Roman"/>
              </a:rPr>
              <a:t>Indicator</a:t>
            </a:r>
            <a:r>
              <a:rPr sz="3200" i="1" spc="22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200" spc="2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3200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widget</a:t>
            </a:r>
            <a:r>
              <a:rPr sz="3200" spc="2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that</a:t>
            </a:r>
            <a:r>
              <a:rPr sz="3200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shows</a:t>
            </a:r>
            <a:r>
              <a:rPr sz="3200" spc="2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sz="3200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along</a:t>
            </a:r>
            <a:r>
              <a:rPr sz="3200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3200" spc="2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circle.</a:t>
            </a:r>
            <a:r>
              <a:rPr sz="3200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It</a:t>
            </a:r>
            <a:r>
              <a:rPr sz="3200" spc="2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200" spc="2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spc="-50" dirty="0">
                <a:latin typeface="Comic Sans MS" panose="030F0702030302020204" pitchFamily="66" charset="0"/>
                <a:cs typeface="Times New Roman"/>
              </a:rPr>
              <a:t>a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circular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sz="32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bar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that</a:t>
            </a:r>
            <a:r>
              <a:rPr sz="32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spins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indicate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that</a:t>
            </a:r>
            <a:r>
              <a:rPr sz="32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application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32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busy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or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dirty="0">
                <a:latin typeface="Comic Sans MS" panose="030F0702030302020204" pitchFamily="66" charset="0"/>
                <a:cs typeface="Times New Roman"/>
              </a:rPr>
              <a:t>on</a:t>
            </a:r>
            <a:r>
              <a:rPr sz="32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Times New Roman"/>
              </a:rPr>
              <a:t>hold</a:t>
            </a:r>
            <a:r>
              <a:rPr sz="3200" spc="-10" dirty="0" smtClean="0">
                <a:latin typeface="Comic Sans MS" panose="030F0702030302020204" pitchFamily="66" charset="0"/>
                <a:cs typeface="Times New Roman"/>
              </a:rPr>
              <a:t>.</a:t>
            </a:r>
            <a:endParaRPr lang="en-US" sz="3200" spc="-10" dirty="0" smtClean="0">
              <a:latin typeface="Comic Sans MS" panose="030F0702030302020204" pitchFamily="66" charset="0"/>
              <a:cs typeface="Times New Roman"/>
            </a:endParaRPr>
          </a:p>
          <a:p>
            <a:pPr marL="10795" marR="5080">
              <a:lnSpc>
                <a:spcPts val="3560"/>
              </a:lnSpc>
              <a:spcBef>
                <a:spcPts val="105"/>
              </a:spcBef>
              <a:buSzPct val="96610"/>
              <a:tabLst>
                <a:tab pos="295275" algn="l"/>
              </a:tabLst>
            </a:pP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467995" indent="-457200" algn="l">
              <a:lnSpc>
                <a:spcPts val="3420"/>
              </a:lnSpc>
              <a:buSzPct val="96610"/>
              <a:buFont typeface="Wingdings" panose="05000000000000000000" pitchFamily="2" charset="2"/>
              <a:buChar char="v"/>
              <a:tabLst>
                <a:tab pos="295275" algn="l"/>
                <a:tab pos="4598670" algn="l"/>
                <a:tab pos="5049520" algn="l"/>
                <a:tab pos="8997315" algn="l"/>
                <a:tab pos="9782810" algn="l"/>
                <a:tab pos="10987405" algn="l"/>
                <a:tab pos="11479530" algn="l"/>
                <a:tab pos="11825605" algn="l"/>
                <a:tab pos="13281025" algn="l"/>
                <a:tab pos="13941425" algn="l"/>
                <a:tab pos="14370685" algn="l"/>
                <a:tab pos="14716760" algn="l"/>
                <a:tab pos="15921355" algn="l"/>
                <a:tab pos="16664940" algn="l"/>
              </a:tabLst>
            </a:pPr>
            <a:r>
              <a:rPr sz="3200" b="1" spc="-10" dirty="0" smtClean="0">
                <a:latin typeface="Comic Sans MS" panose="030F0702030302020204" pitchFamily="66" charset="0"/>
                <a:cs typeface="Times New Roman"/>
              </a:rPr>
              <a:t>Linear</a:t>
            </a:r>
            <a:r>
              <a:rPr lang="en-US" sz="3200" b="1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b="1" spc="-10" dirty="0" smtClean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lang="en-US" sz="3200" b="1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3200" b="1" spc="-10" err="1" smtClean="0">
                <a:latin typeface="Comic Sans MS" panose="030F0702030302020204" pitchFamily="66" charset="0"/>
                <a:cs typeface="Times New Roman"/>
              </a:rPr>
              <a:t>Indicator</a:t>
            </a:r>
            <a:r>
              <a:rPr sz="3200" b="1" spc="-10" smtClean="0">
                <a:latin typeface="Comic Sans MS" panose="030F0702030302020204" pitchFamily="66" charset="0"/>
                <a:cs typeface="Times New Roman"/>
              </a:rPr>
              <a:t>:</a:t>
            </a:r>
            <a:r>
              <a:rPr lang="en-US" sz="3200" b="1" spc="-1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50" smtClean="0">
                <a:latin typeface="Comic Sans MS" panose="030F0702030302020204" pitchFamily="66" charset="0"/>
                <a:cs typeface="Times New Roman"/>
              </a:rPr>
              <a:t>A</a:t>
            </a:r>
            <a:r>
              <a:rPr lang="en-US" sz="240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i="1" spc="-10" dirty="0" smtClean="0">
                <a:latin typeface="Comic Sans MS" panose="030F0702030302020204" pitchFamily="66" charset="0"/>
                <a:cs typeface="Times New Roman"/>
              </a:rPr>
              <a:t>Linear</a:t>
            </a:r>
            <a:r>
              <a:rPr lang="en-US" sz="2400" i="1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i="1" spc="-10" dirty="0" smtClean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lang="en-US" sz="2400" i="1" spc="-1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i="1" spc="-10" dirty="0" smtClean="0">
                <a:latin typeface="Comic Sans MS" panose="030F0702030302020204" pitchFamily="66" charset="0"/>
                <a:cs typeface="Times New Roman"/>
              </a:rPr>
              <a:t>Indicator</a:t>
            </a:r>
            <a:r>
              <a:rPr sz="2400" i="1" dirty="0">
                <a:latin typeface="Comic Sans MS" panose="030F0702030302020204" pitchFamily="66" charset="0"/>
                <a:cs typeface="Times New Roman"/>
              </a:rPr>
              <a:t>	</a:t>
            </a:r>
            <a:r>
              <a:rPr sz="2400" spc="-20" dirty="0" smtClean="0">
                <a:latin typeface="Comic Sans MS" panose="030F0702030302020204" pitchFamily="66" charset="0"/>
                <a:cs typeface="Times New Roman"/>
              </a:rPr>
              <a:t>also</a:t>
            </a:r>
            <a:r>
              <a:rPr lang="en-US" sz="24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 smtClean="0">
                <a:latin typeface="Comic Sans MS" panose="030F0702030302020204" pitchFamily="66" charset="0"/>
                <a:cs typeface="Times New Roman"/>
              </a:rPr>
              <a:t>known</a:t>
            </a:r>
            <a:r>
              <a:rPr lang="en-US" sz="240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5" dirty="0" smtClean="0">
                <a:latin typeface="Comic Sans MS" panose="030F0702030302020204" pitchFamily="66" charset="0"/>
                <a:cs typeface="Times New Roman"/>
              </a:rPr>
              <a:t>as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	</a:t>
            </a:r>
            <a:r>
              <a:rPr sz="2400" spc="-50" dirty="0" smtClean="0">
                <a:latin typeface="Comic Sans MS" panose="030F0702030302020204" pitchFamily="66" charset="0"/>
                <a:cs typeface="Times New Roman"/>
              </a:rPr>
              <a:t>a</a:t>
            </a:r>
            <a:r>
              <a:rPr lang="en-US" sz="24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 smtClean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lang="en-US" sz="24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5" dirty="0" smtClean="0">
                <a:latin typeface="Comic Sans MS" panose="030F0702030302020204" pitchFamily="66" charset="0"/>
                <a:cs typeface="Times New Roman"/>
              </a:rPr>
              <a:t>bar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	</a:t>
            </a:r>
            <a:r>
              <a:rPr sz="2400" spc="-25" dirty="0" smtClean="0">
                <a:latin typeface="Comic Sans MS" panose="030F0702030302020204" pitchFamily="66" charset="0"/>
                <a:cs typeface="Times New Roman"/>
              </a:rPr>
              <a:t>is</a:t>
            </a:r>
            <a:r>
              <a:rPr lang="en-US" sz="24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50" dirty="0" smtClean="0">
                <a:latin typeface="Comic Sans MS" panose="030F0702030302020204" pitchFamily="66" charset="0"/>
                <a:cs typeface="Times New Roman"/>
              </a:rPr>
              <a:t>a</a:t>
            </a:r>
            <a:r>
              <a:rPr lang="en-US" sz="240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 smtClean="0">
                <a:latin typeface="Comic Sans MS" panose="030F0702030302020204" pitchFamily="66" charset="0"/>
                <a:cs typeface="Times New Roman"/>
              </a:rPr>
              <a:t>widget</a:t>
            </a:r>
            <a:endParaRPr lang="en-US" sz="2400" dirty="0">
              <a:latin typeface="Comic Sans MS" panose="030F0702030302020204" pitchFamily="66" charset="0"/>
              <a:cs typeface="Times New Roman"/>
            </a:endParaRPr>
          </a:p>
          <a:p>
            <a:pPr marL="467995" indent="-457200" algn="l">
              <a:lnSpc>
                <a:spcPts val="3420"/>
              </a:lnSpc>
              <a:buSzPct val="96610"/>
              <a:buFont typeface="Wingdings" panose="05000000000000000000" pitchFamily="2" charset="2"/>
              <a:buChar char="v"/>
              <a:tabLst>
                <a:tab pos="295275" algn="l"/>
                <a:tab pos="4598670" algn="l"/>
                <a:tab pos="5049520" algn="l"/>
                <a:tab pos="8997315" algn="l"/>
                <a:tab pos="9782810" algn="l"/>
                <a:tab pos="10987405" algn="l"/>
                <a:tab pos="11479530" algn="l"/>
                <a:tab pos="11825605" algn="l"/>
                <a:tab pos="13281025" algn="l"/>
                <a:tab pos="13941425" algn="l"/>
                <a:tab pos="14370685" algn="l"/>
                <a:tab pos="14716760" algn="l"/>
                <a:tab pos="15921355" algn="l"/>
                <a:tab pos="16664940" algn="l"/>
              </a:tabLst>
            </a:pPr>
            <a:r>
              <a:rPr lang="en-US" sz="2400" spc="-20" dirty="0" smtClean="0">
                <a:latin typeface="Comic Sans MS" panose="030F0702030302020204" pitchFamily="66" charset="0"/>
                <a:cs typeface="Times New Roman"/>
              </a:rPr>
              <a:t>T</a:t>
            </a:r>
            <a:r>
              <a:rPr sz="2400" spc="-20" dirty="0" smtClean="0">
                <a:latin typeface="Comic Sans MS" panose="030F0702030302020204" pitchFamily="66" charset="0"/>
                <a:cs typeface="Times New Roman"/>
              </a:rPr>
              <a:t>hat</a:t>
            </a:r>
            <a:r>
              <a:rPr lang="en-US" sz="240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0" dirty="0" smtClean="0">
                <a:latin typeface="Comic Sans MS" panose="030F0702030302020204" pitchFamily="66" charset="0"/>
                <a:cs typeface="Times New Roman"/>
              </a:rPr>
              <a:t>shows</a:t>
            </a:r>
            <a:r>
              <a:rPr lang="en-US" sz="2400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 smtClean="0">
                <a:latin typeface="Comic Sans MS" panose="030F0702030302020204" pitchFamily="66" charset="0"/>
                <a:cs typeface="Times New Roman"/>
              </a:rPr>
              <a:t>progress</a:t>
            </a:r>
            <a:r>
              <a:rPr sz="2400" spc="-15" dirty="0" smtClean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linear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direction</a:t>
            </a:r>
            <a:r>
              <a:rPr sz="24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or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along</a:t>
            </a:r>
            <a:r>
              <a:rPr sz="24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line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indicate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that</a:t>
            </a:r>
            <a:r>
              <a:rPr sz="24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application</a:t>
            </a:r>
            <a:r>
              <a:rPr sz="24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24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 progress.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616" y="221522"/>
            <a:ext cx="19403017" cy="9896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786" rIns="0" bIns="0" rtlCol="0">
            <a:spAutoFit/>
          </a:bodyPr>
          <a:lstStyle/>
          <a:p>
            <a:pPr marL="318770">
              <a:lnSpc>
                <a:spcPct val="100000"/>
              </a:lnSpc>
              <a:spcBef>
                <a:spcPts val="170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Circular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Linear</a:t>
            </a:r>
            <a:r>
              <a:rPr spc="-5" dirty="0"/>
              <a:t> </a:t>
            </a:r>
            <a:r>
              <a:rPr dirty="0"/>
              <a:t>Progress</a:t>
            </a:r>
            <a:r>
              <a:rPr spc="-10" dirty="0"/>
              <a:t> Indicators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409" y="2481045"/>
            <a:ext cx="19875691" cy="6809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3300" dirty="0">
                <a:latin typeface="Comic Sans MS" panose="030F0702030302020204" pitchFamily="66" charset="0"/>
                <a:cs typeface="Arial MT"/>
              </a:rPr>
              <a:t>There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are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two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types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10" dirty="0">
                <a:latin typeface="Comic Sans MS" panose="030F0702030302020204" pitchFamily="66" charset="0"/>
                <a:cs typeface="Arial MT"/>
              </a:rPr>
              <a:t>indicators:</a:t>
            </a:r>
            <a:endParaRPr sz="3300" dirty="0">
              <a:latin typeface="Comic Sans MS" panose="030F0702030302020204" pitchFamily="66" charset="0"/>
              <a:cs typeface="Arial MT"/>
            </a:endParaRPr>
          </a:p>
          <a:p>
            <a:pPr marL="12700" marR="27305">
              <a:lnSpc>
                <a:spcPct val="150000"/>
              </a:lnSpc>
              <a:spcBef>
                <a:spcPts val="130"/>
              </a:spcBef>
            </a:pPr>
            <a:r>
              <a:rPr sz="3300" b="1" dirty="0">
                <a:latin typeface="Comic Sans MS" panose="030F0702030302020204" pitchFamily="66" charset="0"/>
                <a:cs typeface="Arial"/>
              </a:rPr>
              <a:t>Indeterminate:</a:t>
            </a:r>
            <a:r>
              <a:rPr sz="3300" b="1" spc="-90" dirty="0">
                <a:latin typeface="Comic Sans MS" panose="030F0702030302020204" pitchFamily="66" charset="0"/>
                <a:cs typeface="Arial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Indeterminate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an</a:t>
            </a:r>
            <a:r>
              <a:rPr sz="3300" spc="-9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does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not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display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300" spc="-9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10" dirty="0">
                <a:latin typeface="Comic Sans MS" panose="030F0702030302020204" pitchFamily="66" charset="0"/>
                <a:cs typeface="Arial MT"/>
              </a:rPr>
              <a:t>specific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at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any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instance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time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and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only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indicates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being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made.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does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not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10" dirty="0">
                <a:latin typeface="Comic Sans MS" panose="030F0702030302020204" pitchFamily="66" charset="0"/>
                <a:cs typeface="Arial MT"/>
              </a:rPr>
              <a:t>indicate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how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much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7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remains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be</a:t>
            </a:r>
            <a:r>
              <a:rPr sz="3300" spc="-7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made.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For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creating</a:t>
            </a:r>
            <a:r>
              <a:rPr sz="3300" spc="-7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an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indeterminate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7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bar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we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set</a:t>
            </a:r>
            <a:r>
              <a:rPr sz="3300" spc="-7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25" dirty="0">
                <a:latin typeface="Comic Sans MS" panose="030F0702030302020204" pitchFamily="66" charset="0"/>
                <a:cs typeface="Arial MT"/>
              </a:rPr>
              <a:t>the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property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as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10" dirty="0">
                <a:latin typeface="Comic Sans MS" panose="030F0702030302020204" pitchFamily="66" charset="0"/>
                <a:cs typeface="Arial MT"/>
              </a:rPr>
              <a:t>null.</a:t>
            </a:r>
            <a:endParaRPr sz="3300" dirty="0">
              <a:latin typeface="Comic Sans MS" panose="030F0702030302020204" pitchFamily="66" charset="0"/>
              <a:cs typeface="Arial MT"/>
            </a:endParaRPr>
          </a:p>
          <a:p>
            <a:pPr marL="12700">
              <a:lnSpc>
                <a:spcPct val="150000"/>
              </a:lnSpc>
            </a:pPr>
            <a:r>
              <a:rPr sz="3300" b="1" dirty="0">
                <a:latin typeface="Comic Sans MS" panose="030F0702030302020204" pitchFamily="66" charset="0"/>
                <a:cs typeface="Arial"/>
              </a:rPr>
              <a:t>Determinate:</a:t>
            </a:r>
            <a:r>
              <a:rPr sz="3300" b="1" spc="-90" dirty="0">
                <a:latin typeface="Comic Sans MS" panose="030F0702030302020204" pitchFamily="66" charset="0"/>
                <a:cs typeface="Arial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Determinate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an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has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specific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at</a:t>
            </a:r>
            <a:r>
              <a:rPr sz="3300" spc="-9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20" dirty="0">
                <a:latin typeface="Comic Sans MS" panose="030F0702030302020204" pitchFamily="66" charset="0"/>
                <a:cs typeface="Arial MT"/>
              </a:rPr>
              <a:t>each</a:t>
            </a:r>
            <a:endParaRPr sz="3300" dirty="0">
              <a:latin typeface="Comic Sans MS" panose="030F0702030302020204" pitchFamily="66" charset="0"/>
              <a:cs typeface="Arial MT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3300" dirty="0">
                <a:latin typeface="Comic Sans MS" panose="030F0702030302020204" pitchFamily="66" charset="0"/>
                <a:cs typeface="Arial MT"/>
              </a:rPr>
              <a:t>instance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time.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also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indicates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how</a:t>
            </a:r>
            <a:r>
              <a:rPr sz="3300" spc="-7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much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completed.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300" spc="-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10" dirty="0">
                <a:latin typeface="Comic Sans MS" panose="030F0702030302020204" pitchFamily="66" charset="0"/>
                <a:cs typeface="Arial MT"/>
              </a:rPr>
              <a:t>determinate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increases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monotonically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from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0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1,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where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0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indicates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8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300" spc="-8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20" dirty="0">
                <a:latin typeface="Comic Sans MS" panose="030F0702030302020204" pitchFamily="66" charset="0"/>
                <a:cs typeface="Arial MT"/>
              </a:rPr>
              <a:t>just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started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and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1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indicates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300" spc="-6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300" spc="-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300" spc="-10" dirty="0">
                <a:latin typeface="Comic Sans MS" panose="030F0702030302020204" pitchFamily="66" charset="0"/>
                <a:cs typeface="Arial MT"/>
              </a:rPr>
              <a:t>completed.</a:t>
            </a:r>
            <a:endParaRPr sz="3300" dirty="0">
              <a:latin typeface="Comic Sans MS" panose="030F0702030302020204" pitchFamily="66" charset="0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07" y="0"/>
            <a:ext cx="19334490" cy="989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64490">
              <a:lnSpc>
                <a:spcPct val="100000"/>
              </a:lnSpc>
              <a:spcBef>
                <a:spcPts val="175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Circular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Linear</a:t>
            </a:r>
            <a:r>
              <a:rPr spc="-5" dirty="0"/>
              <a:t> </a:t>
            </a:r>
            <a:r>
              <a:rPr dirty="0"/>
              <a:t>Progress</a:t>
            </a:r>
            <a:r>
              <a:rPr spc="-10" dirty="0"/>
              <a:t> Indicators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6477" y="1940045"/>
            <a:ext cx="4887809" cy="8936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5382" y="2348716"/>
            <a:ext cx="4760462" cy="84311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153" y="0"/>
            <a:ext cx="18197018" cy="989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7350">
              <a:lnSpc>
                <a:spcPct val="100000"/>
              </a:lnSpc>
              <a:spcBef>
                <a:spcPts val="175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Circular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Linear</a:t>
            </a:r>
            <a:r>
              <a:rPr spc="-5" dirty="0"/>
              <a:t> </a:t>
            </a:r>
            <a:r>
              <a:rPr dirty="0"/>
              <a:t>Progress</a:t>
            </a:r>
            <a:r>
              <a:rPr spc="-10" dirty="0"/>
              <a:t> Indicators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6477" y="2417517"/>
            <a:ext cx="4887809" cy="7981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5382" y="2466794"/>
            <a:ext cx="4760462" cy="81950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70" y="0"/>
            <a:ext cx="19425863" cy="989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75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Circular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Linear</a:t>
            </a:r>
            <a:r>
              <a:rPr spc="-5" dirty="0"/>
              <a:t> </a:t>
            </a:r>
            <a:r>
              <a:rPr dirty="0"/>
              <a:t>Progress</a:t>
            </a:r>
            <a:r>
              <a:rPr spc="-10" dirty="0"/>
              <a:t> Indicators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409" y="1463675"/>
            <a:ext cx="19875691" cy="8869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10" dirty="0">
                <a:latin typeface="Arial"/>
                <a:cs typeface="Arial"/>
              </a:rPr>
              <a:t>Explanation:</a:t>
            </a:r>
            <a:endParaRPr sz="2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3200" dirty="0">
                <a:latin typeface="Comic Sans MS" panose="030F0702030302020204" pitchFamily="66" charset="0"/>
                <a:cs typeface="Arial MT"/>
              </a:rPr>
              <a:t>Following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explanation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above-mentioned</a:t>
            </a:r>
            <a:r>
              <a:rPr sz="3200" spc="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code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for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implementing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Indicators</a:t>
            </a:r>
            <a:r>
              <a:rPr sz="3200" spc="6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7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Flutter: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12700" marR="621030" indent="278130">
              <a:lnSpc>
                <a:spcPct val="100000"/>
              </a:lnSpc>
              <a:spcBef>
                <a:spcPts val="30"/>
              </a:spcBef>
              <a:buSzPct val="96153"/>
              <a:buAutoNum type="arabicPeriod"/>
              <a:tabLst>
                <a:tab pos="290830" algn="l"/>
              </a:tabLst>
            </a:pPr>
            <a:r>
              <a:rPr sz="3200" b="1" dirty="0">
                <a:latin typeface="Comic Sans MS" panose="030F0702030302020204" pitchFamily="66" charset="0"/>
                <a:cs typeface="Arial"/>
              </a:rPr>
              <a:t>backgroundColor:</a:t>
            </a:r>
            <a:r>
              <a:rPr sz="3200" b="1" spc="45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property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order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set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background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color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linear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loader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and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50" dirty="0">
                <a:latin typeface="Comic Sans MS" panose="030F0702030302020204" pitchFamily="66" charset="0"/>
                <a:cs typeface="Arial MT"/>
              </a:rPr>
              <a:t>a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circular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spin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loader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Arial MT"/>
              </a:rPr>
              <a:t>bar.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290830" indent="-278130">
              <a:lnSpc>
                <a:spcPct val="100000"/>
              </a:lnSpc>
              <a:spcBef>
                <a:spcPts val="110"/>
              </a:spcBef>
              <a:buSzPct val="96153"/>
              <a:buAutoNum type="arabicPeriod"/>
              <a:tabLst>
                <a:tab pos="290830" algn="l"/>
              </a:tabLst>
            </a:pPr>
            <a:r>
              <a:rPr sz="3200" b="1" dirty="0">
                <a:latin typeface="Comic Sans MS" panose="030F0702030302020204" pitchFamily="66" charset="0"/>
                <a:cs typeface="Arial"/>
              </a:rPr>
              <a:t>strokeWidth:</a:t>
            </a:r>
            <a:r>
              <a:rPr sz="3200" b="1" spc="40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This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property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specifies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width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line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draw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circle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50" dirty="0">
                <a:latin typeface="Comic Sans MS" panose="030F0702030302020204" pitchFamily="66" charset="0"/>
                <a:cs typeface="Arial MT"/>
              </a:rPr>
              <a:t>a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i="1" spc="-10" dirty="0">
                <a:latin typeface="Comic Sans MS" panose="030F0702030302020204" pitchFamily="66" charset="0"/>
                <a:cs typeface="Arial"/>
              </a:rPr>
              <a:t>CircularProgressIndicator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.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290830" indent="-278130">
              <a:lnSpc>
                <a:spcPct val="100000"/>
              </a:lnSpc>
              <a:spcBef>
                <a:spcPts val="85"/>
              </a:spcBef>
              <a:buSzPct val="96153"/>
              <a:buAutoNum type="arabicPeriod" startAt="3"/>
              <a:tabLst>
                <a:tab pos="290830" algn="l"/>
              </a:tabLst>
            </a:pPr>
            <a:r>
              <a:rPr sz="3200" b="1" dirty="0">
                <a:latin typeface="Comic Sans MS" panose="030F0702030302020204" pitchFamily="66" charset="0"/>
                <a:cs typeface="Arial"/>
              </a:rPr>
              <a:t>minHeight:</a:t>
            </a:r>
            <a:r>
              <a:rPr sz="3200" b="1" spc="40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minimum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height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line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draw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50" dirty="0">
                <a:latin typeface="Comic Sans MS" panose="030F0702030302020204" pitchFamily="66" charset="0"/>
                <a:cs typeface="Arial MT"/>
              </a:rPr>
              <a:t>a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200" i="1" dirty="0">
                <a:latin typeface="Comic Sans MS" panose="030F0702030302020204" pitchFamily="66" charset="0"/>
                <a:cs typeface="Arial"/>
              </a:rPr>
              <a:t>LinearProgressIndicator</a:t>
            </a:r>
            <a:r>
              <a:rPr sz="3200" i="1" spc="45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or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other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words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define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how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thick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line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looks.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290830" indent="-278130">
              <a:lnSpc>
                <a:spcPct val="100000"/>
              </a:lnSpc>
              <a:spcBef>
                <a:spcPts val="5"/>
              </a:spcBef>
              <a:buSzPct val="96153"/>
              <a:buAutoNum type="arabicPeriod" startAt="4"/>
              <a:tabLst>
                <a:tab pos="290830" algn="l"/>
              </a:tabLst>
            </a:pPr>
            <a:r>
              <a:rPr sz="3200" b="1" dirty="0">
                <a:latin typeface="Comic Sans MS" panose="030F0702030302020204" pitchFamily="66" charset="0"/>
                <a:cs typeface="Arial"/>
              </a:rPr>
              <a:t>valueColor:</a:t>
            </a:r>
            <a:r>
              <a:rPr sz="3200" b="1" spc="45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order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define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indicator’s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animated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value.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i="1" spc="-10" dirty="0">
                <a:latin typeface="Comic Sans MS" panose="030F0702030302020204" pitchFamily="66" charset="0"/>
                <a:cs typeface="Arial"/>
              </a:rPr>
              <a:t>valueColor</a:t>
            </a:r>
            <a:endParaRPr sz="3200" dirty="0">
              <a:latin typeface="Comic Sans MS" panose="030F0702030302020204" pitchFamily="66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omic Sans MS" panose="030F0702030302020204" pitchFamily="66" charset="0"/>
                <a:cs typeface="Arial MT"/>
              </a:rPr>
              <a:t>property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covers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highlights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completed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task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valued.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290830" indent="-278130">
              <a:lnSpc>
                <a:spcPct val="100000"/>
              </a:lnSpc>
              <a:spcBef>
                <a:spcPts val="5"/>
              </a:spcBef>
              <a:buSzPct val="96153"/>
              <a:buAutoNum type="arabicPeriod" startAt="5"/>
              <a:tabLst>
                <a:tab pos="290830" algn="l"/>
              </a:tabLst>
            </a:pPr>
            <a:r>
              <a:rPr sz="3200" b="1" dirty="0">
                <a:latin typeface="Comic Sans MS" panose="030F0702030302020204" pitchFamily="66" charset="0"/>
                <a:cs typeface="Arial"/>
              </a:rPr>
              <a:t>AlwaysStoppedAnimation:</a:t>
            </a:r>
            <a:r>
              <a:rPr sz="3200" b="1" spc="50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order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specify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constant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color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i="1" dirty="0">
                <a:latin typeface="Comic Sans MS" panose="030F0702030302020204" pitchFamily="66" charset="0"/>
                <a:cs typeface="Arial"/>
              </a:rPr>
              <a:t>valueColor</a:t>
            </a:r>
            <a:r>
              <a:rPr sz="3200" i="1" spc="55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property.</a:t>
            </a:r>
            <a:endParaRPr sz="3200" dirty="0">
              <a:latin typeface="Comic Sans MS" panose="030F0702030302020204" pitchFamily="66" charset="0"/>
              <a:cs typeface="Arial MT"/>
            </a:endParaRPr>
          </a:p>
          <a:p>
            <a:pPr marL="12700" marR="5080" indent="278130">
              <a:lnSpc>
                <a:spcPct val="101499"/>
              </a:lnSpc>
              <a:spcBef>
                <a:spcPts val="40"/>
              </a:spcBef>
              <a:buSzPct val="96153"/>
              <a:buAutoNum type="arabicPeriod" startAt="5"/>
              <a:tabLst>
                <a:tab pos="290830" algn="l"/>
              </a:tabLst>
            </a:pPr>
            <a:r>
              <a:rPr sz="3200" b="1" dirty="0">
                <a:latin typeface="Comic Sans MS" panose="030F0702030302020204" pitchFamily="66" charset="0"/>
                <a:cs typeface="Arial"/>
              </a:rPr>
              <a:t>value:</a:t>
            </a:r>
            <a:r>
              <a:rPr sz="3200" b="1" spc="45" dirty="0">
                <a:latin typeface="Comic Sans MS" panose="030F0702030302020204" pitchFamily="66" charset="0"/>
                <a:cs typeface="Arial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property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used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order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to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differentiate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between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determinate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and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indeterminate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bar.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If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property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set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null,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indeterminate,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which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means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Arial MT"/>
              </a:rPr>
              <a:t>it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will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show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predefined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animation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indicator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with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its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motion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does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not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indicate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how</a:t>
            </a:r>
            <a:r>
              <a:rPr sz="3200" spc="5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Arial MT"/>
              </a:rPr>
              <a:t>much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completed.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If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set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non-null,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then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displays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how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much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being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made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particular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instant.</a:t>
            </a:r>
            <a:r>
              <a:rPr sz="3200" spc="3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200" spc="5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0.0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indicates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just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started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and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a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value</a:t>
            </a:r>
            <a:r>
              <a:rPr sz="3200" spc="40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of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1.0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indicates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that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the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dirty="0">
                <a:latin typeface="Comic Sans MS" panose="030F0702030302020204" pitchFamily="66" charset="0"/>
                <a:cs typeface="Arial MT"/>
              </a:rPr>
              <a:t>progress</a:t>
            </a:r>
            <a:r>
              <a:rPr sz="3200" spc="45" dirty="0">
                <a:latin typeface="Comic Sans MS" panose="030F0702030302020204" pitchFamily="66" charset="0"/>
                <a:cs typeface="Arial MT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Arial MT"/>
              </a:rPr>
              <a:t>is </a:t>
            </a:r>
            <a:r>
              <a:rPr sz="3200" spc="-10" dirty="0">
                <a:latin typeface="Comic Sans MS" panose="030F0702030302020204" pitchFamily="66" charset="0"/>
                <a:cs typeface="Arial MT"/>
              </a:rPr>
              <a:t>completed.</a:t>
            </a:r>
            <a:endParaRPr sz="3200" dirty="0">
              <a:latin typeface="Comic Sans MS" panose="030F0702030302020204" pitchFamily="66" charset="0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1277</Words>
  <Application>Microsoft Office PowerPoint</Application>
  <PresentationFormat>Custom</PresentationFormat>
  <Paragraphs>114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MT</vt:lpstr>
      <vt:lpstr>Comic Sans MS</vt:lpstr>
      <vt:lpstr>Georgia</vt:lpstr>
      <vt:lpstr>Times New Roman</vt:lpstr>
      <vt:lpstr>Wingdings</vt:lpstr>
      <vt:lpstr>Office Theme</vt:lpstr>
      <vt:lpstr>Mobile Learning Application Development</vt:lpstr>
      <vt:lpstr>Flutter – Tabs</vt:lpstr>
      <vt:lpstr>Designing a Tab Controller:</vt:lpstr>
      <vt:lpstr>Adding tabs:</vt:lpstr>
      <vt:lpstr>Adding content to tabs:</vt:lpstr>
      <vt:lpstr>PowerPoint Presentation</vt:lpstr>
      <vt:lpstr>Icon Class in Flutter</vt:lpstr>
      <vt:lpstr>Icon Class in Flutter</vt:lpstr>
      <vt:lpstr>Icon Class in Flutter</vt:lpstr>
      <vt:lpstr>Expanded Class in Flutter</vt:lpstr>
      <vt:lpstr>Expanded Class in Flutter</vt:lpstr>
      <vt:lpstr>Expanded Class in Flutter</vt:lpstr>
      <vt:lpstr>Expanded Class in Flutter</vt:lpstr>
      <vt:lpstr>Flutter – Dialogs</vt:lpstr>
      <vt:lpstr>Flutter – Dialogs</vt:lpstr>
      <vt:lpstr>AlertDialog</vt:lpstr>
      <vt:lpstr>AlertDialog</vt:lpstr>
      <vt:lpstr>AlertDialog</vt:lpstr>
      <vt:lpstr>Simpledialog</vt:lpstr>
      <vt:lpstr>SimpleDialog</vt:lpstr>
      <vt:lpstr>SimpleDialog</vt:lpstr>
      <vt:lpstr>Show Dialog</vt:lpstr>
      <vt:lpstr>Show Dialog</vt:lpstr>
      <vt:lpstr>Show Dialog</vt:lpstr>
      <vt:lpstr>Key Difference</vt:lpstr>
      <vt:lpstr>Flutter – Circular &amp; Linear Progress Indicators</vt:lpstr>
      <vt:lpstr>Flutter – Circular &amp; Linear Progress Indicators</vt:lpstr>
      <vt:lpstr>Flutter – Circular &amp; Linear Progress Indicators</vt:lpstr>
      <vt:lpstr>Flutter – Circular &amp; Linear Progress Indicators</vt:lpstr>
      <vt:lpstr>Flutter – Circular &amp; Linear Progress Indicators</vt:lpstr>
      <vt:lpstr>Flutter – Circular &amp; Linear Progress Indicators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6</dc:title>
  <cp:lastModifiedBy>User</cp:lastModifiedBy>
  <cp:revision>4</cp:revision>
  <dcterms:created xsi:type="dcterms:W3CDTF">2025-09-26T07:08:31Z</dcterms:created>
  <dcterms:modified xsi:type="dcterms:W3CDTF">2025-10-24T05:17:29Z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2024-12-03T00:00:00Z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2025-09-26T00:00:00Z</vt:filetime>
  </property>
  <property fmtid="{D5CDD505-2E9C-101B-9397-08002B2CF9AE}" pid="5" name="Producer">
    <vt:lpwstr>macOS Version 15.1.1 (Build 24B91) Quartz PDFContext</vt:lpwstr>
  </property>
</Properties>
</file>