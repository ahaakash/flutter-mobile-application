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6" r:id="rId5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91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8902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16214"/>
            <a:ext cx="8072119" cy="450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kaggle.com/" TargetMode="External"/><Relationship Id="rId3" Type="http://schemas.openxmlformats.org/officeDocument/2006/relationships/hyperlink" Target="http://www.scikit-learn.org/" TargetMode="External"/><Relationship Id="rId7" Type="http://schemas.openxmlformats.org/officeDocument/2006/relationships/hyperlink" Target="http://www.analyticsvidhya.com/" TargetMode="External"/><Relationship Id="rId2" Type="http://schemas.openxmlformats.org/officeDocument/2006/relationships/hyperlink" Target="http://www.pythonprogramminglanguag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itu.co.in/" TargetMode="External"/><Relationship Id="rId5" Type="http://schemas.openxmlformats.org/officeDocument/2006/relationships/hyperlink" Target="http://www.medium.com/" TargetMode="External"/><Relationship Id="rId10" Type="http://schemas.openxmlformats.org/officeDocument/2006/relationships/hyperlink" Target="http://www.github.com/" TargetMode="External"/><Relationship Id="rId4" Type="http://schemas.openxmlformats.org/officeDocument/2006/relationships/hyperlink" Target="http://www.towardsdatascience.com/" TargetMode="External"/><Relationship Id="rId9" Type="http://schemas.openxmlformats.org/officeDocument/2006/relationships/hyperlink" Target="http://www.stephackin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252361"/>
                </a:moveTo>
                <a:lnTo>
                  <a:pt x="0" y="0"/>
                </a:ln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43250" y="477654"/>
            <a:ext cx="2195742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5" dirty="0">
                <a:latin typeface="Times New Roman"/>
                <a:cs typeface="Times New Roman"/>
              </a:rPr>
              <a:t>Dart</a:t>
            </a:r>
            <a:endParaRPr sz="9600" spc="-55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481210"/>
            <a:ext cx="1370520" cy="1370520"/>
          </a:xfrm>
          <a:prstGeom prst="rect">
            <a:avLst/>
          </a:prstGeom>
        </p:spPr>
      </p:pic>
      <p:pic>
        <p:nvPicPr>
          <p:cNvPr id="1026" name="Picture 2" descr="Free Vector | Dart Board Realistic">
            <a:extLst>
              <a:ext uri="{FF2B5EF4-FFF2-40B4-BE49-F238E27FC236}">
                <a16:creationId xmlns:a16="http://schemas.microsoft.com/office/drawing/2014/main" id="{05F02212-F76D-F2C6-124B-1F67BE001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860" y="2907087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5" dirty="0"/>
              <a:t>Getting</a:t>
            </a:r>
            <a:r>
              <a:rPr spc="-200" dirty="0"/>
              <a:t> </a:t>
            </a:r>
            <a:r>
              <a:rPr spc="85" dirty="0"/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77834" cy="4182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3055" marR="826769" indent="-300990" algn="just">
              <a:lnSpc>
                <a:spcPct val="1004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sz="2450" spc="85" dirty="0">
                <a:latin typeface="Microsoft Sans Serif"/>
                <a:cs typeface="Microsoft Sans Serif"/>
              </a:rPr>
              <a:t>Dart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35" dirty="0">
                <a:latin typeface="Microsoft Sans Serif"/>
                <a:cs typeface="Microsoft Sans Serif"/>
              </a:rPr>
              <a:t>is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50" dirty="0">
                <a:latin typeface="Microsoft Sans Serif"/>
                <a:cs typeface="Microsoft Sans Serif"/>
              </a:rPr>
              <a:t>easy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90" dirty="0">
                <a:latin typeface="Microsoft Sans Serif"/>
                <a:cs typeface="Microsoft Sans Serif"/>
              </a:rPr>
              <a:t>to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learn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65" dirty="0">
                <a:latin typeface="Microsoft Sans Serif"/>
                <a:cs typeface="Microsoft Sans Serif"/>
              </a:rPr>
              <a:t>if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you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know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15" dirty="0">
                <a:latin typeface="Microsoft Sans Serif"/>
                <a:cs typeface="Microsoft Sans Serif"/>
              </a:rPr>
              <a:t>any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75" dirty="0">
                <a:latin typeface="Microsoft Sans Serif"/>
                <a:cs typeface="Microsoft Sans Serif"/>
              </a:rPr>
              <a:t>of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-45" dirty="0">
                <a:latin typeface="Microsoft Sans Serif"/>
                <a:cs typeface="Microsoft Sans Serif"/>
              </a:rPr>
              <a:t>Java,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105" dirty="0">
                <a:latin typeface="Microsoft Sans Serif"/>
                <a:cs typeface="Microsoft Sans Serif"/>
              </a:rPr>
              <a:t>C++, </a:t>
            </a:r>
            <a:r>
              <a:rPr sz="2450" spc="-640" dirty="0">
                <a:latin typeface="Microsoft Sans Serif"/>
                <a:cs typeface="Microsoft Sans Serif"/>
              </a:rPr>
              <a:t> </a:t>
            </a:r>
            <a:r>
              <a:rPr sz="2450" spc="-5" dirty="0">
                <a:latin typeface="Microsoft Sans Serif"/>
                <a:cs typeface="Microsoft Sans Serif"/>
              </a:rPr>
              <a:t>JavaScript,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etc.</a:t>
            </a:r>
            <a:endParaRPr sz="2450" dirty="0">
              <a:latin typeface="Microsoft Sans Serif"/>
              <a:cs typeface="Microsoft Sans Serif"/>
            </a:endParaRPr>
          </a:p>
          <a:p>
            <a:pPr marL="313055" marR="5080" indent="-300990" algn="just">
              <a:lnSpc>
                <a:spcPct val="1004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sz="2450" spc="-20" dirty="0">
                <a:latin typeface="Microsoft Sans Serif"/>
                <a:cs typeface="Microsoft Sans Serif"/>
              </a:rPr>
              <a:t>The </a:t>
            </a:r>
            <a:r>
              <a:rPr sz="2450" spc="45" dirty="0">
                <a:latin typeface="Microsoft Sans Serif"/>
                <a:cs typeface="Microsoft Sans Serif"/>
              </a:rPr>
              <a:t>simplest </a:t>
            </a:r>
            <a:r>
              <a:rPr sz="2450" spc="70" dirty="0">
                <a:latin typeface="Microsoft Sans Serif"/>
                <a:cs typeface="Microsoft Sans Serif"/>
              </a:rPr>
              <a:t>"Hello </a:t>
            </a:r>
            <a:r>
              <a:rPr sz="2450" spc="90" dirty="0">
                <a:latin typeface="Microsoft Sans Serif"/>
                <a:cs typeface="Microsoft Sans Serif"/>
              </a:rPr>
              <a:t>World" </a:t>
            </a:r>
            <a:r>
              <a:rPr sz="2450" spc="65" dirty="0">
                <a:latin typeface="Microsoft Sans Serif"/>
                <a:cs typeface="Microsoft Sans Serif"/>
              </a:rPr>
              <a:t>program </a:t>
            </a:r>
            <a:r>
              <a:rPr sz="2450" spc="-5" dirty="0">
                <a:latin typeface="Microsoft Sans Serif"/>
                <a:cs typeface="Microsoft Sans Serif"/>
              </a:rPr>
              <a:t>gives </a:t>
            </a:r>
            <a:r>
              <a:rPr sz="2450" spc="114" dirty="0">
                <a:latin typeface="Microsoft Sans Serif"/>
                <a:cs typeface="Microsoft Sans Serif"/>
              </a:rPr>
              <a:t>the </a:t>
            </a:r>
            <a:r>
              <a:rPr sz="2450" spc="20" dirty="0">
                <a:latin typeface="Microsoft Sans Serif"/>
                <a:cs typeface="Microsoft Sans Serif"/>
              </a:rPr>
              <a:t>idea </a:t>
            </a:r>
            <a:r>
              <a:rPr sz="2450" spc="175" dirty="0">
                <a:latin typeface="Microsoft Sans Serif"/>
                <a:cs typeface="Microsoft Sans Serif"/>
              </a:rPr>
              <a:t>of </a:t>
            </a:r>
            <a:r>
              <a:rPr sz="2450" spc="180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the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basic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25" dirty="0">
                <a:latin typeface="Microsoft Sans Serif"/>
                <a:cs typeface="Microsoft Sans Serif"/>
              </a:rPr>
              <a:t>syntax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75" dirty="0">
                <a:latin typeface="Microsoft Sans Serif"/>
                <a:cs typeface="Microsoft Sans Serif"/>
              </a:rPr>
              <a:t>of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the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programming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5" dirty="0">
                <a:latin typeface="Microsoft Sans Serif"/>
                <a:cs typeface="Microsoft Sans Serif"/>
              </a:rPr>
              <a:t>language.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40" dirty="0">
                <a:latin typeface="Microsoft Sans Serif"/>
                <a:cs typeface="Microsoft Sans Serif"/>
              </a:rPr>
              <a:t>It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35" dirty="0">
                <a:latin typeface="Microsoft Sans Serif"/>
                <a:cs typeface="Microsoft Sans Serif"/>
              </a:rPr>
              <a:t>is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the </a:t>
            </a:r>
            <a:r>
              <a:rPr sz="2450" spc="-635" dirty="0">
                <a:latin typeface="Microsoft Sans Serif"/>
                <a:cs typeface="Microsoft Sans Serif"/>
              </a:rPr>
              <a:t> </a:t>
            </a:r>
            <a:r>
              <a:rPr sz="2450" spc="15" dirty="0">
                <a:latin typeface="Microsoft Sans Serif"/>
                <a:cs typeface="Microsoft Sans Serif"/>
              </a:rPr>
              <a:t>way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75" dirty="0">
                <a:latin typeface="Microsoft Sans Serif"/>
                <a:cs typeface="Microsoft Sans Serif"/>
              </a:rPr>
              <a:t>of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90" dirty="0">
                <a:latin typeface="Microsoft Sans Serif"/>
                <a:cs typeface="Microsoft Sans Serif"/>
              </a:rPr>
              <a:t>testing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the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5" dirty="0">
                <a:latin typeface="Microsoft Sans Serif"/>
                <a:cs typeface="Microsoft Sans Serif"/>
              </a:rPr>
              <a:t>system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5" dirty="0">
                <a:latin typeface="Microsoft Sans Serif"/>
                <a:cs typeface="Microsoft Sans Serif"/>
              </a:rPr>
              <a:t>and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working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environment.</a:t>
            </a:r>
            <a:endParaRPr sz="2450" dirty="0">
              <a:latin typeface="Microsoft Sans Serif"/>
              <a:cs typeface="Microsoft Sans Serif"/>
            </a:endParaRPr>
          </a:p>
          <a:p>
            <a:pPr marL="313055" marR="142240" indent="-300990" algn="just">
              <a:lnSpc>
                <a:spcPct val="100000"/>
              </a:lnSpc>
              <a:spcBef>
                <a:spcPts val="705"/>
              </a:spcBef>
              <a:buClr>
                <a:srgbClr val="6697CC"/>
              </a:buClr>
              <a:buFont typeface="Arial MT"/>
              <a:buChar char="•"/>
              <a:tabLst>
                <a:tab pos="313055" algn="l"/>
                <a:tab pos="313690" algn="l"/>
              </a:tabLst>
            </a:pPr>
            <a:r>
              <a:rPr sz="2450" spc="15" dirty="0">
                <a:latin typeface="Microsoft Sans Serif"/>
                <a:cs typeface="Microsoft Sans Serif"/>
              </a:rPr>
              <a:t>There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20" dirty="0">
                <a:latin typeface="Microsoft Sans Serif"/>
                <a:cs typeface="Microsoft Sans Serif"/>
              </a:rPr>
              <a:t>are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5" dirty="0">
                <a:latin typeface="Microsoft Sans Serif"/>
                <a:cs typeface="Microsoft Sans Serif"/>
              </a:rPr>
              <a:t>several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ways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195" dirty="0">
                <a:latin typeface="Microsoft Sans Serif"/>
                <a:cs typeface="Microsoft Sans Serif"/>
              </a:rPr>
              <a:t>to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run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the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first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program,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35" dirty="0">
                <a:latin typeface="Microsoft Sans Serif"/>
                <a:cs typeface="Microsoft Sans Serif"/>
              </a:rPr>
              <a:t>which </a:t>
            </a:r>
            <a:r>
              <a:rPr sz="2450" spc="-635" dirty="0">
                <a:latin typeface="Microsoft Sans Serif"/>
                <a:cs typeface="Microsoft Sans Serif"/>
              </a:rPr>
              <a:t> </a:t>
            </a:r>
            <a:r>
              <a:rPr sz="2450" spc="-35" dirty="0">
                <a:latin typeface="Microsoft Sans Serif"/>
                <a:cs typeface="Microsoft Sans Serif"/>
              </a:rPr>
              <a:t>is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spc="35" dirty="0">
                <a:latin typeface="Microsoft Sans Serif"/>
                <a:cs typeface="Microsoft Sans Serif"/>
              </a:rPr>
              <a:t>given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below:</a:t>
            </a:r>
            <a:endParaRPr sz="2450" dirty="0">
              <a:latin typeface="Microsoft Sans Serif"/>
              <a:cs typeface="Microsoft Sans Serif"/>
            </a:endParaRPr>
          </a:p>
          <a:p>
            <a:pPr marL="664845" lvl="1" indent="-250825" algn="just">
              <a:lnSpc>
                <a:spcPct val="100000"/>
              </a:lnSpc>
              <a:spcBef>
                <a:spcPts val="635"/>
              </a:spcBef>
              <a:buClr>
                <a:srgbClr val="6697CC"/>
              </a:buClr>
              <a:buFont typeface="Arial MT"/>
              <a:buChar char="–"/>
              <a:tabLst>
                <a:tab pos="665480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Using</a:t>
            </a:r>
            <a:r>
              <a:rPr sz="2450" spc="-120" dirty="0">
                <a:latin typeface="Microsoft Sans Serif"/>
                <a:cs typeface="Microsoft Sans Serif"/>
              </a:rPr>
              <a:t> </a:t>
            </a:r>
            <a:r>
              <a:rPr sz="2450" spc="5" dirty="0">
                <a:latin typeface="Microsoft Sans Serif"/>
                <a:cs typeface="Microsoft Sans Serif"/>
              </a:rPr>
              <a:t>Command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spc="5" dirty="0">
                <a:latin typeface="Microsoft Sans Serif"/>
                <a:cs typeface="Microsoft Sans Serif"/>
              </a:rPr>
              <a:t>Line</a:t>
            </a:r>
            <a:endParaRPr sz="2450" dirty="0">
              <a:latin typeface="Microsoft Sans Serif"/>
              <a:cs typeface="Microsoft Sans Serif"/>
            </a:endParaRPr>
          </a:p>
          <a:p>
            <a:pPr marL="664845" lvl="1" indent="-250825" algn="just">
              <a:lnSpc>
                <a:spcPct val="100000"/>
              </a:lnSpc>
              <a:spcBef>
                <a:spcPts val="620"/>
              </a:spcBef>
              <a:buClr>
                <a:srgbClr val="6697CC"/>
              </a:buClr>
              <a:buFont typeface="Arial MT"/>
              <a:buChar char="–"/>
              <a:tabLst>
                <a:tab pos="665480" algn="l"/>
              </a:tabLst>
            </a:pPr>
            <a:r>
              <a:rPr sz="2450" spc="10" dirty="0">
                <a:latin typeface="Microsoft Sans Serif"/>
                <a:cs typeface="Microsoft Sans Serif"/>
              </a:rPr>
              <a:t>Running</a:t>
            </a:r>
            <a:r>
              <a:rPr sz="2450" spc="-11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on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Browser</a:t>
            </a:r>
            <a:endParaRPr sz="2450" dirty="0">
              <a:latin typeface="Microsoft Sans Serif"/>
              <a:cs typeface="Microsoft Sans Serif"/>
            </a:endParaRPr>
          </a:p>
          <a:p>
            <a:pPr marL="664845" lvl="1" indent="-250825" algn="just">
              <a:lnSpc>
                <a:spcPct val="100000"/>
              </a:lnSpc>
              <a:spcBef>
                <a:spcPts val="620"/>
              </a:spcBef>
              <a:buClr>
                <a:srgbClr val="6697CC"/>
              </a:buClr>
              <a:buFont typeface="Arial MT"/>
              <a:buChar char="–"/>
              <a:tabLst>
                <a:tab pos="665480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Using</a:t>
            </a:r>
            <a:r>
              <a:rPr sz="2450" spc="-130" dirty="0">
                <a:latin typeface="Microsoft Sans Serif"/>
                <a:cs typeface="Microsoft Sans Serif"/>
              </a:rPr>
              <a:t> </a:t>
            </a:r>
            <a:r>
              <a:rPr sz="2450" spc="-95" dirty="0">
                <a:latin typeface="Microsoft Sans Serif"/>
                <a:cs typeface="Microsoft Sans Serif"/>
              </a:rPr>
              <a:t>IDE</a:t>
            </a:r>
            <a:endParaRPr sz="24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5" dirty="0"/>
              <a:t>Hello</a:t>
            </a:r>
            <a:r>
              <a:rPr spc="-210" dirty="0"/>
              <a:t> </a:t>
            </a:r>
            <a:r>
              <a:rPr spc="10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5360035" cy="160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780" marR="5080" indent="-640080">
              <a:lnSpc>
                <a:spcPct val="123500"/>
              </a:lnSpc>
              <a:spcBef>
                <a:spcPts val="100"/>
              </a:spcBef>
            </a:pPr>
            <a:r>
              <a:rPr sz="2800" spc="-5" dirty="0">
                <a:latin typeface="Courier New"/>
                <a:cs typeface="Courier New"/>
              </a:rPr>
              <a:t>void</a:t>
            </a:r>
            <a:r>
              <a:rPr sz="2800" spc="5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main()</a:t>
            </a:r>
            <a:r>
              <a:rPr sz="2800" spc="6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 </a:t>
            </a:r>
            <a:r>
              <a:rPr sz="2800" spc="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print("Hello</a:t>
            </a:r>
            <a:r>
              <a:rPr sz="2800" spc="-9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World!");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5" dirty="0"/>
              <a:t>Identifiers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82280" cy="268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8425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80" dirty="0">
                <a:latin typeface="Microsoft Sans Serif"/>
                <a:cs typeface="Microsoft Sans Serif"/>
              </a:rPr>
              <a:t>Identifiers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are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name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which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used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220" dirty="0">
                <a:latin typeface="Microsoft Sans Serif"/>
                <a:cs typeface="Microsoft Sans Serif"/>
              </a:rPr>
              <a:t>to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define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variables,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methods,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80" dirty="0">
                <a:latin typeface="Microsoft Sans Serif"/>
                <a:cs typeface="Microsoft Sans Serif"/>
              </a:rPr>
              <a:t>class,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and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function,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etc.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A</a:t>
            </a:r>
            <a:r>
              <a:rPr sz="2800" spc="50" dirty="0">
                <a:latin typeface="Microsoft Sans Serif"/>
                <a:cs typeface="Microsoft Sans Serif"/>
              </a:rPr>
              <a:t>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I</a:t>
            </a:r>
            <a:r>
              <a:rPr sz="2800" spc="80" dirty="0">
                <a:latin typeface="Microsoft Sans Serif"/>
                <a:cs typeface="Microsoft Sans Serif"/>
              </a:rPr>
              <a:t>d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195" dirty="0">
                <a:latin typeface="Microsoft Sans Serif"/>
                <a:cs typeface="Microsoft Sans Serif"/>
              </a:rPr>
              <a:t>nt</a:t>
            </a:r>
            <a:r>
              <a:rPr sz="2800" spc="85" dirty="0">
                <a:latin typeface="Microsoft Sans Serif"/>
                <a:cs typeface="Microsoft Sans Serif"/>
              </a:rPr>
              <a:t>ifi</a:t>
            </a:r>
            <a:r>
              <a:rPr sz="2800" spc="185" dirty="0">
                <a:latin typeface="Microsoft Sans Serif"/>
                <a:cs typeface="Microsoft Sans Serif"/>
              </a:rPr>
              <a:t>e</a:t>
            </a:r>
            <a:r>
              <a:rPr sz="2800" spc="145" dirty="0">
                <a:latin typeface="Microsoft Sans Serif"/>
                <a:cs typeface="Microsoft Sans Serif"/>
              </a:rPr>
              <a:t>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</a:t>
            </a:r>
            <a:r>
              <a:rPr sz="2800" spc="-155" dirty="0">
                <a:latin typeface="Microsoft Sans Serif"/>
                <a:cs typeface="Microsoft Sans Serif"/>
              </a:rPr>
              <a:t>s</a:t>
            </a:r>
            <a:r>
              <a:rPr sz="2800" spc="-100" dirty="0">
                <a:latin typeface="Microsoft Sans Serif"/>
                <a:cs typeface="Microsoft Sans Serif"/>
              </a:rPr>
              <a:t> a </a:t>
            </a:r>
            <a:r>
              <a:rPr sz="2800" spc="-70" dirty="0">
                <a:latin typeface="Microsoft Sans Serif"/>
                <a:cs typeface="Microsoft Sans Serif"/>
              </a:rPr>
              <a:t>s</a:t>
            </a:r>
            <a:r>
              <a:rPr sz="2800" spc="-90" dirty="0">
                <a:latin typeface="Microsoft Sans Serif"/>
                <a:cs typeface="Microsoft Sans Serif"/>
              </a:rPr>
              <a:t>e</a:t>
            </a:r>
            <a:r>
              <a:rPr sz="2800" spc="80" dirty="0">
                <a:latin typeface="Microsoft Sans Serif"/>
                <a:cs typeface="Microsoft Sans Serif"/>
              </a:rPr>
              <a:t>q</a:t>
            </a:r>
            <a:r>
              <a:rPr sz="2800" spc="25" dirty="0">
                <a:latin typeface="Microsoft Sans Serif"/>
                <a:cs typeface="Microsoft Sans Serif"/>
              </a:rPr>
              <a:t>u</a:t>
            </a:r>
            <a:r>
              <a:rPr sz="2800" spc="15" dirty="0">
                <a:latin typeface="Microsoft Sans Serif"/>
                <a:cs typeface="Microsoft Sans Serif"/>
              </a:rPr>
              <a:t>e</a:t>
            </a:r>
            <a:r>
              <a:rPr sz="2800" spc="-30" dirty="0">
                <a:latin typeface="Microsoft Sans Serif"/>
                <a:cs typeface="Microsoft Sans Serif"/>
              </a:rPr>
              <a:t>n</a:t>
            </a:r>
            <a:r>
              <a:rPr sz="2800" spc="-40" dirty="0">
                <a:latin typeface="Microsoft Sans Serif"/>
                <a:cs typeface="Microsoft Sans Serif"/>
              </a:rPr>
              <a:t>c</a:t>
            </a:r>
            <a:r>
              <a:rPr sz="2800" spc="5" dirty="0">
                <a:latin typeface="Microsoft Sans Serif"/>
                <a:cs typeface="Microsoft Sans Serif"/>
              </a:rPr>
              <a:t>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o</a:t>
            </a:r>
            <a:r>
              <a:rPr sz="2800" spc="300" dirty="0">
                <a:latin typeface="Microsoft Sans Serif"/>
                <a:cs typeface="Microsoft Sans Serif"/>
              </a:rPr>
              <a:t>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35" dirty="0">
                <a:latin typeface="Microsoft Sans Serif"/>
                <a:cs typeface="Microsoft Sans Serif"/>
              </a:rPr>
              <a:t>t</a:t>
            </a:r>
            <a:r>
              <a:rPr sz="2800" spc="20" dirty="0">
                <a:latin typeface="Microsoft Sans Serif"/>
                <a:cs typeface="Microsoft Sans Serif"/>
              </a:rPr>
              <a:t>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14" dirty="0">
                <a:latin typeface="Microsoft Sans Serif"/>
                <a:cs typeface="Microsoft Sans Serif"/>
              </a:rPr>
              <a:t>l</a:t>
            </a:r>
            <a:r>
              <a:rPr sz="2800" spc="5" dirty="0">
                <a:latin typeface="Microsoft Sans Serif"/>
                <a:cs typeface="Microsoft Sans Serif"/>
              </a:rPr>
              <a:t>e</a:t>
            </a:r>
            <a:r>
              <a:rPr sz="2800" spc="335" dirty="0">
                <a:latin typeface="Microsoft Sans Serif"/>
                <a:cs typeface="Microsoft Sans Serif"/>
              </a:rPr>
              <a:t>t</a:t>
            </a:r>
            <a:r>
              <a:rPr sz="2800" spc="345" dirty="0">
                <a:latin typeface="Microsoft Sans Serif"/>
                <a:cs typeface="Microsoft Sans Serif"/>
              </a:rPr>
              <a:t>t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-10" dirty="0">
                <a:latin typeface="Microsoft Sans Serif"/>
                <a:cs typeface="Microsoft Sans Serif"/>
              </a:rPr>
              <a:t>rs</a:t>
            </a:r>
            <a:r>
              <a:rPr sz="2800" spc="-20" dirty="0">
                <a:latin typeface="Microsoft Sans Serif"/>
                <a:cs typeface="Microsoft Sans Serif"/>
              </a:rPr>
              <a:t>(</a:t>
            </a:r>
            <a:r>
              <a:rPr sz="2800" spc="65" dirty="0">
                <a:latin typeface="Microsoft Sans Serif"/>
                <a:cs typeface="Microsoft Sans Serif"/>
              </a:rPr>
              <a:t>[A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45" dirty="0">
                <a:latin typeface="Microsoft Sans Serif"/>
                <a:cs typeface="Microsoft Sans Serif"/>
              </a:rPr>
              <a:t>t</a:t>
            </a:r>
            <a:r>
              <a:rPr sz="2800" spc="60" dirty="0">
                <a:latin typeface="Microsoft Sans Serif"/>
                <a:cs typeface="Microsoft Sans Serif"/>
              </a:rPr>
              <a:t>o  </a:t>
            </a:r>
            <a:r>
              <a:rPr sz="2800" spc="-5" dirty="0">
                <a:latin typeface="Microsoft Sans Serif"/>
                <a:cs typeface="Microsoft Sans Serif"/>
              </a:rPr>
              <a:t>Z],[a </a:t>
            </a:r>
            <a:r>
              <a:rPr sz="2800" spc="220" dirty="0">
                <a:latin typeface="Microsoft Sans Serif"/>
                <a:cs typeface="Microsoft Sans Serif"/>
              </a:rPr>
              <a:t>to </a:t>
            </a:r>
            <a:r>
              <a:rPr sz="2800" spc="-20" dirty="0">
                <a:latin typeface="Microsoft Sans Serif"/>
                <a:cs typeface="Microsoft Sans Serif"/>
              </a:rPr>
              <a:t>z]), </a:t>
            </a:r>
            <a:r>
              <a:rPr sz="2800" spc="45" dirty="0">
                <a:latin typeface="Microsoft Sans Serif"/>
                <a:cs typeface="Microsoft Sans Serif"/>
              </a:rPr>
              <a:t>digits([0-9]) </a:t>
            </a:r>
            <a:r>
              <a:rPr sz="2800" spc="10" dirty="0">
                <a:latin typeface="Microsoft Sans Serif"/>
                <a:cs typeface="Microsoft Sans Serif"/>
              </a:rPr>
              <a:t>and </a:t>
            </a:r>
            <a:r>
              <a:rPr sz="2800" spc="-5" dirty="0">
                <a:latin typeface="Microsoft Sans Serif"/>
                <a:cs typeface="Microsoft Sans Serif"/>
              </a:rPr>
              <a:t>underscore(_), </a:t>
            </a:r>
            <a:r>
              <a:rPr sz="2800" spc="155" dirty="0">
                <a:latin typeface="Microsoft Sans Serif"/>
                <a:cs typeface="Microsoft Sans Serif"/>
              </a:rPr>
              <a:t>but </a:t>
            </a:r>
            <a:r>
              <a:rPr sz="2800" spc="16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remember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55" dirty="0">
                <a:latin typeface="Microsoft Sans Serif"/>
                <a:cs typeface="Microsoft Sans Serif"/>
              </a:rPr>
              <a:t>that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first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character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should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60" dirty="0">
                <a:latin typeface="Microsoft Sans Serif"/>
                <a:cs typeface="Microsoft Sans Serif"/>
              </a:rPr>
              <a:t>not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be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a </a:t>
            </a:r>
            <a:r>
              <a:rPr sz="2800" spc="45" dirty="0">
                <a:latin typeface="Microsoft Sans Serif"/>
                <a:cs typeface="Microsoft Sans Serif"/>
              </a:rPr>
              <a:t>num</a:t>
            </a:r>
            <a:r>
              <a:rPr sz="2800" spc="30" dirty="0">
                <a:latin typeface="Microsoft Sans Serif"/>
                <a:cs typeface="Microsoft Sans Serif"/>
              </a:rPr>
              <a:t>eri</a:t>
            </a:r>
            <a:r>
              <a:rPr sz="2800" spc="40" dirty="0">
                <a:latin typeface="Microsoft Sans Serif"/>
                <a:cs typeface="Microsoft Sans Serif"/>
              </a:rPr>
              <a:t>c</a:t>
            </a:r>
            <a:r>
              <a:rPr sz="2800" spc="-9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5" dirty="0"/>
              <a:t>Identifiers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7427595" cy="42926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30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first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character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30" dirty="0">
                <a:latin typeface="Microsoft Sans Serif"/>
                <a:cs typeface="Microsoft Sans Serif"/>
              </a:rPr>
              <a:t>should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Microsoft Sans Serif"/>
                <a:cs typeface="Microsoft Sans Serif"/>
              </a:rPr>
              <a:t>not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be</a:t>
            </a:r>
            <a:r>
              <a:rPr sz="2400" spc="-85" dirty="0">
                <a:latin typeface="Microsoft Sans Serif"/>
                <a:cs typeface="Microsoft Sans Serif"/>
              </a:rPr>
              <a:t> a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digit.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58419">
              <a:lnSpc>
                <a:spcPct val="100000"/>
              </a:lnSpc>
              <a:spcBef>
                <a:spcPts val="795"/>
              </a:spcBef>
            </a:pPr>
            <a:r>
              <a:rPr sz="2400" spc="-40" dirty="0">
                <a:latin typeface="Microsoft Sans Serif"/>
                <a:cs typeface="Microsoft Sans Serif"/>
              </a:rPr>
              <a:t>Special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characters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are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not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allowed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except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underscore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65" dirty="0">
                <a:latin typeface="Microsoft Sans Serif"/>
                <a:cs typeface="Microsoft Sans Serif"/>
              </a:rPr>
              <a:t>(</a:t>
            </a:r>
            <a:r>
              <a:rPr sz="2400" spc="-114" dirty="0">
                <a:latin typeface="Microsoft Sans Serif"/>
                <a:cs typeface="Microsoft Sans Serif"/>
              </a:rPr>
              <a:t>_</a:t>
            </a:r>
            <a:r>
              <a:rPr sz="2400" spc="-25" dirty="0">
                <a:latin typeface="Microsoft Sans Serif"/>
                <a:cs typeface="Microsoft Sans Serif"/>
              </a:rPr>
              <a:t>)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o</a:t>
            </a:r>
            <a:r>
              <a:rPr sz="2400" spc="125" dirty="0">
                <a:latin typeface="Microsoft Sans Serif"/>
                <a:cs typeface="Microsoft Sans Serif"/>
              </a:rPr>
              <a:t>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d</a:t>
            </a:r>
            <a:r>
              <a:rPr sz="2400" spc="70" dirty="0">
                <a:latin typeface="Microsoft Sans Serif"/>
                <a:cs typeface="Microsoft Sans Serif"/>
              </a:rPr>
              <a:t>o</a:t>
            </a:r>
            <a:r>
              <a:rPr sz="2400" spc="105" dirty="0">
                <a:latin typeface="Microsoft Sans Serif"/>
                <a:cs typeface="Microsoft Sans Serif"/>
              </a:rPr>
              <a:t>ll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125" dirty="0">
                <a:latin typeface="Microsoft Sans Serif"/>
                <a:cs typeface="Microsoft Sans Serif"/>
              </a:rPr>
              <a:t>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s</a:t>
            </a:r>
            <a:r>
              <a:rPr sz="2400" spc="-20" dirty="0">
                <a:latin typeface="Microsoft Sans Serif"/>
                <a:cs typeface="Microsoft Sans Serif"/>
              </a:rPr>
              <a:t>i</a:t>
            </a:r>
            <a:r>
              <a:rPr sz="2400" spc="45" dirty="0">
                <a:latin typeface="Microsoft Sans Serif"/>
                <a:cs typeface="Microsoft Sans Serif"/>
              </a:rPr>
              <a:t>gn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($</a:t>
            </a:r>
            <a:r>
              <a:rPr sz="2400" spc="-35" dirty="0">
                <a:latin typeface="Microsoft Sans Serif"/>
                <a:cs typeface="Microsoft Sans Serif"/>
              </a:rPr>
              <a:t>)</a:t>
            </a:r>
            <a:r>
              <a:rPr sz="2400" spc="-8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4342130" algn="l"/>
              </a:tabLst>
            </a:pPr>
            <a:r>
              <a:rPr sz="2400" spc="30" dirty="0">
                <a:latin typeface="Microsoft Sans Serif"/>
                <a:cs typeface="Microsoft Sans Serif"/>
              </a:rPr>
              <a:t>Two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successive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underscores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(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)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are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Microsoft Sans Serif"/>
                <a:cs typeface="Microsoft Sans Serif"/>
              </a:rPr>
              <a:t>not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allowed.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499745">
              <a:lnSpc>
                <a:spcPct val="100000"/>
              </a:lnSpc>
              <a:spcBef>
                <a:spcPts val="800"/>
              </a:spcBef>
            </a:pPr>
            <a:r>
              <a:rPr sz="2400" spc="-30" dirty="0">
                <a:latin typeface="Microsoft Sans Serif"/>
                <a:cs typeface="Microsoft Sans Serif"/>
              </a:rPr>
              <a:t>The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first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character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must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be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alphabet(uppercase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or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lowercase)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5" dirty="0">
                <a:latin typeface="Microsoft Sans Serif"/>
                <a:cs typeface="Microsoft Sans Serif"/>
              </a:rPr>
              <a:t>underscore.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1066165">
              <a:lnSpc>
                <a:spcPct val="100000"/>
              </a:lnSpc>
              <a:spcBef>
                <a:spcPts val="805"/>
              </a:spcBef>
            </a:pPr>
            <a:r>
              <a:rPr sz="2400" spc="70" dirty="0">
                <a:latin typeface="Microsoft Sans Serif"/>
                <a:cs typeface="Microsoft Sans Serif"/>
              </a:rPr>
              <a:t>Identifiers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must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be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unique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and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cannot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contain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15" dirty="0">
                <a:latin typeface="Microsoft Sans Serif"/>
                <a:cs typeface="Microsoft Sans Serif"/>
              </a:rPr>
              <a:t>whitespace.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They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are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case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sensitive.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The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20" dirty="0">
                <a:latin typeface="Microsoft Sans Serif"/>
                <a:cs typeface="Microsoft Sans Serif"/>
              </a:rPr>
              <a:t>variable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name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lang="en-US" sz="2400" spc="-25" dirty="0">
                <a:solidFill>
                  <a:srgbClr val="C8201D"/>
                </a:solidFill>
                <a:latin typeface="Microsoft Sans Serif"/>
                <a:cs typeface="Microsoft Sans Serif"/>
              </a:rPr>
              <a:t>Hasan</a:t>
            </a:r>
            <a:r>
              <a:rPr sz="2400" spc="-8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and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lang="en-US" sz="2400" spc="45" dirty="0" err="1">
                <a:solidFill>
                  <a:srgbClr val="C8201D"/>
                </a:solidFill>
                <a:latin typeface="Microsoft Sans Serif"/>
                <a:cs typeface="Microsoft Sans Serif"/>
              </a:rPr>
              <a:t>hasan</a:t>
            </a:r>
            <a:r>
              <a:rPr sz="2400" spc="-9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will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be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treated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differently.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0005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10210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935143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95" dirty="0"/>
              <a:t>Printing</a:t>
            </a:r>
            <a:r>
              <a:rPr spc="-145" dirty="0"/>
              <a:t> </a:t>
            </a:r>
            <a:r>
              <a:rPr spc="15" dirty="0"/>
              <a:t>and</a:t>
            </a:r>
            <a:r>
              <a:rPr spc="-130" dirty="0"/>
              <a:t> </a:t>
            </a:r>
            <a:r>
              <a:rPr spc="65" dirty="0"/>
              <a:t>String</a:t>
            </a:r>
            <a:r>
              <a:rPr spc="-145" dirty="0"/>
              <a:t> </a:t>
            </a:r>
            <a:r>
              <a:rPr spc="125" dirty="0"/>
              <a:t>Interpolation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671434" cy="3921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print()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function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used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220" dirty="0">
                <a:latin typeface="Microsoft Sans Serif"/>
                <a:cs typeface="Microsoft Sans Serif"/>
              </a:rPr>
              <a:t>to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35" dirty="0">
                <a:latin typeface="Microsoft Sans Serif"/>
                <a:cs typeface="Microsoft Sans Serif"/>
              </a:rPr>
              <a:t>print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55" dirty="0">
                <a:latin typeface="Microsoft Sans Serif"/>
                <a:cs typeface="Microsoft Sans Serif"/>
              </a:rPr>
              <a:t>output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on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 </a:t>
            </a:r>
            <a:r>
              <a:rPr sz="2800" spc="-5" dirty="0">
                <a:latin typeface="Microsoft Sans Serif"/>
                <a:cs typeface="Microsoft Sans Serif"/>
              </a:rPr>
              <a:t>console, </a:t>
            </a:r>
            <a:r>
              <a:rPr sz="2800" spc="10" dirty="0">
                <a:latin typeface="Microsoft Sans Serif"/>
                <a:cs typeface="Microsoft Sans Serif"/>
              </a:rPr>
              <a:t>and </a:t>
            </a:r>
            <a:r>
              <a:rPr sz="2800" spc="15" dirty="0">
                <a:latin typeface="Microsoft Sans Serif"/>
                <a:cs typeface="Microsoft Sans Serif"/>
              </a:rPr>
              <a:t>$expression </a:t>
            </a:r>
            <a:r>
              <a:rPr sz="2800" spc="-45" dirty="0">
                <a:latin typeface="Microsoft Sans Serif"/>
                <a:cs typeface="Microsoft Sans Serif"/>
              </a:rPr>
              <a:t>is </a:t>
            </a:r>
            <a:r>
              <a:rPr sz="2800" spc="-10" dirty="0">
                <a:latin typeface="Microsoft Sans Serif"/>
                <a:cs typeface="Microsoft Sans Serif"/>
              </a:rPr>
              <a:t>used </a:t>
            </a:r>
            <a:r>
              <a:rPr sz="2800" spc="180" dirty="0">
                <a:latin typeface="Microsoft Sans Serif"/>
                <a:cs typeface="Microsoft Sans Serif"/>
              </a:rPr>
              <a:t>for </a:t>
            </a:r>
            <a:r>
              <a:rPr sz="2800" spc="125" dirty="0">
                <a:latin typeface="Microsoft Sans Serif"/>
                <a:cs typeface="Microsoft Sans Serif"/>
              </a:rPr>
              <a:t>the </a:t>
            </a:r>
            <a:r>
              <a:rPr sz="2800" spc="13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string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interpolation.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Below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an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example.</a:t>
            </a:r>
            <a:endParaRPr sz="28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200" spc="45" dirty="0">
                <a:solidFill>
                  <a:srgbClr val="C8201D"/>
                </a:solidFill>
                <a:latin typeface="Microsoft Sans Serif"/>
                <a:cs typeface="Microsoft Sans Serif"/>
              </a:rPr>
              <a:t>void</a:t>
            </a:r>
            <a:r>
              <a:rPr sz="2200" spc="-11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C8201D"/>
                </a:solidFill>
                <a:latin typeface="Microsoft Sans Serif"/>
                <a:cs typeface="Microsoft Sans Serif"/>
              </a:rPr>
              <a:t>main()</a:t>
            </a:r>
            <a:endParaRPr sz="22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790"/>
              </a:spcBef>
            </a:pPr>
            <a:r>
              <a:rPr sz="2200" spc="-5" dirty="0">
                <a:solidFill>
                  <a:srgbClr val="C8201D"/>
                </a:solidFill>
                <a:latin typeface="Microsoft Sans Serif"/>
                <a:cs typeface="Microsoft Sans Serif"/>
              </a:rPr>
              <a:t>{</a:t>
            </a:r>
            <a:endParaRPr sz="2200" dirty="0">
              <a:latin typeface="Microsoft Sans Serif"/>
              <a:cs typeface="Microsoft Sans Serif"/>
            </a:endParaRPr>
          </a:p>
          <a:p>
            <a:pPr marL="610870" marR="4451350">
              <a:lnSpc>
                <a:spcPct val="130200"/>
              </a:lnSpc>
              <a:spcBef>
                <a:spcPts val="5"/>
              </a:spcBef>
            </a:pPr>
            <a:r>
              <a:rPr sz="2200" dirty="0">
                <a:solidFill>
                  <a:srgbClr val="C8201D"/>
                </a:solidFill>
                <a:latin typeface="Microsoft Sans Serif"/>
                <a:cs typeface="Microsoft Sans Serif"/>
              </a:rPr>
              <a:t>v</a:t>
            </a:r>
            <a:r>
              <a:rPr sz="2200" spc="20" dirty="0">
                <a:solidFill>
                  <a:srgbClr val="C8201D"/>
                </a:solidFill>
                <a:latin typeface="Microsoft Sans Serif"/>
                <a:cs typeface="Microsoft Sans Serif"/>
              </a:rPr>
              <a:t>ar</a:t>
            </a:r>
            <a:r>
              <a:rPr sz="2200" spc="-8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30" dirty="0">
                <a:solidFill>
                  <a:srgbClr val="C8201D"/>
                </a:solidFill>
                <a:latin typeface="Microsoft Sans Serif"/>
                <a:cs typeface="Microsoft Sans Serif"/>
              </a:rPr>
              <a:t>n</a:t>
            </a:r>
            <a:r>
              <a:rPr sz="2200" spc="-10" dirty="0">
                <a:solidFill>
                  <a:srgbClr val="C8201D"/>
                </a:solidFill>
                <a:latin typeface="Microsoft Sans Serif"/>
                <a:cs typeface="Microsoft Sans Serif"/>
              </a:rPr>
              <a:t>a</a:t>
            </a:r>
            <a:r>
              <a:rPr sz="2200" spc="-15" dirty="0">
                <a:solidFill>
                  <a:srgbClr val="C8201D"/>
                </a:solidFill>
                <a:latin typeface="Microsoft Sans Serif"/>
                <a:cs typeface="Microsoft Sans Serif"/>
              </a:rPr>
              <a:t>m</a:t>
            </a:r>
            <a:r>
              <a:rPr sz="2200" spc="5" dirty="0">
                <a:solidFill>
                  <a:srgbClr val="C8201D"/>
                </a:solidFill>
                <a:latin typeface="Microsoft Sans Serif"/>
                <a:cs typeface="Microsoft Sans Serif"/>
              </a:rPr>
              <a:t>e</a:t>
            </a:r>
            <a:r>
              <a:rPr sz="2200" spc="-8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C8201D"/>
                </a:solidFill>
                <a:latin typeface="Microsoft Sans Serif"/>
                <a:cs typeface="Microsoft Sans Serif"/>
              </a:rPr>
              <a:t>=</a:t>
            </a:r>
            <a:r>
              <a:rPr sz="2200" spc="-8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125" dirty="0">
                <a:solidFill>
                  <a:srgbClr val="C8201D"/>
                </a:solidFill>
                <a:latin typeface="Microsoft Sans Serif"/>
                <a:cs typeface="Microsoft Sans Serif"/>
              </a:rPr>
              <a:t>"</a:t>
            </a:r>
            <a:r>
              <a:rPr lang="en-US" sz="2200" spc="-110" dirty="0">
                <a:solidFill>
                  <a:srgbClr val="C8201D"/>
                </a:solidFill>
                <a:latin typeface="Microsoft Sans Serif"/>
                <a:cs typeface="Microsoft Sans Serif"/>
              </a:rPr>
              <a:t>Hasan</a:t>
            </a:r>
            <a:r>
              <a:rPr sz="2200" spc="120" dirty="0">
                <a:solidFill>
                  <a:srgbClr val="C8201D"/>
                </a:solidFill>
                <a:latin typeface="Microsoft Sans Serif"/>
                <a:cs typeface="Microsoft Sans Serif"/>
              </a:rPr>
              <a:t>"</a:t>
            </a:r>
            <a:r>
              <a:rPr sz="2200" spc="-70" dirty="0">
                <a:solidFill>
                  <a:srgbClr val="C8201D"/>
                </a:solidFill>
                <a:latin typeface="Microsoft Sans Serif"/>
                <a:cs typeface="Microsoft Sans Serif"/>
              </a:rPr>
              <a:t>;  </a:t>
            </a:r>
            <a:r>
              <a:rPr sz="2200" spc="15" dirty="0">
                <a:solidFill>
                  <a:srgbClr val="C8201D"/>
                </a:solidFill>
                <a:latin typeface="Microsoft Sans Serif"/>
                <a:cs typeface="Microsoft Sans Serif"/>
              </a:rPr>
              <a:t>var</a:t>
            </a:r>
            <a:r>
              <a:rPr sz="2200" spc="-9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5" dirty="0">
                <a:solidFill>
                  <a:srgbClr val="C8201D"/>
                </a:solidFill>
                <a:latin typeface="Microsoft Sans Serif"/>
                <a:cs typeface="Microsoft Sans Serif"/>
              </a:rPr>
              <a:t>marks</a:t>
            </a:r>
            <a:r>
              <a:rPr sz="2200" spc="-10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C8201D"/>
                </a:solidFill>
                <a:latin typeface="Microsoft Sans Serif"/>
                <a:cs typeface="Microsoft Sans Serif"/>
              </a:rPr>
              <a:t>=</a:t>
            </a:r>
            <a:r>
              <a:rPr sz="2200" spc="-9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C8201D"/>
                </a:solidFill>
                <a:latin typeface="Microsoft Sans Serif"/>
                <a:cs typeface="Microsoft Sans Serif"/>
              </a:rPr>
              <a:t>78.56;</a:t>
            </a:r>
            <a:endParaRPr sz="2200" dirty="0">
              <a:latin typeface="Microsoft Sans Serif"/>
              <a:cs typeface="Microsoft Sans Serif"/>
            </a:endParaRPr>
          </a:p>
          <a:p>
            <a:pPr marL="610870">
              <a:lnSpc>
                <a:spcPct val="100000"/>
              </a:lnSpc>
              <a:spcBef>
                <a:spcPts val="790"/>
              </a:spcBef>
            </a:pPr>
            <a:r>
              <a:rPr sz="2200" spc="75" dirty="0">
                <a:solidFill>
                  <a:srgbClr val="C8201D"/>
                </a:solidFill>
                <a:latin typeface="Microsoft Sans Serif"/>
                <a:cs typeface="Microsoft Sans Serif"/>
              </a:rPr>
              <a:t>print("My</a:t>
            </a:r>
            <a:r>
              <a:rPr sz="2200" spc="-8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C8201D"/>
                </a:solidFill>
                <a:latin typeface="Microsoft Sans Serif"/>
                <a:cs typeface="Microsoft Sans Serif"/>
              </a:rPr>
              <a:t>name</a:t>
            </a:r>
            <a:r>
              <a:rPr sz="2200" spc="-8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C8201D"/>
                </a:solidFill>
                <a:latin typeface="Microsoft Sans Serif"/>
                <a:cs typeface="Microsoft Sans Serif"/>
              </a:rPr>
              <a:t>is</a:t>
            </a:r>
            <a:r>
              <a:rPr sz="2200" spc="-8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C8201D"/>
                </a:solidFill>
                <a:latin typeface="Microsoft Sans Serif"/>
                <a:cs typeface="Microsoft Sans Serif"/>
              </a:rPr>
              <a:t>${name}</a:t>
            </a:r>
            <a:r>
              <a:rPr sz="2200" spc="-7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30" dirty="0">
                <a:solidFill>
                  <a:srgbClr val="C8201D"/>
                </a:solidFill>
                <a:latin typeface="Microsoft Sans Serif"/>
                <a:cs typeface="Microsoft Sans Serif"/>
              </a:rPr>
              <a:t>My</a:t>
            </a:r>
            <a:r>
              <a:rPr sz="2200" spc="-85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5" dirty="0">
                <a:solidFill>
                  <a:srgbClr val="C8201D"/>
                </a:solidFill>
                <a:latin typeface="Microsoft Sans Serif"/>
                <a:cs typeface="Microsoft Sans Serif"/>
              </a:rPr>
              <a:t>marks</a:t>
            </a:r>
            <a:r>
              <a:rPr sz="2200" spc="-8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15" dirty="0">
                <a:solidFill>
                  <a:srgbClr val="C8201D"/>
                </a:solidFill>
                <a:latin typeface="Microsoft Sans Serif"/>
                <a:cs typeface="Microsoft Sans Serif"/>
              </a:rPr>
              <a:t>are</a:t>
            </a:r>
            <a:r>
              <a:rPr sz="2200" spc="-9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200" spc="5" dirty="0">
                <a:solidFill>
                  <a:srgbClr val="C8201D"/>
                </a:solidFill>
                <a:latin typeface="Microsoft Sans Serif"/>
                <a:cs typeface="Microsoft Sans Serif"/>
              </a:rPr>
              <a:t>${marks}");</a:t>
            </a:r>
            <a:endParaRPr sz="22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200" spc="-5" dirty="0">
                <a:solidFill>
                  <a:srgbClr val="C8201D"/>
                </a:solidFill>
                <a:latin typeface="Microsoft Sans Serif"/>
                <a:cs typeface="Microsoft Sans Serif"/>
              </a:rPr>
              <a:t>}</a:t>
            </a:r>
            <a:endParaRPr sz="2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dirty="0"/>
              <a:t>Semicolon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1891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48081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519097"/>
            <a:ext cx="8098155" cy="439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30" dirty="0">
                <a:latin typeface="Microsoft Sans Serif"/>
                <a:cs typeface="Microsoft Sans Serif"/>
              </a:rPr>
              <a:t>The </a:t>
            </a:r>
            <a:r>
              <a:rPr sz="2600" spc="25" dirty="0">
                <a:latin typeface="Microsoft Sans Serif"/>
                <a:cs typeface="Microsoft Sans Serif"/>
              </a:rPr>
              <a:t>semicolon </a:t>
            </a:r>
            <a:r>
              <a:rPr sz="2600" spc="-40" dirty="0">
                <a:latin typeface="Microsoft Sans Serif"/>
                <a:cs typeface="Microsoft Sans Serif"/>
              </a:rPr>
              <a:t>is </a:t>
            </a:r>
            <a:r>
              <a:rPr sz="2600" dirty="0">
                <a:latin typeface="Microsoft Sans Serif"/>
                <a:cs typeface="Microsoft Sans Serif"/>
              </a:rPr>
              <a:t>used </a:t>
            </a:r>
            <a:r>
              <a:rPr sz="2600" spc="204" dirty="0">
                <a:latin typeface="Microsoft Sans Serif"/>
                <a:cs typeface="Microsoft Sans Serif"/>
              </a:rPr>
              <a:t>to </a:t>
            </a:r>
            <a:r>
              <a:rPr sz="2600" spc="95" dirty="0">
                <a:latin typeface="Microsoft Sans Serif"/>
                <a:cs typeface="Microsoft Sans Serif"/>
              </a:rPr>
              <a:t>terminate </a:t>
            </a:r>
            <a:r>
              <a:rPr sz="2600" spc="114" dirty="0">
                <a:latin typeface="Microsoft Sans Serif"/>
                <a:cs typeface="Microsoft Sans Serif"/>
              </a:rPr>
              <a:t>the </a:t>
            </a:r>
            <a:r>
              <a:rPr sz="2600" spc="95" dirty="0">
                <a:latin typeface="Microsoft Sans Serif"/>
                <a:cs typeface="Microsoft Sans Serif"/>
              </a:rPr>
              <a:t>statement </a:t>
            </a:r>
            <a:r>
              <a:rPr sz="2600" spc="10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that </a:t>
            </a:r>
            <a:r>
              <a:rPr sz="2600" spc="-35" dirty="0">
                <a:latin typeface="Microsoft Sans Serif"/>
                <a:cs typeface="Microsoft Sans Serif"/>
              </a:rPr>
              <a:t>means, </a:t>
            </a:r>
            <a:r>
              <a:rPr sz="2600" spc="190" dirty="0">
                <a:latin typeface="Microsoft Sans Serif"/>
                <a:cs typeface="Microsoft Sans Serif"/>
              </a:rPr>
              <a:t>it </a:t>
            </a:r>
            <a:r>
              <a:rPr sz="2600" spc="25" dirty="0">
                <a:latin typeface="Microsoft Sans Serif"/>
                <a:cs typeface="Microsoft Sans Serif"/>
              </a:rPr>
              <a:t>indicates </a:t>
            </a:r>
            <a:r>
              <a:rPr sz="2600" spc="114" dirty="0">
                <a:latin typeface="Microsoft Sans Serif"/>
                <a:cs typeface="Microsoft Sans Serif"/>
              </a:rPr>
              <a:t>the </a:t>
            </a:r>
            <a:r>
              <a:rPr sz="2600" spc="95" dirty="0">
                <a:latin typeface="Microsoft Sans Serif"/>
                <a:cs typeface="Microsoft Sans Serif"/>
              </a:rPr>
              <a:t>statement </a:t>
            </a:r>
            <a:r>
              <a:rPr sz="2600" spc="-35" dirty="0">
                <a:latin typeface="Microsoft Sans Serif"/>
                <a:cs typeface="Microsoft Sans Serif"/>
              </a:rPr>
              <a:t>is </a:t>
            </a:r>
            <a:r>
              <a:rPr sz="2600" spc="45" dirty="0">
                <a:latin typeface="Microsoft Sans Serif"/>
                <a:cs typeface="Microsoft Sans Serif"/>
              </a:rPr>
              <a:t>ended 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here.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It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mandatory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that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each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statement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should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be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310" dirty="0">
                <a:latin typeface="Microsoft Sans Serif"/>
                <a:cs typeface="Microsoft Sans Serif"/>
              </a:rPr>
              <a:t>t</a:t>
            </a:r>
            <a:r>
              <a:rPr sz="2600" spc="10" dirty="0">
                <a:latin typeface="Microsoft Sans Serif"/>
                <a:cs typeface="Microsoft Sans Serif"/>
              </a:rPr>
              <a:t>e</a:t>
            </a:r>
            <a:r>
              <a:rPr sz="2600" spc="130" dirty="0">
                <a:latin typeface="Microsoft Sans Serif"/>
                <a:cs typeface="Microsoft Sans Serif"/>
              </a:rPr>
              <a:t>r</a:t>
            </a:r>
            <a:r>
              <a:rPr sz="2600" spc="75" dirty="0">
                <a:latin typeface="Microsoft Sans Serif"/>
                <a:cs typeface="Microsoft Sans Serif"/>
              </a:rPr>
              <a:t>m</a:t>
            </a:r>
            <a:r>
              <a:rPr sz="2600" spc="30" dirty="0">
                <a:latin typeface="Microsoft Sans Serif"/>
                <a:cs typeface="Microsoft Sans Serif"/>
              </a:rPr>
              <a:t>i</a:t>
            </a:r>
            <a:r>
              <a:rPr sz="2600" spc="80" dirty="0">
                <a:latin typeface="Microsoft Sans Serif"/>
                <a:cs typeface="Microsoft Sans Serif"/>
              </a:rPr>
              <a:t>n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320" dirty="0">
                <a:latin typeface="Microsoft Sans Serif"/>
                <a:cs typeface="Microsoft Sans Serif"/>
              </a:rPr>
              <a:t>t</a:t>
            </a:r>
            <a:r>
              <a:rPr sz="2600" dirty="0">
                <a:latin typeface="Microsoft Sans Serif"/>
                <a:cs typeface="Microsoft Sans Serif"/>
              </a:rPr>
              <a:t>e</a:t>
            </a:r>
            <a:r>
              <a:rPr sz="2600" spc="85" dirty="0">
                <a:latin typeface="Microsoft Sans Serif"/>
                <a:cs typeface="Microsoft Sans Serif"/>
              </a:rPr>
              <a:t>d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w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35" dirty="0">
                <a:latin typeface="Microsoft Sans Serif"/>
                <a:cs typeface="Microsoft Sans Serif"/>
              </a:rPr>
              <a:t>h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65" dirty="0">
                <a:latin typeface="Microsoft Sans Serif"/>
                <a:cs typeface="Microsoft Sans Serif"/>
              </a:rPr>
              <a:t>se</a:t>
            </a:r>
            <a:r>
              <a:rPr sz="2600" spc="30" dirty="0">
                <a:latin typeface="Microsoft Sans Serif"/>
                <a:cs typeface="Microsoft Sans Serif"/>
              </a:rPr>
              <a:t>mico</a:t>
            </a:r>
            <a:r>
              <a:rPr sz="2600" spc="55" dirty="0">
                <a:latin typeface="Microsoft Sans Serif"/>
                <a:cs typeface="Microsoft Sans Serif"/>
              </a:rPr>
              <a:t>l</a:t>
            </a:r>
            <a:r>
              <a:rPr sz="2600" spc="135" dirty="0">
                <a:latin typeface="Microsoft Sans Serif"/>
                <a:cs typeface="Microsoft Sans Serif"/>
              </a:rPr>
              <a:t>o</a:t>
            </a:r>
            <a:r>
              <a:rPr sz="2600" spc="50" dirty="0">
                <a:latin typeface="Microsoft Sans Serif"/>
                <a:cs typeface="Microsoft Sans Serif"/>
              </a:rPr>
              <a:t>n</a:t>
            </a:r>
            <a:r>
              <a:rPr sz="2600" spc="-30" dirty="0">
                <a:latin typeface="Microsoft Sans Serif"/>
                <a:cs typeface="Microsoft Sans Serif"/>
              </a:rPr>
              <a:t>(</a:t>
            </a:r>
            <a:r>
              <a:rPr sz="2600" spc="-50" dirty="0">
                <a:latin typeface="Microsoft Sans Serif"/>
                <a:cs typeface="Microsoft Sans Serif"/>
              </a:rPr>
              <a:t>;</a:t>
            </a:r>
            <a:r>
              <a:rPr sz="2600" spc="-65" dirty="0">
                <a:latin typeface="Microsoft Sans Serif"/>
                <a:cs typeface="Microsoft Sans Serif"/>
              </a:rPr>
              <a:t>)</a:t>
            </a:r>
            <a:r>
              <a:rPr sz="2600" spc="-85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355600" marR="58419">
              <a:lnSpc>
                <a:spcPct val="100000"/>
              </a:lnSpc>
              <a:spcBef>
                <a:spcPts val="800"/>
              </a:spcBef>
            </a:pPr>
            <a:r>
              <a:rPr sz="2600" spc="-40" dirty="0">
                <a:latin typeface="Microsoft Sans Serif"/>
                <a:cs typeface="Microsoft Sans Serif"/>
              </a:rPr>
              <a:t>W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c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45" dirty="0">
                <a:latin typeface="Microsoft Sans Serif"/>
                <a:cs typeface="Microsoft Sans Serif"/>
              </a:rPr>
              <a:t>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w</a:t>
            </a:r>
            <a:r>
              <a:rPr sz="2600" spc="135" dirty="0">
                <a:latin typeface="Microsoft Sans Serif"/>
                <a:cs typeface="Microsoft Sans Serif"/>
              </a:rPr>
              <a:t>r</a:t>
            </a:r>
            <a:r>
              <a:rPr sz="2600" spc="170" dirty="0">
                <a:latin typeface="Microsoft Sans Serif"/>
                <a:cs typeface="Microsoft Sans Serif"/>
              </a:rPr>
              <a:t>i</a:t>
            </a:r>
            <a:r>
              <a:rPr sz="2600" spc="200" dirty="0">
                <a:latin typeface="Microsoft Sans Serif"/>
                <a:cs typeface="Microsoft Sans Serif"/>
              </a:rPr>
              <a:t>t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m</a:t>
            </a:r>
            <a:r>
              <a:rPr sz="2600" spc="50" dirty="0">
                <a:latin typeface="Microsoft Sans Serif"/>
                <a:cs typeface="Microsoft Sans Serif"/>
              </a:rPr>
              <a:t>u</a:t>
            </a:r>
            <a:r>
              <a:rPr sz="2600" spc="195" dirty="0">
                <a:latin typeface="Microsoft Sans Serif"/>
                <a:cs typeface="Microsoft Sans Serif"/>
              </a:rPr>
              <a:t>l</a:t>
            </a:r>
            <a:r>
              <a:rPr sz="2600" spc="229" dirty="0">
                <a:latin typeface="Microsoft Sans Serif"/>
                <a:cs typeface="Microsoft Sans Serif"/>
              </a:rPr>
              <a:t>t</a:t>
            </a:r>
            <a:r>
              <a:rPr sz="2600" spc="40" dirty="0">
                <a:latin typeface="Microsoft Sans Serif"/>
                <a:cs typeface="Microsoft Sans Serif"/>
              </a:rPr>
              <a:t>i</a:t>
            </a:r>
            <a:r>
              <a:rPr sz="2600" spc="110" dirty="0">
                <a:latin typeface="Microsoft Sans Serif"/>
                <a:cs typeface="Microsoft Sans Serif"/>
              </a:rPr>
              <a:t>p</a:t>
            </a:r>
            <a:r>
              <a:rPr sz="2600" spc="100" dirty="0">
                <a:latin typeface="Microsoft Sans Serif"/>
                <a:cs typeface="Microsoft Sans Serif"/>
              </a:rPr>
              <a:t>l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s</a:t>
            </a:r>
            <a:r>
              <a:rPr sz="2600" spc="55" dirty="0">
                <a:latin typeface="Microsoft Sans Serif"/>
                <a:cs typeface="Microsoft Sans Serif"/>
              </a:rPr>
              <a:t>t</a:t>
            </a:r>
            <a:r>
              <a:rPr sz="2600" spc="114" dirty="0">
                <a:latin typeface="Microsoft Sans Serif"/>
                <a:cs typeface="Microsoft Sans Serif"/>
              </a:rPr>
              <a:t>at</a:t>
            </a:r>
            <a:r>
              <a:rPr sz="2600" dirty="0">
                <a:latin typeface="Microsoft Sans Serif"/>
                <a:cs typeface="Microsoft Sans Serif"/>
              </a:rPr>
              <a:t>e</a:t>
            </a:r>
            <a:r>
              <a:rPr sz="2600" spc="45" dirty="0">
                <a:latin typeface="Microsoft Sans Serif"/>
                <a:cs typeface="Microsoft Sans Serif"/>
              </a:rPr>
              <a:t>m</a:t>
            </a:r>
            <a:r>
              <a:rPr sz="2600" spc="25" dirty="0">
                <a:latin typeface="Microsoft Sans Serif"/>
                <a:cs typeface="Microsoft Sans Serif"/>
              </a:rPr>
              <a:t>e</a:t>
            </a:r>
            <a:r>
              <a:rPr sz="2600" spc="50" dirty="0">
                <a:latin typeface="Microsoft Sans Serif"/>
                <a:cs typeface="Microsoft Sans Serif"/>
              </a:rPr>
              <a:t>n</a:t>
            </a:r>
            <a:r>
              <a:rPr sz="2600" spc="320" dirty="0">
                <a:latin typeface="Microsoft Sans Serif"/>
                <a:cs typeface="Microsoft Sans Serif"/>
              </a:rPr>
              <a:t>t</a:t>
            </a:r>
            <a:r>
              <a:rPr sz="2600" spc="-145" dirty="0">
                <a:latin typeface="Microsoft Sans Serif"/>
                <a:cs typeface="Microsoft Sans Serif"/>
              </a:rPr>
              <a:t>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in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sin</a:t>
            </a:r>
            <a:r>
              <a:rPr sz="2600" spc="50" dirty="0">
                <a:latin typeface="Microsoft Sans Serif"/>
                <a:cs typeface="Microsoft Sans Serif"/>
              </a:rPr>
              <a:t>g</a:t>
            </a:r>
            <a:r>
              <a:rPr sz="2600" spc="60" dirty="0">
                <a:latin typeface="Microsoft Sans Serif"/>
                <a:cs typeface="Microsoft Sans Serif"/>
              </a:rPr>
              <a:t>le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li</a:t>
            </a:r>
            <a:r>
              <a:rPr sz="2600" spc="130" dirty="0">
                <a:latin typeface="Microsoft Sans Serif"/>
                <a:cs typeface="Microsoft Sans Serif"/>
              </a:rPr>
              <a:t>n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b</a:t>
            </a:r>
            <a:r>
              <a:rPr sz="2600" spc="-10" dirty="0">
                <a:latin typeface="Microsoft Sans Serif"/>
                <a:cs typeface="Microsoft Sans Serif"/>
              </a:rPr>
              <a:t>y  </a:t>
            </a:r>
            <a:r>
              <a:rPr sz="2600" spc="50" dirty="0">
                <a:latin typeface="Microsoft Sans Serif"/>
                <a:cs typeface="Microsoft Sans Serif"/>
              </a:rPr>
              <a:t>u</a:t>
            </a:r>
            <a:r>
              <a:rPr sz="2600" spc="-10" dirty="0">
                <a:latin typeface="Microsoft Sans Serif"/>
                <a:cs typeface="Microsoft Sans Serif"/>
              </a:rPr>
              <a:t>sin</a:t>
            </a:r>
            <a:r>
              <a:rPr sz="2600" spc="55" dirty="0">
                <a:latin typeface="Microsoft Sans Serif"/>
                <a:cs typeface="Microsoft Sans Serif"/>
              </a:rPr>
              <a:t>g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65" dirty="0">
                <a:latin typeface="Microsoft Sans Serif"/>
                <a:cs typeface="Microsoft Sans Serif"/>
              </a:rPr>
              <a:t>se</a:t>
            </a:r>
            <a:r>
              <a:rPr sz="2600" spc="30" dirty="0">
                <a:latin typeface="Microsoft Sans Serif"/>
                <a:cs typeface="Microsoft Sans Serif"/>
              </a:rPr>
              <a:t>mico</a:t>
            </a:r>
            <a:r>
              <a:rPr sz="2600" spc="100" dirty="0">
                <a:latin typeface="Microsoft Sans Serif"/>
                <a:cs typeface="Microsoft Sans Serif"/>
              </a:rPr>
              <a:t>l</a:t>
            </a:r>
            <a:r>
              <a:rPr sz="2600" spc="85" dirty="0">
                <a:latin typeface="Microsoft Sans Serif"/>
                <a:cs typeface="Microsoft Sans Serif"/>
              </a:rPr>
              <a:t>o</a:t>
            </a:r>
            <a:r>
              <a:rPr sz="2600" spc="45" dirty="0">
                <a:latin typeface="Microsoft Sans Serif"/>
                <a:cs typeface="Microsoft Sans Serif"/>
              </a:rPr>
              <a:t>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14" dirty="0">
                <a:latin typeface="Microsoft Sans Serif"/>
                <a:cs typeface="Microsoft Sans Serif"/>
              </a:rPr>
              <a:t>as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d</a:t>
            </a:r>
            <a:r>
              <a:rPr sz="2600" spc="10" dirty="0">
                <a:latin typeface="Microsoft Sans Serif"/>
                <a:cs typeface="Microsoft Sans Serif"/>
              </a:rPr>
              <a:t>e</a:t>
            </a:r>
            <a:r>
              <a:rPr sz="2600" spc="100" dirty="0">
                <a:latin typeface="Microsoft Sans Serif"/>
                <a:cs typeface="Microsoft Sans Serif"/>
              </a:rPr>
              <a:t>l</a:t>
            </a:r>
            <a:r>
              <a:rPr sz="2600" spc="25" dirty="0">
                <a:latin typeface="Microsoft Sans Serif"/>
                <a:cs typeface="Microsoft Sans Serif"/>
              </a:rPr>
              <a:t>i</a:t>
            </a:r>
            <a:r>
              <a:rPr sz="2600" spc="110" dirty="0">
                <a:latin typeface="Microsoft Sans Serif"/>
                <a:cs typeface="Microsoft Sans Serif"/>
              </a:rPr>
              <a:t>m</a:t>
            </a:r>
            <a:r>
              <a:rPr sz="2600" spc="170" dirty="0">
                <a:latin typeface="Microsoft Sans Serif"/>
                <a:cs typeface="Microsoft Sans Serif"/>
              </a:rPr>
              <a:t>i</a:t>
            </a:r>
            <a:r>
              <a:rPr sz="2600" spc="200" dirty="0">
                <a:latin typeface="Microsoft Sans Serif"/>
                <a:cs typeface="Microsoft Sans Serif"/>
              </a:rPr>
              <a:t>t</a:t>
            </a:r>
            <a:r>
              <a:rPr sz="2600" dirty="0">
                <a:latin typeface="Microsoft Sans Serif"/>
                <a:cs typeface="Microsoft Sans Serif"/>
              </a:rPr>
              <a:t>e</a:t>
            </a:r>
            <a:r>
              <a:rPr sz="2600" spc="135" dirty="0">
                <a:latin typeface="Microsoft Sans Serif"/>
                <a:cs typeface="Microsoft Sans Serif"/>
              </a:rPr>
              <a:t>r</a:t>
            </a:r>
            <a:r>
              <a:rPr sz="2600" spc="-85" dirty="0">
                <a:latin typeface="Microsoft Sans Serif"/>
                <a:cs typeface="Microsoft Sans Serif"/>
              </a:rPr>
              <a:t>.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Th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co</a:t>
            </a:r>
            <a:r>
              <a:rPr sz="2600" spc="75" dirty="0">
                <a:latin typeface="Microsoft Sans Serif"/>
                <a:cs typeface="Microsoft Sans Serif"/>
              </a:rPr>
              <a:t>m</a:t>
            </a:r>
            <a:r>
              <a:rPr sz="2600" spc="80" dirty="0">
                <a:latin typeface="Microsoft Sans Serif"/>
                <a:cs typeface="Microsoft Sans Serif"/>
              </a:rPr>
              <a:t>p</a:t>
            </a:r>
            <a:r>
              <a:rPr sz="2600" spc="40" dirty="0">
                <a:latin typeface="Microsoft Sans Serif"/>
                <a:cs typeface="Microsoft Sans Serif"/>
              </a:rPr>
              <a:t>il</a:t>
            </a:r>
            <a:r>
              <a:rPr sz="2600" spc="95" dirty="0">
                <a:latin typeface="Microsoft Sans Serif"/>
                <a:cs typeface="Microsoft Sans Serif"/>
              </a:rPr>
              <a:t>e</a:t>
            </a:r>
            <a:r>
              <a:rPr sz="2600" spc="135" dirty="0">
                <a:latin typeface="Microsoft Sans Serif"/>
                <a:cs typeface="Microsoft Sans Serif"/>
              </a:rPr>
              <a:t>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w</a:t>
            </a:r>
            <a:r>
              <a:rPr sz="2600" spc="105" dirty="0">
                <a:latin typeface="Microsoft Sans Serif"/>
                <a:cs typeface="Microsoft Sans Serif"/>
              </a:rPr>
              <a:t>ill  </a:t>
            </a:r>
            <a:r>
              <a:rPr sz="2600" spc="55" dirty="0">
                <a:latin typeface="Microsoft Sans Serif"/>
                <a:cs typeface="Microsoft Sans Serif"/>
              </a:rPr>
              <a:t>generate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error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if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not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use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properly.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10"/>
              </a:spcBef>
            </a:pPr>
            <a:r>
              <a:rPr sz="2600" spc="-10" dirty="0">
                <a:latin typeface="Microsoft Sans Serif"/>
                <a:cs typeface="Microsoft Sans Serif"/>
              </a:rPr>
              <a:t>Example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-</a:t>
            </a:r>
            <a:endParaRPr sz="2600">
              <a:latin typeface="Microsoft Sans Serif"/>
              <a:cs typeface="Microsoft Sans Serif"/>
            </a:endParaRPr>
          </a:p>
          <a:p>
            <a:pPr marL="355600" marR="3764915">
              <a:lnSpc>
                <a:spcPct val="125699"/>
              </a:lnSpc>
              <a:spcBef>
                <a:spcPts val="10"/>
              </a:spcBef>
            </a:pPr>
            <a:r>
              <a:rPr sz="2600" spc="10" dirty="0">
                <a:latin typeface="Microsoft Sans Serif"/>
                <a:cs typeface="Microsoft Sans Serif"/>
              </a:rPr>
              <a:t>var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msg1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-55" dirty="0">
                <a:latin typeface="Microsoft Sans Serif"/>
                <a:cs typeface="Microsoft Sans Serif"/>
              </a:rPr>
              <a:t>=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"Hello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World!";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var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msg2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-55" dirty="0">
                <a:latin typeface="Microsoft Sans Serif"/>
                <a:cs typeface="Microsoft Sans Serif"/>
              </a:rPr>
              <a:t>=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"How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are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you?"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20" dirty="0"/>
              <a:t>Whitespace</a:t>
            </a:r>
            <a:r>
              <a:rPr spc="-150" dirty="0"/>
              <a:t> </a:t>
            </a:r>
            <a:r>
              <a:rPr spc="15" dirty="0"/>
              <a:t>and</a:t>
            </a:r>
            <a:r>
              <a:rPr spc="-140" dirty="0"/>
              <a:t> </a:t>
            </a:r>
            <a:r>
              <a:rPr spc="5" dirty="0"/>
              <a:t>Line</a:t>
            </a:r>
            <a:r>
              <a:rPr spc="-145" dirty="0"/>
              <a:t> </a:t>
            </a:r>
            <a:r>
              <a:rPr spc="-20" dirty="0"/>
              <a:t>Breaks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8701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978336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519097"/>
            <a:ext cx="8061959" cy="3900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30" dirty="0">
                <a:latin typeface="Microsoft Sans Serif"/>
                <a:cs typeface="Microsoft Sans Serif"/>
              </a:rPr>
              <a:t>The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Dart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compiler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ignores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whitespaces.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It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used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200" dirty="0">
                <a:latin typeface="Microsoft Sans Serif"/>
                <a:cs typeface="Microsoft Sans Serif"/>
              </a:rPr>
              <a:t>to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specify </a:t>
            </a:r>
            <a:r>
              <a:rPr sz="2600" spc="-55" dirty="0">
                <a:latin typeface="Microsoft Sans Serif"/>
                <a:cs typeface="Microsoft Sans Serif"/>
              </a:rPr>
              <a:t>space, </a:t>
            </a:r>
            <a:r>
              <a:rPr sz="2600" spc="15" dirty="0">
                <a:latin typeface="Microsoft Sans Serif"/>
                <a:cs typeface="Microsoft Sans Serif"/>
              </a:rPr>
              <a:t>tabs, </a:t>
            </a:r>
            <a:r>
              <a:rPr sz="2600" spc="10" dirty="0">
                <a:latin typeface="Microsoft Sans Serif"/>
                <a:cs typeface="Microsoft Sans Serif"/>
              </a:rPr>
              <a:t>and </a:t>
            </a:r>
            <a:r>
              <a:rPr sz="2600" spc="60" dirty="0">
                <a:latin typeface="Microsoft Sans Serif"/>
                <a:cs typeface="Microsoft Sans Serif"/>
              </a:rPr>
              <a:t>newline </a:t>
            </a:r>
            <a:r>
              <a:rPr sz="2600" spc="10" dirty="0">
                <a:latin typeface="Microsoft Sans Serif"/>
                <a:cs typeface="Microsoft Sans Serif"/>
              </a:rPr>
              <a:t>characters </a:t>
            </a:r>
            <a:r>
              <a:rPr sz="2600" spc="55" dirty="0">
                <a:latin typeface="Microsoft Sans Serif"/>
                <a:cs typeface="Microsoft Sans Serif"/>
              </a:rPr>
              <a:t>in </a:t>
            </a:r>
            <a:r>
              <a:rPr sz="2600" spc="90" dirty="0">
                <a:latin typeface="Microsoft Sans Serif"/>
                <a:cs typeface="Microsoft Sans Serif"/>
              </a:rPr>
              <a:t>our </a:t>
            </a:r>
            <a:r>
              <a:rPr sz="2600" spc="9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program.</a:t>
            </a:r>
            <a:endParaRPr sz="2600">
              <a:latin typeface="Microsoft Sans Serif"/>
              <a:cs typeface="Microsoft Sans Serif"/>
            </a:endParaRPr>
          </a:p>
          <a:p>
            <a:pPr marL="355600" marR="1140460">
              <a:lnSpc>
                <a:spcPct val="100000"/>
              </a:lnSpc>
              <a:spcBef>
                <a:spcPts val="800"/>
              </a:spcBef>
            </a:pPr>
            <a:r>
              <a:rPr sz="2600" spc="145" dirty="0">
                <a:latin typeface="Microsoft Sans Serif"/>
                <a:cs typeface="Microsoft Sans Serif"/>
              </a:rPr>
              <a:t>It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separates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one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part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80" dirty="0">
                <a:latin typeface="Microsoft Sans Serif"/>
                <a:cs typeface="Microsoft Sans Serif"/>
              </a:rPr>
              <a:t>of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any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statement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from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another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part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75" dirty="0">
                <a:latin typeface="Microsoft Sans Serif"/>
                <a:cs typeface="Microsoft Sans Serif"/>
              </a:rPr>
              <a:t>of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statement.</a:t>
            </a:r>
            <a:endParaRPr sz="2600">
              <a:latin typeface="Microsoft Sans Serif"/>
              <a:cs typeface="Microsoft Sans Serif"/>
            </a:endParaRPr>
          </a:p>
          <a:p>
            <a:pPr marL="355600" marR="254000" algn="just">
              <a:lnSpc>
                <a:spcPct val="100000"/>
              </a:lnSpc>
              <a:spcBef>
                <a:spcPts val="810"/>
              </a:spcBef>
            </a:pPr>
            <a:r>
              <a:rPr sz="2600" spc="-20" dirty="0">
                <a:latin typeface="Microsoft Sans Serif"/>
                <a:cs typeface="Microsoft Sans Serif"/>
              </a:rPr>
              <a:t>We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can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also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use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space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and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tabs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in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our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program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200" dirty="0">
                <a:latin typeface="Microsoft Sans Serif"/>
                <a:cs typeface="Microsoft Sans Serif"/>
              </a:rPr>
              <a:t>to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define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indentation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and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provide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proper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format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for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program.</a:t>
            </a:r>
            <a:endParaRPr sz="2600">
              <a:latin typeface="Microsoft Sans Serif"/>
              <a:cs typeface="Microsoft Sans Serif"/>
            </a:endParaRPr>
          </a:p>
          <a:p>
            <a:pPr marL="355600" algn="just">
              <a:lnSpc>
                <a:spcPct val="100000"/>
              </a:lnSpc>
              <a:spcBef>
                <a:spcPts val="810"/>
              </a:spcBef>
            </a:pPr>
            <a:r>
              <a:rPr sz="2600" spc="145" dirty="0">
                <a:latin typeface="Microsoft Sans Serif"/>
                <a:cs typeface="Microsoft Sans Serif"/>
              </a:rPr>
              <a:t>It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makes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code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60" dirty="0">
                <a:latin typeface="Microsoft Sans Serif"/>
                <a:cs typeface="Microsoft Sans Serif"/>
              </a:rPr>
              <a:t>easy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200" dirty="0">
                <a:latin typeface="Microsoft Sans Serif"/>
                <a:cs typeface="Microsoft Sans Serif"/>
              </a:rPr>
              <a:t>to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understand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and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readable.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25" dirty="0"/>
              <a:t>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88892"/>
            <a:ext cx="140970" cy="102361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19097"/>
            <a:ext cx="7812405" cy="3705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30" dirty="0">
                <a:latin typeface="Microsoft Sans Serif"/>
                <a:cs typeface="Microsoft Sans Serif"/>
              </a:rPr>
              <a:t>The </a:t>
            </a:r>
            <a:r>
              <a:rPr sz="2600" spc="45" dirty="0">
                <a:latin typeface="Microsoft Sans Serif"/>
                <a:cs typeface="Microsoft Sans Serif"/>
              </a:rPr>
              <a:t>block </a:t>
            </a:r>
            <a:r>
              <a:rPr sz="2600" spc="-40" dirty="0">
                <a:latin typeface="Microsoft Sans Serif"/>
                <a:cs typeface="Microsoft Sans Serif"/>
              </a:rPr>
              <a:t>is </a:t>
            </a:r>
            <a:r>
              <a:rPr sz="2600" spc="114" dirty="0">
                <a:latin typeface="Microsoft Sans Serif"/>
                <a:cs typeface="Microsoft Sans Serif"/>
              </a:rPr>
              <a:t>the </a:t>
            </a:r>
            <a:r>
              <a:rPr sz="2600" spc="60" dirty="0">
                <a:latin typeface="Microsoft Sans Serif"/>
                <a:cs typeface="Microsoft Sans Serif"/>
              </a:rPr>
              <a:t>collection </a:t>
            </a:r>
            <a:r>
              <a:rPr sz="2600" spc="175" dirty="0">
                <a:latin typeface="Microsoft Sans Serif"/>
                <a:cs typeface="Microsoft Sans Serif"/>
              </a:rPr>
              <a:t>of </a:t>
            </a:r>
            <a:r>
              <a:rPr sz="2600" spc="114" dirty="0">
                <a:latin typeface="Microsoft Sans Serif"/>
                <a:cs typeface="Microsoft Sans Serif"/>
              </a:rPr>
              <a:t>the </a:t>
            </a:r>
            <a:r>
              <a:rPr sz="2600" spc="95" dirty="0">
                <a:latin typeface="Microsoft Sans Serif"/>
                <a:cs typeface="Microsoft Sans Serif"/>
              </a:rPr>
              <a:t>statement </a:t>
            </a:r>
            <a:r>
              <a:rPr sz="2600" spc="100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enclosed </a:t>
            </a:r>
            <a:r>
              <a:rPr sz="2600" spc="55" dirty="0">
                <a:latin typeface="Microsoft Sans Serif"/>
                <a:cs typeface="Microsoft Sans Serif"/>
              </a:rPr>
              <a:t>in </a:t>
            </a:r>
            <a:r>
              <a:rPr sz="2600" spc="114" dirty="0">
                <a:latin typeface="Microsoft Sans Serif"/>
                <a:cs typeface="Microsoft Sans Serif"/>
              </a:rPr>
              <a:t>the </a:t>
            </a:r>
            <a:r>
              <a:rPr sz="2600" spc="40" dirty="0">
                <a:latin typeface="Microsoft Sans Serif"/>
                <a:cs typeface="Microsoft Sans Serif"/>
              </a:rPr>
              <a:t>curly </a:t>
            </a:r>
            <a:r>
              <a:rPr sz="2600" spc="-30" dirty="0">
                <a:latin typeface="Microsoft Sans Serif"/>
                <a:cs typeface="Microsoft Sans Serif"/>
              </a:rPr>
              <a:t>braces. </a:t>
            </a:r>
            <a:r>
              <a:rPr sz="2600" spc="10" dirty="0">
                <a:latin typeface="Microsoft Sans Serif"/>
                <a:cs typeface="Microsoft Sans Serif"/>
              </a:rPr>
              <a:t>In </a:t>
            </a:r>
            <a:r>
              <a:rPr sz="2600" spc="45" dirty="0">
                <a:latin typeface="Microsoft Sans Serif"/>
                <a:cs typeface="Microsoft Sans Serif"/>
              </a:rPr>
              <a:t>Dart, </a:t>
            </a:r>
            <a:r>
              <a:rPr sz="2600" spc="75" dirty="0">
                <a:latin typeface="Microsoft Sans Serif"/>
                <a:cs typeface="Microsoft Sans Serif"/>
              </a:rPr>
              <a:t>we </a:t>
            </a:r>
            <a:r>
              <a:rPr sz="2600" spc="-30" dirty="0">
                <a:latin typeface="Microsoft Sans Serif"/>
                <a:cs typeface="Microsoft Sans Serif"/>
              </a:rPr>
              <a:t>use </a:t>
            </a:r>
            <a:r>
              <a:rPr sz="2600" spc="35" dirty="0">
                <a:latin typeface="Microsoft Sans Serif"/>
                <a:cs typeface="Microsoft Sans Serif"/>
              </a:rPr>
              <a:t>curly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braces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200" dirty="0">
                <a:latin typeface="Microsoft Sans Serif"/>
                <a:cs typeface="Microsoft Sans Serif"/>
              </a:rPr>
              <a:t>to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group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all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80" dirty="0">
                <a:latin typeface="Microsoft Sans Serif"/>
                <a:cs typeface="Microsoft Sans Serif"/>
              </a:rPr>
              <a:t>of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statements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in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block.</a:t>
            </a:r>
            <a:endParaRPr sz="2600">
              <a:latin typeface="Microsoft Sans Serif"/>
              <a:cs typeface="Microsoft Sans Serif"/>
            </a:endParaRPr>
          </a:p>
          <a:p>
            <a:pPr marL="355600" marR="2912110">
              <a:lnSpc>
                <a:spcPts val="3920"/>
              </a:lnSpc>
              <a:spcBef>
                <a:spcPts val="265"/>
              </a:spcBef>
            </a:pPr>
            <a:r>
              <a:rPr sz="2600" dirty="0">
                <a:latin typeface="Microsoft Sans Serif"/>
                <a:cs typeface="Microsoft Sans Serif"/>
              </a:rPr>
              <a:t>Consider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following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syntax.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Syntax: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35"/>
              </a:spcBef>
            </a:pPr>
            <a:r>
              <a:rPr sz="2600" spc="-5" dirty="0">
                <a:latin typeface="Microsoft Sans Serif"/>
                <a:cs typeface="Microsoft Sans Serif"/>
              </a:rPr>
              <a:t>{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155" dirty="0">
                <a:latin typeface="Microsoft Sans Serif"/>
                <a:cs typeface="Microsoft Sans Serif"/>
              </a:rPr>
              <a:t>//start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180" dirty="0">
                <a:latin typeface="Microsoft Sans Serif"/>
                <a:cs typeface="Microsoft Sans Serif"/>
              </a:rPr>
              <a:t>of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block</a:t>
            </a:r>
            <a:endParaRPr sz="2600">
              <a:latin typeface="Microsoft Sans Serif"/>
              <a:cs typeface="Microsoft Sans Serif"/>
            </a:endParaRPr>
          </a:p>
          <a:p>
            <a:pPr marL="659765">
              <a:lnSpc>
                <a:spcPct val="100000"/>
              </a:lnSpc>
              <a:spcBef>
                <a:spcPts val="810"/>
              </a:spcBef>
            </a:pPr>
            <a:r>
              <a:rPr sz="2600" spc="110" dirty="0">
                <a:latin typeface="Microsoft Sans Serif"/>
                <a:cs typeface="Microsoft Sans Serif"/>
              </a:rPr>
              <a:t>//block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180" dirty="0">
                <a:latin typeface="Microsoft Sans Serif"/>
                <a:cs typeface="Microsoft Sans Serif"/>
              </a:rPr>
              <a:t>of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statement(s)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600" spc="175" dirty="0">
                <a:latin typeface="Microsoft Sans Serif"/>
                <a:cs typeface="Microsoft Sans Serif"/>
              </a:rPr>
              <a:t>}//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end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80" dirty="0">
                <a:latin typeface="Microsoft Sans Serif"/>
                <a:cs typeface="Microsoft Sans Serif"/>
              </a:rPr>
              <a:t>of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block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30" dirty="0"/>
              <a:t>Comments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154578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032262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908499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517662"/>
            <a:ext cx="7979409" cy="421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396240" indent="-335280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47345" algn="l"/>
                <a:tab pos="347980" algn="l"/>
              </a:tabLst>
            </a:pPr>
            <a:r>
              <a:rPr sz="2550" spc="20" dirty="0">
                <a:latin typeface="Microsoft Sans Serif"/>
                <a:cs typeface="Microsoft Sans Serif"/>
              </a:rPr>
              <a:t>Comments </a:t>
            </a:r>
            <a:r>
              <a:rPr sz="2550" spc="15" dirty="0">
                <a:latin typeface="Microsoft Sans Serif"/>
                <a:cs typeface="Microsoft Sans Serif"/>
              </a:rPr>
              <a:t>are </a:t>
            </a:r>
            <a:r>
              <a:rPr sz="2550" spc="120" dirty="0">
                <a:latin typeface="Microsoft Sans Serif"/>
                <a:cs typeface="Microsoft Sans Serif"/>
              </a:rPr>
              <a:t>the </a:t>
            </a:r>
            <a:r>
              <a:rPr sz="2550" spc="60" dirty="0">
                <a:latin typeface="Microsoft Sans Serif"/>
                <a:cs typeface="Microsoft Sans Serif"/>
              </a:rPr>
              <a:t>set </a:t>
            </a:r>
            <a:r>
              <a:rPr sz="2550" spc="185" dirty="0">
                <a:latin typeface="Microsoft Sans Serif"/>
                <a:cs typeface="Microsoft Sans Serif"/>
              </a:rPr>
              <a:t>of </a:t>
            </a:r>
            <a:r>
              <a:rPr sz="2550" spc="70" dirty="0">
                <a:latin typeface="Microsoft Sans Serif"/>
                <a:cs typeface="Microsoft Sans Serif"/>
              </a:rPr>
              <a:t>statements </a:t>
            </a:r>
            <a:r>
              <a:rPr sz="2550" spc="145" dirty="0">
                <a:latin typeface="Microsoft Sans Serif"/>
                <a:cs typeface="Microsoft Sans Serif"/>
              </a:rPr>
              <a:t>that </a:t>
            </a:r>
            <a:r>
              <a:rPr sz="2550" spc="15" dirty="0">
                <a:latin typeface="Microsoft Sans Serif"/>
                <a:cs typeface="Microsoft Sans Serif"/>
              </a:rPr>
              <a:t>are </a:t>
            </a:r>
            <a:r>
              <a:rPr sz="2550" spc="2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ignored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35" dirty="0">
                <a:latin typeface="Microsoft Sans Serif"/>
                <a:cs typeface="Microsoft Sans Serif"/>
              </a:rPr>
              <a:t>by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85" dirty="0">
                <a:latin typeface="Microsoft Sans Serif"/>
                <a:cs typeface="Microsoft Sans Serif"/>
              </a:rPr>
              <a:t>Dart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55" dirty="0">
                <a:latin typeface="Microsoft Sans Serif"/>
                <a:cs typeface="Microsoft Sans Serif"/>
              </a:rPr>
              <a:t>compiler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during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program </a:t>
            </a:r>
            <a:r>
              <a:rPr sz="2550" spc="-665" dirty="0">
                <a:latin typeface="Microsoft Sans Serif"/>
                <a:cs typeface="Microsoft Sans Serif"/>
              </a:rPr>
              <a:t> </a:t>
            </a:r>
            <a:r>
              <a:rPr sz="2550" spc="40" dirty="0">
                <a:latin typeface="Microsoft Sans Serif"/>
                <a:cs typeface="Microsoft Sans Serif"/>
              </a:rPr>
              <a:t>execution.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40" dirty="0">
                <a:latin typeface="Microsoft Sans Serif"/>
                <a:cs typeface="Microsoft Sans Serif"/>
              </a:rPr>
              <a:t>It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40" dirty="0">
                <a:latin typeface="Microsoft Sans Serif"/>
                <a:cs typeface="Microsoft Sans Serif"/>
              </a:rPr>
              <a:t>is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-5" dirty="0">
                <a:latin typeface="Microsoft Sans Serif"/>
                <a:cs typeface="Microsoft Sans Serif"/>
              </a:rPr>
              <a:t>used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200" dirty="0">
                <a:latin typeface="Microsoft Sans Serif"/>
                <a:cs typeface="Microsoft Sans Serif"/>
              </a:rPr>
              <a:t>to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-5" dirty="0">
                <a:latin typeface="Microsoft Sans Serif"/>
                <a:cs typeface="Microsoft Sans Serif"/>
              </a:rPr>
              <a:t>enhance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60" dirty="0">
                <a:latin typeface="Microsoft Sans Serif"/>
                <a:cs typeface="Microsoft Sans Serif"/>
              </a:rPr>
              <a:t>readability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180" dirty="0">
                <a:latin typeface="Microsoft Sans Serif"/>
                <a:cs typeface="Microsoft Sans Serif"/>
              </a:rPr>
              <a:t>of </a:t>
            </a:r>
            <a:r>
              <a:rPr sz="2550" spc="-660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5" dirty="0">
                <a:latin typeface="Microsoft Sans Serif"/>
                <a:cs typeface="Microsoft Sans Serif"/>
              </a:rPr>
              <a:t>source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code.</a:t>
            </a:r>
            <a:endParaRPr sz="2550">
              <a:latin typeface="Microsoft Sans Serif"/>
              <a:cs typeface="Microsoft Sans Serif"/>
            </a:endParaRPr>
          </a:p>
          <a:p>
            <a:pPr marL="347345" marR="248285">
              <a:lnSpc>
                <a:spcPct val="100000"/>
              </a:lnSpc>
              <a:spcBef>
                <a:spcPts val="790"/>
              </a:spcBef>
            </a:pPr>
            <a:r>
              <a:rPr sz="2550" spc="-265" dirty="0">
                <a:latin typeface="Microsoft Sans Serif"/>
                <a:cs typeface="Microsoft Sans Serif"/>
              </a:rPr>
              <a:t>G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40" dirty="0">
                <a:latin typeface="Microsoft Sans Serif"/>
                <a:cs typeface="Microsoft Sans Serif"/>
              </a:rPr>
              <a:t>n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125" dirty="0">
                <a:latin typeface="Microsoft Sans Serif"/>
                <a:cs typeface="Microsoft Sans Serif"/>
              </a:rPr>
              <a:t>r</a:t>
            </a:r>
            <a:r>
              <a:rPr sz="2550" spc="10" dirty="0">
                <a:latin typeface="Microsoft Sans Serif"/>
                <a:cs typeface="Microsoft Sans Serif"/>
              </a:rPr>
              <a:t>al</a:t>
            </a:r>
            <a:r>
              <a:rPr sz="2550" spc="105" dirty="0">
                <a:latin typeface="Microsoft Sans Serif"/>
                <a:cs typeface="Microsoft Sans Serif"/>
              </a:rPr>
              <a:t>l</a:t>
            </a:r>
            <a:r>
              <a:rPr sz="2550" dirty="0">
                <a:latin typeface="Microsoft Sans Serif"/>
                <a:cs typeface="Microsoft Sans Serif"/>
              </a:rPr>
              <a:t>y</a:t>
            </a:r>
            <a:r>
              <a:rPr sz="2550" spc="-85" dirty="0">
                <a:latin typeface="Microsoft Sans Serif"/>
                <a:cs typeface="Microsoft Sans Serif"/>
              </a:rPr>
              <a:t>,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-90" dirty="0">
                <a:latin typeface="Microsoft Sans Serif"/>
                <a:cs typeface="Microsoft Sans Serif"/>
              </a:rPr>
              <a:t>c</a:t>
            </a:r>
            <a:r>
              <a:rPr sz="2550" spc="85" dirty="0">
                <a:latin typeface="Microsoft Sans Serif"/>
                <a:cs typeface="Microsoft Sans Serif"/>
              </a:rPr>
              <a:t>o</a:t>
            </a:r>
            <a:r>
              <a:rPr sz="2550" spc="70" dirty="0">
                <a:latin typeface="Microsoft Sans Serif"/>
                <a:cs typeface="Microsoft Sans Serif"/>
              </a:rPr>
              <a:t>m</a:t>
            </a:r>
            <a:r>
              <a:rPr sz="2550" spc="60" dirty="0">
                <a:latin typeface="Microsoft Sans Serif"/>
                <a:cs typeface="Microsoft Sans Serif"/>
              </a:rPr>
              <a:t>m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40" dirty="0">
                <a:latin typeface="Microsoft Sans Serif"/>
                <a:cs typeface="Microsoft Sans Serif"/>
              </a:rPr>
              <a:t>n</a:t>
            </a:r>
            <a:r>
              <a:rPr sz="2550" spc="325" dirty="0">
                <a:latin typeface="Microsoft Sans Serif"/>
                <a:cs typeface="Microsoft Sans Serif"/>
              </a:rPr>
              <a:t>t</a:t>
            </a:r>
            <a:r>
              <a:rPr sz="2550" spc="-140" dirty="0">
                <a:latin typeface="Microsoft Sans Serif"/>
                <a:cs typeface="Microsoft Sans Serif"/>
              </a:rPr>
              <a:t>s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45" dirty="0">
                <a:latin typeface="Microsoft Sans Serif"/>
                <a:cs typeface="Microsoft Sans Serif"/>
              </a:rPr>
              <a:t>g</a:t>
            </a:r>
            <a:r>
              <a:rPr sz="2550" spc="60" dirty="0">
                <a:latin typeface="Microsoft Sans Serif"/>
                <a:cs typeface="Microsoft Sans Serif"/>
              </a:rPr>
              <a:t>i</a:t>
            </a:r>
            <a:r>
              <a:rPr sz="2550" spc="5" dirty="0">
                <a:latin typeface="Microsoft Sans Serif"/>
                <a:cs typeface="Microsoft Sans Serif"/>
              </a:rPr>
              <a:t>ve</a:t>
            </a:r>
            <a:r>
              <a:rPr sz="2550" spc="-90" dirty="0">
                <a:latin typeface="Microsoft Sans Serif"/>
                <a:cs typeface="Microsoft Sans Serif"/>
              </a:rPr>
              <a:t> a </a:t>
            </a:r>
            <a:r>
              <a:rPr sz="2550" spc="75" dirty="0">
                <a:latin typeface="Microsoft Sans Serif"/>
                <a:cs typeface="Microsoft Sans Serif"/>
              </a:rPr>
              <a:t>b</a:t>
            </a:r>
            <a:r>
              <a:rPr sz="2550" spc="125" dirty="0">
                <a:latin typeface="Microsoft Sans Serif"/>
                <a:cs typeface="Microsoft Sans Serif"/>
              </a:rPr>
              <a:t>r</a:t>
            </a:r>
            <a:r>
              <a:rPr sz="2550" spc="60" dirty="0">
                <a:latin typeface="Microsoft Sans Serif"/>
                <a:cs typeface="Microsoft Sans Serif"/>
              </a:rPr>
              <a:t>i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275" dirty="0">
                <a:latin typeface="Microsoft Sans Serif"/>
                <a:cs typeface="Microsoft Sans Serif"/>
              </a:rPr>
              <a:t>f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60" dirty="0">
                <a:latin typeface="Microsoft Sans Serif"/>
                <a:cs typeface="Microsoft Sans Serif"/>
              </a:rPr>
              <a:t>i</a:t>
            </a:r>
            <a:r>
              <a:rPr sz="2550" spc="75" dirty="0">
                <a:latin typeface="Microsoft Sans Serif"/>
                <a:cs typeface="Microsoft Sans Serif"/>
              </a:rPr>
              <a:t>d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-90" dirty="0">
                <a:latin typeface="Microsoft Sans Serif"/>
                <a:cs typeface="Microsoft Sans Serif"/>
              </a:rPr>
              <a:t>a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95" dirty="0">
                <a:latin typeface="Microsoft Sans Serif"/>
                <a:cs typeface="Microsoft Sans Serif"/>
              </a:rPr>
              <a:t>o</a:t>
            </a:r>
            <a:r>
              <a:rPr sz="2550" spc="275" dirty="0">
                <a:latin typeface="Microsoft Sans Serif"/>
                <a:cs typeface="Microsoft Sans Serif"/>
              </a:rPr>
              <a:t>f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90" dirty="0">
                <a:latin typeface="Microsoft Sans Serif"/>
                <a:cs typeface="Microsoft Sans Serif"/>
              </a:rPr>
              <a:t>c</a:t>
            </a:r>
            <a:r>
              <a:rPr sz="2550" spc="85" dirty="0">
                <a:latin typeface="Microsoft Sans Serif"/>
                <a:cs typeface="Microsoft Sans Serif"/>
              </a:rPr>
              <a:t>o</a:t>
            </a:r>
            <a:r>
              <a:rPr sz="2550" spc="75" dirty="0">
                <a:latin typeface="Microsoft Sans Serif"/>
                <a:cs typeface="Microsoft Sans Serif"/>
              </a:rPr>
              <a:t>d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315" dirty="0">
                <a:latin typeface="Microsoft Sans Serif"/>
                <a:cs typeface="Microsoft Sans Serif"/>
              </a:rPr>
              <a:t>t</a:t>
            </a:r>
            <a:r>
              <a:rPr sz="2550" spc="35" dirty="0">
                <a:latin typeface="Microsoft Sans Serif"/>
                <a:cs typeface="Microsoft Sans Serif"/>
              </a:rPr>
              <a:t>h</a:t>
            </a:r>
            <a:r>
              <a:rPr sz="2550" spc="90" dirty="0">
                <a:latin typeface="Microsoft Sans Serif"/>
                <a:cs typeface="Microsoft Sans Serif"/>
              </a:rPr>
              <a:t>at  </a:t>
            </a:r>
            <a:r>
              <a:rPr sz="2550" spc="105" dirty="0">
                <a:latin typeface="Microsoft Sans Serif"/>
                <a:cs typeface="Microsoft Sans Serif"/>
              </a:rPr>
              <a:t>what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40" dirty="0">
                <a:latin typeface="Microsoft Sans Serif"/>
                <a:cs typeface="Microsoft Sans Serif"/>
              </a:rPr>
              <a:t>is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35" dirty="0">
                <a:latin typeface="Microsoft Sans Serif"/>
                <a:cs typeface="Microsoft Sans Serif"/>
              </a:rPr>
              <a:t>happening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55" dirty="0">
                <a:latin typeface="Microsoft Sans Serif"/>
                <a:cs typeface="Microsoft Sans Serif"/>
              </a:rPr>
              <a:t>in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code.</a:t>
            </a:r>
            <a:endParaRPr sz="2550">
              <a:latin typeface="Microsoft Sans Serif"/>
              <a:cs typeface="Microsoft Sans Serif"/>
            </a:endParaRPr>
          </a:p>
          <a:p>
            <a:pPr marL="347345" marR="5080">
              <a:lnSpc>
                <a:spcPct val="100000"/>
              </a:lnSpc>
              <a:spcBef>
                <a:spcPts val="790"/>
              </a:spcBef>
            </a:pPr>
            <a:r>
              <a:rPr sz="2550" spc="-15" dirty="0">
                <a:latin typeface="Microsoft Sans Serif"/>
                <a:cs typeface="Microsoft Sans Serif"/>
              </a:rPr>
              <a:t>We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-45" dirty="0">
                <a:latin typeface="Microsoft Sans Serif"/>
                <a:cs typeface="Microsoft Sans Serif"/>
              </a:rPr>
              <a:t>can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15" dirty="0">
                <a:latin typeface="Microsoft Sans Serif"/>
                <a:cs typeface="Microsoft Sans Serif"/>
              </a:rPr>
              <a:t>describe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80" dirty="0">
                <a:latin typeface="Microsoft Sans Serif"/>
                <a:cs typeface="Microsoft Sans Serif"/>
              </a:rPr>
              <a:t>working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80" dirty="0">
                <a:latin typeface="Microsoft Sans Serif"/>
                <a:cs typeface="Microsoft Sans Serif"/>
              </a:rPr>
              <a:t>of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variables,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55" dirty="0">
                <a:latin typeface="Microsoft Sans Serif"/>
                <a:cs typeface="Microsoft Sans Serif"/>
              </a:rPr>
              <a:t>functions, </a:t>
            </a:r>
            <a:r>
              <a:rPr sz="2550" spc="-660" dirty="0">
                <a:latin typeface="Microsoft Sans Serif"/>
                <a:cs typeface="Microsoft Sans Serif"/>
              </a:rPr>
              <a:t> </a:t>
            </a:r>
            <a:r>
              <a:rPr sz="2550" spc="-90" dirty="0">
                <a:latin typeface="Microsoft Sans Serif"/>
                <a:cs typeface="Microsoft Sans Serif"/>
              </a:rPr>
              <a:t>c</a:t>
            </a:r>
            <a:r>
              <a:rPr sz="2550" spc="114" dirty="0">
                <a:latin typeface="Microsoft Sans Serif"/>
                <a:cs typeface="Microsoft Sans Serif"/>
              </a:rPr>
              <a:t>l</a:t>
            </a:r>
            <a:r>
              <a:rPr sz="2550" spc="-90" dirty="0">
                <a:latin typeface="Microsoft Sans Serif"/>
                <a:cs typeface="Microsoft Sans Serif"/>
              </a:rPr>
              <a:t>asse</a:t>
            </a:r>
            <a:r>
              <a:rPr sz="2550" spc="-110" dirty="0">
                <a:latin typeface="Microsoft Sans Serif"/>
                <a:cs typeface="Microsoft Sans Serif"/>
              </a:rPr>
              <a:t>s,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85" dirty="0">
                <a:latin typeface="Microsoft Sans Serif"/>
                <a:cs typeface="Microsoft Sans Serif"/>
              </a:rPr>
              <a:t>o</a:t>
            </a:r>
            <a:r>
              <a:rPr sz="2550" spc="135" dirty="0">
                <a:latin typeface="Microsoft Sans Serif"/>
                <a:cs typeface="Microsoft Sans Serif"/>
              </a:rPr>
              <a:t>r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25" dirty="0">
                <a:latin typeface="Microsoft Sans Serif"/>
                <a:cs typeface="Microsoft Sans Serif"/>
              </a:rPr>
              <a:t>an</a:t>
            </a:r>
            <a:r>
              <a:rPr sz="2550" spc="-10" dirty="0">
                <a:latin typeface="Microsoft Sans Serif"/>
                <a:cs typeface="Microsoft Sans Serif"/>
              </a:rPr>
              <a:t>y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90" dirty="0">
                <a:latin typeface="Microsoft Sans Serif"/>
                <a:cs typeface="Microsoft Sans Serif"/>
              </a:rPr>
              <a:t>st</a:t>
            </a:r>
            <a:r>
              <a:rPr sz="2550" spc="114" dirty="0">
                <a:latin typeface="Microsoft Sans Serif"/>
                <a:cs typeface="Microsoft Sans Serif"/>
              </a:rPr>
              <a:t>at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70" dirty="0">
                <a:latin typeface="Microsoft Sans Serif"/>
                <a:cs typeface="Microsoft Sans Serif"/>
              </a:rPr>
              <a:t>m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40" dirty="0">
                <a:latin typeface="Microsoft Sans Serif"/>
                <a:cs typeface="Microsoft Sans Serif"/>
              </a:rPr>
              <a:t>n</a:t>
            </a:r>
            <a:r>
              <a:rPr sz="2550" spc="315" dirty="0">
                <a:latin typeface="Microsoft Sans Serif"/>
                <a:cs typeface="Microsoft Sans Serif"/>
              </a:rPr>
              <a:t>t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315" dirty="0">
                <a:latin typeface="Microsoft Sans Serif"/>
                <a:cs typeface="Microsoft Sans Serif"/>
              </a:rPr>
              <a:t>t</a:t>
            </a:r>
            <a:r>
              <a:rPr sz="2550" spc="45" dirty="0">
                <a:latin typeface="Microsoft Sans Serif"/>
                <a:cs typeface="Microsoft Sans Serif"/>
              </a:rPr>
              <a:t>h</a:t>
            </a:r>
            <a:r>
              <a:rPr sz="2550" spc="114" dirty="0">
                <a:latin typeface="Microsoft Sans Serif"/>
                <a:cs typeface="Microsoft Sans Serif"/>
              </a:rPr>
              <a:t>at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20" dirty="0">
                <a:latin typeface="Microsoft Sans Serif"/>
                <a:cs typeface="Microsoft Sans Serif"/>
              </a:rPr>
              <a:t>x</a:t>
            </a:r>
            <a:r>
              <a:rPr sz="2550" spc="60" dirty="0">
                <a:latin typeface="Microsoft Sans Serif"/>
                <a:cs typeface="Microsoft Sans Serif"/>
              </a:rPr>
              <a:t>i</a:t>
            </a:r>
            <a:r>
              <a:rPr sz="2550" spc="90" dirty="0">
                <a:latin typeface="Microsoft Sans Serif"/>
                <a:cs typeface="Microsoft Sans Serif"/>
              </a:rPr>
              <a:t>st</a:t>
            </a:r>
            <a:r>
              <a:rPr sz="2550" spc="-140" dirty="0">
                <a:latin typeface="Microsoft Sans Serif"/>
                <a:cs typeface="Microsoft Sans Serif"/>
              </a:rPr>
              <a:t>s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60" dirty="0">
                <a:latin typeface="Microsoft Sans Serif"/>
                <a:cs typeface="Microsoft Sans Serif"/>
              </a:rPr>
              <a:t>i</a:t>
            </a:r>
            <a:r>
              <a:rPr sz="2550" spc="45" dirty="0">
                <a:latin typeface="Microsoft Sans Serif"/>
                <a:cs typeface="Microsoft Sans Serif"/>
              </a:rPr>
              <a:t>n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315" dirty="0">
                <a:latin typeface="Microsoft Sans Serif"/>
                <a:cs typeface="Microsoft Sans Serif"/>
              </a:rPr>
              <a:t>t</a:t>
            </a:r>
            <a:r>
              <a:rPr sz="2550" spc="45" dirty="0">
                <a:latin typeface="Microsoft Sans Serif"/>
                <a:cs typeface="Microsoft Sans Serif"/>
              </a:rPr>
              <a:t>h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-90" dirty="0">
                <a:latin typeface="Microsoft Sans Serif"/>
                <a:cs typeface="Microsoft Sans Serif"/>
              </a:rPr>
              <a:t>c</a:t>
            </a:r>
            <a:r>
              <a:rPr sz="2550" spc="95" dirty="0">
                <a:latin typeface="Microsoft Sans Serif"/>
                <a:cs typeface="Microsoft Sans Serif"/>
              </a:rPr>
              <a:t>o</a:t>
            </a:r>
            <a:r>
              <a:rPr sz="2550" spc="65" dirty="0">
                <a:latin typeface="Microsoft Sans Serif"/>
                <a:cs typeface="Microsoft Sans Serif"/>
              </a:rPr>
              <a:t>d</a:t>
            </a:r>
            <a:r>
              <a:rPr sz="2550" spc="5" dirty="0">
                <a:latin typeface="Microsoft Sans Serif"/>
                <a:cs typeface="Microsoft Sans Serif"/>
              </a:rPr>
              <a:t>e</a:t>
            </a:r>
            <a:r>
              <a:rPr sz="2550" spc="-85" dirty="0">
                <a:latin typeface="Microsoft Sans Serif"/>
                <a:cs typeface="Microsoft Sans Serif"/>
              </a:rPr>
              <a:t>.</a:t>
            </a:r>
            <a:endParaRPr sz="2550">
              <a:latin typeface="Microsoft Sans Serif"/>
              <a:cs typeface="Microsoft Sans Serif"/>
            </a:endParaRPr>
          </a:p>
          <a:p>
            <a:pPr marL="347345" marR="394335">
              <a:lnSpc>
                <a:spcPct val="100000"/>
              </a:lnSpc>
              <a:spcBef>
                <a:spcPts val="780"/>
              </a:spcBef>
            </a:pPr>
            <a:r>
              <a:rPr sz="2550" spc="25" dirty="0">
                <a:latin typeface="Microsoft Sans Serif"/>
                <a:cs typeface="Microsoft Sans Serif"/>
              </a:rPr>
              <a:t>Programmers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35" dirty="0">
                <a:latin typeface="Microsoft Sans Serif"/>
                <a:cs typeface="Microsoft Sans Serif"/>
              </a:rPr>
              <a:t>should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30" dirty="0">
                <a:latin typeface="Microsoft Sans Serif"/>
                <a:cs typeface="Microsoft Sans Serif"/>
              </a:rPr>
              <a:t>use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the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70" dirty="0">
                <a:latin typeface="Microsoft Sans Serif"/>
                <a:cs typeface="Microsoft Sans Serif"/>
              </a:rPr>
              <a:t>comment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165" dirty="0">
                <a:latin typeface="Microsoft Sans Serif"/>
                <a:cs typeface="Microsoft Sans Serif"/>
              </a:rPr>
              <a:t>for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40" dirty="0">
                <a:latin typeface="Microsoft Sans Serif"/>
                <a:cs typeface="Microsoft Sans Serif"/>
              </a:rPr>
              <a:t>better </a:t>
            </a:r>
            <a:r>
              <a:rPr sz="2550" spc="-660" dirty="0">
                <a:latin typeface="Microsoft Sans Serif"/>
                <a:cs typeface="Microsoft Sans Serif"/>
              </a:rPr>
              <a:t> </a:t>
            </a:r>
            <a:r>
              <a:rPr sz="2550" spc="25" dirty="0">
                <a:latin typeface="Microsoft Sans Serif"/>
                <a:cs typeface="Microsoft Sans Serif"/>
              </a:rPr>
              <a:t>practice.</a:t>
            </a:r>
            <a:endParaRPr sz="2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30" dirty="0"/>
              <a:t>Comments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0322"/>
            <a:ext cx="6210935" cy="196596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85" dirty="0">
                <a:latin typeface="Microsoft Sans Serif"/>
                <a:cs typeface="Microsoft Sans Serif"/>
              </a:rPr>
              <a:t>Dart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provides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three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kinds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75" dirty="0">
                <a:latin typeface="Microsoft Sans Serif"/>
                <a:cs typeface="Microsoft Sans Serif"/>
              </a:rPr>
              <a:t>of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comments</a:t>
            </a:r>
            <a:endParaRPr sz="260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600" spc="5" dirty="0">
                <a:latin typeface="Microsoft Sans Serif"/>
                <a:cs typeface="Microsoft Sans Serif"/>
              </a:rPr>
              <a:t>Single-line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Comments</a:t>
            </a:r>
            <a:endParaRPr sz="260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600" spc="75" dirty="0">
                <a:latin typeface="Microsoft Sans Serif"/>
                <a:cs typeface="Microsoft Sans Serif"/>
              </a:rPr>
              <a:t>Multi-line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Comments</a:t>
            </a:r>
            <a:endParaRPr sz="260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Documentation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Comments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5" dirty="0"/>
              <a:t>Single-line</a:t>
            </a:r>
            <a:r>
              <a:rPr spc="-155" dirty="0"/>
              <a:t> </a:t>
            </a:r>
            <a:r>
              <a:rPr spc="60" dirty="0"/>
              <a:t>Comment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19097"/>
            <a:ext cx="7950834" cy="3705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40" dirty="0">
                <a:latin typeface="Microsoft Sans Serif"/>
                <a:cs typeface="Microsoft Sans Serif"/>
              </a:rPr>
              <a:t>W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c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45" dirty="0">
                <a:latin typeface="Microsoft Sans Serif"/>
                <a:cs typeface="Microsoft Sans Serif"/>
              </a:rPr>
              <a:t>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</a:t>
            </a:r>
            <a:r>
              <a:rPr sz="2600" spc="-10" dirty="0">
                <a:latin typeface="Microsoft Sans Serif"/>
                <a:cs typeface="Microsoft Sans Serif"/>
              </a:rPr>
              <a:t>p</a:t>
            </a:r>
            <a:r>
              <a:rPr sz="2600" spc="90" dirty="0">
                <a:latin typeface="Microsoft Sans Serif"/>
                <a:cs typeface="Microsoft Sans Serif"/>
              </a:rPr>
              <a:t>p</a:t>
            </a:r>
            <a:r>
              <a:rPr sz="2600" spc="50" dirty="0">
                <a:latin typeface="Microsoft Sans Serif"/>
                <a:cs typeface="Microsoft Sans Serif"/>
              </a:rPr>
              <a:t>ly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c</a:t>
            </a:r>
            <a:r>
              <a:rPr sz="2600" spc="-15" dirty="0">
                <a:latin typeface="Microsoft Sans Serif"/>
                <a:cs typeface="Microsoft Sans Serif"/>
              </a:rPr>
              <a:t>o</a:t>
            </a:r>
            <a:r>
              <a:rPr sz="2600" spc="75" dirty="0">
                <a:latin typeface="Microsoft Sans Serif"/>
                <a:cs typeface="Microsoft Sans Serif"/>
              </a:rPr>
              <a:t>m</a:t>
            </a:r>
            <a:r>
              <a:rPr sz="2600" spc="45" dirty="0">
                <a:latin typeface="Microsoft Sans Serif"/>
                <a:cs typeface="Microsoft Sans Serif"/>
              </a:rPr>
              <a:t>m</a:t>
            </a:r>
            <a:r>
              <a:rPr sz="2600" spc="25" dirty="0">
                <a:latin typeface="Microsoft Sans Serif"/>
                <a:cs typeface="Microsoft Sans Serif"/>
              </a:rPr>
              <a:t>e</a:t>
            </a:r>
            <a:r>
              <a:rPr sz="2600" spc="50" dirty="0">
                <a:latin typeface="Microsoft Sans Serif"/>
                <a:cs typeface="Microsoft Sans Serif"/>
              </a:rPr>
              <a:t>n</a:t>
            </a:r>
            <a:r>
              <a:rPr sz="2600" spc="320" dirty="0">
                <a:latin typeface="Microsoft Sans Serif"/>
                <a:cs typeface="Microsoft Sans Serif"/>
              </a:rPr>
              <a:t>t</a:t>
            </a:r>
            <a:r>
              <a:rPr sz="2600" spc="-145" dirty="0">
                <a:latin typeface="Microsoft Sans Serif"/>
                <a:cs typeface="Microsoft Sans Serif"/>
              </a:rPr>
              <a:t>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o</a:t>
            </a:r>
            <a:r>
              <a:rPr sz="2600" spc="45" dirty="0">
                <a:latin typeface="Microsoft Sans Serif"/>
                <a:cs typeface="Microsoft Sans Serif"/>
              </a:rPr>
              <a:t>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40" dirty="0">
                <a:latin typeface="Microsoft Sans Serif"/>
                <a:cs typeface="Microsoft Sans Serif"/>
              </a:rPr>
              <a:t>s</a:t>
            </a:r>
            <a:r>
              <a:rPr sz="2600" spc="30" dirty="0">
                <a:latin typeface="Microsoft Sans Serif"/>
                <a:cs typeface="Microsoft Sans Serif"/>
              </a:rPr>
              <a:t>i</a:t>
            </a:r>
            <a:r>
              <a:rPr sz="2600" spc="80" dirty="0">
                <a:latin typeface="Microsoft Sans Serif"/>
                <a:cs typeface="Microsoft Sans Serif"/>
              </a:rPr>
              <a:t>n</a:t>
            </a:r>
            <a:r>
              <a:rPr sz="2600" spc="50" dirty="0">
                <a:latin typeface="Microsoft Sans Serif"/>
                <a:cs typeface="Microsoft Sans Serif"/>
              </a:rPr>
              <a:t>g</a:t>
            </a:r>
            <a:r>
              <a:rPr sz="2600" spc="60" dirty="0">
                <a:latin typeface="Microsoft Sans Serif"/>
                <a:cs typeface="Microsoft Sans Serif"/>
              </a:rPr>
              <a:t>le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</a:t>
            </a:r>
            <a:r>
              <a:rPr sz="2600" spc="30" dirty="0">
                <a:latin typeface="Microsoft Sans Serif"/>
                <a:cs typeface="Microsoft Sans Serif"/>
              </a:rPr>
              <a:t>i</a:t>
            </a:r>
            <a:r>
              <a:rPr sz="2600" spc="80" dirty="0">
                <a:latin typeface="Microsoft Sans Serif"/>
                <a:cs typeface="Microsoft Sans Serif"/>
              </a:rPr>
              <a:t>n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b</a:t>
            </a:r>
            <a:r>
              <a:rPr sz="2600" spc="-10" dirty="0">
                <a:latin typeface="Microsoft Sans Serif"/>
                <a:cs typeface="Microsoft Sans Serif"/>
              </a:rPr>
              <a:t>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u</a:t>
            </a:r>
            <a:r>
              <a:rPr sz="2600" spc="-10" dirty="0">
                <a:latin typeface="Microsoft Sans Serif"/>
                <a:cs typeface="Microsoft Sans Serif"/>
              </a:rPr>
              <a:t>sin</a:t>
            </a:r>
            <a:r>
              <a:rPr sz="2600" spc="35" dirty="0">
                <a:latin typeface="Microsoft Sans Serif"/>
                <a:cs typeface="Microsoft Sans Serif"/>
              </a:rPr>
              <a:t>g 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75" dirty="0">
                <a:latin typeface="Microsoft Sans Serif"/>
                <a:cs typeface="Microsoft Sans Serif"/>
              </a:rPr>
              <a:t>//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(double-slash).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The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single-line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comments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can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b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90" dirty="0">
                <a:latin typeface="Microsoft Sans Serif"/>
                <a:cs typeface="Microsoft Sans Serif"/>
              </a:rPr>
              <a:t>p</a:t>
            </a:r>
            <a:r>
              <a:rPr sz="2600" spc="80" dirty="0">
                <a:latin typeface="Microsoft Sans Serif"/>
                <a:cs typeface="Microsoft Sans Serif"/>
              </a:rPr>
              <a:t>p</a:t>
            </a:r>
            <a:r>
              <a:rPr sz="2600" spc="40" dirty="0">
                <a:latin typeface="Microsoft Sans Serif"/>
                <a:cs typeface="Microsoft Sans Serif"/>
              </a:rPr>
              <a:t>li</a:t>
            </a:r>
            <a:r>
              <a:rPr sz="2600" spc="105" dirty="0">
                <a:latin typeface="Microsoft Sans Serif"/>
                <a:cs typeface="Microsoft Sans Serif"/>
              </a:rPr>
              <a:t>e</a:t>
            </a:r>
            <a:r>
              <a:rPr sz="2600" spc="85" dirty="0">
                <a:latin typeface="Microsoft Sans Serif"/>
                <a:cs typeface="Microsoft Sans Serif"/>
              </a:rPr>
              <a:t>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un</a:t>
            </a:r>
            <a:r>
              <a:rPr sz="2600" spc="310" dirty="0">
                <a:latin typeface="Microsoft Sans Serif"/>
                <a:cs typeface="Microsoft Sans Serif"/>
              </a:rPr>
              <a:t>t</a:t>
            </a:r>
            <a:r>
              <a:rPr sz="2600" spc="70" dirty="0">
                <a:latin typeface="Microsoft Sans Serif"/>
                <a:cs typeface="Microsoft Sans Serif"/>
              </a:rPr>
              <a:t>i</a:t>
            </a:r>
            <a:r>
              <a:rPr sz="2600" spc="114" dirty="0">
                <a:latin typeface="Microsoft Sans Serif"/>
                <a:cs typeface="Microsoft Sans Serif"/>
              </a:rPr>
              <a:t>l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li</a:t>
            </a:r>
            <a:r>
              <a:rPr sz="2600" spc="130" dirty="0">
                <a:latin typeface="Microsoft Sans Serif"/>
                <a:cs typeface="Microsoft Sans Serif"/>
              </a:rPr>
              <a:t>n</a:t>
            </a:r>
            <a:r>
              <a:rPr sz="2600" spc="5" dirty="0">
                <a:latin typeface="Microsoft Sans Serif"/>
                <a:cs typeface="Microsoft Sans Serif"/>
              </a:rPr>
              <a:t>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b</a:t>
            </a:r>
            <a:r>
              <a:rPr sz="2600" spc="130" dirty="0">
                <a:latin typeface="Microsoft Sans Serif"/>
                <a:cs typeface="Microsoft Sans Serif"/>
              </a:rPr>
              <a:t>r</a:t>
            </a:r>
            <a:r>
              <a:rPr sz="2600" spc="10" dirty="0">
                <a:latin typeface="Microsoft Sans Serif"/>
                <a:cs typeface="Microsoft Sans Serif"/>
              </a:rPr>
              <a:t>e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-15" dirty="0">
                <a:latin typeface="Microsoft Sans Serif"/>
                <a:cs typeface="Microsoft Sans Serif"/>
              </a:rPr>
              <a:t>k.</a:t>
            </a:r>
            <a:endParaRPr sz="2600">
              <a:latin typeface="Microsoft Sans Serif"/>
              <a:cs typeface="Microsoft Sans Serif"/>
            </a:endParaRPr>
          </a:p>
          <a:p>
            <a:pPr marL="355600" marR="5818505">
              <a:lnSpc>
                <a:spcPts val="3920"/>
              </a:lnSpc>
              <a:spcBef>
                <a:spcPts val="265"/>
              </a:spcBef>
            </a:pPr>
            <a:r>
              <a:rPr sz="2600" spc="-10" dirty="0">
                <a:latin typeface="Microsoft Sans Serif"/>
                <a:cs typeface="Microsoft Sans Serif"/>
              </a:rPr>
              <a:t>Example </a:t>
            </a:r>
            <a:r>
              <a:rPr sz="2600" spc="-90" dirty="0">
                <a:latin typeface="Microsoft Sans Serif"/>
                <a:cs typeface="Microsoft Sans Serif"/>
              </a:rPr>
              <a:t>- 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void</a:t>
            </a:r>
            <a:r>
              <a:rPr sz="2600" spc="-16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main(){</a:t>
            </a:r>
            <a:endParaRPr sz="2600">
              <a:latin typeface="Microsoft Sans Serif"/>
              <a:cs typeface="Microsoft Sans Serif"/>
            </a:endParaRPr>
          </a:p>
          <a:p>
            <a:pPr marL="659765">
              <a:lnSpc>
                <a:spcPct val="100000"/>
              </a:lnSpc>
              <a:spcBef>
                <a:spcPts val="535"/>
              </a:spcBef>
            </a:pPr>
            <a:r>
              <a:rPr sz="2600" spc="270" dirty="0">
                <a:latin typeface="Microsoft Sans Serif"/>
                <a:cs typeface="Microsoft Sans Serif"/>
              </a:rPr>
              <a:t>//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This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will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30" dirty="0">
                <a:latin typeface="Microsoft Sans Serif"/>
                <a:cs typeface="Microsoft Sans Serif"/>
              </a:rPr>
              <a:t>print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given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statement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on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screen</a:t>
            </a:r>
            <a:endParaRPr sz="2600">
              <a:latin typeface="Microsoft Sans Serif"/>
              <a:cs typeface="Microsoft Sans Serif"/>
            </a:endParaRPr>
          </a:p>
          <a:p>
            <a:pPr marL="659765">
              <a:lnSpc>
                <a:spcPct val="100000"/>
              </a:lnSpc>
              <a:spcBef>
                <a:spcPts val="810"/>
              </a:spcBef>
            </a:pPr>
            <a:r>
              <a:rPr sz="2600" spc="65" dirty="0">
                <a:latin typeface="Microsoft Sans Serif"/>
                <a:cs typeface="Microsoft Sans Serif"/>
              </a:rPr>
              <a:t>print("Welcome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200" dirty="0">
                <a:latin typeface="Microsoft Sans Serif"/>
                <a:cs typeface="Microsoft Sans Serif"/>
              </a:rPr>
              <a:t>to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MITU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Skillologies");</a:t>
            </a:r>
            <a:endParaRPr sz="26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600" spc="-5" dirty="0">
                <a:latin typeface="Microsoft Sans Serif"/>
                <a:cs typeface="Microsoft Sans Serif"/>
              </a:rPr>
              <a:t>}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5" dirty="0"/>
              <a:t>Multi-line</a:t>
            </a:r>
            <a:r>
              <a:rPr spc="-190" dirty="0"/>
              <a:t> </a:t>
            </a:r>
            <a:r>
              <a:rPr spc="65" dirty="0"/>
              <a:t>Comment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379216"/>
            <a:ext cx="129539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5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 marR="5080" indent="-308610">
              <a:lnSpc>
                <a:spcPct val="997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350" spc="5" dirty="0"/>
              <a:t>Sometimes</a:t>
            </a:r>
            <a:r>
              <a:rPr sz="2350" spc="-90" dirty="0"/>
              <a:t> </a:t>
            </a:r>
            <a:r>
              <a:rPr sz="2350" spc="60" dirty="0"/>
              <a:t>we</a:t>
            </a:r>
            <a:r>
              <a:rPr sz="2350" spc="-85" dirty="0"/>
              <a:t> </a:t>
            </a:r>
            <a:r>
              <a:rPr sz="2350" spc="25" dirty="0"/>
              <a:t>need</a:t>
            </a:r>
            <a:r>
              <a:rPr sz="2350" spc="-85" dirty="0"/>
              <a:t> </a:t>
            </a:r>
            <a:r>
              <a:rPr sz="2350" spc="180" dirty="0"/>
              <a:t>to</a:t>
            </a:r>
            <a:r>
              <a:rPr sz="2350" spc="-85" dirty="0"/>
              <a:t> </a:t>
            </a:r>
            <a:r>
              <a:rPr sz="2350" spc="25" dirty="0"/>
              <a:t>apply</a:t>
            </a:r>
            <a:r>
              <a:rPr sz="2350" spc="-90" dirty="0"/>
              <a:t> </a:t>
            </a:r>
            <a:r>
              <a:rPr sz="2350" spc="30" dirty="0"/>
              <a:t>comments</a:t>
            </a:r>
            <a:r>
              <a:rPr sz="2350" spc="-80" dirty="0"/>
              <a:t> </a:t>
            </a:r>
            <a:r>
              <a:rPr sz="2350" spc="55" dirty="0"/>
              <a:t>on</a:t>
            </a:r>
            <a:r>
              <a:rPr sz="2350" spc="-90" dirty="0"/>
              <a:t> </a:t>
            </a:r>
            <a:r>
              <a:rPr sz="2350" spc="85" dirty="0"/>
              <a:t>multiple</a:t>
            </a:r>
            <a:r>
              <a:rPr sz="2350" spc="-85" dirty="0"/>
              <a:t> </a:t>
            </a:r>
            <a:r>
              <a:rPr sz="2350" spc="-5" dirty="0"/>
              <a:t>lines; </a:t>
            </a:r>
            <a:r>
              <a:rPr sz="2350" spc="-610" dirty="0"/>
              <a:t> </a:t>
            </a:r>
            <a:r>
              <a:rPr sz="2350" spc="50" dirty="0"/>
              <a:t>then, </a:t>
            </a:r>
            <a:r>
              <a:rPr sz="2350" spc="165" dirty="0"/>
              <a:t>it </a:t>
            </a:r>
            <a:r>
              <a:rPr sz="2350" spc="-50" dirty="0"/>
              <a:t>can </a:t>
            </a:r>
            <a:r>
              <a:rPr sz="2350" spc="35" dirty="0"/>
              <a:t>be </a:t>
            </a:r>
            <a:r>
              <a:rPr sz="2350" spc="45" dirty="0"/>
              <a:t>done </a:t>
            </a:r>
            <a:r>
              <a:rPr sz="2350" spc="30" dirty="0"/>
              <a:t>by </a:t>
            </a:r>
            <a:r>
              <a:rPr sz="2350" spc="5" dirty="0"/>
              <a:t>using </a:t>
            </a:r>
            <a:r>
              <a:rPr sz="2350" spc="204" dirty="0"/>
              <a:t>/*…..*/. </a:t>
            </a:r>
            <a:r>
              <a:rPr sz="2350" spc="-35" dirty="0"/>
              <a:t>The </a:t>
            </a:r>
            <a:r>
              <a:rPr sz="2350" spc="45" dirty="0"/>
              <a:t>compiler </a:t>
            </a:r>
            <a:r>
              <a:rPr sz="2350" spc="50" dirty="0"/>
              <a:t> </a:t>
            </a:r>
            <a:r>
              <a:rPr sz="2350" spc="25" dirty="0"/>
              <a:t>ignores </a:t>
            </a:r>
            <a:r>
              <a:rPr sz="2350" spc="45" dirty="0"/>
              <a:t>anything </a:t>
            </a:r>
            <a:r>
              <a:rPr sz="2350" spc="125" dirty="0"/>
              <a:t>that written </a:t>
            </a:r>
            <a:r>
              <a:rPr sz="2350" spc="10" dirty="0"/>
              <a:t>inside </a:t>
            </a:r>
            <a:r>
              <a:rPr sz="2350" spc="100" dirty="0"/>
              <a:t>the </a:t>
            </a:r>
            <a:r>
              <a:rPr sz="2350" spc="300" dirty="0"/>
              <a:t>/*…*/, </a:t>
            </a:r>
            <a:r>
              <a:rPr sz="2350" spc="130" dirty="0"/>
              <a:t>but </a:t>
            </a:r>
            <a:r>
              <a:rPr sz="2350" spc="160" dirty="0"/>
              <a:t>it </a:t>
            </a:r>
            <a:r>
              <a:rPr sz="2350" spc="165" dirty="0"/>
              <a:t> </a:t>
            </a:r>
            <a:r>
              <a:rPr sz="2350" spc="40" dirty="0"/>
              <a:t>cannot</a:t>
            </a:r>
            <a:r>
              <a:rPr sz="2350" spc="-85" dirty="0"/>
              <a:t> </a:t>
            </a:r>
            <a:r>
              <a:rPr sz="2350" spc="35" dirty="0"/>
              <a:t>be</a:t>
            </a:r>
            <a:r>
              <a:rPr sz="2350" spc="-85" dirty="0"/>
              <a:t> </a:t>
            </a:r>
            <a:r>
              <a:rPr sz="2350" spc="40" dirty="0"/>
              <a:t>nested</a:t>
            </a:r>
            <a:r>
              <a:rPr sz="2350" spc="-85" dirty="0"/>
              <a:t> </a:t>
            </a:r>
            <a:r>
              <a:rPr sz="2350" spc="120" dirty="0"/>
              <a:t>with</a:t>
            </a:r>
            <a:r>
              <a:rPr sz="2350" spc="-95" dirty="0"/>
              <a:t> </a:t>
            </a:r>
            <a:r>
              <a:rPr sz="2350" spc="100" dirty="0"/>
              <a:t>the</a:t>
            </a:r>
            <a:r>
              <a:rPr sz="2350" spc="-85" dirty="0"/>
              <a:t> </a:t>
            </a:r>
            <a:r>
              <a:rPr sz="2350" spc="60" dirty="0"/>
              <a:t>multi-line</a:t>
            </a:r>
            <a:r>
              <a:rPr sz="2350" spc="-90" dirty="0"/>
              <a:t> </a:t>
            </a:r>
            <a:r>
              <a:rPr sz="2350" spc="20" dirty="0"/>
              <a:t>comments.</a:t>
            </a:r>
            <a:r>
              <a:rPr sz="2350" spc="-90" dirty="0"/>
              <a:t> </a:t>
            </a:r>
            <a:r>
              <a:rPr sz="2350" spc="30" dirty="0"/>
              <a:t>Let's</a:t>
            </a:r>
            <a:r>
              <a:rPr sz="2350" spc="-80" dirty="0"/>
              <a:t> </a:t>
            </a:r>
            <a:r>
              <a:rPr sz="2350" spc="-45" dirty="0"/>
              <a:t>see </a:t>
            </a:r>
            <a:r>
              <a:rPr sz="2350" spc="-40" dirty="0"/>
              <a:t> </a:t>
            </a:r>
            <a:r>
              <a:rPr sz="2350" spc="95" dirty="0"/>
              <a:t>the</a:t>
            </a:r>
            <a:r>
              <a:rPr sz="2350" spc="-90" dirty="0"/>
              <a:t> </a:t>
            </a:r>
            <a:r>
              <a:rPr sz="2350" spc="90" dirty="0"/>
              <a:t>following</a:t>
            </a:r>
            <a:r>
              <a:rPr sz="2350" spc="-80" dirty="0"/>
              <a:t> </a:t>
            </a:r>
            <a:r>
              <a:rPr sz="2350" spc="10" dirty="0"/>
              <a:t>example.</a:t>
            </a:r>
            <a:endParaRPr sz="2350" dirty="0"/>
          </a:p>
          <a:p>
            <a:pPr marL="320675" marR="6152515">
              <a:lnSpc>
                <a:spcPts val="3529"/>
              </a:lnSpc>
              <a:spcBef>
                <a:spcPts val="225"/>
              </a:spcBef>
            </a:pPr>
            <a:r>
              <a:rPr sz="2350" spc="-15" dirty="0"/>
              <a:t>Example </a:t>
            </a:r>
            <a:r>
              <a:rPr sz="2350" spc="-85" dirty="0"/>
              <a:t>- </a:t>
            </a:r>
            <a:r>
              <a:rPr sz="2350" spc="-80" dirty="0"/>
              <a:t> </a:t>
            </a:r>
            <a:r>
              <a:rPr sz="2350" spc="45" dirty="0"/>
              <a:t>void</a:t>
            </a:r>
            <a:r>
              <a:rPr sz="2350" spc="-145" dirty="0"/>
              <a:t> </a:t>
            </a:r>
            <a:r>
              <a:rPr sz="2350" spc="-5" dirty="0"/>
              <a:t>main(){</a:t>
            </a:r>
            <a:endParaRPr sz="2350" dirty="0"/>
          </a:p>
          <a:p>
            <a:pPr marL="594995">
              <a:lnSpc>
                <a:spcPct val="100000"/>
              </a:lnSpc>
              <a:spcBef>
                <a:spcPts val="470"/>
              </a:spcBef>
            </a:pPr>
            <a:r>
              <a:rPr sz="2350" spc="225" dirty="0"/>
              <a:t>/*</a:t>
            </a:r>
            <a:r>
              <a:rPr sz="2350" spc="-95" dirty="0"/>
              <a:t> </a:t>
            </a:r>
            <a:r>
              <a:rPr sz="2350" spc="-50" dirty="0"/>
              <a:t>This</a:t>
            </a:r>
            <a:r>
              <a:rPr sz="2350" spc="-80" dirty="0"/>
              <a:t> </a:t>
            </a:r>
            <a:r>
              <a:rPr sz="2350" spc="-40" dirty="0"/>
              <a:t>is</a:t>
            </a:r>
            <a:r>
              <a:rPr sz="2350" spc="-90" dirty="0"/>
              <a:t> </a:t>
            </a:r>
            <a:r>
              <a:rPr sz="2350" spc="100" dirty="0"/>
              <a:t>the</a:t>
            </a:r>
            <a:r>
              <a:rPr sz="2350" spc="-90" dirty="0"/>
              <a:t> </a:t>
            </a:r>
            <a:r>
              <a:rPr sz="2350" spc="20" dirty="0"/>
              <a:t>example</a:t>
            </a:r>
            <a:r>
              <a:rPr sz="2350" spc="-85" dirty="0"/>
              <a:t> </a:t>
            </a:r>
            <a:r>
              <a:rPr sz="2350" spc="160" dirty="0"/>
              <a:t>of</a:t>
            </a:r>
            <a:r>
              <a:rPr sz="2350" spc="-90" dirty="0"/>
              <a:t> </a:t>
            </a:r>
            <a:r>
              <a:rPr sz="2350" spc="60" dirty="0"/>
              <a:t>multi-line</a:t>
            </a:r>
            <a:r>
              <a:rPr sz="2350" spc="-90" dirty="0"/>
              <a:t> </a:t>
            </a:r>
            <a:r>
              <a:rPr sz="2350" spc="60" dirty="0"/>
              <a:t>comment</a:t>
            </a:r>
            <a:endParaRPr sz="2350" dirty="0"/>
          </a:p>
          <a:p>
            <a:pPr marL="594995" marR="1172845">
              <a:lnSpc>
                <a:spcPts val="3529"/>
              </a:lnSpc>
              <a:spcBef>
                <a:spcPts val="235"/>
              </a:spcBef>
            </a:pPr>
            <a:r>
              <a:rPr sz="2350" spc="-45" dirty="0"/>
              <a:t>This</a:t>
            </a:r>
            <a:r>
              <a:rPr sz="2350" spc="-90" dirty="0"/>
              <a:t> </a:t>
            </a:r>
            <a:r>
              <a:rPr sz="2350" spc="95" dirty="0"/>
              <a:t>will</a:t>
            </a:r>
            <a:r>
              <a:rPr sz="2350" spc="-95" dirty="0"/>
              <a:t> </a:t>
            </a:r>
            <a:r>
              <a:rPr sz="2350" spc="110" dirty="0"/>
              <a:t>print</a:t>
            </a:r>
            <a:r>
              <a:rPr sz="2350" spc="-100" dirty="0"/>
              <a:t> </a:t>
            </a:r>
            <a:r>
              <a:rPr sz="2350" spc="100" dirty="0"/>
              <a:t>the</a:t>
            </a:r>
            <a:r>
              <a:rPr sz="2350" spc="-85" dirty="0"/>
              <a:t> </a:t>
            </a:r>
            <a:r>
              <a:rPr sz="2350" spc="25" dirty="0"/>
              <a:t>given</a:t>
            </a:r>
            <a:r>
              <a:rPr sz="2350" spc="-90" dirty="0"/>
              <a:t> </a:t>
            </a:r>
            <a:r>
              <a:rPr sz="2350" spc="75" dirty="0"/>
              <a:t>statement</a:t>
            </a:r>
            <a:r>
              <a:rPr sz="2350" spc="-95" dirty="0"/>
              <a:t> </a:t>
            </a:r>
            <a:r>
              <a:rPr sz="2350" spc="55" dirty="0"/>
              <a:t>on</a:t>
            </a:r>
            <a:r>
              <a:rPr sz="2350" spc="-80" dirty="0"/>
              <a:t> </a:t>
            </a:r>
            <a:r>
              <a:rPr sz="2350" spc="-15" dirty="0"/>
              <a:t>screen</a:t>
            </a:r>
            <a:r>
              <a:rPr sz="2350" spc="-90" dirty="0"/>
              <a:t> </a:t>
            </a:r>
            <a:r>
              <a:rPr sz="2350" spc="225" dirty="0"/>
              <a:t>*/ </a:t>
            </a:r>
            <a:r>
              <a:rPr sz="2350" spc="-610" dirty="0"/>
              <a:t> </a:t>
            </a:r>
            <a:r>
              <a:rPr sz="2350" spc="50" dirty="0"/>
              <a:t>print("Welcome</a:t>
            </a:r>
            <a:r>
              <a:rPr sz="2350" spc="-85" dirty="0"/>
              <a:t> </a:t>
            </a:r>
            <a:r>
              <a:rPr sz="2350" spc="170" dirty="0"/>
              <a:t>to</a:t>
            </a:r>
            <a:r>
              <a:rPr sz="2350" spc="-80" dirty="0"/>
              <a:t> </a:t>
            </a:r>
            <a:r>
              <a:rPr lang="en-US" sz="2350" spc="-80" dirty="0"/>
              <a:t>Dart</a:t>
            </a:r>
            <a:r>
              <a:rPr sz="2350" spc="10" dirty="0"/>
              <a:t>");</a:t>
            </a:r>
            <a:endParaRPr sz="2350" dirty="0"/>
          </a:p>
          <a:p>
            <a:pPr marL="320675">
              <a:lnSpc>
                <a:spcPct val="100000"/>
              </a:lnSpc>
              <a:spcBef>
                <a:spcPts val="475"/>
              </a:spcBef>
            </a:pPr>
            <a:r>
              <a:rPr sz="2350" spc="-10" dirty="0"/>
              <a:t>}</a:t>
            </a:r>
            <a:endParaRPr sz="2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90" dirty="0"/>
              <a:t>Documentation</a:t>
            </a:r>
            <a:r>
              <a:rPr spc="-160" dirty="0"/>
              <a:t> </a:t>
            </a:r>
            <a:r>
              <a:rPr spc="60" dirty="0"/>
              <a:t>Comment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05775" cy="425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15240" indent="-254635">
              <a:lnSpc>
                <a:spcPct val="100699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266700" algn="l"/>
                <a:tab pos="267335" algn="l"/>
              </a:tabLst>
            </a:pPr>
            <a:r>
              <a:rPr sz="2050" spc="-15" dirty="0">
                <a:latin typeface="Microsoft Sans Serif"/>
                <a:cs typeface="Microsoft Sans Serif"/>
              </a:rPr>
              <a:t>The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60" dirty="0">
                <a:latin typeface="Microsoft Sans Serif"/>
                <a:cs typeface="Microsoft Sans Serif"/>
              </a:rPr>
              <a:t>document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spc="40" dirty="0">
                <a:latin typeface="Microsoft Sans Serif"/>
                <a:cs typeface="Microsoft Sans Serif"/>
              </a:rPr>
              <a:t>comments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20" dirty="0">
                <a:latin typeface="Microsoft Sans Serif"/>
                <a:cs typeface="Microsoft Sans Serif"/>
              </a:rPr>
              <a:t>are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5" dirty="0">
                <a:latin typeface="Microsoft Sans Serif"/>
                <a:cs typeface="Microsoft Sans Serif"/>
              </a:rPr>
              <a:t>used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165" dirty="0">
                <a:latin typeface="Microsoft Sans Serif"/>
                <a:cs typeface="Microsoft Sans Serif"/>
              </a:rPr>
              <a:t>to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50" dirty="0">
                <a:latin typeface="Microsoft Sans Serif"/>
                <a:cs typeface="Microsoft Sans Serif"/>
              </a:rPr>
              <a:t>generate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65" dirty="0">
                <a:latin typeface="Microsoft Sans Serif"/>
                <a:cs typeface="Microsoft Sans Serif"/>
              </a:rPr>
              <a:t>documentation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95" dirty="0">
                <a:latin typeface="Microsoft Sans Serif"/>
                <a:cs typeface="Microsoft Sans Serif"/>
              </a:rPr>
              <a:t>or </a:t>
            </a:r>
            <a:r>
              <a:rPr sz="2050" spc="-530" dirty="0">
                <a:latin typeface="Microsoft Sans Serif"/>
                <a:cs typeface="Microsoft Sans Serif"/>
              </a:rPr>
              <a:t> </a:t>
            </a:r>
            <a:r>
              <a:rPr sz="2050" spc="50" dirty="0">
                <a:latin typeface="Microsoft Sans Serif"/>
                <a:cs typeface="Microsoft Sans Serif"/>
              </a:rPr>
              <a:t>reference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130" dirty="0">
                <a:latin typeface="Microsoft Sans Serif"/>
                <a:cs typeface="Microsoft Sans Serif"/>
              </a:rPr>
              <a:t>for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60" dirty="0">
                <a:latin typeface="Microsoft Sans Serif"/>
                <a:cs typeface="Microsoft Sans Serif"/>
              </a:rPr>
              <a:t>a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80" dirty="0">
                <a:latin typeface="Microsoft Sans Serif"/>
                <a:cs typeface="Microsoft Sans Serif"/>
              </a:rPr>
              <a:t>project/software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package.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114" dirty="0">
                <a:latin typeface="Microsoft Sans Serif"/>
                <a:cs typeface="Microsoft Sans Serif"/>
              </a:rPr>
              <a:t>It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30" dirty="0">
                <a:latin typeface="Microsoft Sans Serif"/>
                <a:cs typeface="Microsoft Sans Serif"/>
              </a:rPr>
              <a:t>can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spc="40" dirty="0">
                <a:latin typeface="Microsoft Sans Serif"/>
                <a:cs typeface="Microsoft Sans Serif"/>
              </a:rPr>
              <a:t>be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spc="-60" dirty="0">
                <a:latin typeface="Microsoft Sans Serif"/>
                <a:cs typeface="Microsoft Sans Serif"/>
              </a:rPr>
              <a:t>a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25" dirty="0">
                <a:latin typeface="Microsoft Sans Serif"/>
                <a:cs typeface="Microsoft Sans Serif"/>
              </a:rPr>
              <a:t>single-line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95" dirty="0">
                <a:latin typeface="Microsoft Sans Serif"/>
                <a:cs typeface="Microsoft Sans Serif"/>
              </a:rPr>
              <a:t>or </a:t>
            </a:r>
            <a:r>
              <a:rPr sz="2050" spc="-530" dirty="0">
                <a:latin typeface="Microsoft Sans Serif"/>
                <a:cs typeface="Microsoft Sans Serif"/>
              </a:rPr>
              <a:t> </a:t>
            </a:r>
            <a:r>
              <a:rPr sz="2050" spc="65" dirty="0">
                <a:latin typeface="Microsoft Sans Serif"/>
                <a:cs typeface="Microsoft Sans Serif"/>
              </a:rPr>
              <a:t>multi-line </a:t>
            </a:r>
            <a:r>
              <a:rPr sz="2050" spc="60" dirty="0">
                <a:latin typeface="Microsoft Sans Serif"/>
                <a:cs typeface="Microsoft Sans Serif"/>
              </a:rPr>
              <a:t>comment </a:t>
            </a:r>
            <a:r>
              <a:rPr sz="2050" spc="120" dirty="0">
                <a:latin typeface="Microsoft Sans Serif"/>
                <a:cs typeface="Microsoft Sans Serif"/>
              </a:rPr>
              <a:t>that </a:t>
            </a:r>
            <a:r>
              <a:rPr sz="2050" spc="55" dirty="0">
                <a:latin typeface="Microsoft Sans Serif"/>
                <a:cs typeface="Microsoft Sans Serif"/>
              </a:rPr>
              <a:t>starts </a:t>
            </a:r>
            <a:r>
              <a:rPr sz="2050" spc="120" dirty="0">
                <a:latin typeface="Microsoft Sans Serif"/>
                <a:cs typeface="Microsoft Sans Serif"/>
              </a:rPr>
              <a:t>with </a:t>
            </a:r>
            <a:r>
              <a:rPr sz="2050" spc="220" dirty="0">
                <a:latin typeface="Microsoft Sans Serif"/>
                <a:cs typeface="Microsoft Sans Serif"/>
              </a:rPr>
              <a:t>/// </a:t>
            </a:r>
            <a:r>
              <a:rPr sz="2050" spc="90" dirty="0">
                <a:latin typeface="Microsoft Sans Serif"/>
                <a:cs typeface="Microsoft Sans Serif"/>
              </a:rPr>
              <a:t>or </a:t>
            </a:r>
            <a:r>
              <a:rPr sz="2050" spc="114" dirty="0">
                <a:latin typeface="Microsoft Sans Serif"/>
                <a:cs typeface="Microsoft Sans Serif"/>
              </a:rPr>
              <a:t>/*. </a:t>
            </a:r>
            <a:r>
              <a:rPr sz="2050" spc="-10" dirty="0">
                <a:latin typeface="Microsoft Sans Serif"/>
                <a:cs typeface="Microsoft Sans Serif"/>
              </a:rPr>
              <a:t>We </a:t>
            </a:r>
            <a:r>
              <a:rPr sz="2050" spc="-30" dirty="0">
                <a:latin typeface="Microsoft Sans Serif"/>
                <a:cs typeface="Microsoft Sans Serif"/>
              </a:rPr>
              <a:t>can </a:t>
            </a:r>
            <a:r>
              <a:rPr sz="2050" spc="-20" dirty="0">
                <a:latin typeface="Microsoft Sans Serif"/>
                <a:cs typeface="Microsoft Sans Serif"/>
              </a:rPr>
              <a:t>use </a:t>
            </a:r>
            <a:r>
              <a:rPr sz="2050" spc="220" dirty="0">
                <a:latin typeface="Microsoft Sans Serif"/>
                <a:cs typeface="Microsoft Sans Serif"/>
              </a:rPr>
              <a:t>/// </a:t>
            </a:r>
            <a:r>
              <a:rPr sz="2050" spc="55" dirty="0">
                <a:latin typeface="Microsoft Sans Serif"/>
                <a:cs typeface="Microsoft Sans Serif"/>
              </a:rPr>
              <a:t>on </a:t>
            </a:r>
            <a:r>
              <a:rPr sz="2050" spc="60" dirty="0">
                <a:latin typeface="Microsoft Sans Serif"/>
                <a:cs typeface="Microsoft Sans Serif"/>
              </a:rPr>
              <a:t> </a:t>
            </a:r>
            <a:r>
              <a:rPr sz="2050" spc="20" dirty="0">
                <a:latin typeface="Microsoft Sans Serif"/>
                <a:cs typeface="Microsoft Sans Serif"/>
              </a:rPr>
              <a:t>consecutive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5" dirty="0">
                <a:latin typeface="Microsoft Sans Serif"/>
                <a:cs typeface="Microsoft Sans Serif"/>
              </a:rPr>
              <a:t>lines,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35" dirty="0">
                <a:latin typeface="Microsoft Sans Serif"/>
                <a:cs typeface="Microsoft Sans Serif"/>
              </a:rPr>
              <a:t>which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25" dirty="0">
                <a:latin typeface="Microsoft Sans Serif"/>
                <a:cs typeface="Microsoft Sans Serif"/>
              </a:rPr>
              <a:t>is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100" dirty="0">
                <a:latin typeface="Microsoft Sans Serif"/>
                <a:cs typeface="Microsoft Sans Serif"/>
              </a:rPr>
              <a:t>the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spc="-25" dirty="0">
                <a:latin typeface="Microsoft Sans Serif"/>
                <a:cs typeface="Microsoft Sans Serif"/>
              </a:rPr>
              <a:t>same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-85" dirty="0">
                <a:latin typeface="Microsoft Sans Serif"/>
                <a:cs typeface="Microsoft Sans Serif"/>
              </a:rPr>
              <a:t>as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100" dirty="0">
                <a:latin typeface="Microsoft Sans Serif"/>
                <a:cs typeface="Microsoft Sans Serif"/>
              </a:rPr>
              <a:t>the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80" dirty="0">
                <a:latin typeface="Microsoft Sans Serif"/>
                <a:cs typeface="Microsoft Sans Serif"/>
              </a:rPr>
              <a:t>multiline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45" dirty="0">
                <a:latin typeface="Microsoft Sans Serif"/>
                <a:cs typeface="Microsoft Sans Serif"/>
              </a:rPr>
              <a:t>comment.</a:t>
            </a:r>
            <a:endParaRPr sz="2050" dirty="0">
              <a:latin typeface="Microsoft Sans Serif"/>
              <a:cs typeface="Microsoft Sans Serif"/>
            </a:endParaRPr>
          </a:p>
          <a:p>
            <a:pPr marL="266700" marR="5080" indent="-254635">
              <a:lnSpc>
                <a:spcPct val="100699"/>
              </a:lnSpc>
              <a:spcBef>
                <a:spcPts val="595"/>
              </a:spcBef>
              <a:buClr>
                <a:srgbClr val="6697CC"/>
              </a:buClr>
              <a:buFont typeface="Arial MT"/>
              <a:buChar char="•"/>
              <a:tabLst>
                <a:tab pos="266700" algn="l"/>
                <a:tab pos="267335" algn="l"/>
              </a:tabLst>
            </a:pPr>
            <a:r>
              <a:rPr sz="2050" spc="-30" dirty="0">
                <a:latin typeface="Microsoft Sans Serif"/>
                <a:cs typeface="Microsoft Sans Serif"/>
              </a:rPr>
              <a:t>These </a:t>
            </a:r>
            <a:r>
              <a:rPr sz="2050" spc="15" dirty="0">
                <a:latin typeface="Microsoft Sans Serif"/>
                <a:cs typeface="Microsoft Sans Serif"/>
              </a:rPr>
              <a:t>lines </a:t>
            </a:r>
            <a:r>
              <a:rPr sz="2050" spc="55" dirty="0">
                <a:latin typeface="Microsoft Sans Serif"/>
                <a:cs typeface="Microsoft Sans Serif"/>
              </a:rPr>
              <a:t>ignore </a:t>
            </a:r>
            <a:r>
              <a:rPr sz="2050" spc="35" dirty="0">
                <a:latin typeface="Microsoft Sans Serif"/>
                <a:cs typeface="Microsoft Sans Serif"/>
              </a:rPr>
              <a:t>by </a:t>
            </a:r>
            <a:r>
              <a:rPr sz="2050" spc="100" dirty="0">
                <a:latin typeface="Microsoft Sans Serif"/>
                <a:cs typeface="Microsoft Sans Serif"/>
              </a:rPr>
              <a:t>the </a:t>
            </a:r>
            <a:r>
              <a:rPr sz="2050" spc="70" dirty="0">
                <a:latin typeface="Microsoft Sans Serif"/>
                <a:cs typeface="Microsoft Sans Serif"/>
              </a:rPr>
              <a:t>Dart </a:t>
            </a:r>
            <a:r>
              <a:rPr sz="2050" spc="50" dirty="0">
                <a:latin typeface="Microsoft Sans Serif"/>
                <a:cs typeface="Microsoft Sans Serif"/>
              </a:rPr>
              <a:t>compiler expect those </a:t>
            </a:r>
            <a:r>
              <a:rPr sz="2050" spc="35" dirty="0">
                <a:latin typeface="Microsoft Sans Serif"/>
                <a:cs typeface="Microsoft Sans Serif"/>
              </a:rPr>
              <a:t>which </a:t>
            </a:r>
            <a:r>
              <a:rPr sz="2050" spc="20" dirty="0">
                <a:latin typeface="Microsoft Sans Serif"/>
                <a:cs typeface="Microsoft Sans Serif"/>
              </a:rPr>
              <a:t>are </a:t>
            </a:r>
            <a:r>
              <a:rPr sz="2050" spc="25" dirty="0">
                <a:latin typeface="Microsoft Sans Serif"/>
                <a:cs typeface="Microsoft Sans Serif"/>
              </a:rPr>
              <a:t> </a:t>
            </a:r>
            <a:r>
              <a:rPr sz="2050" spc="120" dirty="0">
                <a:latin typeface="Microsoft Sans Serif"/>
                <a:cs typeface="Microsoft Sans Serif"/>
              </a:rPr>
              <a:t>written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spc="20" dirty="0">
                <a:latin typeface="Microsoft Sans Serif"/>
                <a:cs typeface="Microsoft Sans Serif"/>
              </a:rPr>
              <a:t>inside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100" dirty="0">
                <a:latin typeface="Microsoft Sans Serif"/>
                <a:cs typeface="Microsoft Sans Serif"/>
              </a:rPr>
              <a:t>the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35" dirty="0">
                <a:latin typeface="Microsoft Sans Serif"/>
                <a:cs typeface="Microsoft Sans Serif"/>
              </a:rPr>
              <a:t>curly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20" dirty="0">
                <a:latin typeface="Microsoft Sans Serif"/>
                <a:cs typeface="Microsoft Sans Serif"/>
              </a:rPr>
              <a:t>brackets.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5" dirty="0">
                <a:latin typeface="Microsoft Sans Serif"/>
                <a:cs typeface="Microsoft Sans Serif"/>
              </a:rPr>
              <a:t>We</a:t>
            </a:r>
            <a:r>
              <a:rPr sz="2050" spc="-60" dirty="0">
                <a:latin typeface="Microsoft Sans Serif"/>
                <a:cs typeface="Microsoft Sans Serif"/>
              </a:rPr>
              <a:t> </a:t>
            </a:r>
            <a:r>
              <a:rPr sz="2050" spc="-30" dirty="0">
                <a:latin typeface="Microsoft Sans Serif"/>
                <a:cs typeface="Microsoft Sans Serif"/>
              </a:rPr>
              <a:t>can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70" dirty="0">
                <a:latin typeface="Microsoft Sans Serif"/>
                <a:cs typeface="Microsoft Sans Serif"/>
              </a:rPr>
              <a:t>define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55" dirty="0">
                <a:latin typeface="Microsoft Sans Serif"/>
                <a:cs typeface="Microsoft Sans Serif"/>
              </a:rPr>
              <a:t>classes,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50" dirty="0">
                <a:latin typeface="Microsoft Sans Serif"/>
                <a:cs typeface="Microsoft Sans Serif"/>
              </a:rPr>
              <a:t>functions, </a:t>
            </a:r>
            <a:r>
              <a:rPr sz="2050" spc="-530" dirty="0">
                <a:latin typeface="Microsoft Sans Serif"/>
                <a:cs typeface="Microsoft Sans Serif"/>
              </a:rPr>
              <a:t> </a:t>
            </a:r>
            <a:r>
              <a:rPr sz="2050" spc="30" dirty="0">
                <a:latin typeface="Microsoft Sans Serif"/>
                <a:cs typeface="Microsoft Sans Serif"/>
              </a:rPr>
              <a:t>parameters,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20" dirty="0">
                <a:latin typeface="Microsoft Sans Serif"/>
                <a:cs typeface="Microsoft Sans Serif"/>
              </a:rPr>
              <a:t>and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5" dirty="0">
                <a:latin typeface="Microsoft Sans Serif"/>
                <a:cs typeface="Microsoft Sans Serif"/>
              </a:rPr>
              <a:t>variables.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spc="5" dirty="0">
                <a:latin typeface="Microsoft Sans Serif"/>
                <a:cs typeface="Microsoft Sans Serif"/>
              </a:rPr>
              <a:t>Consider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100" dirty="0">
                <a:latin typeface="Microsoft Sans Serif"/>
                <a:cs typeface="Microsoft Sans Serif"/>
              </a:rPr>
              <a:t>the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90" dirty="0">
                <a:latin typeface="Microsoft Sans Serif"/>
                <a:cs typeface="Microsoft Sans Serif"/>
              </a:rPr>
              <a:t>following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15" dirty="0">
                <a:latin typeface="Microsoft Sans Serif"/>
                <a:cs typeface="Microsoft Sans Serif"/>
              </a:rPr>
              <a:t>example.</a:t>
            </a:r>
            <a:endParaRPr sz="2050" dirty="0">
              <a:latin typeface="Microsoft Sans Serif"/>
              <a:cs typeface="Microsoft Sans Serif"/>
            </a:endParaRPr>
          </a:p>
          <a:p>
            <a:pPr marL="266700" indent="-254635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Arial MT"/>
              <a:buChar char="•"/>
              <a:tabLst>
                <a:tab pos="266700" algn="l"/>
                <a:tab pos="267335" algn="l"/>
              </a:tabLst>
            </a:pPr>
            <a:r>
              <a:rPr sz="2050" spc="-5" dirty="0">
                <a:latin typeface="Microsoft Sans Serif"/>
                <a:cs typeface="Microsoft Sans Serif"/>
              </a:rPr>
              <a:t>Syntax</a:t>
            </a:r>
            <a:endParaRPr sz="2050" dirty="0">
              <a:latin typeface="Microsoft Sans Serif"/>
              <a:cs typeface="Microsoft Sans Serif"/>
            </a:endParaRPr>
          </a:p>
          <a:p>
            <a:pPr marL="266700">
              <a:lnSpc>
                <a:spcPct val="100000"/>
              </a:lnSpc>
              <a:spcBef>
                <a:spcPts val="610"/>
              </a:spcBef>
            </a:pPr>
            <a:r>
              <a:rPr sz="2050" spc="75" dirty="0">
                <a:latin typeface="Microsoft Sans Serif"/>
                <a:cs typeface="Microsoft Sans Serif"/>
              </a:rPr>
              <a:t>///This</a:t>
            </a:r>
            <a:endParaRPr sz="2050" dirty="0">
              <a:latin typeface="Microsoft Sans Serif"/>
              <a:cs typeface="Microsoft Sans Serif"/>
            </a:endParaRPr>
          </a:p>
          <a:p>
            <a:pPr marL="266700">
              <a:lnSpc>
                <a:spcPct val="100000"/>
              </a:lnSpc>
              <a:spcBef>
                <a:spcPts val="610"/>
              </a:spcBef>
            </a:pPr>
            <a:r>
              <a:rPr sz="2050" spc="120" dirty="0">
                <a:latin typeface="Microsoft Sans Serif"/>
                <a:cs typeface="Microsoft Sans Serif"/>
              </a:rPr>
              <a:t>///is</a:t>
            </a:r>
            <a:endParaRPr sz="2050" dirty="0">
              <a:latin typeface="Microsoft Sans Serif"/>
              <a:cs typeface="Microsoft Sans Serif"/>
            </a:endParaRPr>
          </a:p>
          <a:p>
            <a:pPr marL="266700">
              <a:lnSpc>
                <a:spcPct val="100000"/>
              </a:lnSpc>
              <a:spcBef>
                <a:spcPts val="595"/>
              </a:spcBef>
            </a:pPr>
            <a:r>
              <a:rPr sz="2050" spc="150" dirty="0">
                <a:latin typeface="Microsoft Sans Serif"/>
                <a:cs typeface="Microsoft Sans Serif"/>
              </a:rPr>
              <a:t>///a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spc="30" dirty="0">
                <a:latin typeface="Microsoft Sans Serif"/>
                <a:cs typeface="Microsoft Sans Serif"/>
              </a:rPr>
              <a:t>example</a:t>
            </a:r>
            <a:r>
              <a:rPr sz="2050" spc="-100" dirty="0">
                <a:latin typeface="Microsoft Sans Serif"/>
                <a:cs typeface="Microsoft Sans Serif"/>
              </a:rPr>
              <a:t> </a:t>
            </a:r>
            <a:r>
              <a:rPr sz="2050" spc="150" dirty="0">
                <a:latin typeface="Microsoft Sans Serif"/>
                <a:cs typeface="Microsoft Sans Serif"/>
              </a:rPr>
              <a:t>of</a:t>
            </a:r>
            <a:endParaRPr sz="2050" dirty="0">
              <a:latin typeface="Microsoft Sans Serif"/>
              <a:cs typeface="Microsoft Sans Serif"/>
            </a:endParaRPr>
          </a:p>
          <a:p>
            <a:pPr marL="266700">
              <a:lnSpc>
                <a:spcPct val="100000"/>
              </a:lnSpc>
              <a:spcBef>
                <a:spcPts val="610"/>
              </a:spcBef>
            </a:pPr>
            <a:r>
              <a:rPr sz="2050" spc="220" dirty="0">
                <a:latin typeface="Microsoft Sans Serif"/>
                <a:cs typeface="Microsoft Sans Serif"/>
              </a:rPr>
              <a:t>///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spc="80" dirty="0">
                <a:latin typeface="Microsoft Sans Serif"/>
                <a:cs typeface="Microsoft Sans Serif"/>
              </a:rPr>
              <a:t>multiline</a:t>
            </a:r>
            <a:r>
              <a:rPr sz="2050" spc="-90" dirty="0">
                <a:latin typeface="Microsoft Sans Serif"/>
                <a:cs typeface="Microsoft Sans Serif"/>
              </a:rPr>
              <a:t> </a:t>
            </a:r>
            <a:r>
              <a:rPr sz="2050" spc="60" dirty="0">
                <a:latin typeface="Microsoft Sans Serif"/>
                <a:cs typeface="Microsoft Sans Serif"/>
              </a:rPr>
              <a:t>comment</a:t>
            </a:r>
            <a:endParaRPr sz="2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12011"/>
            <a:ext cx="9139555" cy="5346065"/>
            <a:chOff x="0" y="1512011"/>
            <a:chExt cx="9139555" cy="53460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506" y="2689337"/>
              <a:ext cx="2184196" cy="13195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8002" y="4895634"/>
              <a:ext cx="2063165" cy="11469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1755" y="1512011"/>
              <a:ext cx="7410234" cy="468034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35" dirty="0"/>
              <a:t>Keywords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0" dirty="0"/>
              <a:t>Data</a:t>
            </a:r>
            <a:r>
              <a:rPr spc="-195" dirty="0"/>
              <a:t> </a:t>
            </a:r>
            <a:r>
              <a:rPr spc="-5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15934" cy="4220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20675" marR="250190" indent="-308610">
              <a:lnSpc>
                <a:spcPct val="100299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-1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60" dirty="0">
                <a:latin typeface="Microsoft Sans Serif"/>
                <a:cs typeface="Microsoft Sans Serif"/>
              </a:rPr>
              <a:t>data</a:t>
            </a:r>
            <a:r>
              <a:rPr sz="2500" spc="-70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types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are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90" dirty="0">
                <a:latin typeface="Microsoft Sans Serif"/>
                <a:cs typeface="Microsoft Sans Serif"/>
              </a:rPr>
              <a:t>most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120" dirty="0">
                <a:latin typeface="Microsoft Sans Serif"/>
                <a:cs typeface="Microsoft Sans Serif"/>
              </a:rPr>
              <a:t>important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80" dirty="0">
                <a:latin typeface="Microsoft Sans Serif"/>
                <a:cs typeface="Microsoft Sans Serif"/>
              </a:rPr>
              <a:t>fundamental </a:t>
            </a:r>
            <a:r>
              <a:rPr sz="2500" spc="-650" dirty="0">
                <a:latin typeface="Microsoft Sans Serif"/>
                <a:cs typeface="Microsoft Sans Serif"/>
              </a:rPr>
              <a:t> </a:t>
            </a:r>
            <a:r>
              <a:rPr sz="2500" spc="75" dirty="0">
                <a:latin typeface="Microsoft Sans Serif"/>
                <a:cs typeface="Microsoft Sans Serif"/>
              </a:rPr>
              <a:t>features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185" dirty="0">
                <a:latin typeface="Microsoft Sans Serif"/>
                <a:cs typeface="Microsoft Sans Serif"/>
              </a:rPr>
              <a:t>of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70" dirty="0">
                <a:latin typeface="Microsoft Sans Serif"/>
                <a:cs typeface="Microsoft Sans Serif"/>
              </a:rPr>
              <a:t>programming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0" dirty="0">
                <a:latin typeface="Microsoft Sans Serif"/>
                <a:cs typeface="Microsoft Sans Serif"/>
              </a:rPr>
              <a:t>language.</a:t>
            </a:r>
            <a:endParaRPr sz="2500">
              <a:latin typeface="Microsoft Sans Serif"/>
              <a:cs typeface="Microsoft Sans Serif"/>
            </a:endParaRPr>
          </a:p>
          <a:p>
            <a:pPr marL="320675" marR="180340" indent="-308610">
              <a:lnSpc>
                <a:spcPct val="100299"/>
              </a:lnSpc>
              <a:spcBef>
                <a:spcPts val="73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10" dirty="0">
                <a:latin typeface="Microsoft Sans Serif"/>
                <a:cs typeface="Microsoft Sans Serif"/>
              </a:rPr>
              <a:t>In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Dart,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60" dirty="0">
                <a:latin typeface="Microsoft Sans Serif"/>
                <a:cs typeface="Microsoft Sans Serif"/>
              </a:rPr>
              <a:t>data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05" dirty="0">
                <a:latin typeface="Microsoft Sans Serif"/>
                <a:cs typeface="Microsoft Sans Serif"/>
              </a:rPr>
              <a:t>type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85" dirty="0">
                <a:latin typeface="Microsoft Sans Serif"/>
                <a:cs typeface="Microsoft Sans Serif"/>
              </a:rPr>
              <a:t>of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35" dirty="0">
                <a:latin typeface="Microsoft Sans Serif"/>
                <a:cs typeface="Microsoft Sans Serif"/>
              </a:rPr>
              <a:t>variable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30" dirty="0">
                <a:latin typeface="Microsoft Sans Serif"/>
                <a:cs typeface="Microsoft Sans Serif"/>
              </a:rPr>
              <a:t>is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85" dirty="0">
                <a:latin typeface="Microsoft Sans Serif"/>
                <a:cs typeface="Microsoft Sans Serif"/>
              </a:rPr>
              <a:t>defined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45" dirty="0">
                <a:latin typeface="Microsoft Sans Serif"/>
                <a:cs typeface="Microsoft Sans Serif"/>
              </a:rPr>
              <a:t>by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80" dirty="0">
                <a:latin typeface="Microsoft Sans Serif"/>
                <a:cs typeface="Microsoft Sans Serif"/>
              </a:rPr>
              <a:t>its </a:t>
            </a:r>
            <a:r>
              <a:rPr sz="2500" spc="-650" dirty="0">
                <a:latin typeface="Microsoft Sans Serif"/>
                <a:cs typeface="Microsoft Sans Serif"/>
              </a:rPr>
              <a:t> </a:t>
            </a:r>
            <a:r>
              <a:rPr sz="2500" spc="5" dirty="0">
                <a:latin typeface="Microsoft Sans Serif"/>
                <a:cs typeface="Microsoft Sans Serif"/>
              </a:rPr>
              <a:t>value.</a:t>
            </a:r>
            <a:endParaRPr sz="2500">
              <a:latin typeface="Microsoft Sans Serif"/>
              <a:cs typeface="Microsoft Sans Serif"/>
            </a:endParaRPr>
          </a:p>
          <a:p>
            <a:pPr marL="320675" marR="5080" indent="-308610">
              <a:lnSpc>
                <a:spcPct val="100299"/>
              </a:lnSpc>
              <a:spcBef>
                <a:spcPts val="73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-1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5" dirty="0">
                <a:latin typeface="Microsoft Sans Serif"/>
                <a:cs typeface="Microsoft Sans Serif"/>
              </a:rPr>
              <a:t>variables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are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5" dirty="0">
                <a:latin typeface="Microsoft Sans Serif"/>
                <a:cs typeface="Microsoft Sans Serif"/>
              </a:rPr>
              <a:t>used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200" dirty="0">
                <a:latin typeface="Microsoft Sans Serif"/>
                <a:cs typeface="Microsoft Sans Serif"/>
              </a:rPr>
              <a:t>to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85" dirty="0">
                <a:latin typeface="Microsoft Sans Serif"/>
                <a:cs typeface="Microsoft Sans Serif"/>
              </a:rPr>
              <a:t>store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values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and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reserve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 </a:t>
            </a:r>
            <a:r>
              <a:rPr sz="2500" spc="-645" dirty="0">
                <a:latin typeface="Microsoft Sans Serif"/>
                <a:cs typeface="Microsoft Sans Serif"/>
              </a:rPr>
              <a:t> </a:t>
            </a:r>
            <a:r>
              <a:rPr sz="2500" spc="70" dirty="0">
                <a:latin typeface="Microsoft Sans Serif"/>
                <a:cs typeface="Microsoft Sans Serif"/>
              </a:rPr>
              <a:t>memory</a:t>
            </a:r>
            <a:r>
              <a:rPr sz="2500" spc="-95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location.</a:t>
            </a:r>
            <a:endParaRPr sz="2500">
              <a:latin typeface="Microsoft Sans Serif"/>
              <a:cs typeface="Microsoft Sans Serif"/>
            </a:endParaRPr>
          </a:p>
          <a:p>
            <a:pPr marL="320675" marR="15875" indent="-308610">
              <a:lnSpc>
                <a:spcPct val="100299"/>
              </a:lnSpc>
              <a:spcBef>
                <a:spcPts val="73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-15" dirty="0">
                <a:latin typeface="Microsoft Sans Serif"/>
                <a:cs typeface="Microsoft Sans Serif"/>
              </a:rPr>
              <a:t>The </a:t>
            </a:r>
            <a:r>
              <a:rPr sz="2500" spc="65" dirty="0">
                <a:latin typeface="Microsoft Sans Serif"/>
                <a:cs typeface="Microsoft Sans Serif"/>
              </a:rPr>
              <a:t>data-type </a:t>
            </a:r>
            <a:r>
              <a:rPr sz="2500" spc="20" dirty="0">
                <a:latin typeface="Microsoft Sans Serif"/>
                <a:cs typeface="Microsoft Sans Serif"/>
              </a:rPr>
              <a:t>specifies </a:t>
            </a:r>
            <a:r>
              <a:rPr sz="2500" spc="105" dirty="0">
                <a:latin typeface="Microsoft Sans Serif"/>
                <a:cs typeface="Microsoft Sans Serif"/>
              </a:rPr>
              <a:t>what </a:t>
            </a:r>
            <a:r>
              <a:rPr sz="2500" spc="100" dirty="0">
                <a:latin typeface="Microsoft Sans Serif"/>
                <a:cs typeface="Microsoft Sans Serif"/>
              </a:rPr>
              <a:t>type </a:t>
            </a:r>
            <a:r>
              <a:rPr sz="2500" spc="185" dirty="0">
                <a:latin typeface="Microsoft Sans Serif"/>
                <a:cs typeface="Microsoft Sans Serif"/>
              </a:rPr>
              <a:t>of </a:t>
            </a:r>
            <a:r>
              <a:rPr sz="2500" spc="25" dirty="0">
                <a:latin typeface="Microsoft Sans Serif"/>
                <a:cs typeface="Microsoft Sans Serif"/>
              </a:rPr>
              <a:t>value </a:t>
            </a:r>
            <a:r>
              <a:rPr sz="2500" spc="110" dirty="0">
                <a:latin typeface="Microsoft Sans Serif"/>
                <a:cs typeface="Microsoft Sans Serif"/>
              </a:rPr>
              <a:t>will </a:t>
            </a:r>
            <a:r>
              <a:rPr sz="2500" spc="55" dirty="0">
                <a:latin typeface="Microsoft Sans Serif"/>
                <a:cs typeface="Microsoft Sans Serif"/>
              </a:rPr>
              <a:t>be 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spc="-135" dirty="0">
                <a:latin typeface="Microsoft Sans Serif"/>
                <a:cs typeface="Microsoft Sans Serif"/>
              </a:rPr>
              <a:t>s</a:t>
            </a:r>
            <a:r>
              <a:rPr sz="2500" spc="310" dirty="0">
                <a:latin typeface="Microsoft Sans Serif"/>
                <a:cs typeface="Microsoft Sans Serif"/>
              </a:rPr>
              <a:t>t</a:t>
            </a:r>
            <a:r>
              <a:rPr sz="2500" spc="145" dirty="0">
                <a:latin typeface="Microsoft Sans Serif"/>
                <a:cs typeface="Microsoft Sans Serif"/>
              </a:rPr>
              <a:t>o</a:t>
            </a:r>
            <a:r>
              <a:rPr sz="2500" spc="80" dirty="0">
                <a:latin typeface="Microsoft Sans Serif"/>
                <a:cs typeface="Microsoft Sans Serif"/>
              </a:rPr>
              <a:t>r</a:t>
            </a:r>
            <a:r>
              <a:rPr sz="2500" spc="55" dirty="0">
                <a:latin typeface="Microsoft Sans Serif"/>
                <a:cs typeface="Microsoft Sans Serif"/>
              </a:rPr>
              <a:t>ed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90" dirty="0">
                <a:latin typeface="Microsoft Sans Serif"/>
                <a:cs typeface="Microsoft Sans Serif"/>
              </a:rPr>
              <a:t>b</a:t>
            </a:r>
            <a:r>
              <a:rPr sz="2500" dirty="0">
                <a:latin typeface="Microsoft Sans Serif"/>
                <a:cs typeface="Microsoft Sans Serif"/>
              </a:rPr>
              <a:t>y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300" dirty="0">
                <a:latin typeface="Microsoft Sans Serif"/>
                <a:cs typeface="Microsoft Sans Serif"/>
              </a:rPr>
              <a:t>t</a:t>
            </a:r>
            <a:r>
              <a:rPr sz="2500" spc="30" dirty="0">
                <a:latin typeface="Microsoft Sans Serif"/>
                <a:cs typeface="Microsoft Sans Serif"/>
              </a:rPr>
              <a:t>he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0" dirty="0">
                <a:latin typeface="Microsoft Sans Serif"/>
                <a:cs typeface="Microsoft Sans Serif"/>
              </a:rPr>
              <a:t>v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135" dirty="0">
                <a:latin typeface="Microsoft Sans Serif"/>
                <a:cs typeface="Microsoft Sans Serif"/>
              </a:rPr>
              <a:t>r</a:t>
            </a:r>
            <a:r>
              <a:rPr sz="2500" spc="55" dirty="0">
                <a:latin typeface="Microsoft Sans Serif"/>
                <a:cs typeface="Microsoft Sans Serif"/>
              </a:rPr>
              <a:t>i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90" dirty="0">
                <a:latin typeface="Microsoft Sans Serif"/>
                <a:cs typeface="Microsoft Sans Serif"/>
              </a:rPr>
              <a:t>b</a:t>
            </a:r>
            <a:r>
              <a:rPr sz="2500" spc="35" dirty="0">
                <a:latin typeface="Microsoft Sans Serif"/>
                <a:cs typeface="Microsoft Sans Serif"/>
              </a:rPr>
              <a:t>l</a:t>
            </a:r>
            <a:r>
              <a:rPr sz="2500" spc="85" dirty="0">
                <a:latin typeface="Microsoft Sans Serif"/>
                <a:cs typeface="Microsoft Sans Serif"/>
              </a:rPr>
              <a:t>e</a:t>
            </a:r>
            <a:r>
              <a:rPr sz="2500" spc="-75" dirty="0">
                <a:latin typeface="Microsoft Sans Serif"/>
                <a:cs typeface="Microsoft Sans Serif"/>
              </a:rPr>
              <a:t>.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155" dirty="0">
                <a:latin typeface="Microsoft Sans Serif"/>
                <a:cs typeface="Microsoft Sans Serif"/>
              </a:rPr>
              <a:t>Ea</a:t>
            </a:r>
            <a:r>
              <a:rPr sz="2500" spc="-75" dirty="0">
                <a:latin typeface="Microsoft Sans Serif"/>
                <a:cs typeface="Microsoft Sans Serif"/>
              </a:rPr>
              <a:t>c</a:t>
            </a:r>
            <a:r>
              <a:rPr sz="2500" spc="45" dirty="0">
                <a:latin typeface="Microsoft Sans Serif"/>
                <a:cs typeface="Microsoft Sans Serif"/>
              </a:rPr>
              <a:t>h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0" dirty="0">
                <a:latin typeface="Microsoft Sans Serif"/>
                <a:cs typeface="Microsoft Sans Serif"/>
              </a:rPr>
              <a:t>v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135" dirty="0">
                <a:latin typeface="Microsoft Sans Serif"/>
                <a:cs typeface="Microsoft Sans Serif"/>
              </a:rPr>
              <a:t>r</a:t>
            </a:r>
            <a:r>
              <a:rPr sz="2500" spc="-5" dirty="0">
                <a:latin typeface="Microsoft Sans Serif"/>
                <a:cs typeface="Microsoft Sans Serif"/>
              </a:rPr>
              <a:t>i</a:t>
            </a:r>
            <a:r>
              <a:rPr sz="2500" spc="-15" dirty="0">
                <a:latin typeface="Microsoft Sans Serif"/>
                <a:cs typeface="Microsoft Sans Serif"/>
              </a:rPr>
              <a:t>a</a:t>
            </a:r>
            <a:r>
              <a:rPr sz="2500" spc="90" dirty="0">
                <a:latin typeface="Microsoft Sans Serif"/>
                <a:cs typeface="Microsoft Sans Serif"/>
              </a:rPr>
              <a:t>b</a:t>
            </a:r>
            <a:r>
              <a:rPr sz="2500" spc="65" dirty="0">
                <a:latin typeface="Microsoft Sans Serif"/>
                <a:cs typeface="Microsoft Sans Serif"/>
              </a:rPr>
              <a:t>le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15" dirty="0">
                <a:latin typeface="Microsoft Sans Serif"/>
                <a:cs typeface="Microsoft Sans Serif"/>
              </a:rPr>
              <a:t>ha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70" dirty="0">
                <a:latin typeface="Microsoft Sans Serif"/>
                <a:cs typeface="Microsoft Sans Serif"/>
              </a:rPr>
              <a:t>i</a:t>
            </a:r>
            <a:r>
              <a:rPr sz="2500" spc="204" dirty="0">
                <a:latin typeface="Microsoft Sans Serif"/>
                <a:cs typeface="Microsoft Sans Serif"/>
              </a:rPr>
              <a:t>t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85" dirty="0">
                <a:latin typeface="Microsoft Sans Serif"/>
                <a:cs typeface="Microsoft Sans Serif"/>
              </a:rPr>
              <a:t>d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310" dirty="0">
                <a:latin typeface="Microsoft Sans Serif"/>
                <a:cs typeface="Microsoft Sans Serif"/>
              </a:rPr>
              <a:t>t</a:t>
            </a:r>
            <a:r>
              <a:rPr sz="2500" spc="-75" dirty="0">
                <a:latin typeface="Microsoft Sans Serif"/>
                <a:cs typeface="Microsoft Sans Serif"/>
              </a:rPr>
              <a:t>a-</a:t>
            </a:r>
            <a:r>
              <a:rPr sz="2500" spc="310" dirty="0">
                <a:latin typeface="Microsoft Sans Serif"/>
                <a:cs typeface="Microsoft Sans Serif"/>
              </a:rPr>
              <a:t>t</a:t>
            </a:r>
            <a:r>
              <a:rPr sz="2500" spc="-15" dirty="0">
                <a:latin typeface="Microsoft Sans Serif"/>
                <a:cs typeface="Microsoft Sans Serif"/>
              </a:rPr>
              <a:t>y</a:t>
            </a:r>
            <a:r>
              <a:rPr sz="2500" spc="90" dirty="0">
                <a:latin typeface="Microsoft Sans Serif"/>
                <a:cs typeface="Microsoft Sans Serif"/>
              </a:rPr>
              <a:t>p</a:t>
            </a:r>
            <a:r>
              <a:rPr sz="2500" spc="5" dirty="0">
                <a:latin typeface="Microsoft Sans Serif"/>
                <a:cs typeface="Microsoft Sans Serif"/>
              </a:rPr>
              <a:t>e</a:t>
            </a:r>
            <a:r>
              <a:rPr sz="2500" spc="-75" dirty="0">
                <a:latin typeface="Microsoft Sans Serif"/>
                <a:cs typeface="Microsoft Sans Serif"/>
              </a:rPr>
              <a:t>.</a:t>
            </a:r>
            <a:endParaRPr sz="2500">
              <a:latin typeface="Microsoft Sans Serif"/>
              <a:cs typeface="Microsoft Sans Serif"/>
            </a:endParaRPr>
          </a:p>
          <a:p>
            <a:pPr marL="320675" marR="568325" indent="-308610">
              <a:lnSpc>
                <a:spcPct val="100699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-15" dirty="0">
                <a:latin typeface="Microsoft Sans Serif"/>
                <a:cs typeface="Microsoft Sans Serif"/>
              </a:rPr>
              <a:t>The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90" dirty="0">
                <a:latin typeface="Microsoft Sans Serif"/>
                <a:cs typeface="Microsoft Sans Serif"/>
              </a:rPr>
              <a:t>Dart</a:t>
            </a:r>
            <a:r>
              <a:rPr sz="2500" spc="-95" dirty="0">
                <a:latin typeface="Microsoft Sans Serif"/>
                <a:cs typeface="Microsoft Sans Serif"/>
              </a:rPr>
              <a:t> </a:t>
            </a:r>
            <a:r>
              <a:rPr sz="2500" spc="-30" dirty="0">
                <a:latin typeface="Microsoft Sans Serif"/>
                <a:cs typeface="Microsoft Sans Serif"/>
              </a:rPr>
              <a:t>is</a:t>
            </a:r>
            <a:r>
              <a:rPr sz="2500" spc="-75" dirty="0">
                <a:latin typeface="Microsoft Sans Serif"/>
                <a:cs typeface="Microsoft Sans Serif"/>
              </a:rPr>
              <a:t> a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65" dirty="0">
                <a:latin typeface="Microsoft Sans Serif"/>
                <a:cs typeface="Microsoft Sans Serif"/>
              </a:rPr>
              <a:t>static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100" dirty="0">
                <a:latin typeface="Microsoft Sans Serif"/>
                <a:cs typeface="Microsoft Sans Serif"/>
              </a:rPr>
              <a:t>type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185" dirty="0">
                <a:latin typeface="Microsoft Sans Serif"/>
                <a:cs typeface="Microsoft Sans Serif"/>
              </a:rPr>
              <a:t>of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5" dirty="0">
                <a:latin typeface="Microsoft Sans Serif"/>
                <a:cs typeface="Microsoft Sans Serif"/>
              </a:rPr>
              <a:t>language,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45" dirty="0">
                <a:latin typeface="Microsoft Sans Serif"/>
                <a:cs typeface="Microsoft Sans Serif"/>
              </a:rPr>
              <a:t>which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means </a:t>
            </a:r>
            <a:r>
              <a:rPr sz="2500" spc="-645" dirty="0">
                <a:latin typeface="Microsoft Sans Serif"/>
                <a:cs typeface="Microsoft Sans Serif"/>
              </a:rPr>
              <a:t> </a:t>
            </a:r>
            <a:r>
              <a:rPr sz="2500" spc="150" dirty="0">
                <a:latin typeface="Microsoft Sans Serif"/>
                <a:cs typeface="Microsoft Sans Serif"/>
              </a:rPr>
              <a:t>that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5" dirty="0">
                <a:latin typeface="Microsoft Sans Serif"/>
                <a:cs typeface="Microsoft Sans Serif"/>
              </a:rPr>
              <a:t>variables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60" dirty="0">
                <a:latin typeface="Microsoft Sans Serif"/>
                <a:cs typeface="Microsoft Sans Serif"/>
              </a:rPr>
              <a:t>cannot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75" dirty="0">
                <a:latin typeface="Microsoft Sans Serif"/>
                <a:cs typeface="Microsoft Sans Serif"/>
              </a:rPr>
              <a:t>modify.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0" dirty="0"/>
              <a:t>Data</a:t>
            </a:r>
            <a:r>
              <a:rPr spc="-195" dirty="0"/>
              <a:t> </a:t>
            </a:r>
            <a:r>
              <a:rPr spc="-5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0034"/>
            <a:ext cx="7959725" cy="365612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85" dirty="0">
                <a:latin typeface="Microsoft Sans Serif"/>
                <a:cs typeface="Microsoft Sans Serif"/>
              </a:rPr>
              <a:t>Dart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supports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14" dirty="0">
                <a:latin typeface="Microsoft Sans Serif"/>
                <a:cs typeface="Microsoft Sans Serif"/>
              </a:rPr>
              <a:t>following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built-in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Data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types.</a:t>
            </a:r>
            <a:endParaRPr sz="2800" dirty="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60" dirty="0">
                <a:latin typeface="Microsoft Sans Serif"/>
                <a:cs typeface="Microsoft Sans Serif"/>
              </a:rPr>
              <a:t>Number</a:t>
            </a:r>
            <a:endParaRPr sz="2800" dirty="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15" dirty="0">
                <a:latin typeface="Microsoft Sans Serif"/>
                <a:cs typeface="Microsoft Sans Serif"/>
              </a:rPr>
              <a:t>Strings</a:t>
            </a:r>
            <a:endParaRPr sz="2800" dirty="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25" dirty="0">
                <a:latin typeface="Microsoft Sans Serif"/>
                <a:cs typeface="Microsoft Sans Serif"/>
              </a:rPr>
              <a:t>Boolean</a:t>
            </a:r>
            <a:endParaRPr sz="2800" dirty="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Lists</a:t>
            </a:r>
            <a:endParaRPr sz="2800" dirty="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Maps</a:t>
            </a:r>
            <a:endParaRPr sz="2800" dirty="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-65" dirty="0">
                <a:latin typeface="Microsoft Sans Serif"/>
                <a:cs typeface="Microsoft Sans Serif"/>
              </a:rPr>
              <a:t>Runes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0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516214"/>
            <a:ext cx="8140700" cy="449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marR="198755" indent="-278765">
              <a:lnSpc>
                <a:spcPct val="1008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16230" algn="l"/>
                <a:tab pos="316865" algn="l"/>
              </a:tabLst>
            </a:pPr>
            <a:r>
              <a:rPr sz="2250" spc="-15" dirty="0">
                <a:latin typeface="Microsoft Sans Serif"/>
                <a:cs typeface="Microsoft Sans Serif"/>
              </a:rPr>
              <a:t>The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40" dirty="0">
                <a:latin typeface="Microsoft Sans Serif"/>
                <a:cs typeface="Microsoft Sans Serif"/>
              </a:rPr>
              <a:t>Darts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60" dirty="0">
                <a:latin typeface="Microsoft Sans Serif"/>
                <a:cs typeface="Microsoft Sans Serif"/>
              </a:rPr>
              <a:t>Number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Microsoft Sans Serif"/>
                <a:cs typeface="Microsoft Sans Serif"/>
              </a:rPr>
              <a:t>is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5" dirty="0">
                <a:latin typeface="Microsoft Sans Serif"/>
                <a:cs typeface="Microsoft Sans Serif"/>
              </a:rPr>
              <a:t>used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185" dirty="0">
                <a:latin typeface="Microsoft Sans Serif"/>
                <a:cs typeface="Microsoft Sans Serif"/>
              </a:rPr>
              <a:t>to</a:t>
            </a:r>
            <a:r>
              <a:rPr sz="2250" spc="-60" dirty="0">
                <a:latin typeface="Microsoft Sans Serif"/>
                <a:cs typeface="Microsoft Sans Serif"/>
              </a:rPr>
              <a:t> </a:t>
            </a:r>
            <a:r>
              <a:rPr sz="2250" spc="75" dirty="0">
                <a:latin typeface="Microsoft Sans Serif"/>
                <a:cs typeface="Microsoft Sans Serif"/>
              </a:rPr>
              <a:t>store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110" dirty="0">
                <a:latin typeface="Microsoft Sans Serif"/>
                <a:cs typeface="Microsoft Sans Serif"/>
              </a:rPr>
              <a:t>the</a:t>
            </a:r>
            <a:r>
              <a:rPr sz="2250" spc="-65" dirty="0">
                <a:latin typeface="Microsoft Sans Serif"/>
                <a:cs typeface="Microsoft Sans Serif"/>
              </a:rPr>
              <a:t> </a:t>
            </a:r>
            <a:r>
              <a:rPr sz="2250" spc="40" dirty="0">
                <a:latin typeface="Microsoft Sans Serif"/>
                <a:cs typeface="Microsoft Sans Serif"/>
              </a:rPr>
              <a:t>numeric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values.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-15" dirty="0">
                <a:latin typeface="Microsoft Sans Serif"/>
                <a:cs typeface="Microsoft Sans Serif"/>
              </a:rPr>
              <a:t>The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35" dirty="0">
                <a:latin typeface="Microsoft Sans Serif"/>
                <a:cs typeface="Microsoft Sans Serif"/>
              </a:rPr>
              <a:t>n</a:t>
            </a:r>
            <a:r>
              <a:rPr sz="2250" spc="45" dirty="0">
                <a:latin typeface="Microsoft Sans Serif"/>
                <a:cs typeface="Microsoft Sans Serif"/>
              </a:rPr>
              <a:t>u</a:t>
            </a:r>
            <a:r>
              <a:rPr sz="2250" spc="75" dirty="0">
                <a:latin typeface="Microsoft Sans Serif"/>
                <a:cs typeface="Microsoft Sans Serif"/>
              </a:rPr>
              <a:t>mb</a:t>
            </a:r>
            <a:r>
              <a:rPr sz="2250" spc="20" dirty="0">
                <a:latin typeface="Microsoft Sans Serif"/>
                <a:cs typeface="Microsoft Sans Serif"/>
              </a:rPr>
              <a:t>e</a:t>
            </a:r>
            <a:r>
              <a:rPr sz="2250" spc="125" dirty="0">
                <a:latin typeface="Microsoft Sans Serif"/>
                <a:cs typeface="Microsoft Sans Serif"/>
              </a:rPr>
              <a:t>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70" dirty="0">
                <a:latin typeface="Microsoft Sans Serif"/>
                <a:cs typeface="Microsoft Sans Serif"/>
              </a:rPr>
              <a:t>ca</a:t>
            </a:r>
            <a:r>
              <a:rPr sz="2250" spc="50" dirty="0">
                <a:latin typeface="Microsoft Sans Serif"/>
                <a:cs typeface="Microsoft Sans Serif"/>
              </a:rPr>
              <a:t>n</a:t>
            </a:r>
            <a:r>
              <a:rPr sz="2250" spc="-85" dirty="0">
                <a:latin typeface="Microsoft Sans Serif"/>
                <a:cs typeface="Microsoft Sans Serif"/>
              </a:rPr>
              <a:t> </a:t>
            </a:r>
            <a:r>
              <a:rPr sz="2250" spc="75" dirty="0">
                <a:latin typeface="Microsoft Sans Serif"/>
                <a:cs typeface="Microsoft Sans Serif"/>
              </a:rPr>
              <a:t>b</a:t>
            </a:r>
            <a:r>
              <a:rPr sz="2250" spc="15" dirty="0">
                <a:latin typeface="Microsoft Sans Serif"/>
                <a:cs typeface="Microsoft Sans Serif"/>
              </a:rPr>
              <a:t>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280" dirty="0">
                <a:latin typeface="Microsoft Sans Serif"/>
                <a:cs typeface="Microsoft Sans Serif"/>
              </a:rPr>
              <a:t>t</a:t>
            </a:r>
            <a:r>
              <a:rPr sz="2250" spc="135" dirty="0">
                <a:latin typeface="Microsoft Sans Serif"/>
                <a:cs typeface="Microsoft Sans Serif"/>
              </a:rPr>
              <a:t>w</a:t>
            </a:r>
            <a:r>
              <a:rPr sz="2250" spc="85" dirty="0">
                <a:latin typeface="Microsoft Sans Serif"/>
                <a:cs typeface="Microsoft Sans Serif"/>
              </a:rPr>
              <a:t>o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280" dirty="0">
                <a:latin typeface="Microsoft Sans Serif"/>
                <a:cs typeface="Microsoft Sans Serif"/>
              </a:rPr>
              <a:t>t</a:t>
            </a:r>
            <a:r>
              <a:rPr sz="2250" spc="40" dirty="0">
                <a:latin typeface="Microsoft Sans Serif"/>
                <a:cs typeface="Microsoft Sans Serif"/>
              </a:rPr>
              <a:t>y</a:t>
            </a:r>
            <a:r>
              <a:rPr sz="2250" spc="35" dirty="0">
                <a:latin typeface="Microsoft Sans Serif"/>
                <a:cs typeface="Microsoft Sans Serif"/>
              </a:rPr>
              <a:t>p</a:t>
            </a:r>
            <a:r>
              <a:rPr sz="2250" spc="-50" dirty="0">
                <a:latin typeface="Microsoft Sans Serif"/>
                <a:cs typeface="Microsoft Sans Serif"/>
              </a:rPr>
              <a:t>es</a:t>
            </a:r>
            <a:r>
              <a:rPr sz="2250" spc="-75" dirty="0">
                <a:latin typeface="Microsoft Sans Serif"/>
                <a:cs typeface="Microsoft Sans Serif"/>
              </a:rPr>
              <a:t> - </a:t>
            </a:r>
            <a:r>
              <a:rPr sz="2250" spc="60" dirty="0">
                <a:latin typeface="Microsoft Sans Serif"/>
                <a:cs typeface="Microsoft Sans Serif"/>
              </a:rPr>
              <a:t>i</a:t>
            </a:r>
            <a:r>
              <a:rPr sz="2250" spc="35" dirty="0">
                <a:latin typeface="Microsoft Sans Serif"/>
                <a:cs typeface="Microsoft Sans Serif"/>
              </a:rPr>
              <a:t>n</a:t>
            </a:r>
            <a:r>
              <a:rPr sz="2250" spc="285" dirty="0">
                <a:latin typeface="Microsoft Sans Serif"/>
                <a:cs typeface="Microsoft Sans Serif"/>
              </a:rPr>
              <a:t>t</a:t>
            </a:r>
            <a:r>
              <a:rPr sz="2250" spc="35" dirty="0">
                <a:latin typeface="Microsoft Sans Serif"/>
                <a:cs typeface="Microsoft Sans Serif"/>
              </a:rPr>
              <a:t>e</a:t>
            </a:r>
            <a:r>
              <a:rPr sz="2250" spc="30" dirty="0">
                <a:latin typeface="Microsoft Sans Serif"/>
                <a:cs typeface="Microsoft Sans Serif"/>
              </a:rPr>
              <a:t>g</a:t>
            </a:r>
            <a:r>
              <a:rPr sz="2250" spc="70" dirty="0">
                <a:latin typeface="Microsoft Sans Serif"/>
                <a:cs typeface="Microsoft Sans Serif"/>
              </a:rPr>
              <a:t>er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70" dirty="0">
                <a:latin typeface="Microsoft Sans Serif"/>
                <a:cs typeface="Microsoft Sans Serif"/>
              </a:rPr>
              <a:t>a</a:t>
            </a:r>
            <a:r>
              <a:rPr sz="2250" spc="45" dirty="0">
                <a:latin typeface="Microsoft Sans Serif"/>
                <a:cs typeface="Microsoft Sans Serif"/>
              </a:rPr>
              <a:t>n</a:t>
            </a:r>
            <a:r>
              <a:rPr sz="2250" spc="85" dirty="0">
                <a:latin typeface="Microsoft Sans Serif"/>
                <a:cs typeface="Microsoft Sans Serif"/>
              </a:rPr>
              <a:t>d</a:t>
            </a:r>
            <a:r>
              <a:rPr sz="2250" spc="-85" dirty="0">
                <a:latin typeface="Microsoft Sans Serif"/>
                <a:cs typeface="Microsoft Sans Serif"/>
              </a:rPr>
              <a:t> </a:t>
            </a:r>
            <a:r>
              <a:rPr sz="2250" spc="75" dirty="0">
                <a:latin typeface="Microsoft Sans Serif"/>
                <a:cs typeface="Microsoft Sans Serif"/>
              </a:rPr>
              <a:t>do</a:t>
            </a:r>
            <a:r>
              <a:rPr sz="2250" spc="70" dirty="0">
                <a:latin typeface="Microsoft Sans Serif"/>
                <a:cs typeface="Microsoft Sans Serif"/>
              </a:rPr>
              <a:t>u</a:t>
            </a:r>
            <a:r>
              <a:rPr sz="2250" spc="75" dirty="0">
                <a:latin typeface="Microsoft Sans Serif"/>
                <a:cs typeface="Microsoft Sans Serif"/>
              </a:rPr>
              <a:t>b</a:t>
            </a:r>
            <a:r>
              <a:rPr sz="2250" spc="15" dirty="0">
                <a:latin typeface="Microsoft Sans Serif"/>
                <a:cs typeface="Microsoft Sans Serif"/>
              </a:rPr>
              <a:t>le.</a:t>
            </a:r>
            <a:endParaRPr sz="2250">
              <a:latin typeface="Microsoft Sans Serif"/>
              <a:cs typeface="Microsoft Sans Serif"/>
            </a:endParaRPr>
          </a:p>
          <a:p>
            <a:pPr marL="316230" marR="228600" indent="-278765">
              <a:lnSpc>
                <a:spcPct val="100499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•"/>
              <a:tabLst>
                <a:tab pos="316230" algn="l"/>
                <a:tab pos="316865" algn="l"/>
              </a:tabLst>
            </a:pPr>
            <a:r>
              <a:rPr sz="2250" spc="10" dirty="0">
                <a:latin typeface="Microsoft Sans Serif"/>
                <a:cs typeface="Microsoft Sans Serif"/>
              </a:rPr>
              <a:t>In</a:t>
            </a:r>
            <a:r>
              <a:rPr sz="2250" spc="285" dirty="0">
                <a:latin typeface="Microsoft Sans Serif"/>
                <a:cs typeface="Microsoft Sans Serif"/>
              </a:rPr>
              <a:t>t</a:t>
            </a:r>
            <a:r>
              <a:rPr sz="2250" spc="35" dirty="0">
                <a:latin typeface="Microsoft Sans Serif"/>
                <a:cs typeface="Microsoft Sans Serif"/>
              </a:rPr>
              <a:t>e</a:t>
            </a:r>
            <a:r>
              <a:rPr sz="2250" spc="30" dirty="0">
                <a:latin typeface="Microsoft Sans Serif"/>
                <a:cs typeface="Microsoft Sans Serif"/>
              </a:rPr>
              <a:t>g</a:t>
            </a:r>
            <a:r>
              <a:rPr sz="2250" spc="70" dirty="0">
                <a:latin typeface="Microsoft Sans Serif"/>
                <a:cs typeface="Microsoft Sans Serif"/>
              </a:rPr>
              <a:t>er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75" dirty="0">
                <a:latin typeface="Microsoft Sans Serif"/>
                <a:cs typeface="Microsoft Sans Serif"/>
              </a:rPr>
              <a:t>- </a:t>
            </a:r>
            <a:r>
              <a:rPr sz="2250" spc="-10" dirty="0">
                <a:latin typeface="Microsoft Sans Serif"/>
                <a:cs typeface="Microsoft Sans Serif"/>
              </a:rPr>
              <a:t>I</a:t>
            </a:r>
            <a:r>
              <a:rPr sz="2250" spc="35" dirty="0">
                <a:latin typeface="Microsoft Sans Serif"/>
                <a:cs typeface="Microsoft Sans Serif"/>
              </a:rPr>
              <a:t>n</a:t>
            </a:r>
            <a:r>
              <a:rPr sz="2250" spc="280" dirty="0">
                <a:latin typeface="Microsoft Sans Serif"/>
                <a:cs typeface="Microsoft Sans Serif"/>
              </a:rPr>
              <a:t>t</a:t>
            </a:r>
            <a:r>
              <a:rPr sz="2250" spc="20" dirty="0">
                <a:latin typeface="Microsoft Sans Serif"/>
                <a:cs typeface="Microsoft Sans Serif"/>
              </a:rPr>
              <a:t>e</a:t>
            </a:r>
            <a:r>
              <a:rPr sz="2250" spc="45" dirty="0">
                <a:latin typeface="Microsoft Sans Serif"/>
                <a:cs typeface="Microsoft Sans Serif"/>
              </a:rPr>
              <a:t>g</a:t>
            </a:r>
            <a:r>
              <a:rPr sz="2250" spc="70" dirty="0">
                <a:latin typeface="Microsoft Sans Serif"/>
                <a:cs typeface="Microsoft Sans Serif"/>
              </a:rPr>
              <a:t>er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Microsoft Sans Serif"/>
                <a:cs typeface="Microsoft Sans Serif"/>
              </a:rPr>
              <a:t>va</a:t>
            </a:r>
            <a:r>
              <a:rPr sz="2250" spc="45" dirty="0">
                <a:latin typeface="Microsoft Sans Serif"/>
                <a:cs typeface="Microsoft Sans Serif"/>
              </a:rPr>
              <a:t>l</a:t>
            </a:r>
            <a:r>
              <a:rPr sz="2250" spc="105" dirty="0">
                <a:latin typeface="Microsoft Sans Serif"/>
                <a:cs typeface="Microsoft Sans Serif"/>
              </a:rPr>
              <a:t>u</a:t>
            </a:r>
            <a:r>
              <a:rPr sz="2250" spc="-50" dirty="0">
                <a:latin typeface="Microsoft Sans Serif"/>
                <a:cs typeface="Microsoft Sans Serif"/>
              </a:rPr>
              <a:t>es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114" dirty="0">
                <a:latin typeface="Microsoft Sans Serif"/>
                <a:cs typeface="Microsoft Sans Serif"/>
              </a:rPr>
              <a:t>r</a:t>
            </a:r>
            <a:r>
              <a:rPr sz="2250" spc="85" dirty="0">
                <a:latin typeface="Microsoft Sans Serif"/>
                <a:cs typeface="Microsoft Sans Serif"/>
              </a:rPr>
              <a:t>ep</a:t>
            </a:r>
            <a:r>
              <a:rPr sz="2250" spc="40" dirty="0">
                <a:latin typeface="Microsoft Sans Serif"/>
                <a:cs typeface="Microsoft Sans Serif"/>
              </a:rPr>
              <a:t>r</a:t>
            </a:r>
            <a:r>
              <a:rPr sz="2250" spc="-50" dirty="0">
                <a:latin typeface="Microsoft Sans Serif"/>
                <a:cs typeface="Microsoft Sans Serif"/>
              </a:rPr>
              <a:t>es</a:t>
            </a:r>
            <a:r>
              <a:rPr sz="2250" spc="35" dirty="0">
                <a:latin typeface="Microsoft Sans Serif"/>
                <a:cs typeface="Microsoft Sans Serif"/>
              </a:rPr>
              <a:t>e</a:t>
            </a:r>
            <a:r>
              <a:rPr sz="2250" spc="30" dirty="0">
                <a:latin typeface="Microsoft Sans Serif"/>
                <a:cs typeface="Microsoft Sans Serif"/>
              </a:rPr>
              <a:t>n</a:t>
            </a:r>
            <a:r>
              <a:rPr sz="2250" spc="285" dirty="0">
                <a:latin typeface="Microsoft Sans Serif"/>
                <a:cs typeface="Microsoft Sans Serif"/>
              </a:rPr>
              <a:t>t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280" dirty="0">
                <a:latin typeface="Microsoft Sans Serif"/>
                <a:cs typeface="Microsoft Sans Serif"/>
              </a:rPr>
              <a:t>t</a:t>
            </a:r>
            <a:r>
              <a:rPr sz="2250" spc="45" dirty="0">
                <a:latin typeface="Microsoft Sans Serif"/>
                <a:cs typeface="Microsoft Sans Serif"/>
              </a:rPr>
              <a:t>h</a:t>
            </a:r>
            <a:r>
              <a:rPr sz="2250" spc="15" dirty="0">
                <a:latin typeface="Microsoft Sans Serif"/>
                <a:cs typeface="Microsoft Sans Serif"/>
              </a:rPr>
              <a:t>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130" dirty="0">
                <a:latin typeface="Microsoft Sans Serif"/>
                <a:cs typeface="Microsoft Sans Serif"/>
              </a:rPr>
              <a:t>w</a:t>
            </a:r>
            <a:r>
              <a:rPr sz="2250" spc="45" dirty="0">
                <a:latin typeface="Microsoft Sans Serif"/>
                <a:cs typeface="Microsoft Sans Serif"/>
              </a:rPr>
              <a:t>h</a:t>
            </a:r>
            <a:r>
              <a:rPr sz="2250" spc="135" dirty="0">
                <a:latin typeface="Microsoft Sans Serif"/>
                <a:cs typeface="Microsoft Sans Serif"/>
              </a:rPr>
              <a:t>o</a:t>
            </a:r>
            <a:r>
              <a:rPr sz="2250" spc="60" dirty="0">
                <a:latin typeface="Microsoft Sans Serif"/>
                <a:cs typeface="Microsoft Sans Serif"/>
              </a:rPr>
              <a:t>l</a:t>
            </a:r>
            <a:r>
              <a:rPr sz="2250" spc="15" dirty="0">
                <a:latin typeface="Microsoft Sans Serif"/>
                <a:cs typeface="Microsoft Sans Serif"/>
              </a:rPr>
              <a:t>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35" dirty="0">
                <a:latin typeface="Microsoft Sans Serif"/>
                <a:cs typeface="Microsoft Sans Serif"/>
              </a:rPr>
              <a:t>n</a:t>
            </a:r>
            <a:r>
              <a:rPr sz="2250" spc="45" dirty="0">
                <a:latin typeface="Microsoft Sans Serif"/>
                <a:cs typeface="Microsoft Sans Serif"/>
              </a:rPr>
              <a:t>u</a:t>
            </a:r>
            <a:r>
              <a:rPr sz="2250" spc="75" dirty="0">
                <a:latin typeface="Microsoft Sans Serif"/>
                <a:cs typeface="Microsoft Sans Serif"/>
              </a:rPr>
              <a:t>mber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90" dirty="0">
                <a:latin typeface="Microsoft Sans Serif"/>
                <a:cs typeface="Microsoft Sans Serif"/>
              </a:rPr>
              <a:t>o</a:t>
            </a:r>
            <a:r>
              <a:rPr sz="2250" spc="110" dirty="0">
                <a:latin typeface="Microsoft Sans Serif"/>
                <a:cs typeface="Microsoft Sans Serif"/>
              </a:rPr>
              <a:t>r  </a:t>
            </a:r>
            <a:r>
              <a:rPr sz="2250" spc="60" dirty="0">
                <a:latin typeface="Microsoft Sans Serif"/>
                <a:cs typeface="Microsoft Sans Serif"/>
              </a:rPr>
              <a:t>non-fractional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values.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25" dirty="0">
                <a:latin typeface="Microsoft Sans Serif"/>
                <a:cs typeface="Microsoft Sans Serif"/>
              </a:rPr>
              <a:t>An</a:t>
            </a:r>
            <a:r>
              <a:rPr sz="2250" spc="-90" dirty="0">
                <a:latin typeface="Microsoft Sans Serif"/>
                <a:cs typeface="Microsoft Sans Serif"/>
              </a:rPr>
              <a:t> </a:t>
            </a:r>
            <a:r>
              <a:rPr sz="2250" spc="85" dirty="0">
                <a:latin typeface="Microsoft Sans Serif"/>
                <a:cs typeface="Microsoft Sans Serif"/>
              </a:rPr>
              <a:t>integer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55" dirty="0">
                <a:latin typeface="Microsoft Sans Serif"/>
                <a:cs typeface="Microsoft Sans Serif"/>
              </a:rPr>
              <a:t>data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95" dirty="0">
                <a:latin typeface="Microsoft Sans Serif"/>
                <a:cs typeface="Microsoft Sans Serif"/>
              </a:rPr>
              <a:t>type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45" dirty="0">
                <a:latin typeface="Microsoft Sans Serif"/>
                <a:cs typeface="Microsoft Sans Serif"/>
              </a:rPr>
              <a:t>represents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110" dirty="0">
                <a:latin typeface="Microsoft Sans Serif"/>
                <a:cs typeface="Microsoft Sans Serif"/>
              </a:rPr>
              <a:t>the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65" dirty="0">
                <a:latin typeface="Microsoft Sans Serif"/>
                <a:cs typeface="Microsoft Sans Serif"/>
              </a:rPr>
              <a:t>64-bit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25" dirty="0">
                <a:latin typeface="Microsoft Sans Serif"/>
                <a:cs typeface="Microsoft Sans Serif"/>
              </a:rPr>
              <a:t>non-decimal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35" dirty="0">
                <a:latin typeface="Microsoft Sans Serif"/>
                <a:cs typeface="Microsoft Sans Serif"/>
              </a:rPr>
              <a:t>numbers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85" dirty="0">
                <a:latin typeface="Microsoft Sans Serif"/>
                <a:cs typeface="Microsoft Sans Serif"/>
              </a:rPr>
              <a:t>between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5" dirty="0">
                <a:latin typeface="Microsoft Sans Serif"/>
                <a:cs typeface="Microsoft Sans Serif"/>
              </a:rPr>
              <a:t>-2</a:t>
            </a:r>
            <a:r>
              <a:rPr sz="1950" spc="7" baseline="19230" dirty="0">
                <a:latin typeface="Microsoft Sans Serif"/>
                <a:cs typeface="Microsoft Sans Serif"/>
              </a:rPr>
              <a:t>63</a:t>
            </a:r>
            <a:r>
              <a:rPr sz="1950" spc="254" baseline="19230" dirty="0">
                <a:latin typeface="Microsoft Sans Serif"/>
                <a:cs typeface="Microsoft Sans Serif"/>
              </a:rPr>
              <a:t> </a:t>
            </a:r>
            <a:r>
              <a:rPr sz="2250" spc="185" dirty="0">
                <a:latin typeface="Microsoft Sans Serif"/>
                <a:cs typeface="Microsoft Sans Serif"/>
              </a:rPr>
              <a:t>to</a:t>
            </a:r>
            <a:r>
              <a:rPr sz="2250" spc="-6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2</a:t>
            </a:r>
            <a:r>
              <a:rPr sz="1950" spc="-7" baseline="19230" dirty="0">
                <a:latin typeface="Microsoft Sans Serif"/>
                <a:cs typeface="Microsoft Sans Serif"/>
              </a:rPr>
              <a:t>63</a:t>
            </a:r>
            <a:r>
              <a:rPr sz="2250" spc="-5" dirty="0">
                <a:latin typeface="Microsoft Sans Serif"/>
                <a:cs typeface="Microsoft Sans Serif"/>
              </a:rPr>
              <a:t>.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30" dirty="0">
                <a:latin typeface="Microsoft Sans Serif"/>
                <a:cs typeface="Microsoft Sans Serif"/>
              </a:rPr>
              <a:t>variable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Microsoft Sans Serif"/>
                <a:cs typeface="Microsoft Sans Serif"/>
              </a:rPr>
              <a:t>can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75" dirty="0">
                <a:latin typeface="Microsoft Sans Serif"/>
                <a:cs typeface="Microsoft Sans Serif"/>
              </a:rPr>
              <a:t>store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an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25" dirty="0">
                <a:latin typeface="Microsoft Sans Serif"/>
                <a:cs typeface="Microsoft Sans Serif"/>
              </a:rPr>
              <a:t>unsigned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105" dirty="0">
                <a:latin typeface="Microsoft Sans Serif"/>
                <a:cs typeface="Microsoft Sans Serif"/>
              </a:rPr>
              <a:t>or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20" dirty="0">
                <a:latin typeface="Microsoft Sans Serif"/>
                <a:cs typeface="Microsoft Sans Serif"/>
              </a:rPr>
              <a:t>signed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85" dirty="0">
                <a:latin typeface="Microsoft Sans Serif"/>
                <a:cs typeface="Microsoft Sans Serif"/>
              </a:rPr>
              <a:t>integer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5" dirty="0">
                <a:latin typeface="Microsoft Sans Serif"/>
                <a:cs typeface="Microsoft Sans Serif"/>
              </a:rPr>
              <a:t>value.</a:t>
            </a:r>
            <a:r>
              <a:rPr sz="2250" spc="-80" dirty="0">
                <a:latin typeface="Microsoft Sans Serif"/>
                <a:cs typeface="Microsoft Sans Serif"/>
              </a:rPr>
              <a:t> Ex.</a:t>
            </a:r>
            <a:endParaRPr sz="2250">
              <a:latin typeface="Microsoft Sans Serif"/>
              <a:cs typeface="Microsoft Sans Serif"/>
            </a:endParaRPr>
          </a:p>
          <a:p>
            <a:pPr marL="316230">
              <a:lnSpc>
                <a:spcPct val="100000"/>
              </a:lnSpc>
              <a:spcBef>
                <a:spcPts val="650"/>
              </a:spcBef>
            </a:pPr>
            <a:r>
              <a:rPr sz="2250" spc="130" dirty="0">
                <a:latin typeface="Microsoft Sans Serif"/>
                <a:cs typeface="Microsoft Sans Serif"/>
              </a:rPr>
              <a:t>int</a:t>
            </a:r>
            <a:r>
              <a:rPr sz="2250" spc="-95" dirty="0">
                <a:latin typeface="Microsoft Sans Serif"/>
                <a:cs typeface="Microsoft Sans Serif"/>
              </a:rPr>
              <a:t> </a:t>
            </a:r>
            <a:r>
              <a:rPr sz="2250" spc="15" dirty="0">
                <a:latin typeface="Microsoft Sans Serif"/>
                <a:cs typeface="Microsoft Sans Serif"/>
              </a:rPr>
              <a:t>marks</a:t>
            </a:r>
            <a:r>
              <a:rPr sz="2250" spc="-100" dirty="0">
                <a:latin typeface="Microsoft Sans Serif"/>
                <a:cs typeface="Microsoft Sans Serif"/>
              </a:rPr>
              <a:t> </a:t>
            </a:r>
            <a:r>
              <a:rPr sz="2250" spc="-35" dirty="0">
                <a:latin typeface="Microsoft Sans Serif"/>
                <a:cs typeface="Microsoft Sans Serif"/>
              </a:rPr>
              <a:t>=</a:t>
            </a:r>
            <a:r>
              <a:rPr sz="2250" spc="-95" dirty="0">
                <a:latin typeface="Microsoft Sans Serif"/>
                <a:cs typeface="Microsoft Sans Serif"/>
              </a:rPr>
              <a:t> </a:t>
            </a:r>
            <a:r>
              <a:rPr sz="2250" spc="-5" dirty="0">
                <a:latin typeface="Microsoft Sans Serif"/>
                <a:cs typeface="Microsoft Sans Serif"/>
              </a:rPr>
              <a:t>80;</a:t>
            </a:r>
            <a:endParaRPr sz="2250">
              <a:latin typeface="Microsoft Sans Serif"/>
              <a:cs typeface="Microsoft Sans Serif"/>
            </a:endParaRPr>
          </a:p>
          <a:p>
            <a:pPr marL="316230" marR="30480" indent="-278765">
              <a:lnSpc>
                <a:spcPct val="100499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•"/>
              <a:tabLst>
                <a:tab pos="316230" algn="l"/>
                <a:tab pos="316865" algn="l"/>
              </a:tabLst>
            </a:pPr>
            <a:r>
              <a:rPr sz="2250" spc="55" dirty="0">
                <a:latin typeface="Microsoft Sans Serif"/>
                <a:cs typeface="Microsoft Sans Serif"/>
              </a:rPr>
              <a:t>Double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-75" dirty="0">
                <a:latin typeface="Microsoft Sans Serif"/>
                <a:cs typeface="Microsoft Sans Serif"/>
              </a:rPr>
              <a:t>-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55" dirty="0">
                <a:latin typeface="Microsoft Sans Serif"/>
                <a:cs typeface="Microsoft Sans Serif"/>
              </a:rPr>
              <a:t>Double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20" dirty="0">
                <a:latin typeface="Microsoft Sans Serif"/>
                <a:cs typeface="Microsoft Sans Serif"/>
              </a:rPr>
              <a:t>value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45" dirty="0">
                <a:latin typeface="Microsoft Sans Serif"/>
                <a:cs typeface="Microsoft Sans Serif"/>
              </a:rPr>
              <a:t>represents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114" dirty="0">
                <a:latin typeface="Microsoft Sans Serif"/>
                <a:cs typeface="Microsoft Sans Serif"/>
              </a:rPr>
              <a:t>the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65" dirty="0">
                <a:latin typeface="Microsoft Sans Serif"/>
                <a:cs typeface="Microsoft Sans Serif"/>
              </a:rPr>
              <a:t>64-bit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165" dirty="0">
                <a:latin typeface="Microsoft Sans Serif"/>
                <a:cs typeface="Microsoft Sans Serif"/>
              </a:rPr>
              <a:t>of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95" dirty="0">
                <a:latin typeface="Microsoft Sans Serif"/>
                <a:cs typeface="Microsoft Sans Serif"/>
              </a:rPr>
              <a:t>information </a:t>
            </a:r>
            <a:r>
              <a:rPr sz="2250" spc="100" dirty="0">
                <a:latin typeface="Microsoft Sans Serif"/>
                <a:cs typeface="Microsoft Sans Serif"/>
              </a:rPr>
              <a:t> </a:t>
            </a:r>
            <a:r>
              <a:rPr sz="2250" spc="30" dirty="0">
                <a:latin typeface="Microsoft Sans Serif"/>
                <a:cs typeface="Microsoft Sans Serif"/>
              </a:rPr>
              <a:t>(double-precision) </a:t>
            </a:r>
            <a:r>
              <a:rPr sz="2250" spc="150" dirty="0">
                <a:latin typeface="Microsoft Sans Serif"/>
                <a:cs typeface="Microsoft Sans Serif"/>
              </a:rPr>
              <a:t>for </a:t>
            </a:r>
            <a:r>
              <a:rPr sz="2250" spc="100" dirty="0">
                <a:latin typeface="Microsoft Sans Serif"/>
                <a:cs typeface="Microsoft Sans Serif"/>
              </a:rPr>
              <a:t>floating </a:t>
            </a:r>
            <a:r>
              <a:rPr sz="2250" spc="65" dirty="0">
                <a:latin typeface="Microsoft Sans Serif"/>
                <a:cs typeface="Microsoft Sans Serif"/>
              </a:rPr>
              <a:t>number </a:t>
            </a:r>
            <a:r>
              <a:rPr sz="2250" spc="105" dirty="0">
                <a:latin typeface="Microsoft Sans Serif"/>
                <a:cs typeface="Microsoft Sans Serif"/>
              </a:rPr>
              <a:t>or </a:t>
            </a:r>
            <a:r>
              <a:rPr sz="2250" spc="60" dirty="0">
                <a:latin typeface="Microsoft Sans Serif"/>
                <a:cs typeface="Microsoft Sans Serif"/>
              </a:rPr>
              <a:t>number </a:t>
            </a:r>
            <a:r>
              <a:rPr sz="2250" spc="130" dirty="0">
                <a:latin typeface="Microsoft Sans Serif"/>
                <a:cs typeface="Microsoft Sans Serif"/>
              </a:rPr>
              <a:t>with </a:t>
            </a:r>
            <a:r>
              <a:rPr sz="2250" spc="114" dirty="0">
                <a:latin typeface="Microsoft Sans Serif"/>
                <a:cs typeface="Microsoft Sans Serif"/>
              </a:rPr>
              <a:t>the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45" dirty="0">
                <a:latin typeface="Microsoft Sans Serif"/>
                <a:cs typeface="Microsoft Sans Serif"/>
              </a:rPr>
              <a:t>large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25" dirty="0">
                <a:latin typeface="Microsoft Sans Serif"/>
                <a:cs typeface="Microsoft Sans Serif"/>
              </a:rPr>
              <a:t>decimal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50" dirty="0">
                <a:latin typeface="Microsoft Sans Serif"/>
                <a:cs typeface="Microsoft Sans Serif"/>
              </a:rPr>
              <a:t>points.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-15" dirty="0">
                <a:latin typeface="Microsoft Sans Serif"/>
                <a:cs typeface="Microsoft Sans Serif"/>
              </a:rPr>
              <a:t>The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65" dirty="0">
                <a:latin typeface="Microsoft Sans Serif"/>
                <a:cs typeface="Microsoft Sans Serif"/>
              </a:rPr>
              <a:t>double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70" dirty="0">
                <a:latin typeface="Microsoft Sans Serif"/>
                <a:cs typeface="Microsoft Sans Serif"/>
              </a:rPr>
              <a:t>keyword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Microsoft Sans Serif"/>
                <a:cs typeface="Microsoft Sans Serif"/>
              </a:rPr>
              <a:t>is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5" dirty="0">
                <a:latin typeface="Microsoft Sans Serif"/>
                <a:cs typeface="Microsoft Sans Serif"/>
              </a:rPr>
              <a:t>used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185" dirty="0">
                <a:latin typeface="Microsoft Sans Serif"/>
                <a:cs typeface="Microsoft Sans Serif"/>
              </a:rPr>
              <a:t>to</a:t>
            </a:r>
            <a:r>
              <a:rPr sz="2250" spc="-65" dirty="0">
                <a:latin typeface="Microsoft Sans Serif"/>
                <a:cs typeface="Microsoft Sans Serif"/>
              </a:rPr>
              <a:t> </a:t>
            </a:r>
            <a:r>
              <a:rPr sz="2250" spc="30" dirty="0">
                <a:latin typeface="Microsoft Sans Serif"/>
                <a:cs typeface="Microsoft Sans Serif"/>
              </a:rPr>
              <a:t>declare </a:t>
            </a:r>
            <a:r>
              <a:rPr sz="2250" spc="-585" dirty="0">
                <a:latin typeface="Microsoft Sans Serif"/>
                <a:cs typeface="Microsoft Sans Serif"/>
              </a:rPr>
              <a:t> </a:t>
            </a:r>
            <a:r>
              <a:rPr sz="2250" spc="110" dirty="0">
                <a:latin typeface="Microsoft Sans Serif"/>
                <a:cs typeface="Microsoft Sans Serif"/>
              </a:rPr>
              <a:t>the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70" dirty="0">
                <a:latin typeface="Microsoft Sans Serif"/>
                <a:cs typeface="Microsoft Sans Serif"/>
              </a:rPr>
              <a:t>double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95" dirty="0">
                <a:latin typeface="Microsoft Sans Serif"/>
                <a:cs typeface="Microsoft Sans Serif"/>
              </a:rPr>
              <a:t>type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20" dirty="0">
                <a:latin typeface="Microsoft Sans Serif"/>
                <a:cs typeface="Microsoft Sans Serif"/>
              </a:rPr>
              <a:t>variable.</a:t>
            </a:r>
            <a:endParaRPr sz="2250">
              <a:latin typeface="Microsoft Sans Serif"/>
              <a:cs typeface="Microsoft Sans Serif"/>
            </a:endParaRPr>
          </a:p>
          <a:p>
            <a:pPr marL="316230">
              <a:lnSpc>
                <a:spcPct val="100000"/>
              </a:lnSpc>
              <a:spcBef>
                <a:spcPts val="660"/>
              </a:spcBef>
            </a:pPr>
            <a:r>
              <a:rPr sz="2250" spc="65" dirty="0">
                <a:latin typeface="Microsoft Sans Serif"/>
                <a:cs typeface="Microsoft Sans Serif"/>
              </a:rPr>
              <a:t>double</a:t>
            </a:r>
            <a:r>
              <a:rPr sz="2250" spc="-85" dirty="0">
                <a:latin typeface="Microsoft Sans Serif"/>
                <a:cs typeface="Microsoft Sans Serif"/>
              </a:rPr>
              <a:t> </a:t>
            </a:r>
            <a:r>
              <a:rPr sz="2250" spc="70" dirty="0">
                <a:latin typeface="Microsoft Sans Serif"/>
                <a:cs typeface="Microsoft Sans Serif"/>
              </a:rPr>
              <a:t>pi</a:t>
            </a:r>
            <a:r>
              <a:rPr sz="2250" spc="-95" dirty="0">
                <a:latin typeface="Microsoft Sans Serif"/>
                <a:cs typeface="Microsoft Sans Serif"/>
              </a:rPr>
              <a:t> </a:t>
            </a:r>
            <a:r>
              <a:rPr sz="2250" spc="-35" dirty="0">
                <a:latin typeface="Microsoft Sans Serif"/>
                <a:cs typeface="Microsoft Sans Serif"/>
              </a:rPr>
              <a:t>=</a:t>
            </a:r>
            <a:r>
              <a:rPr sz="2250" spc="-9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3.14;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2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809230" cy="3737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Microsoft Sans Serif"/>
                <a:cs typeface="Microsoft Sans Serif"/>
              </a:rPr>
              <a:t>A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string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sequence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9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character.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35" dirty="0">
                <a:latin typeface="Microsoft Sans Serif"/>
                <a:cs typeface="Microsoft Sans Serif"/>
              </a:rPr>
              <a:t>If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we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store </a:t>
            </a:r>
            <a:r>
              <a:rPr sz="2800" spc="125" dirty="0">
                <a:latin typeface="Microsoft Sans Serif"/>
                <a:cs typeface="Microsoft Sans Serif"/>
              </a:rPr>
              <a:t>the </a:t>
            </a:r>
            <a:r>
              <a:rPr sz="2800" spc="55" dirty="0">
                <a:latin typeface="Microsoft Sans Serif"/>
                <a:cs typeface="Microsoft Sans Serif"/>
              </a:rPr>
              <a:t>data </a:t>
            </a:r>
            <a:r>
              <a:rPr sz="2800" spc="65" dirty="0">
                <a:latin typeface="Microsoft Sans Serif"/>
                <a:cs typeface="Microsoft Sans Serif"/>
              </a:rPr>
              <a:t>like </a:t>
            </a:r>
            <a:r>
              <a:rPr sz="2800" spc="-100" dirty="0">
                <a:latin typeface="Microsoft Sans Serif"/>
                <a:cs typeface="Microsoft Sans Serif"/>
              </a:rPr>
              <a:t>- </a:t>
            </a:r>
            <a:r>
              <a:rPr sz="2800" spc="-15" dirty="0">
                <a:latin typeface="Microsoft Sans Serif"/>
                <a:cs typeface="Microsoft Sans Serif"/>
              </a:rPr>
              <a:t>name, </a:t>
            </a:r>
            <a:r>
              <a:rPr sz="2800" spc="-25" dirty="0">
                <a:latin typeface="Microsoft Sans Serif"/>
                <a:cs typeface="Microsoft Sans Serif"/>
              </a:rPr>
              <a:t>address, </a:t>
            </a:r>
            <a:r>
              <a:rPr sz="2800" spc="-15" dirty="0">
                <a:latin typeface="Microsoft Sans Serif"/>
                <a:cs typeface="Microsoft Sans Serif"/>
              </a:rPr>
              <a:t>special 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character,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etc.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248920" indent="-343535" algn="just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r>
              <a:rPr sz="2800" spc="160" dirty="0">
                <a:latin typeface="Microsoft Sans Serif"/>
                <a:cs typeface="Microsoft Sans Serif"/>
              </a:rPr>
              <a:t>It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signified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by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using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either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single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quotes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14" dirty="0">
                <a:latin typeface="Microsoft Sans Serif"/>
                <a:cs typeface="Microsoft Sans Serif"/>
              </a:rPr>
              <a:t>or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d</a:t>
            </a:r>
            <a:r>
              <a:rPr sz="2800" spc="85" dirty="0">
                <a:latin typeface="Microsoft Sans Serif"/>
                <a:cs typeface="Microsoft Sans Serif"/>
              </a:rPr>
              <a:t>o</a:t>
            </a:r>
            <a:r>
              <a:rPr sz="2800" spc="40" dirty="0">
                <a:latin typeface="Microsoft Sans Serif"/>
                <a:cs typeface="Microsoft Sans Serif"/>
              </a:rPr>
              <a:t>u</a:t>
            </a:r>
            <a:r>
              <a:rPr sz="2800" spc="105" dirty="0">
                <a:latin typeface="Microsoft Sans Serif"/>
                <a:cs typeface="Microsoft Sans Serif"/>
              </a:rPr>
              <a:t>bl</a:t>
            </a:r>
            <a:r>
              <a:rPr sz="2800" spc="5" dirty="0">
                <a:latin typeface="Microsoft Sans Serif"/>
                <a:cs typeface="Microsoft Sans Serif"/>
              </a:rPr>
              <a:t>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qu</a:t>
            </a:r>
            <a:r>
              <a:rPr sz="2800" spc="60" dirty="0">
                <a:latin typeface="Microsoft Sans Serif"/>
                <a:cs typeface="Microsoft Sans Serif"/>
              </a:rPr>
              <a:t>o</a:t>
            </a:r>
            <a:r>
              <a:rPr sz="2800" spc="345" dirty="0">
                <a:latin typeface="Microsoft Sans Serif"/>
                <a:cs typeface="Microsoft Sans Serif"/>
              </a:rPr>
              <a:t>t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-125" dirty="0">
                <a:latin typeface="Microsoft Sans Serif"/>
                <a:cs typeface="Microsoft Sans Serif"/>
              </a:rPr>
              <a:t>s.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5" dirty="0">
                <a:latin typeface="Microsoft Sans Serif"/>
                <a:cs typeface="Microsoft Sans Serif"/>
              </a:rPr>
              <a:t>A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70" dirty="0">
                <a:latin typeface="Microsoft Sans Serif"/>
                <a:cs typeface="Microsoft Sans Serif"/>
              </a:rPr>
              <a:t>D</a:t>
            </a:r>
            <a:r>
              <a:rPr sz="2800" spc="-60" dirty="0">
                <a:latin typeface="Microsoft Sans Serif"/>
                <a:cs typeface="Microsoft Sans Serif"/>
              </a:rPr>
              <a:t>a</a:t>
            </a:r>
            <a:r>
              <a:rPr sz="2800" spc="245" dirty="0">
                <a:latin typeface="Microsoft Sans Serif"/>
                <a:cs typeface="Microsoft Sans Serif"/>
              </a:rPr>
              <a:t>rt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65" dirty="0">
                <a:latin typeface="Microsoft Sans Serif"/>
                <a:cs typeface="Microsoft Sans Serif"/>
              </a:rPr>
              <a:t>s</a:t>
            </a:r>
            <a:r>
              <a:rPr sz="2800" spc="345" dirty="0">
                <a:latin typeface="Microsoft Sans Serif"/>
                <a:cs typeface="Microsoft Sans Serif"/>
              </a:rPr>
              <a:t>t</a:t>
            </a:r>
            <a:r>
              <a:rPr sz="2800" spc="80" dirty="0">
                <a:latin typeface="Microsoft Sans Serif"/>
                <a:cs typeface="Microsoft Sans Serif"/>
              </a:rPr>
              <a:t>ring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</a:t>
            </a:r>
            <a:r>
              <a:rPr sz="2800" spc="-155" dirty="0">
                <a:latin typeface="Microsoft Sans Serif"/>
                <a:cs typeface="Microsoft Sans Serif"/>
              </a:rPr>
              <a:t>s</a:t>
            </a:r>
            <a:r>
              <a:rPr sz="2800" spc="-100" dirty="0">
                <a:latin typeface="Microsoft Sans Serif"/>
                <a:cs typeface="Microsoft Sans Serif"/>
              </a:rPr>
              <a:t> a </a:t>
            </a:r>
            <a:r>
              <a:rPr sz="2800" spc="-70" dirty="0">
                <a:latin typeface="Microsoft Sans Serif"/>
                <a:cs typeface="Microsoft Sans Serif"/>
              </a:rPr>
              <a:t>s</a:t>
            </a:r>
            <a:r>
              <a:rPr sz="2800" spc="-90" dirty="0">
                <a:latin typeface="Microsoft Sans Serif"/>
                <a:cs typeface="Microsoft Sans Serif"/>
              </a:rPr>
              <a:t>e</a:t>
            </a:r>
            <a:r>
              <a:rPr sz="2800" spc="70" dirty="0">
                <a:latin typeface="Microsoft Sans Serif"/>
                <a:cs typeface="Microsoft Sans Serif"/>
              </a:rPr>
              <a:t>q</a:t>
            </a:r>
            <a:r>
              <a:rPr sz="2800" spc="60" dirty="0">
                <a:latin typeface="Microsoft Sans Serif"/>
                <a:cs typeface="Microsoft Sans Serif"/>
              </a:rPr>
              <a:t>u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-30" dirty="0">
                <a:latin typeface="Microsoft Sans Serif"/>
                <a:cs typeface="Microsoft Sans Serif"/>
              </a:rPr>
              <a:t>nc</a:t>
            </a:r>
            <a:r>
              <a:rPr sz="2800" spc="5" dirty="0">
                <a:latin typeface="Microsoft Sans Serif"/>
                <a:cs typeface="Microsoft Sans Serif"/>
              </a:rPr>
              <a:t>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</a:t>
            </a:r>
            <a:r>
              <a:rPr sz="2800" spc="290" dirty="0">
                <a:latin typeface="Microsoft Sans Serif"/>
                <a:cs typeface="Microsoft Sans Serif"/>
              </a:rPr>
              <a:t>f  </a:t>
            </a:r>
            <a:r>
              <a:rPr sz="2800" spc="-110" dirty="0">
                <a:latin typeface="Microsoft Sans Serif"/>
                <a:cs typeface="Microsoft Sans Serif"/>
              </a:rPr>
              <a:t>U</a:t>
            </a:r>
            <a:r>
              <a:rPr sz="2800" spc="-135" dirty="0">
                <a:latin typeface="Microsoft Sans Serif"/>
                <a:cs typeface="Microsoft Sans Serif"/>
              </a:rPr>
              <a:t>T</a:t>
            </a:r>
            <a:r>
              <a:rPr sz="2800" spc="-215" dirty="0">
                <a:latin typeface="Microsoft Sans Serif"/>
                <a:cs typeface="Microsoft Sans Serif"/>
              </a:rPr>
              <a:t>F</a:t>
            </a:r>
            <a:r>
              <a:rPr sz="2800" spc="-30" dirty="0">
                <a:latin typeface="Microsoft Sans Serif"/>
                <a:cs typeface="Microsoft Sans Serif"/>
              </a:rPr>
              <a:t>-</a:t>
            </a:r>
            <a:r>
              <a:rPr sz="2800" spc="-60" dirty="0">
                <a:latin typeface="Microsoft Sans Serif"/>
                <a:cs typeface="Microsoft Sans Serif"/>
              </a:rPr>
              <a:t>1</a:t>
            </a:r>
            <a:r>
              <a:rPr sz="2800" spc="20" dirty="0">
                <a:latin typeface="Microsoft Sans Serif"/>
                <a:cs typeface="Microsoft Sans Serif"/>
              </a:rPr>
              <a:t>6</a:t>
            </a:r>
            <a:r>
              <a:rPr sz="2800" spc="-105" dirty="0">
                <a:latin typeface="Microsoft Sans Serif"/>
                <a:cs typeface="Microsoft Sans Serif"/>
              </a:rPr>
              <a:t> c</a:t>
            </a:r>
            <a:r>
              <a:rPr sz="2800" spc="85" dirty="0">
                <a:latin typeface="Microsoft Sans Serif"/>
                <a:cs typeface="Microsoft Sans Serif"/>
              </a:rPr>
              <a:t>o</a:t>
            </a:r>
            <a:r>
              <a:rPr sz="2800" spc="80" dirty="0">
                <a:latin typeface="Microsoft Sans Serif"/>
                <a:cs typeface="Microsoft Sans Serif"/>
              </a:rPr>
              <a:t>d</a:t>
            </a:r>
            <a:r>
              <a:rPr sz="2800" spc="5" dirty="0">
                <a:latin typeface="Microsoft Sans Serif"/>
                <a:cs typeface="Microsoft Sans Serif"/>
              </a:rPr>
              <a:t>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u</a:t>
            </a:r>
            <a:r>
              <a:rPr sz="2800" spc="40" dirty="0">
                <a:latin typeface="Microsoft Sans Serif"/>
                <a:cs typeface="Microsoft Sans Serif"/>
              </a:rPr>
              <a:t>n</a:t>
            </a:r>
            <a:r>
              <a:rPr sz="2800" spc="204" dirty="0">
                <a:latin typeface="Microsoft Sans Serif"/>
                <a:cs typeface="Microsoft Sans Serif"/>
              </a:rPr>
              <a:t>it</a:t>
            </a:r>
            <a:r>
              <a:rPr sz="2800" spc="-125" dirty="0">
                <a:latin typeface="Microsoft Sans Serif"/>
                <a:cs typeface="Microsoft Sans Serif"/>
              </a:rPr>
              <a:t>s.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2576195">
              <a:lnSpc>
                <a:spcPts val="4150"/>
              </a:lnSpc>
              <a:spcBef>
                <a:spcPts val="90"/>
              </a:spcBef>
            </a:pPr>
            <a:r>
              <a:rPr sz="2800" spc="15" dirty="0">
                <a:latin typeface="Microsoft Sans Serif"/>
                <a:cs typeface="Microsoft Sans Serif"/>
              </a:rPr>
              <a:t>var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msg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"Welcome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215" dirty="0">
                <a:latin typeface="Microsoft Sans Serif"/>
                <a:cs typeface="Microsoft Sans Serif"/>
              </a:rPr>
              <a:t>to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lang="en-US" sz="2800" spc="-15" dirty="0">
                <a:latin typeface="Microsoft Sans Serif"/>
                <a:cs typeface="Microsoft Sans Serif"/>
              </a:rPr>
              <a:t>Dart</a:t>
            </a:r>
            <a:r>
              <a:rPr sz="2800" spc="-15" dirty="0">
                <a:latin typeface="Microsoft Sans Serif"/>
                <a:cs typeface="Microsoft Sans Serif"/>
              </a:rPr>
              <a:t>";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95" dirty="0">
                <a:latin typeface="Microsoft Sans Serif"/>
                <a:cs typeface="Microsoft Sans Serif"/>
              </a:rPr>
              <a:t>print("</a:t>
            </a:r>
            <a:r>
              <a:rPr lang="en-US" sz="2800" spc="-95" dirty="0" err="1">
                <a:latin typeface="Microsoft Sans Serif"/>
                <a:cs typeface="Microsoft Sans Serif"/>
              </a:rPr>
              <a:t>বাংলাদেশ</a:t>
            </a:r>
            <a:r>
              <a:rPr sz="2800" spc="-95" dirty="0">
                <a:latin typeface="Microsoft Sans Serif"/>
                <a:cs typeface="Microsoft Sans Serif"/>
              </a:rPr>
              <a:t>");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35" dirty="0"/>
              <a:t>Boolean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94980" cy="288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55295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Boolean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type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represents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95" dirty="0">
                <a:latin typeface="Microsoft Sans Serif"/>
                <a:cs typeface="Microsoft Sans Serif"/>
              </a:rPr>
              <a:t>two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5" dirty="0">
                <a:latin typeface="Microsoft Sans Serif"/>
                <a:cs typeface="Microsoft Sans Serif"/>
              </a:rPr>
              <a:t>values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-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135" dirty="0">
                <a:latin typeface="Microsoft Sans Serif"/>
                <a:cs typeface="Microsoft Sans Serif"/>
              </a:rPr>
              <a:t>true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and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false.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bool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keyword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65" dirty="0">
                <a:latin typeface="Microsoft Sans Serif"/>
                <a:cs typeface="Microsoft Sans Serif"/>
              </a:rPr>
              <a:t>uses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220" dirty="0">
                <a:latin typeface="Microsoft Sans Serif"/>
                <a:cs typeface="Microsoft Sans Serif"/>
              </a:rPr>
              <a:t>to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denote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Boolean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Type.</a:t>
            </a:r>
            <a:endParaRPr sz="2800">
              <a:latin typeface="Microsoft Sans Serif"/>
              <a:cs typeface="Microsoft Sans Serif"/>
            </a:endParaRPr>
          </a:p>
          <a:p>
            <a:pPr marL="355600" marR="429259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numeric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5" dirty="0">
                <a:latin typeface="Microsoft Sans Serif"/>
                <a:cs typeface="Microsoft Sans Serif"/>
              </a:rPr>
              <a:t>values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1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and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0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cannot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be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used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215" dirty="0">
                <a:latin typeface="Microsoft Sans Serif"/>
                <a:cs typeface="Microsoft Sans Serif"/>
              </a:rPr>
              <a:t>to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represent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35" dirty="0">
                <a:latin typeface="Microsoft Sans Serif"/>
                <a:cs typeface="Microsoft Sans Serif"/>
              </a:rPr>
              <a:t>true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10" dirty="0">
                <a:latin typeface="Microsoft Sans Serif"/>
                <a:cs typeface="Microsoft Sans Serif"/>
              </a:rPr>
              <a:t>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false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value.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90" dirty="0">
                <a:latin typeface="Microsoft Sans Serif"/>
                <a:cs typeface="Microsoft Sans Serif"/>
              </a:rPr>
              <a:t>bool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isValid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true;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5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683500" cy="426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447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35" dirty="0">
                <a:latin typeface="Microsoft Sans Serif"/>
                <a:cs typeface="Microsoft Sans Serif"/>
              </a:rPr>
              <a:t>T</a:t>
            </a:r>
            <a:r>
              <a:rPr sz="2800" spc="20" dirty="0">
                <a:latin typeface="Microsoft Sans Serif"/>
                <a:cs typeface="Microsoft Sans Serif"/>
              </a:rPr>
              <a:t>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l</a:t>
            </a:r>
            <a:r>
              <a:rPr sz="2800" spc="55" dirty="0">
                <a:latin typeface="Microsoft Sans Serif"/>
                <a:cs typeface="Microsoft Sans Serif"/>
              </a:rPr>
              <a:t>i</a:t>
            </a:r>
            <a:r>
              <a:rPr sz="2800" spc="95" dirty="0">
                <a:latin typeface="Microsoft Sans Serif"/>
                <a:cs typeface="Microsoft Sans Serif"/>
              </a:rPr>
              <a:t>st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</a:t>
            </a:r>
            <a:r>
              <a:rPr sz="2800" spc="-155" dirty="0">
                <a:latin typeface="Microsoft Sans Serif"/>
                <a:cs typeface="Microsoft Sans Serif"/>
              </a:rPr>
              <a:t>s</a:t>
            </a:r>
            <a:r>
              <a:rPr sz="2800" spc="-100" dirty="0">
                <a:latin typeface="Microsoft Sans Serif"/>
                <a:cs typeface="Microsoft Sans Serif"/>
              </a:rPr>
              <a:t> a </a:t>
            </a:r>
            <a:r>
              <a:rPr sz="2800" spc="-105" dirty="0">
                <a:latin typeface="Microsoft Sans Serif"/>
                <a:cs typeface="Microsoft Sans Serif"/>
              </a:rPr>
              <a:t>c</a:t>
            </a:r>
            <a:r>
              <a:rPr sz="2800" spc="75" dirty="0">
                <a:latin typeface="Microsoft Sans Serif"/>
                <a:cs typeface="Microsoft Sans Serif"/>
              </a:rPr>
              <a:t>o</a:t>
            </a:r>
            <a:r>
              <a:rPr sz="2800" spc="125" dirty="0">
                <a:latin typeface="Microsoft Sans Serif"/>
                <a:cs typeface="Microsoft Sans Serif"/>
              </a:rPr>
              <a:t>ll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-105" dirty="0">
                <a:latin typeface="Microsoft Sans Serif"/>
                <a:cs typeface="Microsoft Sans Serif"/>
              </a:rPr>
              <a:t>c</a:t>
            </a:r>
            <a:r>
              <a:rPr sz="2800" spc="335" dirty="0">
                <a:latin typeface="Microsoft Sans Serif"/>
                <a:cs typeface="Microsoft Sans Serif"/>
              </a:rPr>
              <a:t>t</a:t>
            </a:r>
            <a:r>
              <a:rPr sz="2800" spc="45" dirty="0">
                <a:latin typeface="Microsoft Sans Serif"/>
                <a:cs typeface="Microsoft Sans Serif"/>
              </a:rPr>
              <a:t>i</a:t>
            </a:r>
            <a:r>
              <a:rPr sz="2800" spc="100" dirty="0">
                <a:latin typeface="Microsoft Sans Serif"/>
                <a:cs typeface="Microsoft Sans Serif"/>
              </a:rPr>
              <a:t>o</a:t>
            </a:r>
            <a:r>
              <a:rPr sz="2800" spc="50" dirty="0">
                <a:latin typeface="Microsoft Sans Serif"/>
                <a:cs typeface="Microsoft Sans Serif"/>
              </a:rPr>
              <a:t>n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</a:t>
            </a:r>
            <a:r>
              <a:rPr sz="2800" spc="300" dirty="0">
                <a:latin typeface="Microsoft Sans Serif"/>
                <a:cs typeface="Microsoft Sans Serif"/>
              </a:rPr>
              <a:t>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45" dirty="0">
                <a:latin typeface="Microsoft Sans Serif"/>
                <a:cs typeface="Microsoft Sans Serif"/>
              </a:rPr>
              <a:t>t</a:t>
            </a:r>
            <a:r>
              <a:rPr sz="2800" spc="20" dirty="0">
                <a:latin typeface="Microsoft Sans Serif"/>
                <a:cs typeface="Microsoft Sans Serif"/>
              </a:rPr>
              <a:t>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</a:t>
            </a:r>
            <a:r>
              <a:rPr sz="2800" spc="90" dirty="0">
                <a:latin typeface="Microsoft Sans Serif"/>
                <a:cs typeface="Microsoft Sans Serif"/>
              </a:rPr>
              <a:t>r</a:t>
            </a:r>
            <a:r>
              <a:rPr sz="2800" spc="140" dirty="0">
                <a:latin typeface="Microsoft Sans Serif"/>
                <a:cs typeface="Microsoft Sans Serif"/>
              </a:rPr>
              <a:t>d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55" dirty="0">
                <a:latin typeface="Microsoft Sans Serif"/>
                <a:cs typeface="Microsoft Sans Serif"/>
              </a:rPr>
              <a:t>r</a:t>
            </a:r>
            <a:r>
              <a:rPr sz="2800" spc="85" dirty="0">
                <a:latin typeface="Microsoft Sans Serif"/>
                <a:cs typeface="Microsoft Sans Serif"/>
              </a:rPr>
              <a:t>e</a:t>
            </a:r>
            <a:r>
              <a:rPr sz="2800" spc="90" dirty="0">
                <a:latin typeface="Microsoft Sans Serif"/>
                <a:cs typeface="Microsoft Sans Serif"/>
              </a:rPr>
              <a:t>d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</a:t>
            </a:r>
            <a:r>
              <a:rPr sz="2800" spc="80" dirty="0">
                <a:latin typeface="Microsoft Sans Serif"/>
                <a:cs typeface="Microsoft Sans Serif"/>
              </a:rPr>
              <a:t>b</a:t>
            </a:r>
            <a:r>
              <a:rPr sz="2800" spc="20" dirty="0">
                <a:latin typeface="Microsoft Sans Serif"/>
                <a:cs typeface="Microsoft Sans Serif"/>
              </a:rPr>
              <a:t>j</a:t>
            </a:r>
            <a:r>
              <a:rPr sz="2800" spc="45" dirty="0">
                <a:latin typeface="Microsoft Sans Serif"/>
                <a:cs typeface="Microsoft Sans Serif"/>
              </a:rPr>
              <a:t>e</a:t>
            </a:r>
            <a:r>
              <a:rPr sz="2800" spc="-105" dirty="0">
                <a:latin typeface="Microsoft Sans Serif"/>
                <a:cs typeface="Microsoft Sans Serif"/>
              </a:rPr>
              <a:t>c</a:t>
            </a:r>
            <a:r>
              <a:rPr lang="en-US" sz="2800" spc="335" dirty="0">
                <a:latin typeface="Microsoft Sans Serif"/>
                <a:cs typeface="Microsoft Sans Serif"/>
              </a:rPr>
              <a:t>t</a:t>
            </a:r>
            <a:r>
              <a:rPr sz="2800" spc="-105" dirty="0">
                <a:latin typeface="Microsoft Sans Serif"/>
                <a:cs typeface="Microsoft Sans Serif"/>
              </a:rPr>
              <a:t>s  </a:t>
            </a:r>
            <a:r>
              <a:rPr sz="2800" spc="-15" dirty="0">
                <a:latin typeface="Microsoft Sans Serif"/>
                <a:cs typeface="Microsoft Sans Serif"/>
              </a:rPr>
              <a:t>(value).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 </a:t>
            </a:r>
            <a:r>
              <a:rPr sz="2800" spc="50" dirty="0">
                <a:latin typeface="Microsoft Sans Serif"/>
                <a:cs typeface="Microsoft Sans Serif"/>
              </a:rPr>
              <a:t>concept </a:t>
            </a:r>
            <a:r>
              <a:rPr sz="2800" spc="190" dirty="0">
                <a:latin typeface="Microsoft Sans Serif"/>
                <a:cs typeface="Microsoft Sans Serif"/>
              </a:rPr>
              <a:t>of </a:t>
            </a:r>
            <a:r>
              <a:rPr sz="2800" spc="95" dirty="0">
                <a:latin typeface="Microsoft Sans Serif"/>
                <a:cs typeface="Microsoft Sans Serif"/>
              </a:rPr>
              <a:t>list </a:t>
            </a:r>
            <a:r>
              <a:rPr sz="2800" spc="-45" dirty="0">
                <a:latin typeface="Microsoft Sans Serif"/>
                <a:cs typeface="Microsoft Sans Serif"/>
              </a:rPr>
              <a:t>is </a:t>
            </a:r>
            <a:r>
              <a:rPr sz="2800" spc="30" dirty="0">
                <a:latin typeface="Microsoft Sans Serif"/>
                <a:cs typeface="Microsoft Sans Serif"/>
              </a:rPr>
              <a:t>similar </a:t>
            </a:r>
            <a:r>
              <a:rPr sz="2800" spc="220" dirty="0">
                <a:latin typeface="Microsoft Sans Serif"/>
                <a:cs typeface="Microsoft Sans Serif"/>
              </a:rPr>
              <a:t>to </a:t>
            </a:r>
            <a:r>
              <a:rPr sz="2800" spc="-25" dirty="0">
                <a:latin typeface="Microsoft Sans Serif"/>
                <a:cs typeface="Microsoft Sans Serif"/>
              </a:rPr>
              <a:t>an </a:t>
            </a:r>
            <a:r>
              <a:rPr sz="2800" dirty="0">
                <a:latin typeface="Microsoft Sans Serif"/>
                <a:cs typeface="Microsoft Sans Serif"/>
              </a:rPr>
              <a:t>array. </a:t>
            </a:r>
            <a:r>
              <a:rPr sz="2800" spc="10" dirty="0">
                <a:latin typeface="Microsoft Sans Serif"/>
                <a:cs typeface="Microsoft Sans Serif"/>
              </a:rPr>
              <a:t>An </a:t>
            </a:r>
            <a:r>
              <a:rPr sz="2800" spc="15" dirty="0">
                <a:latin typeface="Microsoft Sans Serif"/>
                <a:cs typeface="Microsoft Sans Serif"/>
              </a:rPr>
              <a:t> array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is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defined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30" dirty="0">
                <a:latin typeface="Microsoft Sans Serif"/>
                <a:cs typeface="Microsoft Sans Serif"/>
              </a:rPr>
              <a:t>as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a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collection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95" dirty="0">
                <a:latin typeface="Microsoft Sans Serif"/>
                <a:cs typeface="Microsoft Sans Serif"/>
              </a:rPr>
              <a:t>of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multiple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125" dirty="0">
                <a:latin typeface="Microsoft Sans Serif"/>
                <a:cs typeface="Microsoft Sans Serif"/>
              </a:rPr>
              <a:t>l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50" dirty="0">
                <a:latin typeface="Microsoft Sans Serif"/>
                <a:cs typeface="Microsoft Sans Serif"/>
              </a:rPr>
              <a:t>m</a:t>
            </a:r>
            <a:r>
              <a:rPr sz="2800" spc="20" dirty="0">
                <a:latin typeface="Microsoft Sans Serif"/>
                <a:cs typeface="Microsoft Sans Serif"/>
              </a:rPr>
              <a:t>e</a:t>
            </a:r>
            <a:r>
              <a:rPr sz="2800" spc="265" dirty="0">
                <a:latin typeface="Microsoft Sans Serif"/>
                <a:cs typeface="Microsoft Sans Serif"/>
              </a:rPr>
              <a:t>n</a:t>
            </a:r>
            <a:r>
              <a:rPr sz="2800" spc="120" dirty="0">
                <a:latin typeface="Microsoft Sans Serif"/>
                <a:cs typeface="Microsoft Sans Serif"/>
              </a:rPr>
              <a:t>t</a:t>
            </a:r>
            <a:r>
              <a:rPr sz="2800" spc="-155" dirty="0">
                <a:latin typeface="Microsoft Sans Serif"/>
                <a:cs typeface="Microsoft Sans Serif"/>
              </a:rPr>
              <a:t>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in</a:t>
            </a:r>
            <a:r>
              <a:rPr sz="2800" spc="-100" dirty="0">
                <a:latin typeface="Microsoft Sans Serif"/>
                <a:cs typeface="Microsoft Sans Serif"/>
              </a:rPr>
              <a:t> a </a:t>
            </a:r>
            <a:r>
              <a:rPr sz="2800" spc="-165" dirty="0">
                <a:latin typeface="Microsoft Sans Serif"/>
                <a:cs typeface="Microsoft Sans Serif"/>
              </a:rPr>
              <a:t>s</a:t>
            </a:r>
            <a:r>
              <a:rPr sz="2800" spc="75" dirty="0">
                <a:latin typeface="Microsoft Sans Serif"/>
                <a:cs typeface="Microsoft Sans Serif"/>
              </a:rPr>
              <a:t>ingl</a:t>
            </a:r>
            <a:r>
              <a:rPr sz="2800" spc="5" dirty="0">
                <a:latin typeface="Microsoft Sans Serif"/>
                <a:cs typeface="Microsoft Sans Serif"/>
              </a:rPr>
              <a:t>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</a:t>
            </a:r>
            <a:r>
              <a:rPr sz="2800" spc="-105" dirty="0">
                <a:latin typeface="Microsoft Sans Serif"/>
                <a:cs typeface="Microsoft Sans Serif"/>
              </a:rPr>
              <a:t>a</a:t>
            </a:r>
            <a:r>
              <a:rPr sz="2800" spc="30" dirty="0">
                <a:latin typeface="Microsoft Sans Serif"/>
                <a:cs typeface="Microsoft Sans Serif"/>
              </a:rPr>
              <a:t>ri</a:t>
            </a:r>
            <a:r>
              <a:rPr sz="2800" spc="65" dirty="0">
                <a:latin typeface="Microsoft Sans Serif"/>
                <a:cs typeface="Microsoft Sans Serif"/>
              </a:rPr>
              <a:t>a</a:t>
            </a:r>
            <a:r>
              <a:rPr sz="2800" spc="80" dirty="0">
                <a:latin typeface="Microsoft Sans Serif"/>
                <a:cs typeface="Microsoft Sans Serif"/>
              </a:rPr>
              <a:t>b</a:t>
            </a:r>
            <a:r>
              <a:rPr sz="2800" spc="125" dirty="0">
                <a:latin typeface="Microsoft Sans Serif"/>
                <a:cs typeface="Microsoft Sans Serif"/>
              </a:rPr>
              <a:t>l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-90" dirty="0">
                <a:latin typeface="Microsoft Sans Serif"/>
                <a:cs typeface="Microsoft Sans Serif"/>
              </a:rPr>
              <a:t>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15748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elements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in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list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are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separated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by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comma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enclosed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in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square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bracket[].</a:t>
            </a:r>
            <a:endParaRPr sz="2800" dirty="0">
              <a:latin typeface="Microsoft Sans Serif"/>
              <a:cs typeface="Microsoft Sans Serif"/>
            </a:endParaRPr>
          </a:p>
          <a:p>
            <a:pPr marL="355600" marR="2463800" indent="-343535">
              <a:lnSpc>
                <a:spcPct val="123500"/>
              </a:lnSpc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The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sample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list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given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below.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var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list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[1,2,3]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0" dirty="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8701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519097"/>
            <a:ext cx="7865109" cy="3900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239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600" spc="-30" dirty="0">
                <a:latin typeface="Microsoft Sans Serif"/>
                <a:cs typeface="Microsoft Sans Serif"/>
              </a:rPr>
              <a:t>The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maps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type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used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200" dirty="0">
                <a:latin typeface="Microsoft Sans Serif"/>
                <a:cs typeface="Microsoft Sans Serif"/>
              </a:rPr>
              <a:t>to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store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values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in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key-value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p</a:t>
            </a:r>
            <a:r>
              <a:rPr sz="2600" spc="35" dirty="0">
                <a:latin typeface="Microsoft Sans Serif"/>
                <a:cs typeface="Microsoft Sans Serif"/>
              </a:rPr>
              <a:t>air</a:t>
            </a:r>
            <a:r>
              <a:rPr sz="2600" spc="-114" dirty="0">
                <a:latin typeface="Microsoft Sans Serif"/>
                <a:cs typeface="Microsoft Sans Serif"/>
              </a:rPr>
              <a:t>s.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50" dirty="0">
                <a:latin typeface="Microsoft Sans Serif"/>
                <a:cs typeface="Microsoft Sans Serif"/>
              </a:rPr>
              <a:t>E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-30" dirty="0">
                <a:latin typeface="Microsoft Sans Serif"/>
                <a:cs typeface="Microsoft Sans Serif"/>
              </a:rPr>
              <a:t>ch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30" dirty="0">
                <a:latin typeface="Microsoft Sans Serif"/>
                <a:cs typeface="Microsoft Sans Serif"/>
              </a:rPr>
              <a:t>k</a:t>
            </a:r>
            <a:r>
              <a:rPr sz="2600" spc="25" dirty="0">
                <a:latin typeface="Microsoft Sans Serif"/>
                <a:cs typeface="Microsoft Sans Serif"/>
              </a:rPr>
              <a:t>e</a:t>
            </a:r>
            <a:r>
              <a:rPr sz="2600" spc="-10" dirty="0">
                <a:latin typeface="Microsoft Sans Serif"/>
                <a:cs typeface="Microsoft Sans Serif"/>
              </a:rPr>
              <a:t>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75" dirty="0">
                <a:latin typeface="Microsoft Sans Serif"/>
                <a:cs typeface="Microsoft Sans Serif"/>
              </a:rPr>
              <a:t>asso</a:t>
            </a:r>
            <a:r>
              <a:rPr sz="2600" spc="55" dirty="0">
                <a:latin typeface="Microsoft Sans Serif"/>
                <a:cs typeface="Microsoft Sans Serif"/>
              </a:rPr>
              <a:t>cia</a:t>
            </a:r>
            <a:r>
              <a:rPr sz="2600" spc="25" dirty="0">
                <a:latin typeface="Microsoft Sans Serif"/>
                <a:cs typeface="Microsoft Sans Serif"/>
              </a:rPr>
              <a:t>t</a:t>
            </a:r>
            <a:r>
              <a:rPr sz="2600" dirty="0">
                <a:latin typeface="Microsoft Sans Serif"/>
                <a:cs typeface="Microsoft Sans Serif"/>
              </a:rPr>
              <a:t>e</a:t>
            </a:r>
            <a:r>
              <a:rPr sz="2600" spc="85" dirty="0">
                <a:latin typeface="Microsoft Sans Serif"/>
                <a:cs typeface="Microsoft Sans Serif"/>
              </a:rPr>
              <a:t>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w</a:t>
            </a:r>
            <a:r>
              <a:rPr sz="2600" spc="170" dirty="0">
                <a:latin typeface="Microsoft Sans Serif"/>
                <a:cs typeface="Microsoft Sans Serif"/>
              </a:rPr>
              <a:t>i</a:t>
            </a:r>
            <a:r>
              <a:rPr sz="2600" spc="200" dirty="0">
                <a:latin typeface="Microsoft Sans Serif"/>
                <a:cs typeface="Microsoft Sans Serif"/>
              </a:rPr>
              <a:t>t</a:t>
            </a:r>
            <a:r>
              <a:rPr sz="2600" spc="35" dirty="0">
                <a:latin typeface="Microsoft Sans Serif"/>
                <a:cs typeface="Microsoft Sans Serif"/>
              </a:rPr>
              <a:t>h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i</a:t>
            </a:r>
            <a:r>
              <a:rPr sz="2600" spc="200" dirty="0">
                <a:latin typeface="Microsoft Sans Serif"/>
                <a:cs typeface="Microsoft Sans Serif"/>
              </a:rPr>
              <a:t>t</a:t>
            </a:r>
            <a:r>
              <a:rPr sz="2600" spc="-145" dirty="0">
                <a:latin typeface="Microsoft Sans Serif"/>
                <a:cs typeface="Microsoft Sans Serif"/>
              </a:rPr>
              <a:t>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v</a:t>
            </a:r>
            <a:r>
              <a:rPr sz="2600" spc="-100" dirty="0">
                <a:latin typeface="Microsoft Sans Serif"/>
                <a:cs typeface="Microsoft Sans Serif"/>
              </a:rPr>
              <a:t>a</a:t>
            </a:r>
            <a:r>
              <a:rPr sz="2600" spc="45" dirty="0">
                <a:latin typeface="Microsoft Sans Serif"/>
                <a:cs typeface="Microsoft Sans Serif"/>
              </a:rPr>
              <a:t>l</a:t>
            </a:r>
            <a:r>
              <a:rPr sz="2600" spc="120" dirty="0">
                <a:latin typeface="Microsoft Sans Serif"/>
                <a:cs typeface="Microsoft Sans Serif"/>
              </a:rPr>
              <a:t>u</a:t>
            </a:r>
            <a:r>
              <a:rPr sz="2600" dirty="0">
                <a:latin typeface="Microsoft Sans Serif"/>
                <a:cs typeface="Microsoft Sans Serif"/>
              </a:rPr>
              <a:t>e</a:t>
            </a:r>
            <a:r>
              <a:rPr sz="2600" spc="-85" dirty="0">
                <a:latin typeface="Microsoft Sans Serif"/>
                <a:cs typeface="Microsoft Sans Serif"/>
              </a:rPr>
              <a:t>.</a:t>
            </a:r>
            <a:endParaRPr sz="26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  <a:spcBef>
                <a:spcPts val="795"/>
              </a:spcBef>
            </a:pPr>
            <a:r>
              <a:rPr sz="2600" spc="-3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key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and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value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can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be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any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type.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Map,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key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must </a:t>
            </a:r>
            <a:r>
              <a:rPr sz="2600" spc="45" dirty="0">
                <a:latin typeface="Microsoft Sans Serif"/>
                <a:cs typeface="Microsoft Sans Serif"/>
              </a:rPr>
              <a:t>be </a:t>
            </a:r>
            <a:r>
              <a:rPr sz="2600" spc="30" dirty="0">
                <a:latin typeface="Microsoft Sans Serif"/>
                <a:cs typeface="Microsoft Sans Serif"/>
              </a:rPr>
              <a:t>unique, </a:t>
            </a:r>
            <a:r>
              <a:rPr sz="2600" spc="150" dirty="0">
                <a:latin typeface="Microsoft Sans Serif"/>
                <a:cs typeface="Microsoft Sans Serif"/>
              </a:rPr>
              <a:t>but </a:t>
            </a:r>
            <a:r>
              <a:rPr sz="2600" spc="-90" dirty="0">
                <a:latin typeface="Microsoft Sans Serif"/>
                <a:cs typeface="Microsoft Sans Serif"/>
              </a:rPr>
              <a:t>a </a:t>
            </a:r>
            <a:r>
              <a:rPr sz="2600" spc="15" dirty="0">
                <a:latin typeface="Microsoft Sans Serif"/>
                <a:cs typeface="Microsoft Sans Serif"/>
              </a:rPr>
              <a:t>value </a:t>
            </a:r>
            <a:r>
              <a:rPr sz="2600" spc="-45" dirty="0">
                <a:latin typeface="Microsoft Sans Serif"/>
                <a:cs typeface="Microsoft Sans Serif"/>
              </a:rPr>
              <a:t>can </a:t>
            </a:r>
            <a:r>
              <a:rPr sz="2600" spc="15" dirty="0">
                <a:latin typeface="Microsoft Sans Serif"/>
                <a:cs typeface="Microsoft Sans Serif"/>
              </a:rPr>
              <a:t>occur </a:t>
            </a:r>
            <a:r>
              <a:rPr sz="2600" spc="100" dirty="0">
                <a:latin typeface="Microsoft Sans Serif"/>
                <a:cs typeface="Microsoft Sans Serif"/>
              </a:rPr>
              <a:t>multiple </a:t>
            </a:r>
            <a:r>
              <a:rPr sz="2600" spc="10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times.</a:t>
            </a:r>
            <a:endParaRPr sz="2600">
              <a:latin typeface="Microsoft Sans Serif"/>
              <a:cs typeface="Microsoft Sans Serif"/>
            </a:endParaRPr>
          </a:p>
          <a:p>
            <a:pPr marL="355600" marR="271780">
              <a:lnSpc>
                <a:spcPct val="100000"/>
              </a:lnSpc>
              <a:spcBef>
                <a:spcPts val="825"/>
              </a:spcBef>
            </a:pPr>
            <a:r>
              <a:rPr sz="2600" spc="-3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Map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defined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by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using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curly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braces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({}),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and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comma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separates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each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pair.</a:t>
            </a:r>
            <a:endParaRPr sz="2600">
              <a:latin typeface="Microsoft Sans Serif"/>
              <a:cs typeface="Microsoft Sans Serif"/>
            </a:endParaRPr>
          </a:p>
          <a:p>
            <a:pPr marL="355600" marR="220979">
              <a:lnSpc>
                <a:spcPct val="100000"/>
              </a:lnSpc>
              <a:spcBef>
                <a:spcPts val="795"/>
              </a:spcBef>
              <a:tabLst>
                <a:tab pos="5037455" algn="l"/>
              </a:tabLst>
            </a:pPr>
            <a:r>
              <a:rPr sz="2600" spc="10" dirty="0">
                <a:latin typeface="Microsoft Sans Serif"/>
                <a:cs typeface="Microsoft Sans Serif"/>
              </a:rPr>
              <a:t>var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student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55" dirty="0">
                <a:latin typeface="Microsoft Sans Serif"/>
                <a:cs typeface="Microsoft Sans Serif"/>
              </a:rPr>
              <a:t>=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{'name':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'Rajesh',	</a:t>
            </a:r>
            <a:r>
              <a:rPr sz="2600" spc="5" dirty="0">
                <a:latin typeface="Microsoft Sans Serif"/>
                <a:cs typeface="Microsoft Sans Serif"/>
              </a:rPr>
              <a:t>'age':22,</a:t>
            </a:r>
            <a:r>
              <a:rPr sz="2600" spc="-160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'Branch':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'Statistics'}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85" dirty="0"/>
              <a:t>Runes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21015" cy="451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6545" marR="104139" indent="-284480" algn="just">
              <a:lnSpc>
                <a:spcPct val="100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00" spc="-60" dirty="0">
                <a:latin typeface="Microsoft Sans Serif"/>
                <a:cs typeface="Microsoft Sans Serif"/>
              </a:rPr>
              <a:t>As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we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know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that,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the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50" dirty="0">
                <a:latin typeface="Microsoft Sans Serif"/>
                <a:cs typeface="Microsoft Sans Serif"/>
              </a:rPr>
              <a:t>strings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are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the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sequence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65" dirty="0">
                <a:latin typeface="Microsoft Sans Serif"/>
                <a:cs typeface="Microsoft Sans Serif"/>
              </a:rPr>
              <a:t>of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Unicode </a:t>
            </a:r>
            <a:r>
              <a:rPr sz="2300" spc="-595" dirty="0">
                <a:latin typeface="Microsoft Sans Serif"/>
                <a:cs typeface="Microsoft Sans Serif"/>
              </a:rPr>
              <a:t> </a:t>
            </a:r>
            <a:r>
              <a:rPr sz="2300" spc="-60" dirty="0">
                <a:latin typeface="Microsoft Sans Serif"/>
                <a:cs typeface="Microsoft Sans Serif"/>
              </a:rPr>
              <a:t>UTF-16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30" dirty="0">
                <a:latin typeface="Microsoft Sans Serif"/>
                <a:cs typeface="Microsoft Sans Serif"/>
              </a:rPr>
              <a:t>code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units.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Unicode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35" dirty="0">
                <a:latin typeface="Microsoft Sans Serif"/>
                <a:cs typeface="Microsoft Sans Serif"/>
              </a:rPr>
              <a:t>is</a:t>
            </a:r>
            <a:r>
              <a:rPr sz="2300" spc="-70" dirty="0">
                <a:latin typeface="Microsoft Sans Serif"/>
                <a:cs typeface="Microsoft Sans Serif"/>
              </a:rPr>
              <a:t> a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technique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which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35" dirty="0">
                <a:latin typeface="Microsoft Sans Serif"/>
                <a:cs typeface="Microsoft Sans Serif"/>
              </a:rPr>
              <a:t>is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5" dirty="0">
                <a:latin typeface="Microsoft Sans Serif"/>
                <a:cs typeface="Microsoft Sans Serif"/>
              </a:rPr>
              <a:t>used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90" dirty="0">
                <a:latin typeface="Microsoft Sans Serif"/>
                <a:cs typeface="Microsoft Sans Serif"/>
              </a:rPr>
              <a:t>to </a:t>
            </a:r>
            <a:r>
              <a:rPr sz="2300" spc="-60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describe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70" dirty="0">
                <a:latin typeface="Microsoft Sans Serif"/>
                <a:cs typeface="Microsoft Sans Serif"/>
              </a:rPr>
              <a:t>a </a:t>
            </a:r>
            <a:r>
              <a:rPr sz="2300" spc="50" dirty="0">
                <a:latin typeface="Microsoft Sans Serif"/>
                <a:cs typeface="Microsoft Sans Serif"/>
              </a:rPr>
              <a:t>unique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numeric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value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55" dirty="0">
                <a:latin typeface="Microsoft Sans Serif"/>
                <a:cs typeface="Microsoft Sans Serif"/>
              </a:rPr>
              <a:t>for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each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digit,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05" dirty="0">
                <a:latin typeface="Microsoft Sans Serif"/>
                <a:cs typeface="Microsoft Sans Serif"/>
              </a:rPr>
              <a:t>letter,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and 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symbol.</a:t>
            </a:r>
            <a:endParaRPr sz="2300" dirty="0">
              <a:latin typeface="Microsoft Sans Serif"/>
              <a:cs typeface="Microsoft Sans Serif"/>
            </a:endParaRPr>
          </a:p>
          <a:p>
            <a:pPr marL="296545" marR="187325" indent="-284480" algn="just">
              <a:lnSpc>
                <a:spcPct val="100699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00" spc="-55" dirty="0">
                <a:latin typeface="Microsoft Sans Serif"/>
                <a:cs typeface="Microsoft Sans Serif"/>
              </a:rPr>
              <a:t>Since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85" dirty="0">
                <a:latin typeface="Microsoft Sans Serif"/>
                <a:cs typeface="Microsoft Sans Serif"/>
              </a:rPr>
              <a:t>Dart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45" dirty="0">
                <a:latin typeface="Microsoft Sans Serif"/>
                <a:cs typeface="Microsoft Sans Serif"/>
              </a:rPr>
              <a:t>Runes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are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the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special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string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170" dirty="0">
                <a:latin typeface="Microsoft Sans Serif"/>
                <a:cs typeface="Microsoft Sans Serif"/>
              </a:rPr>
              <a:t>of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Unicode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60" dirty="0">
                <a:latin typeface="Microsoft Sans Serif"/>
                <a:cs typeface="Microsoft Sans Serif"/>
              </a:rPr>
              <a:t>UTF-32 </a:t>
            </a:r>
            <a:r>
              <a:rPr sz="2300" spc="-600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units.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135" dirty="0">
                <a:latin typeface="Microsoft Sans Serif"/>
                <a:cs typeface="Microsoft Sans Serif"/>
              </a:rPr>
              <a:t>It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is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5" dirty="0">
                <a:latin typeface="Microsoft Sans Serif"/>
                <a:cs typeface="Microsoft Sans Serif"/>
              </a:rPr>
              <a:t>used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90" dirty="0">
                <a:latin typeface="Microsoft Sans Serif"/>
                <a:cs typeface="Microsoft Sans Serif"/>
              </a:rPr>
              <a:t>to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represent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the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special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15" dirty="0">
                <a:latin typeface="Microsoft Sans Serif"/>
                <a:cs typeface="Microsoft Sans Serif"/>
              </a:rPr>
              <a:t>syntax.</a:t>
            </a:r>
            <a:endParaRPr sz="2300" dirty="0">
              <a:latin typeface="Microsoft Sans Serif"/>
              <a:cs typeface="Microsoft Sans Serif"/>
            </a:endParaRPr>
          </a:p>
          <a:p>
            <a:pPr marL="296545" marR="46355" indent="-284480">
              <a:lnSpc>
                <a:spcPct val="100699"/>
              </a:lnSpc>
              <a:spcBef>
                <a:spcPts val="660"/>
              </a:spcBef>
              <a:buClr>
                <a:srgbClr val="6697CC"/>
              </a:buClr>
              <a:buFont typeface="Arial MT"/>
              <a:buChar char="•"/>
              <a:tabLst>
                <a:tab pos="296545" algn="l"/>
                <a:tab pos="297180" algn="l"/>
                <a:tab pos="6268085" algn="l"/>
              </a:tabLst>
            </a:pPr>
            <a:r>
              <a:rPr sz="2300" spc="15" dirty="0">
                <a:latin typeface="Microsoft Sans Serif"/>
                <a:cs typeface="Microsoft Sans Serif"/>
              </a:rPr>
              <a:t>For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35" dirty="0">
                <a:latin typeface="Microsoft Sans Serif"/>
                <a:cs typeface="Microsoft Sans Serif"/>
              </a:rPr>
              <a:t>example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-75" dirty="0">
                <a:latin typeface="Microsoft Sans Serif"/>
                <a:cs typeface="Microsoft Sans Serif"/>
              </a:rPr>
              <a:t>-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The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special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lang="en-US" sz="2300" spc="-50" dirty="0">
                <a:latin typeface="Microsoft Sans Serif"/>
                <a:cs typeface="Microsoft Sans Serif"/>
              </a:rPr>
              <a:t>emoji </a:t>
            </a:r>
            <a:r>
              <a:rPr lang="en-US" sz="2300" spc="30" dirty="0">
                <a:latin typeface="Microsoft Sans Serif"/>
                <a:cs typeface="Microsoft Sans Serif"/>
              </a:rPr>
              <a:t>Tears of Joy (😂) </a:t>
            </a:r>
            <a:r>
              <a:rPr sz="2300" spc="-30" dirty="0">
                <a:latin typeface="Microsoft Sans Serif"/>
                <a:cs typeface="Microsoft Sans Serif"/>
              </a:rPr>
              <a:t>is </a:t>
            </a:r>
            <a:r>
              <a:rPr sz="2300" spc="60" dirty="0">
                <a:latin typeface="Microsoft Sans Serif"/>
                <a:cs typeface="Microsoft Sans Serif"/>
              </a:rPr>
              <a:t>equivalent </a:t>
            </a:r>
            <a:r>
              <a:rPr sz="2300" spc="65" dirty="0">
                <a:latin typeface="Microsoft Sans Serif"/>
                <a:cs typeface="Microsoft Sans Serif"/>
              </a:rPr>
              <a:t> </a:t>
            </a:r>
            <a:r>
              <a:rPr sz="2300" spc="185" dirty="0">
                <a:latin typeface="Microsoft Sans Serif"/>
                <a:cs typeface="Microsoft Sans Serif"/>
              </a:rPr>
              <a:t>to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Unicode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30" dirty="0">
                <a:latin typeface="Microsoft Sans Serif"/>
                <a:cs typeface="Microsoft Sans Serif"/>
              </a:rPr>
              <a:t>code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45" dirty="0">
                <a:latin typeface="Microsoft Sans Serif"/>
                <a:cs typeface="Microsoft Sans Serif"/>
              </a:rPr>
              <a:t>\u2</a:t>
            </a:r>
            <a:r>
              <a:rPr lang="en-US" sz="2300" spc="45" dirty="0">
                <a:latin typeface="Microsoft Sans Serif"/>
                <a:cs typeface="Microsoft Sans Serif"/>
              </a:rPr>
              <a:t>665</a:t>
            </a:r>
            <a:r>
              <a:rPr sz="2300" spc="45" dirty="0">
                <a:latin typeface="Microsoft Sans Serif"/>
                <a:cs typeface="Microsoft Sans Serif"/>
              </a:rPr>
              <a:t>,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where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50" dirty="0">
                <a:latin typeface="Microsoft Sans Serif"/>
                <a:cs typeface="Microsoft Sans Serif"/>
              </a:rPr>
              <a:t>\u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15" dirty="0">
                <a:latin typeface="Microsoft Sans Serif"/>
                <a:cs typeface="Microsoft Sans Serif"/>
              </a:rPr>
              <a:t>means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0" dirty="0">
                <a:latin typeface="Microsoft Sans Serif"/>
                <a:cs typeface="Microsoft Sans Serif"/>
              </a:rPr>
              <a:t>Unicode,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and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the </a:t>
            </a:r>
            <a:r>
              <a:rPr sz="2300" spc="-595" dirty="0">
                <a:latin typeface="Microsoft Sans Serif"/>
                <a:cs typeface="Microsoft Sans Serif"/>
              </a:rPr>
              <a:t> </a:t>
            </a:r>
            <a:r>
              <a:rPr sz="2300" spc="35" dirty="0">
                <a:latin typeface="Microsoft Sans Serif"/>
                <a:cs typeface="Microsoft Sans Serif"/>
              </a:rPr>
              <a:t>numbers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are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5" dirty="0">
                <a:latin typeface="Microsoft Sans Serif"/>
                <a:cs typeface="Microsoft Sans Serif"/>
              </a:rPr>
              <a:t>hexadecimal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integer.</a:t>
            </a:r>
            <a:endParaRPr sz="2300" dirty="0">
              <a:latin typeface="Microsoft Sans Serif"/>
              <a:cs typeface="Microsoft Sans Serif"/>
            </a:endParaRPr>
          </a:p>
          <a:p>
            <a:pPr marL="296545" marR="5080" indent="-284480" algn="just">
              <a:lnSpc>
                <a:spcPct val="1008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00" spc="114" dirty="0">
                <a:latin typeface="Microsoft Sans Serif"/>
                <a:cs typeface="Microsoft Sans Serif"/>
              </a:rPr>
              <a:t>If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the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30" dirty="0">
                <a:latin typeface="Microsoft Sans Serif"/>
                <a:cs typeface="Microsoft Sans Serif"/>
              </a:rPr>
              <a:t>hex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20" dirty="0">
                <a:latin typeface="Microsoft Sans Serif"/>
                <a:cs typeface="Microsoft Sans Serif"/>
              </a:rPr>
              <a:t>value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is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less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05" dirty="0">
                <a:latin typeface="Microsoft Sans Serif"/>
                <a:cs typeface="Microsoft Sans Serif"/>
              </a:rPr>
              <a:t>or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greater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than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25" dirty="0">
                <a:latin typeface="Microsoft Sans Serif"/>
                <a:cs typeface="Microsoft Sans Serif"/>
              </a:rPr>
              <a:t>4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50" dirty="0">
                <a:latin typeface="Microsoft Sans Serif"/>
                <a:cs typeface="Microsoft Sans Serif"/>
              </a:rPr>
              <a:t>digits,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75" dirty="0">
                <a:latin typeface="Microsoft Sans Serif"/>
                <a:cs typeface="Microsoft Sans Serif"/>
              </a:rPr>
              <a:t>it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places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50" dirty="0">
                <a:latin typeface="Microsoft Sans Serif"/>
                <a:cs typeface="Microsoft Sans Serif"/>
              </a:rPr>
              <a:t>in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70" dirty="0">
                <a:latin typeface="Microsoft Sans Serif"/>
                <a:cs typeface="Microsoft Sans Serif"/>
              </a:rPr>
              <a:t>a </a:t>
            </a:r>
            <a:r>
              <a:rPr sz="2300" spc="-600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curly </a:t>
            </a:r>
            <a:r>
              <a:rPr sz="2300" spc="60" dirty="0">
                <a:latin typeface="Microsoft Sans Serif"/>
                <a:cs typeface="Microsoft Sans Serif"/>
              </a:rPr>
              <a:t>bracket </a:t>
            </a:r>
            <a:r>
              <a:rPr sz="2300" spc="-20" dirty="0">
                <a:latin typeface="Microsoft Sans Serif"/>
                <a:cs typeface="Microsoft Sans Serif"/>
              </a:rPr>
              <a:t>({}). </a:t>
            </a:r>
            <a:r>
              <a:rPr sz="2300" spc="15" dirty="0">
                <a:latin typeface="Microsoft Sans Serif"/>
                <a:cs typeface="Microsoft Sans Serif"/>
              </a:rPr>
              <a:t>For </a:t>
            </a:r>
            <a:r>
              <a:rPr sz="2300" spc="35" dirty="0">
                <a:latin typeface="Microsoft Sans Serif"/>
                <a:cs typeface="Microsoft Sans Serif"/>
              </a:rPr>
              <a:t>example </a:t>
            </a:r>
            <a:r>
              <a:rPr lang="en-US" sz="2300" spc="-75" dirty="0">
                <a:latin typeface="Microsoft Sans Serif"/>
                <a:cs typeface="Microsoft Sans Serif"/>
              </a:rPr>
              <a:t>–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25" dirty="0">
                <a:latin typeface="Microsoft Sans Serif"/>
                <a:cs typeface="Microsoft Sans Serif"/>
              </a:rPr>
              <a:t>A</a:t>
            </a:r>
            <a:r>
              <a:rPr lang="en-US" sz="2300" spc="25" dirty="0">
                <a:latin typeface="Microsoft Sans Serif"/>
                <a:cs typeface="Microsoft Sans Serif"/>
              </a:rPr>
              <a:t>n emoji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lang="en-US" sz="2300" spc="55" dirty="0">
                <a:latin typeface="Microsoft Sans Serif"/>
                <a:cs typeface="Microsoft Sans Serif"/>
              </a:rPr>
              <a:t>can be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represented </a:t>
            </a:r>
            <a:r>
              <a:rPr sz="2300" spc="-600" dirty="0">
                <a:latin typeface="Microsoft Sans Serif"/>
                <a:cs typeface="Microsoft Sans Serif"/>
              </a:rPr>
              <a:t> </a:t>
            </a:r>
            <a:r>
              <a:rPr sz="2300" spc="-95" dirty="0">
                <a:latin typeface="Microsoft Sans Serif"/>
                <a:cs typeface="Microsoft Sans Serif"/>
              </a:rPr>
              <a:t>as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100" dirty="0">
                <a:latin typeface="Microsoft Sans Serif"/>
                <a:cs typeface="Microsoft Sans Serif"/>
              </a:rPr>
              <a:t>\</a:t>
            </a:r>
            <a:r>
              <a:rPr sz="2300" spc="195" dirty="0">
                <a:latin typeface="Microsoft Sans Serif"/>
                <a:cs typeface="Microsoft Sans Serif"/>
              </a:rPr>
              <a:t>u</a:t>
            </a:r>
            <a:r>
              <a:rPr sz="2300" spc="-5" dirty="0">
                <a:latin typeface="Microsoft Sans Serif"/>
                <a:cs typeface="Microsoft Sans Serif"/>
              </a:rPr>
              <a:t>{</a:t>
            </a:r>
            <a:r>
              <a:rPr sz="2300" spc="185" dirty="0">
                <a:latin typeface="Microsoft Sans Serif"/>
                <a:cs typeface="Microsoft Sans Serif"/>
              </a:rPr>
              <a:t>1</a:t>
            </a:r>
            <a:r>
              <a:rPr sz="2300" spc="85" dirty="0">
                <a:latin typeface="Microsoft Sans Serif"/>
                <a:cs typeface="Microsoft Sans Serif"/>
              </a:rPr>
              <a:t>f</a:t>
            </a:r>
            <a:r>
              <a:rPr sz="2300" spc="15" dirty="0">
                <a:latin typeface="Microsoft Sans Serif"/>
                <a:cs typeface="Microsoft Sans Serif"/>
              </a:rPr>
              <a:t>6</a:t>
            </a:r>
            <a:r>
              <a:rPr sz="2300" spc="20" dirty="0">
                <a:latin typeface="Microsoft Sans Serif"/>
                <a:cs typeface="Microsoft Sans Serif"/>
              </a:rPr>
              <a:t>00</a:t>
            </a:r>
            <a:r>
              <a:rPr sz="2300" spc="5" dirty="0">
                <a:latin typeface="Microsoft Sans Serif"/>
                <a:cs typeface="Microsoft Sans Serif"/>
              </a:rPr>
              <a:t>}</a:t>
            </a:r>
            <a:r>
              <a:rPr sz="2300" spc="-70" dirty="0">
                <a:latin typeface="Microsoft Sans Serif"/>
                <a:cs typeface="Microsoft Sans Serif"/>
              </a:rPr>
              <a:t>.</a:t>
            </a:r>
            <a:endParaRPr sz="23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6" y="1417436"/>
            <a:ext cx="7426784" cy="3215752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00" spc="55" dirty="0">
                <a:latin typeface="Microsoft Sans Serif"/>
                <a:cs typeface="Microsoft Sans Serif"/>
              </a:rPr>
              <a:t>void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main(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){</a:t>
            </a:r>
            <a:endParaRPr sz="2800" dirty="0">
              <a:latin typeface="Microsoft Sans Serif"/>
              <a:cs typeface="Microsoft Sans Serif"/>
            </a:endParaRPr>
          </a:p>
          <a:p>
            <a:pPr marL="340995" marR="5080">
              <a:lnSpc>
                <a:spcPct val="123500"/>
              </a:lnSpc>
            </a:pPr>
            <a:r>
              <a:rPr sz="2800" spc="15" dirty="0">
                <a:latin typeface="Microsoft Sans Serif"/>
                <a:cs typeface="Microsoft Sans Serif"/>
              </a:rPr>
              <a:t>var </a:t>
            </a:r>
            <a:r>
              <a:rPr lang="en-US" sz="2800" spc="35" dirty="0" err="1">
                <a:latin typeface="Microsoft Sans Serif"/>
                <a:cs typeface="Microsoft Sans Serif"/>
              </a:rPr>
              <a:t>laugh_tear</a:t>
            </a:r>
            <a:r>
              <a:rPr sz="2800" spc="35" dirty="0" err="1">
                <a:latin typeface="Microsoft Sans Serif"/>
                <a:cs typeface="Microsoft Sans Serif"/>
              </a:rPr>
              <a:t>_symbol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 </a:t>
            </a:r>
            <a:r>
              <a:rPr sz="2800" spc="60" dirty="0">
                <a:latin typeface="Microsoft Sans Serif"/>
                <a:cs typeface="Microsoft Sans Serif"/>
              </a:rPr>
              <a:t>'\u2665'; </a:t>
            </a:r>
            <a:r>
              <a:rPr sz="2800" spc="65" dirty="0">
                <a:latin typeface="Microsoft Sans Serif"/>
                <a:cs typeface="Microsoft Sans Serif"/>
              </a:rPr>
              <a:t> </a:t>
            </a:r>
            <a:br>
              <a:rPr lang="en-US" sz="2800" spc="65" dirty="0">
                <a:latin typeface="Microsoft Sans Serif"/>
                <a:cs typeface="Microsoft Sans Serif"/>
              </a:rPr>
            </a:br>
            <a:r>
              <a:rPr sz="2800" spc="15" dirty="0">
                <a:latin typeface="Microsoft Sans Serif"/>
                <a:cs typeface="Microsoft Sans Serif"/>
              </a:rPr>
              <a:t>var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laugh_symbol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'\u{1f600}';</a:t>
            </a:r>
            <a:endParaRPr sz="2800" dirty="0">
              <a:latin typeface="Microsoft Sans Serif"/>
              <a:cs typeface="Microsoft Sans Serif"/>
            </a:endParaRPr>
          </a:p>
          <a:p>
            <a:pPr marL="340995" marR="1624965">
              <a:lnSpc>
                <a:spcPct val="123500"/>
              </a:lnSpc>
              <a:spcBef>
                <a:spcPts val="5"/>
              </a:spcBef>
            </a:pPr>
            <a:r>
              <a:rPr sz="2800" spc="45" dirty="0">
                <a:latin typeface="Microsoft Sans Serif"/>
                <a:cs typeface="Microsoft Sans Serif"/>
              </a:rPr>
              <a:t>print(</a:t>
            </a:r>
            <a:r>
              <a:rPr lang="en-US" sz="2800" spc="35" dirty="0" err="1">
                <a:latin typeface="Microsoft Sans Serif"/>
                <a:cs typeface="Microsoft Sans Serif"/>
              </a:rPr>
              <a:t>laugh_tear_symbol</a:t>
            </a:r>
            <a:r>
              <a:rPr lang="en-US" sz="2800" spc="45" dirty="0">
                <a:latin typeface="Microsoft Sans Serif"/>
                <a:cs typeface="Microsoft Sans Serif"/>
              </a:rPr>
              <a:t>)</a:t>
            </a:r>
            <a:r>
              <a:rPr sz="2800" spc="45" dirty="0">
                <a:latin typeface="Microsoft Sans Serif"/>
                <a:cs typeface="Microsoft Sans Serif"/>
              </a:rPr>
              <a:t>;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p</a:t>
            </a:r>
            <a:r>
              <a:rPr sz="2800" spc="150" dirty="0">
                <a:latin typeface="Microsoft Sans Serif"/>
                <a:cs typeface="Microsoft Sans Serif"/>
              </a:rPr>
              <a:t>rint</a:t>
            </a:r>
            <a:r>
              <a:rPr sz="2800" spc="-40" dirty="0">
                <a:latin typeface="Microsoft Sans Serif"/>
                <a:cs typeface="Microsoft Sans Serif"/>
              </a:rPr>
              <a:t>(</a:t>
            </a:r>
            <a:r>
              <a:rPr sz="2800" spc="114" dirty="0">
                <a:latin typeface="Microsoft Sans Serif"/>
                <a:cs typeface="Microsoft Sans Serif"/>
              </a:rPr>
              <a:t>l</a:t>
            </a:r>
            <a:r>
              <a:rPr sz="2800" spc="-95" dirty="0">
                <a:latin typeface="Microsoft Sans Serif"/>
                <a:cs typeface="Microsoft Sans Serif"/>
              </a:rPr>
              <a:t>a</a:t>
            </a:r>
            <a:r>
              <a:rPr sz="2800" spc="50" dirty="0">
                <a:latin typeface="Microsoft Sans Serif"/>
                <a:cs typeface="Microsoft Sans Serif"/>
              </a:rPr>
              <a:t>ug</a:t>
            </a:r>
            <a:r>
              <a:rPr sz="2800" spc="40" dirty="0">
                <a:latin typeface="Microsoft Sans Serif"/>
                <a:cs typeface="Microsoft Sans Serif"/>
              </a:rPr>
              <a:t>h</a:t>
            </a:r>
            <a:r>
              <a:rPr sz="2800" spc="-114" dirty="0">
                <a:latin typeface="Microsoft Sans Serif"/>
                <a:cs typeface="Microsoft Sans Serif"/>
              </a:rPr>
              <a:t>_sy</a:t>
            </a:r>
            <a:r>
              <a:rPr sz="2800" spc="80" dirty="0">
                <a:latin typeface="Microsoft Sans Serif"/>
                <a:cs typeface="Microsoft Sans Serif"/>
              </a:rPr>
              <a:t>mb</a:t>
            </a:r>
            <a:r>
              <a:rPr sz="2800" spc="75" dirty="0">
                <a:latin typeface="Microsoft Sans Serif"/>
                <a:cs typeface="Microsoft Sans Serif"/>
              </a:rPr>
              <a:t>o</a:t>
            </a:r>
            <a:r>
              <a:rPr sz="2800" spc="125" dirty="0">
                <a:latin typeface="Microsoft Sans Serif"/>
                <a:cs typeface="Microsoft Sans Serif"/>
              </a:rPr>
              <a:t>l</a:t>
            </a:r>
            <a:r>
              <a:rPr sz="2800" spc="-40" dirty="0">
                <a:latin typeface="Microsoft Sans Serif"/>
                <a:cs typeface="Microsoft Sans Serif"/>
              </a:rPr>
              <a:t>)</a:t>
            </a:r>
            <a:r>
              <a:rPr sz="2800" spc="-90" dirty="0">
                <a:latin typeface="Microsoft Sans Serif"/>
                <a:cs typeface="Microsoft Sans Serif"/>
              </a:rPr>
              <a:t>;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5" dirty="0">
                <a:latin typeface="Microsoft Sans Serif"/>
                <a:cs typeface="Microsoft Sans Serif"/>
              </a:rPr>
              <a:t>}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Dynamic</a:t>
            </a:r>
            <a:r>
              <a:rPr spc="-195" dirty="0"/>
              <a:t> </a:t>
            </a:r>
            <a:r>
              <a:rPr spc="-1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7212"/>
            <a:ext cx="140970" cy="102361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7368"/>
            <a:ext cx="7583170" cy="18148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600" spc="85" dirty="0">
                <a:latin typeface="Microsoft Sans Serif"/>
                <a:cs typeface="Microsoft Sans Serif"/>
              </a:rPr>
              <a:t>Dart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an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optionally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typed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language.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2600" spc="125" dirty="0">
                <a:latin typeface="Microsoft Sans Serif"/>
                <a:cs typeface="Microsoft Sans Serif"/>
              </a:rPr>
              <a:t>If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variable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type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not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specified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explicitly,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then </a:t>
            </a:r>
            <a:r>
              <a:rPr sz="2600" spc="10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variable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type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dynamic.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dynamic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keyword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used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for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type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annotation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explicitly.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35" dirty="0"/>
              <a:t>Variable</a:t>
            </a:r>
            <a:r>
              <a:rPr spc="-150" dirty="0"/>
              <a:t> </a:t>
            </a:r>
            <a:r>
              <a:rPr spc="125" dirty="0"/>
              <a:t>Default</a:t>
            </a:r>
            <a:r>
              <a:rPr spc="-145" dirty="0"/>
              <a:t> </a:t>
            </a:r>
            <a:r>
              <a:rPr spc="10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34959" cy="3312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35" dirty="0">
                <a:latin typeface="Microsoft Sans Serif"/>
                <a:cs typeface="Microsoft Sans Serif"/>
              </a:rPr>
              <a:t>While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declaring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variable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50" dirty="0">
                <a:latin typeface="Microsoft Sans Serif"/>
                <a:cs typeface="Microsoft Sans Serif"/>
              </a:rPr>
              <a:t>without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initializing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 </a:t>
            </a:r>
            <a:r>
              <a:rPr sz="2800" spc="15" dirty="0">
                <a:latin typeface="Microsoft Sans Serif"/>
                <a:cs typeface="Microsoft Sans Serif"/>
              </a:rPr>
              <a:t>value </a:t>
            </a:r>
            <a:r>
              <a:rPr sz="2800" spc="105" dirty="0">
                <a:latin typeface="Microsoft Sans Serif"/>
                <a:cs typeface="Microsoft Sans Serif"/>
              </a:rPr>
              <a:t>then </a:t>
            </a:r>
            <a:r>
              <a:rPr sz="2800" spc="130" dirty="0">
                <a:latin typeface="Microsoft Sans Serif"/>
                <a:cs typeface="Microsoft Sans Serif"/>
              </a:rPr>
              <a:t>the </a:t>
            </a:r>
            <a:r>
              <a:rPr sz="2800" spc="90" dirty="0">
                <a:latin typeface="Microsoft Sans Serif"/>
                <a:cs typeface="Microsoft Sans Serif"/>
              </a:rPr>
              <a:t>Dart </a:t>
            </a:r>
            <a:r>
              <a:rPr sz="2800" spc="55" dirty="0">
                <a:latin typeface="Microsoft Sans Serif"/>
                <a:cs typeface="Microsoft Sans Serif"/>
              </a:rPr>
              <a:t>compiler </a:t>
            </a:r>
            <a:r>
              <a:rPr sz="2800" spc="35" dirty="0">
                <a:latin typeface="Microsoft Sans Serif"/>
                <a:cs typeface="Microsoft Sans Serif"/>
              </a:rPr>
              <a:t>provides 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114" dirty="0">
                <a:latin typeface="Microsoft Sans Serif"/>
                <a:cs typeface="Microsoft Sans Serif"/>
              </a:rPr>
              <a:t>default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value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(Null)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220" dirty="0">
                <a:latin typeface="Microsoft Sans Serif"/>
                <a:cs typeface="Microsoft Sans Serif"/>
              </a:rPr>
              <a:t>to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variable.</a:t>
            </a:r>
            <a:endParaRPr sz="2800">
              <a:latin typeface="Microsoft Sans Serif"/>
              <a:cs typeface="Microsoft Sans Serif"/>
            </a:endParaRPr>
          </a:p>
          <a:p>
            <a:pPr marL="355600" marR="58801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60" dirty="0">
                <a:latin typeface="Microsoft Sans Serif"/>
                <a:cs typeface="Microsoft Sans Serif"/>
              </a:rPr>
              <a:t>Even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numeric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type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variables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are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initially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assigned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with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null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value.</a:t>
            </a:r>
            <a:endParaRPr sz="2800">
              <a:latin typeface="Microsoft Sans Serif"/>
              <a:cs typeface="Microsoft Sans Serif"/>
            </a:endParaRPr>
          </a:p>
          <a:p>
            <a:pPr marL="355600" marR="1571625" indent="-343535">
              <a:lnSpc>
                <a:spcPts val="4160"/>
              </a:lnSpc>
              <a:spcBef>
                <a:spcPts val="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40" dirty="0">
                <a:latin typeface="Microsoft Sans Serif"/>
                <a:cs typeface="Microsoft Sans Serif"/>
              </a:rPr>
              <a:t>Let's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consider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114" dirty="0">
                <a:latin typeface="Microsoft Sans Serif"/>
                <a:cs typeface="Microsoft Sans Serif"/>
              </a:rPr>
              <a:t>following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example.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150" dirty="0">
                <a:latin typeface="Microsoft Sans Serif"/>
                <a:cs typeface="Microsoft Sans Serif"/>
              </a:rPr>
              <a:t>int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count;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20" dirty="0"/>
              <a:t>Final</a:t>
            </a:r>
            <a:r>
              <a:rPr spc="-170" dirty="0"/>
              <a:t> </a:t>
            </a:r>
            <a:r>
              <a:rPr spc="15" dirty="0"/>
              <a:t>and</a:t>
            </a:r>
            <a:r>
              <a:rPr spc="-160" dirty="0"/>
              <a:t> </a:t>
            </a:r>
            <a:r>
              <a:rPr spc="60" dirty="0"/>
              <a:t>const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54975" cy="452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  <a:tab pos="304165" algn="l"/>
              </a:tabLst>
            </a:pPr>
            <a:r>
              <a:rPr sz="2350" spc="30" dirty="0">
                <a:latin typeface="Microsoft Sans Serif"/>
                <a:cs typeface="Microsoft Sans Serif"/>
              </a:rPr>
              <a:t>When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we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90" dirty="0">
                <a:latin typeface="Microsoft Sans Serif"/>
                <a:cs typeface="Microsoft Sans Serif"/>
              </a:rPr>
              <a:t>do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150" dirty="0">
                <a:latin typeface="Microsoft Sans Serif"/>
                <a:cs typeface="Microsoft Sans Serif"/>
              </a:rPr>
              <a:t>not</a:t>
            </a:r>
            <a:r>
              <a:rPr sz="2350" spc="-65" dirty="0">
                <a:latin typeface="Microsoft Sans Serif"/>
                <a:cs typeface="Microsoft Sans Serif"/>
              </a:rPr>
              <a:t> </a:t>
            </a:r>
            <a:r>
              <a:rPr sz="2350" spc="105" dirty="0">
                <a:latin typeface="Microsoft Sans Serif"/>
                <a:cs typeface="Microsoft Sans Serif"/>
              </a:rPr>
              <a:t>want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200" dirty="0">
                <a:latin typeface="Microsoft Sans Serif"/>
                <a:cs typeface="Microsoft Sans Serif"/>
              </a:rPr>
              <a:t>to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5" dirty="0">
                <a:latin typeface="Microsoft Sans Serif"/>
                <a:cs typeface="Microsoft Sans Serif"/>
              </a:rPr>
              <a:t>change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-65" dirty="0">
                <a:latin typeface="Microsoft Sans Serif"/>
                <a:cs typeface="Microsoft Sans Serif"/>
              </a:rPr>
              <a:t>a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30" dirty="0">
                <a:latin typeface="Microsoft Sans Serif"/>
                <a:cs typeface="Microsoft Sans Serif"/>
              </a:rPr>
              <a:t>variable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60" dirty="0">
                <a:latin typeface="Microsoft Sans Serif"/>
                <a:cs typeface="Microsoft Sans Serif"/>
              </a:rPr>
              <a:t>in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120" dirty="0">
                <a:latin typeface="Microsoft Sans Serif"/>
                <a:cs typeface="Microsoft Sans Serif"/>
              </a:rPr>
              <a:t>the</a:t>
            </a:r>
            <a:r>
              <a:rPr sz="2350" spc="-65" dirty="0">
                <a:latin typeface="Microsoft Sans Serif"/>
                <a:cs typeface="Microsoft Sans Serif"/>
              </a:rPr>
              <a:t> </a:t>
            </a:r>
            <a:r>
              <a:rPr sz="2350" spc="135" dirty="0">
                <a:latin typeface="Microsoft Sans Serif"/>
                <a:cs typeface="Microsoft Sans Serif"/>
              </a:rPr>
              <a:t>future </a:t>
            </a:r>
            <a:r>
              <a:rPr sz="2350" spc="140" dirty="0">
                <a:latin typeface="Microsoft Sans Serif"/>
                <a:cs typeface="Microsoft Sans Serif"/>
              </a:rPr>
              <a:t> </a:t>
            </a:r>
            <a:r>
              <a:rPr sz="2350" spc="110" dirty="0">
                <a:latin typeface="Microsoft Sans Serif"/>
                <a:cs typeface="Microsoft Sans Serif"/>
              </a:rPr>
              <a:t>then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we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-15" dirty="0">
                <a:latin typeface="Microsoft Sans Serif"/>
                <a:cs typeface="Microsoft Sans Serif"/>
              </a:rPr>
              <a:t>use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25" dirty="0">
                <a:latin typeface="Microsoft Sans Serif"/>
                <a:cs typeface="Microsoft Sans Serif"/>
              </a:rPr>
              <a:t>and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30" dirty="0">
                <a:latin typeface="Microsoft Sans Serif"/>
                <a:cs typeface="Microsoft Sans Serif"/>
              </a:rPr>
              <a:t>const.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45" dirty="0">
                <a:latin typeface="Microsoft Sans Serif"/>
                <a:cs typeface="Microsoft Sans Serif"/>
              </a:rPr>
              <a:t>It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-30" dirty="0">
                <a:latin typeface="Microsoft Sans Serif"/>
                <a:cs typeface="Microsoft Sans Serif"/>
              </a:rPr>
              <a:t>can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55" dirty="0">
                <a:latin typeface="Microsoft Sans Serif"/>
                <a:cs typeface="Microsoft Sans Serif"/>
              </a:rPr>
              <a:t>be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10" dirty="0">
                <a:latin typeface="Microsoft Sans Serif"/>
                <a:cs typeface="Microsoft Sans Serif"/>
              </a:rPr>
              <a:t>used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60" dirty="0">
                <a:latin typeface="Microsoft Sans Serif"/>
                <a:cs typeface="Microsoft Sans Serif"/>
              </a:rPr>
              <a:t>in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5" dirty="0">
                <a:latin typeface="Microsoft Sans Serif"/>
                <a:cs typeface="Microsoft Sans Serif"/>
              </a:rPr>
              <a:t>place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180" dirty="0">
                <a:latin typeface="Microsoft Sans Serif"/>
                <a:cs typeface="Microsoft Sans Serif"/>
              </a:rPr>
              <a:t>of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spc="25" dirty="0">
                <a:latin typeface="Microsoft Sans Serif"/>
                <a:cs typeface="Microsoft Sans Serif"/>
              </a:rPr>
              <a:t>var </a:t>
            </a:r>
            <a:r>
              <a:rPr sz="2350" spc="-610" dirty="0">
                <a:latin typeface="Microsoft Sans Serif"/>
                <a:cs typeface="Microsoft Sans Serif"/>
              </a:rPr>
              <a:t> </a:t>
            </a:r>
            <a:r>
              <a:rPr sz="2350" spc="114" dirty="0">
                <a:latin typeface="Microsoft Sans Serif"/>
                <a:cs typeface="Microsoft Sans Serif"/>
              </a:rPr>
              <a:t>or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spc="60" dirty="0">
                <a:latin typeface="Microsoft Sans Serif"/>
                <a:cs typeface="Microsoft Sans Serif"/>
              </a:rPr>
              <a:t>in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addition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200" dirty="0">
                <a:latin typeface="Microsoft Sans Serif"/>
                <a:cs typeface="Microsoft Sans Serif"/>
              </a:rPr>
              <a:t>to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-65" dirty="0">
                <a:latin typeface="Microsoft Sans Serif"/>
                <a:cs typeface="Microsoft Sans Serif"/>
              </a:rPr>
              <a:t>a</a:t>
            </a:r>
            <a:r>
              <a:rPr sz="2350" spc="-95" dirty="0">
                <a:latin typeface="Microsoft Sans Serif"/>
                <a:cs typeface="Microsoft Sans Serif"/>
              </a:rPr>
              <a:t> </a:t>
            </a:r>
            <a:r>
              <a:rPr sz="2350" spc="70" dirty="0">
                <a:latin typeface="Microsoft Sans Serif"/>
                <a:cs typeface="Microsoft Sans Serif"/>
              </a:rPr>
              <a:t>type.</a:t>
            </a:r>
            <a:endParaRPr sz="2350" dirty="0">
              <a:latin typeface="Microsoft Sans Serif"/>
              <a:cs typeface="Microsoft Sans Serif"/>
            </a:endParaRPr>
          </a:p>
          <a:p>
            <a:pPr marL="303530" marR="748665" indent="-291465">
              <a:lnSpc>
                <a:spcPct val="101099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  <a:tab pos="304165" algn="l"/>
              </a:tabLst>
            </a:pPr>
            <a:r>
              <a:rPr sz="2350" spc="10" dirty="0">
                <a:latin typeface="Microsoft Sans Serif"/>
                <a:cs typeface="Microsoft Sans Serif"/>
              </a:rPr>
              <a:t>A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variable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-30" dirty="0">
                <a:latin typeface="Microsoft Sans Serif"/>
                <a:cs typeface="Microsoft Sans Serif"/>
              </a:rPr>
              <a:t>can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55" dirty="0">
                <a:latin typeface="Microsoft Sans Serif"/>
                <a:cs typeface="Microsoft Sans Serif"/>
              </a:rPr>
              <a:t>be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70" dirty="0">
                <a:latin typeface="Microsoft Sans Serif"/>
                <a:cs typeface="Microsoft Sans Serif"/>
              </a:rPr>
              <a:t>set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65" dirty="0">
                <a:latin typeface="Microsoft Sans Serif"/>
                <a:cs typeface="Microsoft Sans Serif"/>
              </a:rPr>
              <a:t>only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spc="55" dirty="0">
                <a:latin typeface="Microsoft Sans Serif"/>
                <a:cs typeface="Microsoft Sans Serif"/>
              </a:rPr>
              <a:t>one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14" dirty="0">
                <a:latin typeface="Microsoft Sans Serif"/>
                <a:cs typeface="Microsoft Sans Serif"/>
              </a:rPr>
              <a:t>time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75" dirty="0">
                <a:latin typeface="Microsoft Sans Serif"/>
                <a:cs typeface="Microsoft Sans Serif"/>
              </a:rPr>
              <a:t>where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25" dirty="0">
                <a:latin typeface="Microsoft Sans Serif"/>
                <a:cs typeface="Microsoft Sans Serif"/>
              </a:rPr>
              <a:t>the </a:t>
            </a:r>
            <a:r>
              <a:rPr sz="2350" spc="130" dirty="0">
                <a:latin typeface="Microsoft Sans Serif"/>
                <a:cs typeface="Microsoft Sans Serif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variable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-30" dirty="0">
                <a:latin typeface="Microsoft Sans Serif"/>
                <a:cs typeface="Microsoft Sans Serif"/>
              </a:rPr>
              <a:t>is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-65" dirty="0">
                <a:latin typeface="Microsoft Sans Serif"/>
                <a:cs typeface="Microsoft Sans Serif"/>
              </a:rPr>
              <a:t>a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65" dirty="0">
                <a:latin typeface="Microsoft Sans Serif"/>
                <a:cs typeface="Microsoft Sans Serif"/>
              </a:rPr>
              <a:t>compile-time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50" dirty="0">
                <a:latin typeface="Microsoft Sans Serif"/>
                <a:cs typeface="Microsoft Sans Serif"/>
              </a:rPr>
              <a:t>constant.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The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40" dirty="0">
                <a:latin typeface="Microsoft Sans Serif"/>
                <a:cs typeface="Microsoft Sans Serif"/>
              </a:rPr>
              <a:t>example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175" dirty="0">
                <a:latin typeface="Microsoft Sans Serif"/>
                <a:cs typeface="Microsoft Sans Serif"/>
              </a:rPr>
              <a:t>of </a:t>
            </a:r>
            <a:r>
              <a:rPr sz="2350" spc="-610" dirty="0">
                <a:latin typeface="Microsoft Sans Serif"/>
                <a:cs typeface="Microsoft Sans Serif"/>
              </a:rPr>
              <a:t> </a:t>
            </a:r>
            <a:r>
              <a:rPr sz="2350" spc="60" dirty="0">
                <a:latin typeface="Microsoft Sans Serif"/>
                <a:cs typeface="Microsoft Sans Serif"/>
              </a:rPr>
              <a:t>creating</a:t>
            </a:r>
            <a:r>
              <a:rPr sz="2350" spc="-95" dirty="0">
                <a:latin typeface="Microsoft Sans Serif"/>
                <a:cs typeface="Microsoft Sans Serif"/>
              </a:rPr>
              <a:t> </a:t>
            </a:r>
            <a:r>
              <a:rPr sz="2350" spc="-65" dirty="0">
                <a:latin typeface="Microsoft Sans Serif"/>
                <a:cs typeface="Microsoft Sans Serif"/>
              </a:rPr>
              <a:t>a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30" dirty="0">
                <a:latin typeface="Microsoft Sans Serif"/>
                <a:cs typeface="Microsoft Sans Serif"/>
              </a:rPr>
              <a:t>variable</a:t>
            </a:r>
            <a:r>
              <a:rPr sz="2350" spc="-70" dirty="0">
                <a:latin typeface="Microsoft Sans Serif"/>
                <a:cs typeface="Microsoft Sans Serif"/>
              </a:rPr>
              <a:t> </a:t>
            </a:r>
            <a:r>
              <a:rPr sz="2350" spc="-30" dirty="0">
                <a:latin typeface="Microsoft Sans Serif"/>
                <a:cs typeface="Microsoft Sans Serif"/>
              </a:rPr>
              <a:t>is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40" dirty="0">
                <a:latin typeface="Microsoft Sans Serif"/>
                <a:cs typeface="Microsoft Sans Serif"/>
              </a:rPr>
              <a:t>given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spc="65" dirty="0">
                <a:latin typeface="Microsoft Sans Serif"/>
                <a:cs typeface="Microsoft Sans Serif"/>
              </a:rPr>
              <a:t>below.</a:t>
            </a:r>
            <a:endParaRPr sz="2350" dirty="0">
              <a:latin typeface="Microsoft Sans Serif"/>
              <a:cs typeface="Microsoft Sans Serif"/>
            </a:endParaRPr>
          </a:p>
          <a:p>
            <a:pPr marL="303530" indent="-291465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  <a:tab pos="304165" algn="l"/>
              </a:tabLst>
            </a:pPr>
            <a:r>
              <a:rPr sz="2350" spc="5" dirty="0">
                <a:latin typeface="Microsoft Sans Serif"/>
                <a:cs typeface="Microsoft Sans Serif"/>
              </a:rPr>
              <a:t>Example</a:t>
            </a:r>
            <a:r>
              <a:rPr sz="2350" spc="-105" dirty="0">
                <a:latin typeface="Microsoft Sans Serif"/>
                <a:cs typeface="Microsoft Sans Serif"/>
              </a:rPr>
              <a:t> </a:t>
            </a:r>
            <a:r>
              <a:rPr sz="2350" spc="-75" dirty="0">
                <a:latin typeface="Microsoft Sans Serif"/>
                <a:cs typeface="Microsoft Sans Serif"/>
              </a:rPr>
              <a:t>-</a:t>
            </a:r>
            <a:endParaRPr sz="2350" dirty="0">
              <a:latin typeface="Microsoft Sans Serif"/>
              <a:cs typeface="Microsoft Sans Serif"/>
            </a:endParaRPr>
          </a:p>
          <a:p>
            <a:pPr marL="303530">
              <a:lnSpc>
                <a:spcPct val="100000"/>
              </a:lnSpc>
              <a:spcBef>
                <a:spcPts val="700"/>
              </a:spcBef>
            </a:pP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spc="20" dirty="0">
                <a:latin typeface="Microsoft Sans Serif"/>
                <a:cs typeface="Microsoft Sans Serif"/>
              </a:rPr>
              <a:t>name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spc="-30" dirty="0">
                <a:latin typeface="Microsoft Sans Serif"/>
                <a:cs typeface="Microsoft Sans Serif"/>
              </a:rPr>
              <a:t>=</a:t>
            </a:r>
            <a:r>
              <a:rPr sz="2350" spc="-90" dirty="0">
                <a:latin typeface="Microsoft Sans Serif"/>
                <a:cs typeface="Microsoft Sans Serif"/>
              </a:rPr>
              <a:t> </a:t>
            </a:r>
            <a:r>
              <a:rPr sz="2350" spc="-5" dirty="0">
                <a:latin typeface="Microsoft Sans Serif"/>
                <a:cs typeface="Microsoft Sans Serif"/>
              </a:rPr>
              <a:t>‘</a:t>
            </a:r>
            <a:r>
              <a:rPr lang="en-US" sz="2350" spc="-5" dirty="0">
                <a:latin typeface="Microsoft Sans Serif"/>
                <a:cs typeface="Microsoft Sans Serif"/>
              </a:rPr>
              <a:t>Howell</a:t>
            </a:r>
            <a:r>
              <a:rPr sz="2350" spc="-5" dirty="0">
                <a:latin typeface="Microsoft Sans Serif"/>
                <a:cs typeface="Microsoft Sans Serif"/>
              </a:rPr>
              <a:t>';</a:t>
            </a:r>
            <a:endParaRPr sz="2350" dirty="0">
              <a:latin typeface="Microsoft Sans Serif"/>
              <a:cs typeface="Microsoft Sans Serif"/>
            </a:endParaRPr>
          </a:p>
          <a:p>
            <a:pPr marL="303530" marR="2185670">
              <a:lnSpc>
                <a:spcPts val="3529"/>
              </a:lnSpc>
              <a:spcBef>
                <a:spcPts val="235"/>
              </a:spcBef>
            </a:pPr>
            <a:r>
              <a:rPr sz="2350" spc="260" dirty="0">
                <a:latin typeface="Microsoft Sans Serif"/>
                <a:cs typeface="Microsoft Sans Serif"/>
              </a:rPr>
              <a:t>//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variable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45" dirty="0">
                <a:latin typeface="Microsoft Sans Serif"/>
                <a:cs typeface="Microsoft Sans Serif"/>
              </a:rPr>
              <a:t>without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105" dirty="0">
                <a:latin typeface="Microsoft Sans Serif"/>
                <a:cs typeface="Microsoft Sans Serif"/>
              </a:rPr>
              <a:t>type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70" dirty="0">
                <a:latin typeface="Microsoft Sans Serif"/>
                <a:cs typeface="Microsoft Sans Serif"/>
              </a:rPr>
              <a:t>annotation. </a:t>
            </a:r>
            <a:r>
              <a:rPr sz="2350" spc="-610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50" dirty="0">
                <a:latin typeface="Microsoft Sans Serif"/>
                <a:cs typeface="Microsoft Sans Serif"/>
              </a:rPr>
              <a:t>String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10" dirty="0">
                <a:latin typeface="Microsoft Sans Serif"/>
                <a:cs typeface="Microsoft Sans Serif"/>
              </a:rPr>
              <a:t>msg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-30" dirty="0">
                <a:latin typeface="Microsoft Sans Serif"/>
                <a:cs typeface="Microsoft Sans Serif"/>
              </a:rPr>
              <a:t>=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'Hi?';</a:t>
            </a:r>
            <a:endParaRPr sz="2350" dirty="0">
              <a:latin typeface="Microsoft Sans Serif"/>
              <a:cs typeface="Microsoft Sans Serif"/>
            </a:endParaRPr>
          </a:p>
          <a:p>
            <a:pPr marL="303530">
              <a:lnSpc>
                <a:spcPct val="100000"/>
              </a:lnSpc>
              <a:spcBef>
                <a:spcPts val="465"/>
              </a:spcBef>
            </a:pPr>
            <a:r>
              <a:rPr sz="2350" spc="260" dirty="0">
                <a:latin typeface="Microsoft Sans Serif"/>
                <a:cs typeface="Microsoft Sans Serif"/>
              </a:rPr>
              <a:t>//</a:t>
            </a:r>
            <a:r>
              <a:rPr sz="2350" spc="-8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final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variable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140" dirty="0">
                <a:latin typeface="Microsoft Sans Serif"/>
                <a:cs typeface="Microsoft Sans Serif"/>
              </a:rPr>
              <a:t>with</a:t>
            </a:r>
            <a:r>
              <a:rPr sz="2350" spc="-80" dirty="0">
                <a:latin typeface="Microsoft Sans Serif"/>
                <a:cs typeface="Microsoft Sans Serif"/>
              </a:rPr>
              <a:t> </a:t>
            </a:r>
            <a:r>
              <a:rPr sz="2350" spc="105" dirty="0">
                <a:latin typeface="Microsoft Sans Serif"/>
                <a:cs typeface="Microsoft Sans Serif"/>
              </a:rPr>
              <a:t>type</a:t>
            </a:r>
            <a:r>
              <a:rPr sz="2350" spc="-75" dirty="0">
                <a:latin typeface="Microsoft Sans Serif"/>
                <a:cs typeface="Microsoft Sans Serif"/>
              </a:rPr>
              <a:t> </a:t>
            </a:r>
            <a:r>
              <a:rPr sz="2350" spc="70" dirty="0">
                <a:latin typeface="Microsoft Sans Serif"/>
                <a:cs typeface="Microsoft Sans Serif"/>
              </a:rPr>
              <a:t>annotation.</a:t>
            </a:r>
            <a:endParaRPr sz="23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20" dirty="0"/>
              <a:t>Final</a:t>
            </a:r>
            <a:r>
              <a:rPr spc="-170" dirty="0"/>
              <a:t> </a:t>
            </a:r>
            <a:r>
              <a:rPr spc="15" dirty="0"/>
              <a:t>and</a:t>
            </a:r>
            <a:r>
              <a:rPr spc="-160" dirty="0"/>
              <a:t> </a:t>
            </a:r>
            <a:r>
              <a:rPr spc="60" dirty="0"/>
              <a:t>const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27034" cy="3884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75565" indent="-305435">
              <a:lnSpc>
                <a:spcPct val="1014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17500" algn="l"/>
                <a:tab pos="31813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 </a:t>
            </a:r>
            <a:r>
              <a:rPr sz="2450" spc="55" dirty="0">
                <a:latin typeface="Microsoft Sans Serif"/>
                <a:cs typeface="Microsoft Sans Serif"/>
              </a:rPr>
              <a:t>const </a:t>
            </a:r>
            <a:r>
              <a:rPr sz="2450" spc="-30" dirty="0">
                <a:latin typeface="Microsoft Sans Serif"/>
                <a:cs typeface="Microsoft Sans Serif"/>
              </a:rPr>
              <a:t>is </a:t>
            </a:r>
            <a:r>
              <a:rPr sz="2450" spc="15" dirty="0">
                <a:latin typeface="Microsoft Sans Serif"/>
                <a:cs typeface="Microsoft Sans Serif"/>
              </a:rPr>
              <a:t>used </a:t>
            </a:r>
            <a:r>
              <a:rPr sz="2450" spc="204" dirty="0">
                <a:latin typeface="Microsoft Sans Serif"/>
                <a:cs typeface="Microsoft Sans Serif"/>
              </a:rPr>
              <a:t>to </a:t>
            </a:r>
            <a:r>
              <a:rPr sz="2450" spc="60" dirty="0">
                <a:latin typeface="Microsoft Sans Serif"/>
                <a:cs typeface="Microsoft Sans Serif"/>
              </a:rPr>
              <a:t>create </a:t>
            </a:r>
            <a:r>
              <a:rPr sz="2450" spc="70" dirty="0">
                <a:latin typeface="Microsoft Sans Serif"/>
                <a:cs typeface="Microsoft Sans Serif"/>
              </a:rPr>
              <a:t>compile-time </a:t>
            </a:r>
            <a:r>
              <a:rPr sz="2450" spc="40" dirty="0">
                <a:latin typeface="Microsoft Sans Serif"/>
                <a:cs typeface="Microsoft Sans Serif"/>
              </a:rPr>
              <a:t>constants. </a:t>
            </a:r>
            <a:r>
              <a:rPr sz="2450" spc="45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We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can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35" dirty="0">
                <a:latin typeface="Microsoft Sans Serif"/>
                <a:cs typeface="Microsoft Sans Serif"/>
              </a:rPr>
              <a:t>declare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65" dirty="0">
                <a:latin typeface="Microsoft Sans Serif"/>
                <a:cs typeface="Microsoft Sans Serif"/>
              </a:rPr>
              <a:t>a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35" dirty="0">
                <a:latin typeface="Microsoft Sans Serif"/>
                <a:cs typeface="Microsoft Sans Serif"/>
              </a:rPr>
              <a:t>value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204" dirty="0">
                <a:latin typeface="Microsoft Sans Serif"/>
                <a:cs typeface="Microsoft Sans Serif"/>
              </a:rPr>
              <a:t>to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70" dirty="0">
                <a:latin typeface="Microsoft Sans Serif"/>
                <a:cs typeface="Microsoft Sans Serif"/>
              </a:rPr>
              <a:t>compile-time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constant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such </a:t>
            </a:r>
            <a:r>
              <a:rPr sz="2450" spc="-635" dirty="0">
                <a:latin typeface="Microsoft Sans Serif"/>
                <a:cs typeface="Microsoft Sans Serif"/>
              </a:rPr>
              <a:t> </a:t>
            </a:r>
            <a:r>
              <a:rPr sz="2450" spc="-90" dirty="0">
                <a:latin typeface="Microsoft Sans Serif"/>
                <a:cs typeface="Microsoft Sans Serif"/>
              </a:rPr>
              <a:t>as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n</a:t>
            </a:r>
            <a:r>
              <a:rPr sz="2450" spc="55" dirty="0">
                <a:latin typeface="Microsoft Sans Serif"/>
                <a:cs typeface="Microsoft Sans Serif"/>
              </a:rPr>
              <a:t>u</a:t>
            </a:r>
            <a:r>
              <a:rPr sz="2450" spc="95" dirty="0">
                <a:latin typeface="Microsoft Sans Serif"/>
                <a:cs typeface="Microsoft Sans Serif"/>
              </a:rPr>
              <a:t>m</a:t>
            </a:r>
            <a:r>
              <a:rPr sz="2450" spc="90" dirty="0">
                <a:latin typeface="Microsoft Sans Serif"/>
                <a:cs typeface="Microsoft Sans Serif"/>
              </a:rPr>
              <a:t>b</a:t>
            </a:r>
            <a:r>
              <a:rPr sz="2450" spc="20" dirty="0">
                <a:latin typeface="Microsoft Sans Serif"/>
                <a:cs typeface="Microsoft Sans Serif"/>
              </a:rPr>
              <a:t>e</a:t>
            </a:r>
            <a:r>
              <a:rPr sz="2450" spc="35" dirty="0">
                <a:latin typeface="Microsoft Sans Serif"/>
                <a:cs typeface="Microsoft Sans Serif"/>
              </a:rPr>
              <a:t>r,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s</a:t>
            </a:r>
            <a:r>
              <a:rPr sz="2450" spc="60" dirty="0">
                <a:latin typeface="Microsoft Sans Serif"/>
                <a:cs typeface="Microsoft Sans Serif"/>
              </a:rPr>
              <a:t>t</a:t>
            </a:r>
            <a:r>
              <a:rPr sz="2450" spc="85" dirty="0">
                <a:latin typeface="Microsoft Sans Serif"/>
                <a:cs typeface="Microsoft Sans Serif"/>
              </a:rPr>
              <a:t>ring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lit</a:t>
            </a:r>
            <a:r>
              <a:rPr sz="2450" spc="225" dirty="0">
                <a:latin typeface="Microsoft Sans Serif"/>
                <a:cs typeface="Microsoft Sans Serif"/>
              </a:rPr>
              <a:t>e</a:t>
            </a:r>
            <a:r>
              <a:rPr sz="2450" spc="30" dirty="0">
                <a:latin typeface="Microsoft Sans Serif"/>
                <a:cs typeface="Microsoft Sans Serif"/>
              </a:rPr>
              <a:t>r</a:t>
            </a:r>
            <a:r>
              <a:rPr sz="2450" spc="40" dirty="0">
                <a:latin typeface="Microsoft Sans Serif"/>
                <a:cs typeface="Microsoft Sans Serif"/>
              </a:rPr>
              <a:t>a</a:t>
            </a:r>
            <a:r>
              <a:rPr sz="2450" spc="125" dirty="0">
                <a:latin typeface="Microsoft Sans Serif"/>
                <a:cs typeface="Microsoft Sans Serif"/>
              </a:rPr>
              <a:t>l</a:t>
            </a:r>
            <a:r>
              <a:rPr sz="2450" spc="-70" dirty="0">
                <a:latin typeface="Microsoft Sans Serif"/>
                <a:cs typeface="Microsoft Sans Serif"/>
              </a:rPr>
              <a:t>,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-65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80" dirty="0">
                <a:latin typeface="Microsoft Sans Serif"/>
                <a:cs typeface="Microsoft Sans Serif"/>
              </a:rPr>
              <a:t>c</a:t>
            </a:r>
            <a:r>
              <a:rPr sz="2450" spc="95" dirty="0">
                <a:latin typeface="Microsoft Sans Serif"/>
                <a:cs typeface="Microsoft Sans Serif"/>
              </a:rPr>
              <a:t>o</a:t>
            </a:r>
            <a:r>
              <a:rPr sz="2450" spc="-30" dirty="0">
                <a:latin typeface="Microsoft Sans Serif"/>
                <a:cs typeface="Microsoft Sans Serif"/>
              </a:rPr>
              <a:t>n</a:t>
            </a:r>
            <a:r>
              <a:rPr sz="2450" spc="-35" dirty="0">
                <a:latin typeface="Microsoft Sans Serif"/>
                <a:cs typeface="Microsoft Sans Serif"/>
              </a:rPr>
              <a:t>s</a:t>
            </a:r>
            <a:r>
              <a:rPr sz="2450" spc="315" dirty="0">
                <a:latin typeface="Microsoft Sans Serif"/>
                <a:cs typeface="Microsoft Sans Serif"/>
              </a:rPr>
              <a:t>t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v</a:t>
            </a:r>
            <a:r>
              <a:rPr sz="2450" spc="60" dirty="0">
                <a:latin typeface="Microsoft Sans Serif"/>
                <a:cs typeface="Microsoft Sans Serif"/>
              </a:rPr>
              <a:t>ar</a:t>
            </a:r>
            <a:r>
              <a:rPr sz="2450" spc="20" dirty="0">
                <a:latin typeface="Microsoft Sans Serif"/>
                <a:cs typeface="Microsoft Sans Serif"/>
              </a:rPr>
              <a:t>i</a:t>
            </a:r>
            <a:r>
              <a:rPr sz="2450" spc="40" dirty="0">
                <a:latin typeface="Microsoft Sans Serif"/>
                <a:cs typeface="Microsoft Sans Serif"/>
              </a:rPr>
              <a:t>abl</a:t>
            </a:r>
            <a:r>
              <a:rPr sz="2450" spc="50" dirty="0">
                <a:latin typeface="Microsoft Sans Serif"/>
                <a:cs typeface="Microsoft Sans Serif"/>
              </a:rPr>
              <a:t>e</a:t>
            </a:r>
            <a:r>
              <a:rPr sz="2450" spc="-70" dirty="0">
                <a:latin typeface="Microsoft Sans Serif"/>
                <a:cs typeface="Microsoft Sans Serif"/>
              </a:rPr>
              <a:t>,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20" dirty="0">
                <a:latin typeface="Microsoft Sans Serif"/>
                <a:cs typeface="Microsoft Sans Serif"/>
              </a:rPr>
              <a:t>e</a:t>
            </a:r>
            <a:r>
              <a:rPr sz="2450" spc="90" dirty="0">
                <a:latin typeface="Microsoft Sans Serif"/>
                <a:cs typeface="Microsoft Sans Serif"/>
              </a:rPr>
              <a:t>t</a:t>
            </a:r>
            <a:r>
              <a:rPr sz="2450" spc="150" dirty="0">
                <a:latin typeface="Microsoft Sans Serif"/>
                <a:cs typeface="Microsoft Sans Serif"/>
              </a:rPr>
              <a:t>c</a:t>
            </a:r>
            <a:r>
              <a:rPr sz="2450" spc="-70" dirty="0">
                <a:latin typeface="Microsoft Sans Serif"/>
                <a:cs typeface="Microsoft Sans Serif"/>
              </a:rPr>
              <a:t>.</a:t>
            </a:r>
            <a:endParaRPr sz="2450">
              <a:latin typeface="Microsoft Sans Serif"/>
              <a:cs typeface="Microsoft Sans Serif"/>
            </a:endParaRPr>
          </a:p>
          <a:p>
            <a:pPr marL="317500">
              <a:lnSpc>
                <a:spcPct val="100000"/>
              </a:lnSpc>
              <a:spcBef>
                <a:spcPts val="750"/>
              </a:spcBef>
            </a:pPr>
            <a:r>
              <a:rPr sz="2450" spc="-80" dirty="0">
                <a:latin typeface="Microsoft Sans Serif"/>
                <a:cs typeface="Microsoft Sans Serif"/>
              </a:rPr>
              <a:t>c</a:t>
            </a:r>
            <a:r>
              <a:rPr sz="2450" spc="15" dirty="0">
                <a:latin typeface="Microsoft Sans Serif"/>
                <a:cs typeface="Microsoft Sans Serif"/>
              </a:rPr>
              <a:t>on</a:t>
            </a:r>
            <a:r>
              <a:rPr sz="2450" spc="5" dirty="0">
                <a:latin typeface="Microsoft Sans Serif"/>
                <a:cs typeface="Microsoft Sans Serif"/>
              </a:rPr>
              <a:t>s</a:t>
            </a:r>
            <a:r>
              <a:rPr sz="2450" spc="315" dirty="0">
                <a:latin typeface="Microsoft Sans Serif"/>
                <a:cs typeface="Microsoft Sans Serif"/>
              </a:rPr>
              <a:t>t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65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=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1</a:t>
            </a:r>
            <a:r>
              <a:rPr sz="2450" spc="35" dirty="0">
                <a:latin typeface="Microsoft Sans Serif"/>
                <a:cs typeface="Microsoft Sans Serif"/>
              </a:rPr>
              <a:t>00</a:t>
            </a:r>
            <a:r>
              <a:rPr sz="2450" spc="40" dirty="0">
                <a:latin typeface="Microsoft Sans Serif"/>
                <a:cs typeface="Microsoft Sans Serif"/>
              </a:rPr>
              <a:t>0</a:t>
            </a:r>
            <a:r>
              <a:rPr sz="2450" spc="-70" dirty="0">
                <a:latin typeface="Microsoft Sans Serif"/>
                <a:cs typeface="Microsoft Sans Serif"/>
              </a:rPr>
              <a:t>;</a:t>
            </a:r>
            <a:endParaRPr sz="2450">
              <a:latin typeface="Microsoft Sans Serif"/>
              <a:cs typeface="Microsoft Sans Serif"/>
            </a:endParaRPr>
          </a:p>
          <a:p>
            <a:pPr marL="317500" marR="372110" indent="-305435">
              <a:lnSpc>
                <a:spcPct val="101699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•"/>
              <a:tabLst>
                <a:tab pos="317500" algn="l"/>
                <a:tab pos="31813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const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keyword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is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also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5" dirty="0">
                <a:latin typeface="Microsoft Sans Serif"/>
                <a:cs typeface="Microsoft Sans Serif"/>
              </a:rPr>
              <a:t>used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210" dirty="0">
                <a:latin typeface="Microsoft Sans Serif"/>
                <a:cs typeface="Microsoft Sans Serif"/>
              </a:rPr>
              <a:t>to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create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65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constant </a:t>
            </a:r>
            <a:r>
              <a:rPr sz="2450" spc="-635" dirty="0">
                <a:latin typeface="Microsoft Sans Serif"/>
                <a:cs typeface="Microsoft Sans Serif"/>
              </a:rPr>
              <a:t> </a:t>
            </a:r>
            <a:r>
              <a:rPr sz="2450" spc="30" dirty="0">
                <a:latin typeface="Microsoft Sans Serif"/>
                <a:cs typeface="Microsoft Sans Serif"/>
              </a:rPr>
              <a:t>value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50" dirty="0">
                <a:latin typeface="Microsoft Sans Serif"/>
                <a:cs typeface="Microsoft Sans Serif"/>
              </a:rPr>
              <a:t>that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cannot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be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20" dirty="0">
                <a:latin typeface="Microsoft Sans Serif"/>
                <a:cs typeface="Microsoft Sans Serif"/>
              </a:rPr>
              <a:t>changed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35" dirty="0">
                <a:latin typeface="Microsoft Sans Serif"/>
                <a:cs typeface="Microsoft Sans Serif"/>
              </a:rPr>
              <a:t>after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its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creation.</a:t>
            </a:r>
            <a:endParaRPr sz="2450">
              <a:latin typeface="Microsoft Sans Serif"/>
              <a:cs typeface="Microsoft Sans Serif"/>
            </a:endParaRPr>
          </a:p>
          <a:p>
            <a:pPr marL="317500">
              <a:lnSpc>
                <a:spcPct val="100000"/>
              </a:lnSpc>
              <a:spcBef>
                <a:spcPts val="750"/>
              </a:spcBef>
            </a:pPr>
            <a:r>
              <a:rPr sz="2450" spc="30" dirty="0">
                <a:latin typeface="Microsoft Sans Serif"/>
                <a:cs typeface="Microsoft Sans Serif"/>
              </a:rPr>
              <a:t>var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280" dirty="0">
                <a:latin typeface="Microsoft Sans Serif"/>
                <a:cs typeface="Microsoft Sans Serif"/>
              </a:rPr>
              <a:t>f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=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const[];</a:t>
            </a:r>
            <a:endParaRPr sz="2450">
              <a:latin typeface="Microsoft Sans Serif"/>
              <a:cs typeface="Microsoft Sans Serif"/>
            </a:endParaRPr>
          </a:p>
          <a:p>
            <a:pPr marL="317500" indent="-305435">
              <a:lnSpc>
                <a:spcPct val="100000"/>
              </a:lnSpc>
              <a:spcBef>
                <a:spcPts val="750"/>
              </a:spcBef>
              <a:buClr>
                <a:srgbClr val="6697CC"/>
              </a:buClr>
              <a:buFont typeface="Arial MT"/>
              <a:buChar char="•"/>
              <a:tabLst>
                <a:tab pos="317500" algn="l"/>
                <a:tab pos="318135" algn="l"/>
              </a:tabLst>
            </a:pPr>
            <a:r>
              <a:rPr sz="2450" spc="130" dirty="0">
                <a:latin typeface="Microsoft Sans Serif"/>
                <a:cs typeface="Microsoft Sans Serif"/>
              </a:rPr>
              <a:t>If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90" dirty="0">
                <a:latin typeface="Microsoft Sans Serif"/>
                <a:cs typeface="Microsoft Sans Serif"/>
              </a:rPr>
              <a:t>we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55" dirty="0">
                <a:latin typeface="Microsoft Sans Serif"/>
                <a:cs typeface="Microsoft Sans Serif"/>
              </a:rPr>
              <a:t>try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204" dirty="0">
                <a:latin typeface="Microsoft Sans Serif"/>
                <a:cs typeface="Microsoft Sans Serif"/>
              </a:rPr>
              <a:t>to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change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it,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then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90" dirty="0">
                <a:latin typeface="Microsoft Sans Serif"/>
                <a:cs typeface="Microsoft Sans Serif"/>
              </a:rPr>
              <a:t>it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14" dirty="0">
                <a:latin typeface="Microsoft Sans Serif"/>
                <a:cs typeface="Microsoft Sans Serif"/>
              </a:rPr>
              <a:t>will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150" dirty="0">
                <a:latin typeface="Microsoft Sans Serif"/>
                <a:cs typeface="Microsoft Sans Serif"/>
              </a:rPr>
              <a:t>throw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error.</a:t>
            </a:r>
            <a:endParaRPr sz="2450">
              <a:latin typeface="Microsoft Sans Serif"/>
              <a:cs typeface="Microsoft Sans Serif"/>
            </a:endParaRPr>
          </a:p>
          <a:p>
            <a:pPr marL="317500">
              <a:lnSpc>
                <a:spcPct val="100000"/>
              </a:lnSpc>
              <a:spcBef>
                <a:spcPts val="750"/>
              </a:spcBef>
              <a:tabLst>
                <a:tab pos="1695450" algn="l"/>
              </a:tabLst>
            </a:pPr>
            <a:r>
              <a:rPr sz="2450" spc="280" dirty="0">
                <a:latin typeface="Microsoft Sans Serif"/>
                <a:cs typeface="Microsoft Sans Serif"/>
              </a:rPr>
              <a:t>f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=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[12];	</a:t>
            </a:r>
            <a:r>
              <a:rPr sz="2450" spc="95" dirty="0">
                <a:latin typeface="Microsoft Sans Serif"/>
                <a:cs typeface="Microsoft Sans Serif"/>
              </a:rPr>
              <a:t>//Error,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const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variable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cannot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be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change</a:t>
            </a:r>
            <a:endParaRPr sz="2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80" dirty="0"/>
              <a:t>Operators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05" y="1511642"/>
            <a:ext cx="6248514" cy="44535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Arithmetic</a:t>
            </a:r>
            <a:r>
              <a:rPr spc="-155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914400"/>
            <a:ext cx="1574800" cy="32137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355600" algn="l"/>
              </a:tabLst>
            </a:pPr>
            <a:endParaRPr sz="4200" baseline="-2976" dirty="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4200" spc="-150" baseline="-2976" dirty="0">
                <a:latin typeface="Microsoft Sans Serif"/>
                <a:cs typeface="Microsoft Sans Serif"/>
              </a:rPr>
              <a:t>+</a:t>
            </a: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4200" spc="-150" baseline="-2976" dirty="0">
                <a:latin typeface="Microsoft Sans Serif"/>
                <a:cs typeface="Microsoft Sans Serif"/>
              </a:rPr>
              <a:t>-</a:t>
            </a:r>
            <a:endParaRPr sz="4200" baseline="-2976" dirty="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375" baseline="-2976" dirty="0">
                <a:latin typeface="Microsoft Sans Serif"/>
                <a:cs typeface="Microsoft Sans Serif"/>
              </a:rPr>
              <a:t>*</a:t>
            </a:r>
            <a:endParaRPr sz="4200" baseline="-2976" dirty="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442" baseline="-2976" dirty="0">
                <a:latin typeface="Microsoft Sans Serif"/>
                <a:cs typeface="Microsoft Sans Serif"/>
              </a:rPr>
              <a:t>/</a:t>
            </a:r>
            <a:endParaRPr sz="4200" baseline="-2976" dirty="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-135" baseline="-2976" dirty="0">
                <a:latin typeface="Microsoft Sans Serif"/>
                <a:cs typeface="Microsoft Sans Serif"/>
              </a:rPr>
              <a:t>%</a:t>
            </a:r>
            <a:endParaRPr sz="4200" baseline="-2976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Arithmetic</a:t>
            </a:r>
            <a:r>
              <a:rPr spc="-155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297" y="1439544"/>
            <a:ext cx="5575935" cy="45986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200" spc="55" dirty="0">
                <a:latin typeface="Microsoft Sans Serif"/>
                <a:cs typeface="Microsoft Sans Serif"/>
              </a:rPr>
              <a:t>void</a:t>
            </a:r>
            <a:r>
              <a:rPr sz="2200" spc="-110" dirty="0">
                <a:latin typeface="Microsoft Sans Serif"/>
                <a:cs typeface="Microsoft Sans Serif"/>
              </a:rPr>
              <a:t> </a:t>
            </a:r>
            <a:r>
              <a:rPr sz="2200" spc="5" dirty="0">
                <a:latin typeface="Microsoft Sans Serif"/>
                <a:cs typeface="Microsoft Sans Serif"/>
              </a:rPr>
              <a:t>main(){</a:t>
            </a:r>
            <a:endParaRPr sz="2200">
              <a:latin typeface="Microsoft Sans Serif"/>
              <a:cs typeface="Microsoft Sans Serif"/>
            </a:endParaRPr>
          </a:p>
          <a:p>
            <a:pPr marL="143510" marR="5080">
              <a:lnSpc>
                <a:spcPts val="3279"/>
              </a:lnSpc>
              <a:spcBef>
                <a:spcPts val="204"/>
              </a:spcBef>
            </a:pPr>
            <a:r>
              <a:rPr sz="2200" spc="45" dirty="0">
                <a:latin typeface="Microsoft Sans Serif"/>
                <a:cs typeface="Microsoft Sans Serif"/>
              </a:rPr>
              <a:t>print("Example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160" dirty="0">
                <a:latin typeface="Microsoft Sans Serif"/>
                <a:cs typeface="Microsoft Sans Serif"/>
              </a:rPr>
              <a:t>of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Assignment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operators"); </a:t>
            </a:r>
            <a:r>
              <a:rPr sz="2200" spc="-570" dirty="0">
                <a:latin typeface="Microsoft Sans Serif"/>
                <a:cs typeface="Microsoft Sans Serif"/>
              </a:rPr>
              <a:t> </a:t>
            </a:r>
            <a:r>
              <a:rPr sz="2200" spc="15" dirty="0">
                <a:latin typeface="Microsoft Sans Serif"/>
                <a:cs typeface="Microsoft Sans Serif"/>
              </a:rPr>
              <a:t>var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n1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-40" dirty="0">
                <a:latin typeface="Microsoft Sans Serif"/>
                <a:cs typeface="Microsoft Sans Serif"/>
              </a:rPr>
              <a:t>=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10;</a:t>
            </a:r>
            <a:endParaRPr sz="2200">
              <a:latin typeface="Microsoft Sans Serif"/>
              <a:cs typeface="Microsoft Sans Serif"/>
            </a:endParaRPr>
          </a:p>
          <a:p>
            <a:pPr marL="143510">
              <a:lnSpc>
                <a:spcPct val="100000"/>
              </a:lnSpc>
              <a:spcBef>
                <a:spcPts val="415"/>
              </a:spcBef>
            </a:pPr>
            <a:r>
              <a:rPr sz="2200" spc="15" dirty="0">
                <a:latin typeface="Microsoft Sans Serif"/>
                <a:cs typeface="Microsoft Sans Serif"/>
              </a:rPr>
              <a:t>var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n2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-40" dirty="0">
                <a:latin typeface="Microsoft Sans Serif"/>
                <a:cs typeface="Microsoft Sans Serif"/>
              </a:rPr>
              <a:t>=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5;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Microsoft Sans Serif"/>
              <a:cs typeface="Microsoft Sans Serif"/>
            </a:endParaRPr>
          </a:p>
          <a:p>
            <a:pPr marL="143510" marR="1924685">
              <a:lnSpc>
                <a:spcPct val="123900"/>
              </a:lnSpc>
              <a:spcBef>
                <a:spcPts val="5"/>
              </a:spcBef>
            </a:pPr>
            <a:r>
              <a:rPr sz="2200" spc="65" dirty="0">
                <a:latin typeface="Microsoft Sans Serif"/>
                <a:cs typeface="Microsoft Sans Serif"/>
              </a:rPr>
              <a:t>print("n1+n2 </a:t>
            </a:r>
            <a:r>
              <a:rPr sz="2200" spc="-40" dirty="0">
                <a:latin typeface="Microsoft Sans Serif"/>
                <a:cs typeface="Microsoft Sans Serif"/>
              </a:rPr>
              <a:t>= </a:t>
            </a:r>
            <a:r>
              <a:rPr sz="2200" spc="10" dirty="0">
                <a:latin typeface="Microsoft Sans Serif"/>
                <a:cs typeface="Microsoft Sans Serif"/>
              </a:rPr>
              <a:t>${n1+n2}"); 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print("n1-n2 </a:t>
            </a:r>
            <a:r>
              <a:rPr sz="2200" spc="-40" dirty="0">
                <a:latin typeface="Microsoft Sans Serif"/>
                <a:cs typeface="Microsoft Sans Serif"/>
              </a:rPr>
              <a:t>= </a:t>
            </a:r>
            <a:r>
              <a:rPr sz="2200" spc="10" dirty="0">
                <a:latin typeface="Microsoft Sans Serif"/>
                <a:cs typeface="Microsoft Sans Serif"/>
              </a:rPr>
              <a:t>${n1-n2}"); 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print("n1*n2 </a:t>
            </a:r>
            <a:r>
              <a:rPr sz="2200" spc="-40" dirty="0">
                <a:latin typeface="Microsoft Sans Serif"/>
                <a:cs typeface="Microsoft Sans Serif"/>
              </a:rPr>
              <a:t>= </a:t>
            </a:r>
            <a:r>
              <a:rPr sz="2200" spc="35" dirty="0">
                <a:latin typeface="Microsoft Sans Serif"/>
                <a:cs typeface="Microsoft Sans Serif"/>
              </a:rPr>
              <a:t>${n1*n2}"); 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print("n1/n2 </a:t>
            </a:r>
            <a:r>
              <a:rPr sz="2200" spc="-40" dirty="0">
                <a:latin typeface="Microsoft Sans Serif"/>
                <a:cs typeface="Microsoft Sans Serif"/>
              </a:rPr>
              <a:t>= </a:t>
            </a:r>
            <a:r>
              <a:rPr sz="2200" spc="40" dirty="0">
                <a:latin typeface="Microsoft Sans Serif"/>
                <a:cs typeface="Microsoft Sans Serif"/>
              </a:rPr>
              <a:t>${n1/n2}"); </a:t>
            </a:r>
            <a:r>
              <a:rPr sz="2200" spc="4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print("n1%n2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-40" dirty="0">
                <a:latin typeface="Microsoft Sans Serif"/>
                <a:cs typeface="Microsoft Sans Serif"/>
              </a:rPr>
              <a:t>=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10" dirty="0">
                <a:latin typeface="Microsoft Sans Serif"/>
                <a:cs typeface="Microsoft Sans Serif"/>
              </a:rPr>
              <a:t>${n1%n2}");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200" dirty="0">
                <a:latin typeface="Microsoft Sans Serif"/>
                <a:cs typeface="Microsoft Sans Serif"/>
              </a:rPr>
              <a:t>}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80" dirty="0"/>
              <a:t>Increment</a:t>
            </a:r>
            <a:r>
              <a:rPr spc="-155" dirty="0"/>
              <a:t> </a:t>
            </a:r>
            <a:r>
              <a:rPr spc="15" dirty="0"/>
              <a:t>and</a:t>
            </a:r>
            <a:r>
              <a:rPr spc="-150" dirty="0"/>
              <a:t> </a:t>
            </a:r>
            <a:r>
              <a:rPr spc="70" dirty="0"/>
              <a:t>Decrement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87995" cy="4512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675" marR="869950" indent="-308610">
              <a:lnSpc>
                <a:spcPct val="100499"/>
              </a:lnSpc>
              <a:spcBef>
                <a:spcPts val="105"/>
              </a:spcBef>
              <a:tabLst>
                <a:tab pos="320675" algn="l"/>
              </a:tabLst>
            </a:pPr>
            <a:r>
              <a:rPr sz="3750" spc="7" baseline="3333" dirty="0">
                <a:solidFill>
                  <a:srgbClr val="6697CC"/>
                </a:solidFill>
                <a:latin typeface="Arial MT"/>
                <a:cs typeface="Arial MT"/>
              </a:rPr>
              <a:t>•	</a:t>
            </a:r>
            <a:r>
              <a:rPr sz="2500" spc="-55" dirty="0">
                <a:latin typeface="Microsoft Sans Serif"/>
                <a:cs typeface="Microsoft Sans Serif"/>
              </a:rPr>
              <a:t>+</a:t>
            </a:r>
            <a:r>
              <a:rPr sz="2500" spc="-40" dirty="0">
                <a:latin typeface="Microsoft Sans Serif"/>
                <a:cs typeface="Microsoft Sans Serif"/>
              </a:rPr>
              <a:t>+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75" dirty="0">
                <a:latin typeface="Microsoft Sans Serif"/>
                <a:cs typeface="Microsoft Sans Serif"/>
              </a:rPr>
              <a:t>nd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85" dirty="0">
                <a:latin typeface="Microsoft Sans Serif"/>
                <a:cs typeface="Microsoft Sans Serif"/>
              </a:rPr>
              <a:t>-</a:t>
            </a:r>
            <a:r>
              <a:rPr sz="2500" spc="-80" dirty="0">
                <a:latin typeface="Microsoft Sans Serif"/>
                <a:cs typeface="Microsoft Sans Serif"/>
              </a:rPr>
              <a:t>-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85" dirty="0">
                <a:latin typeface="Microsoft Sans Serif"/>
                <a:cs typeface="Microsoft Sans Serif"/>
              </a:rPr>
              <a:t>o</a:t>
            </a:r>
            <a:r>
              <a:rPr sz="2500" spc="90" dirty="0">
                <a:latin typeface="Microsoft Sans Serif"/>
                <a:cs typeface="Microsoft Sans Serif"/>
              </a:rPr>
              <a:t>p</a:t>
            </a:r>
            <a:r>
              <a:rPr sz="2500" spc="95" dirty="0">
                <a:latin typeface="Microsoft Sans Serif"/>
                <a:cs typeface="Microsoft Sans Serif"/>
              </a:rPr>
              <a:t>e</a:t>
            </a:r>
            <a:r>
              <a:rPr sz="2500" spc="50" dirty="0">
                <a:latin typeface="Microsoft Sans Serif"/>
                <a:cs typeface="Microsoft Sans Serif"/>
              </a:rPr>
              <a:t>r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300" dirty="0">
                <a:latin typeface="Microsoft Sans Serif"/>
                <a:cs typeface="Microsoft Sans Serif"/>
              </a:rPr>
              <a:t>t</a:t>
            </a:r>
            <a:r>
              <a:rPr sz="2500" spc="145" dirty="0">
                <a:latin typeface="Microsoft Sans Serif"/>
                <a:cs typeface="Microsoft Sans Serif"/>
              </a:rPr>
              <a:t>o</a:t>
            </a:r>
            <a:r>
              <a:rPr sz="2500" spc="90" dirty="0">
                <a:latin typeface="Microsoft Sans Serif"/>
                <a:cs typeface="Microsoft Sans Serif"/>
              </a:rPr>
              <a:t>r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135" dirty="0">
                <a:latin typeface="Microsoft Sans Serif"/>
                <a:cs typeface="Microsoft Sans Serif"/>
              </a:rPr>
              <a:t>r</a:t>
            </a:r>
            <a:r>
              <a:rPr sz="2500" spc="15" dirty="0">
                <a:latin typeface="Microsoft Sans Serif"/>
                <a:cs typeface="Microsoft Sans Serif"/>
              </a:rPr>
              <a:t>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65" dirty="0">
                <a:latin typeface="Microsoft Sans Serif"/>
                <a:cs typeface="Microsoft Sans Serif"/>
              </a:rPr>
              <a:t>kn</a:t>
            </a:r>
            <a:r>
              <a:rPr sz="2500" spc="85" dirty="0">
                <a:latin typeface="Microsoft Sans Serif"/>
                <a:cs typeface="Microsoft Sans Serif"/>
              </a:rPr>
              <a:t>o</a:t>
            </a:r>
            <a:r>
              <a:rPr sz="2500" spc="100" dirty="0">
                <a:latin typeface="Microsoft Sans Serif"/>
                <a:cs typeface="Microsoft Sans Serif"/>
              </a:rPr>
              <a:t>wn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i</a:t>
            </a:r>
            <a:r>
              <a:rPr sz="2500" spc="65" dirty="0">
                <a:latin typeface="Microsoft Sans Serif"/>
                <a:cs typeface="Microsoft Sans Serif"/>
              </a:rPr>
              <a:t>n</a:t>
            </a:r>
            <a:r>
              <a:rPr sz="2500" spc="-85" dirty="0">
                <a:latin typeface="Microsoft Sans Serif"/>
                <a:cs typeface="Microsoft Sans Serif"/>
              </a:rPr>
              <a:t>c</a:t>
            </a:r>
            <a:r>
              <a:rPr sz="2500" spc="135" dirty="0">
                <a:latin typeface="Microsoft Sans Serif"/>
                <a:cs typeface="Microsoft Sans Serif"/>
              </a:rPr>
              <a:t>r</a:t>
            </a:r>
            <a:r>
              <a:rPr sz="2500" spc="40" dirty="0">
                <a:latin typeface="Microsoft Sans Serif"/>
                <a:cs typeface="Microsoft Sans Serif"/>
              </a:rPr>
              <a:t>em</a:t>
            </a:r>
            <a:r>
              <a:rPr sz="2500" spc="25" dirty="0">
                <a:latin typeface="Microsoft Sans Serif"/>
                <a:cs typeface="Microsoft Sans Serif"/>
              </a:rPr>
              <a:t>e</a:t>
            </a:r>
            <a:r>
              <a:rPr sz="2500" spc="185" dirty="0">
                <a:latin typeface="Microsoft Sans Serif"/>
                <a:cs typeface="Microsoft Sans Serif"/>
              </a:rPr>
              <a:t>nt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55" dirty="0">
                <a:latin typeface="Microsoft Sans Serif"/>
                <a:cs typeface="Microsoft Sans Serif"/>
              </a:rPr>
              <a:t>nd  </a:t>
            </a:r>
            <a:r>
              <a:rPr sz="2500" spc="85" dirty="0">
                <a:latin typeface="Microsoft Sans Serif"/>
                <a:cs typeface="Microsoft Sans Serif"/>
              </a:rPr>
              <a:t>d</a:t>
            </a:r>
            <a:r>
              <a:rPr sz="2500" spc="-35" dirty="0">
                <a:latin typeface="Microsoft Sans Serif"/>
                <a:cs typeface="Microsoft Sans Serif"/>
              </a:rPr>
              <a:t>ec</a:t>
            </a:r>
            <a:r>
              <a:rPr sz="2500" spc="145" dirty="0">
                <a:latin typeface="Microsoft Sans Serif"/>
                <a:cs typeface="Microsoft Sans Serif"/>
              </a:rPr>
              <a:t>r</a:t>
            </a:r>
            <a:r>
              <a:rPr sz="2500" spc="5" dirty="0">
                <a:latin typeface="Microsoft Sans Serif"/>
                <a:cs typeface="Microsoft Sans Serif"/>
              </a:rPr>
              <a:t>e</a:t>
            </a:r>
            <a:r>
              <a:rPr sz="2500" spc="120" dirty="0">
                <a:latin typeface="Microsoft Sans Serif"/>
                <a:cs typeface="Microsoft Sans Serif"/>
              </a:rPr>
              <a:t>ment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95" dirty="0">
                <a:latin typeface="Microsoft Sans Serif"/>
                <a:cs typeface="Microsoft Sans Serif"/>
              </a:rPr>
              <a:t>op</a:t>
            </a:r>
            <a:r>
              <a:rPr sz="2500" spc="5" dirty="0">
                <a:latin typeface="Microsoft Sans Serif"/>
                <a:cs typeface="Microsoft Sans Serif"/>
              </a:rPr>
              <a:t>e</a:t>
            </a:r>
            <a:r>
              <a:rPr sz="2500" spc="145" dirty="0">
                <a:latin typeface="Microsoft Sans Serif"/>
                <a:cs typeface="Microsoft Sans Serif"/>
              </a:rPr>
              <a:t>r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300" dirty="0">
                <a:latin typeface="Microsoft Sans Serif"/>
                <a:cs typeface="Microsoft Sans Serif"/>
              </a:rPr>
              <a:t>t</a:t>
            </a:r>
            <a:r>
              <a:rPr sz="2500" spc="145" dirty="0">
                <a:latin typeface="Microsoft Sans Serif"/>
                <a:cs typeface="Microsoft Sans Serif"/>
              </a:rPr>
              <a:t>o</a:t>
            </a:r>
            <a:r>
              <a:rPr sz="2500" spc="80" dirty="0">
                <a:latin typeface="Microsoft Sans Serif"/>
                <a:cs typeface="Microsoft Sans Serif"/>
              </a:rPr>
              <a:t>r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-75" dirty="0">
                <a:latin typeface="Microsoft Sans Serif"/>
                <a:cs typeface="Microsoft Sans Serif"/>
              </a:rPr>
              <a:t> a</a:t>
            </a:r>
            <a:r>
              <a:rPr sz="2500" spc="75" dirty="0">
                <a:latin typeface="Microsoft Sans Serif"/>
                <a:cs typeface="Microsoft Sans Serif"/>
              </a:rPr>
              <a:t>nd</a:t>
            </a:r>
            <a:r>
              <a:rPr sz="2500" spc="-75" dirty="0">
                <a:latin typeface="Microsoft Sans Serif"/>
                <a:cs typeface="Microsoft Sans Serif"/>
              </a:rPr>
              <a:t> a</a:t>
            </a:r>
            <a:r>
              <a:rPr sz="2500" spc="105" dirty="0">
                <a:latin typeface="Microsoft Sans Serif"/>
                <a:cs typeface="Microsoft Sans Serif"/>
              </a:rPr>
              <a:t>l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95" dirty="0">
                <a:latin typeface="Microsoft Sans Serif"/>
                <a:cs typeface="Microsoft Sans Serif"/>
              </a:rPr>
              <a:t>o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65" dirty="0">
                <a:latin typeface="Microsoft Sans Serif"/>
                <a:cs typeface="Microsoft Sans Serif"/>
              </a:rPr>
              <a:t>k</a:t>
            </a:r>
            <a:r>
              <a:rPr sz="2500" spc="90" dirty="0">
                <a:latin typeface="Microsoft Sans Serif"/>
                <a:cs typeface="Microsoft Sans Serif"/>
              </a:rPr>
              <a:t>no</a:t>
            </a:r>
            <a:r>
              <a:rPr sz="2500" spc="110" dirty="0">
                <a:latin typeface="Microsoft Sans Serif"/>
                <a:cs typeface="Microsoft Sans Serif"/>
              </a:rPr>
              <a:t>w</a:t>
            </a:r>
            <a:r>
              <a:rPr sz="2500" spc="55" dirty="0">
                <a:latin typeface="Microsoft Sans Serif"/>
                <a:cs typeface="Microsoft Sans Serif"/>
              </a:rPr>
              <a:t>n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</a:t>
            </a:r>
            <a:r>
              <a:rPr sz="2500" spc="-130" dirty="0">
                <a:latin typeface="Microsoft Sans Serif"/>
                <a:cs typeface="Microsoft Sans Serif"/>
              </a:rPr>
              <a:t>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10" dirty="0">
                <a:latin typeface="Microsoft Sans Serif"/>
                <a:cs typeface="Microsoft Sans Serif"/>
              </a:rPr>
              <a:t>una</a:t>
            </a:r>
            <a:r>
              <a:rPr sz="2500" spc="145" dirty="0">
                <a:latin typeface="Microsoft Sans Serif"/>
                <a:cs typeface="Microsoft Sans Serif"/>
              </a:rPr>
              <a:t>r</a:t>
            </a:r>
            <a:r>
              <a:rPr sz="2500" dirty="0">
                <a:latin typeface="Microsoft Sans Serif"/>
                <a:cs typeface="Microsoft Sans Serif"/>
              </a:rPr>
              <a:t>y  </a:t>
            </a:r>
            <a:r>
              <a:rPr sz="2500" spc="55" dirty="0">
                <a:latin typeface="Microsoft Sans Serif"/>
                <a:cs typeface="Microsoft Sans Serif"/>
              </a:rPr>
              <a:t>operators,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35" dirty="0">
                <a:latin typeface="Microsoft Sans Serif"/>
                <a:cs typeface="Microsoft Sans Serif"/>
              </a:rPr>
              <a:t>respectively.</a:t>
            </a:r>
            <a:endParaRPr sz="2500">
              <a:latin typeface="Microsoft Sans Serif"/>
              <a:cs typeface="Microsoft Sans Serif"/>
            </a:endParaRPr>
          </a:p>
          <a:p>
            <a:pPr marL="320675" marR="5080" indent="-308610">
              <a:lnSpc>
                <a:spcPct val="100499"/>
              </a:lnSpc>
              <a:spcBef>
                <a:spcPts val="715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5" dirty="0">
                <a:latin typeface="Microsoft Sans Serif"/>
                <a:cs typeface="Microsoft Sans Serif"/>
              </a:rPr>
              <a:t>Unary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60" dirty="0">
                <a:latin typeface="Microsoft Sans Serif"/>
                <a:cs typeface="Microsoft Sans Serif"/>
              </a:rPr>
              <a:t>operators,</a:t>
            </a:r>
            <a:r>
              <a:rPr sz="2500" spc="-70" dirty="0">
                <a:latin typeface="Microsoft Sans Serif"/>
                <a:cs typeface="Microsoft Sans Serif"/>
              </a:rPr>
              <a:t> </a:t>
            </a:r>
            <a:r>
              <a:rPr sz="2500" spc="80" dirty="0">
                <a:latin typeface="Microsoft Sans Serif"/>
                <a:cs typeface="Microsoft Sans Serif"/>
              </a:rPr>
              <a:t>operate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75" dirty="0">
                <a:latin typeface="Microsoft Sans Serif"/>
                <a:cs typeface="Microsoft Sans Serif"/>
              </a:rPr>
              <a:t>on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30" dirty="0">
                <a:latin typeface="Microsoft Sans Serif"/>
                <a:cs typeface="Microsoft Sans Serif"/>
              </a:rPr>
              <a:t>single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operand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70" dirty="0">
                <a:latin typeface="Microsoft Sans Serif"/>
                <a:cs typeface="Microsoft Sans Serif"/>
              </a:rPr>
              <a:t>where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45" dirty="0">
                <a:latin typeface="Microsoft Sans Serif"/>
                <a:cs typeface="Microsoft Sans Serif"/>
              </a:rPr>
              <a:t>++ </a:t>
            </a:r>
            <a:r>
              <a:rPr sz="2500" spc="-650" dirty="0">
                <a:latin typeface="Microsoft Sans Serif"/>
                <a:cs typeface="Microsoft Sans Serif"/>
              </a:rPr>
              <a:t> </a:t>
            </a:r>
            <a:r>
              <a:rPr sz="2500" spc="-5" dirty="0">
                <a:latin typeface="Microsoft Sans Serif"/>
                <a:cs typeface="Microsoft Sans Serif"/>
              </a:rPr>
              <a:t>adds </a:t>
            </a:r>
            <a:r>
              <a:rPr sz="2500" spc="30" dirty="0">
                <a:latin typeface="Microsoft Sans Serif"/>
                <a:cs typeface="Microsoft Sans Serif"/>
              </a:rPr>
              <a:t>1 </a:t>
            </a:r>
            <a:r>
              <a:rPr sz="2500" spc="200" dirty="0">
                <a:latin typeface="Microsoft Sans Serif"/>
                <a:cs typeface="Microsoft Sans Serif"/>
              </a:rPr>
              <a:t>to </a:t>
            </a:r>
            <a:r>
              <a:rPr sz="2500" spc="35" dirty="0">
                <a:latin typeface="Microsoft Sans Serif"/>
                <a:cs typeface="Microsoft Sans Serif"/>
              </a:rPr>
              <a:t>operands </a:t>
            </a:r>
            <a:r>
              <a:rPr sz="2500" spc="25" dirty="0">
                <a:latin typeface="Microsoft Sans Serif"/>
                <a:cs typeface="Microsoft Sans Serif"/>
              </a:rPr>
              <a:t>and </a:t>
            </a:r>
            <a:r>
              <a:rPr sz="2500" spc="-80" dirty="0">
                <a:latin typeface="Microsoft Sans Serif"/>
                <a:cs typeface="Microsoft Sans Serif"/>
              </a:rPr>
              <a:t>-- </a:t>
            </a:r>
            <a:r>
              <a:rPr sz="2500" spc="80" dirty="0">
                <a:latin typeface="Microsoft Sans Serif"/>
                <a:cs typeface="Microsoft Sans Serif"/>
              </a:rPr>
              <a:t>subtract </a:t>
            </a:r>
            <a:r>
              <a:rPr sz="2500" spc="30" dirty="0">
                <a:latin typeface="Microsoft Sans Serif"/>
                <a:cs typeface="Microsoft Sans Serif"/>
              </a:rPr>
              <a:t>1 </a:t>
            </a:r>
            <a:r>
              <a:rPr sz="2500" spc="195" dirty="0">
                <a:latin typeface="Microsoft Sans Serif"/>
                <a:cs typeface="Microsoft Sans Serif"/>
              </a:rPr>
              <a:t>to </a:t>
            </a:r>
            <a:r>
              <a:rPr sz="2500" spc="55" dirty="0">
                <a:latin typeface="Microsoft Sans Serif"/>
                <a:cs typeface="Microsoft Sans Serif"/>
              </a:rPr>
              <a:t>operand 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spc="35" dirty="0">
                <a:latin typeface="Microsoft Sans Serif"/>
                <a:cs typeface="Microsoft Sans Serif"/>
              </a:rPr>
              <a:t>respectively.</a:t>
            </a:r>
            <a:endParaRPr sz="2500">
              <a:latin typeface="Microsoft Sans Serif"/>
              <a:cs typeface="Microsoft Sans Serif"/>
            </a:endParaRPr>
          </a:p>
          <a:p>
            <a:pPr marL="320675" marR="6350" indent="-308610">
              <a:lnSpc>
                <a:spcPct val="100299"/>
              </a:lnSpc>
              <a:spcBef>
                <a:spcPts val="730"/>
              </a:spcBef>
              <a:buClr>
                <a:srgbClr val="6697CC"/>
              </a:buClr>
              <a:buFont typeface="Arial MT"/>
              <a:buChar char="•"/>
              <a:tabLst>
                <a:tab pos="320675" algn="l"/>
                <a:tab pos="321310" algn="l"/>
              </a:tabLst>
            </a:pPr>
            <a:r>
              <a:rPr sz="2500" spc="-15" dirty="0">
                <a:latin typeface="Microsoft Sans Serif"/>
                <a:cs typeface="Microsoft Sans Serif"/>
              </a:rPr>
              <a:t>The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35" dirty="0">
                <a:latin typeface="Microsoft Sans Serif"/>
                <a:cs typeface="Microsoft Sans Serif"/>
              </a:rPr>
              <a:t>unary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75" dirty="0">
                <a:latin typeface="Microsoft Sans Serif"/>
                <a:cs typeface="Microsoft Sans Serif"/>
              </a:rPr>
              <a:t>operators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35" dirty="0">
                <a:latin typeface="Microsoft Sans Serif"/>
                <a:cs typeface="Microsoft Sans Serif"/>
              </a:rPr>
              <a:t>can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be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5" dirty="0">
                <a:latin typeface="Microsoft Sans Serif"/>
                <a:cs typeface="Microsoft Sans Serif"/>
              </a:rPr>
              <a:t>used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60" dirty="0">
                <a:latin typeface="Microsoft Sans Serif"/>
                <a:cs typeface="Microsoft Sans Serif"/>
              </a:rPr>
              <a:t>in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80" dirty="0">
                <a:latin typeface="Microsoft Sans Serif"/>
                <a:cs typeface="Microsoft Sans Serif"/>
              </a:rPr>
              <a:t>two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ways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80" dirty="0">
                <a:latin typeface="Microsoft Sans Serif"/>
                <a:cs typeface="Microsoft Sans Serif"/>
              </a:rPr>
              <a:t>- </a:t>
            </a:r>
            <a:r>
              <a:rPr sz="2500" spc="105" dirty="0">
                <a:latin typeface="Microsoft Sans Serif"/>
                <a:cs typeface="Microsoft Sans Serif"/>
              </a:rPr>
              <a:t>postfix </a:t>
            </a:r>
            <a:r>
              <a:rPr sz="2500" spc="-650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and</a:t>
            </a:r>
            <a:r>
              <a:rPr sz="2500" spc="-90" dirty="0">
                <a:latin typeface="Microsoft Sans Serif"/>
                <a:cs typeface="Microsoft Sans Serif"/>
              </a:rPr>
              <a:t> </a:t>
            </a:r>
            <a:r>
              <a:rPr sz="2500" spc="75" dirty="0">
                <a:latin typeface="Microsoft Sans Serif"/>
                <a:cs typeface="Microsoft Sans Serif"/>
              </a:rPr>
              <a:t>prefix.</a:t>
            </a:r>
            <a:endParaRPr sz="2500">
              <a:latin typeface="Microsoft Sans Serif"/>
              <a:cs typeface="Microsoft Sans Serif"/>
            </a:endParaRPr>
          </a:p>
          <a:p>
            <a:pPr marL="320675" marR="69215" indent="-308610" algn="just">
              <a:lnSpc>
                <a:spcPct val="100499"/>
              </a:lnSpc>
              <a:spcBef>
                <a:spcPts val="725"/>
              </a:spcBef>
              <a:buClr>
                <a:srgbClr val="6697CC"/>
              </a:buClr>
              <a:buFont typeface="Arial MT"/>
              <a:buChar char="•"/>
              <a:tabLst>
                <a:tab pos="321310" algn="l"/>
              </a:tabLst>
            </a:pPr>
            <a:r>
              <a:rPr sz="2500" spc="125" dirty="0">
                <a:latin typeface="Microsoft Sans Serif"/>
                <a:cs typeface="Microsoft Sans Serif"/>
              </a:rPr>
              <a:t>If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50" dirty="0">
                <a:latin typeface="Microsoft Sans Serif"/>
                <a:cs typeface="Microsoft Sans Serif"/>
              </a:rPr>
              <a:t>++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35" dirty="0">
                <a:latin typeface="Microsoft Sans Serif"/>
                <a:cs typeface="Microsoft Sans Serif"/>
              </a:rPr>
              <a:t>is</a:t>
            </a:r>
            <a:r>
              <a:rPr sz="2500" spc="-70" dirty="0">
                <a:latin typeface="Microsoft Sans Serif"/>
                <a:cs typeface="Microsoft Sans Serif"/>
              </a:rPr>
              <a:t> </a:t>
            </a:r>
            <a:r>
              <a:rPr sz="2500" spc="5" dirty="0">
                <a:latin typeface="Microsoft Sans Serif"/>
                <a:cs typeface="Microsoft Sans Serif"/>
              </a:rPr>
              <a:t>used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105" dirty="0">
                <a:latin typeface="Microsoft Sans Serif"/>
                <a:cs typeface="Microsoft Sans Serif"/>
              </a:rPr>
              <a:t>as</a:t>
            </a:r>
            <a:r>
              <a:rPr sz="2500" spc="-70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 </a:t>
            </a:r>
            <a:r>
              <a:rPr sz="2500" spc="80" dirty="0">
                <a:latin typeface="Microsoft Sans Serif"/>
                <a:cs typeface="Microsoft Sans Serif"/>
              </a:rPr>
              <a:t>postfix(like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35" dirty="0">
                <a:latin typeface="Microsoft Sans Serif"/>
                <a:cs typeface="Microsoft Sans Serif"/>
              </a:rPr>
              <a:t>x++),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90" dirty="0">
                <a:latin typeface="Microsoft Sans Serif"/>
                <a:cs typeface="Microsoft Sans Serif"/>
              </a:rPr>
              <a:t>it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80" dirty="0">
                <a:latin typeface="Microsoft Sans Serif"/>
                <a:cs typeface="Microsoft Sans Serif"/>
              </a:rPr>
              <a:t>returns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value </a:t>
            </a:r>
            <a:r>
              <a:rPr sz="2500" spc="-655" dirty="0">
                <a:latin typeface="Microsoft Sans Serif"/>
                <a:cs typeface="Microsoft Sans Serif"/>
              </a:rPr>
              <a:t> </a:t>
            </a:r>
            <a:r>
              <a:rPr sz="2500" spc="180" dirty="0">
                <a:latin typeface="Microsoft Sans Serif"/>
                <a:cs typeface="Microsoft Sans Serif"/>
              </a:rPr>
              <a:t>of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55" dirty="0">
                <a:latin typeface="Microsoft Sans Serif"/>
                <a:cs typeface="Microsoft Sans Serif"/>
              </a:rPr>
              <a:t>operand</a:t>
            </a:r>
            <a:r>
              <a:rPr sz="2500" spc="-70" dirty="0">
                <a:latin typeface="Microsoft Sans Serif"/>
                <a:cs typeface="Microsoft Sans Serif"/>
              </a:rPr>
              <a:t> </a:t>
            </a:r>
            <a:r>
              <a:rPr sz="2500" spc="130" dirty="0">
                <a:latin typeface="Microsoft Sans Serif"/>
                <a:cs typeface="Microsoft Sans Serif"/>
              </a:rPr>
              <a:t>first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05" dirty="0">
                <a:latin typeface="Microsoft Sans Serif"/>
                <a:cs typeface="Microsoft Sans Serif"/>
              </a:rPr>
              <a:t>then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50" dirty="0">
                <a:latin typeface="Microsoft Sans Serif"/>
                <a:cs typeface="Microsoft Sans Serif"/>
              </a:rPr>
              <a:t>increments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value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85" dirty="0">
                <a:latin typeface="Microsoft Sans Serif"/>
                <a:cs typeface="Microsoft Sans Serif"/>
              </a:rPr>
              <a:t>of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25" dirty="0">
                <a:latin typeface="Microsoft Sans Serif"/>
                <a:cs typeface="Microsoft Sans Serif"/>
              </a:rPr>
              <a:t>x.</a:t>
            </a:r>
            <a:r>
              <a:rPr sz="2500" spc="-70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If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80" dirty="0">
                <a:latin typeface="Microsoft Sans Serif"/>
                <a:cs typeface="Microsoft Sans Serif"/>
              </a:rPr>
              <a:t>--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35" dirty="0">
                <a:latin typeface="Microsoft Sans Serif"/>
                <a:cs typeface="Microsoft Sans Serif"/>
              </a:rPr>
              <a:t>is </a:t>
            </a:r>
            <a:r>
              <a:rPr sz="2500" spc="-655" dirty="0">
                <a:latin typeface="Microsoft Sans Serif"/>
                <a:cs typeface="Microsoft Sans Serif"/>
              </a:rPr>
              <a:t> </a:t>
            </a:r>
            <a:r>
              <a:rPr sz="2500" spc="5" dirty="0">
                <a:latin typeface="Microsoft Sans Serif"/>
                <a:cs typeface="Microsoft Sans Serif"/>
              </a:rPr>
              <a:t>used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-105" dirty="0">
                <a:latin typeface="Microsoft Sans Serif"/>
                <a:cs typeface="Microsoft Sans Serif"/>
              </a:rPr>
              <a:t>as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75" dirty="0">
                <a:latin typeface="Microsoft Sans Serif"/>
                <a:cs typeface="Microsoft Sans Serif"/>
              </a:rPr>
              <a:t>a </a:t>
            </a:r>
            <a:r>
              <a:rPr sz="2500" spc="75" dirty="0">
                <a:latin typeface="Microsoft Sans Serif"/>
                <a:cs typeface="Microsoft Sans Serif"/>
              </a:rPr>
              <a:t>prefix(like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35" dirty="0">
                <a:latin typeface="Microsoft Sans Serif"/>
                <a:cs typeface="Microsoft Sans Serif"/>
              </a:rPr>
              <a:t>++x),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190" dirty="0">
                <a:latin typeface="Microsoft Sans Serif"/>
                <a:cs typeface="Microsoft Sans Serif"/>
              </a:rPr>
              <a:t>it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15" dirty="0">
                <a:latin typeface="Microsoft Sans Serif"/>
                <a:cs typeface="Microsoft Sans Serif"/>
              </a:rPr>
              <a:t>increases</a:t>
            </a:r>
            <a:r>
              <a:rPr sz="2500" spc="-75" dirty="0">
                <a:latin typeface="Microsoft Sans Serif"/>
                <a:cs typeface="Microsoft Sans Serif"/>
              </a:rPr>
              <a:t> </a:t>
            </a:r>
            <a:r>
              <a:rPr sz="2500" spc="125" dirty="0">
                <a:latin typeface="Microsoft Sans Serif"/>
                <a:cs typeface="Microsoft Sans Serif"/>
              </a:rPr>
              <a:t>the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25" dirty="0">
                <a:latin typeface="Microsoft Sans Serif"/>
                <a:cs typeface="Microsoft Sans Serif"/>
              </a:rPr>
              <a:t>value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185" dirty="0">
                <a:latin typeface="Microsoft Sans Serif"/>
                <a:cs typeface="Microsoft Sans Serif"/>
              </a:rPr>
              <a:t>of</a:t>
            </a:r>
            <a:r>
              <a:rPr sz="2500" spc="-80" dirty="0">
                <a:latin typeface="Microsoft Sans Serif"/>
                <a:cs typeface="Microsoft Sans Serif"/>
              </a:rPr>
              <a:t> </a:t>
            </a:r>
            <a:r>
              <a:rPr sz="2500" spc="-25" dirty="0">
                <a:latin typeface="Microsoft Sans Serif"/>
                <a:cs typeface="Microsoft Sans Serif"/>
              </a:rPr>
              <a:t>x.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0" dirty="0"/>
              <a:t>Assignment</a:t>
            </a:r>
            <a:r>
              <a:rPr spc="-18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6390"/>
            <a:ext cx="904875" cy="323024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355600" algn="l"/>
              </a:tabLst>
            </a:pPr>
            <a:r>
              <a:rPr sz="2800" dirty="0">
                <a:solidFill>
                  <a:srgbClr val="6697CC"/>
                </a:solidFill>
                <a:latin typeface="Arial MT"/>
                <a:cs typeface="Arial MT"/>
              </a:rPr>
              <a:t>•	</a:t>
            </a:r>
            <a:r>
              <a:rPr sz="4200" spc="-89" baseline="-2976" dirty="0">
                <a:latin typeface="Microsoft Sans Serif"/>
                <a:cs typeface="Microsoft Sans Serif"/>
              </a:rPr>
              <a:t>=</a:t>
            </a:r>
            <a:endParaRPr sz="4200" baseline="-2976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  <a:tabLst>
                <a:tab pos="355600" algn="l"/>
              </a:tabLst>
            </a:pPr>
            <a:r>
              <a:rPr sz="4200" baseline="2976" dirty="0">
                <a:solidFill>
                  <a:srgbClr val="6697CC"/>
                </a:solidFill>
                <a:latin typeface="Arial MT"/>
                <a:cs typeface="Arial MT"/>
              </a:rPr>
              <a:t>•	</a:t>
            </a:r>
            <a:r>
              <a:rPr sz="2800" spc="-65" dirty="0">
                <a:latin typeface="Microsoft Sans Serif"/>
                <a:cs typeface="Microsoft Sans Serif"/>
              </a:rPr>
              <a:t>+=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80" dirty="0">
                <a:latin typeface="Microsoft Sans Serif"/>
                <a:cs typeface="Microsoft Sans Serif"/>
              </a:rPr>
              <a:t>-=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95" dirty="0">
                <a:latin typeface="Microsoft Sans Serif"/>
                <a:cs typeface="Microsoft Sans Serif"/>
              </a:rPr>
              <a:t>*=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70" dirty="0">
                <a:latin typeface="Microsoft Sans Serif"/>
                <a:cs typeface="Microsoft Sans Serif"/>
              </a:rPr>
              <a:t>~</a:t>
            </a:r>
            <a:r>
              <a:rPr sz="2800" spc="285" dirty="0">
                <a:latin typeface="Microsoft Sans Serif"/>
                <a:cs typeface="Microsoft Sans Serif"/>
              </a:rPr>
              <a:t>/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75" dirty="0">
                <a:latin typeface="Microsoft Sans Serif"/>
                <a:cs typeface="Microsoft Sans Serif"/>
              </a:rPr>
              <a:t>%=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5" dirty="0"/>
              <a:t>Relational</a:t>
            </a:r>
            <a:r>
              <a:rPr spc="-175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768985" cy="31889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  <a:tabLst>
                <a:tab pos="355600" algn="l"/>
              </a:tabLst>
            </a:pPr>
            <a:r>
              <a:rPr sz="4200" baseline="2976" dirty="0">
                <a:solidFill>
                  <a:srgbClr val="6697CC"/>
                </a:solidFill>
                <a:latin typeface="Arial MT"/>
                <a:cs typeface="Arial MT"/>
              </a:rPr>
              <a:t>•	</a:t>
            </a:r>
            <a:r>
              <a:rPr sz="2800" spc="-70" dirty="0">
                <a:latin typeface="Microsoft Sans Serif"/>
                <a:cs typeface="Microsoft Sans Serif"/>
              </a:rPr>
              <a:t>=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5" dirty="0">
                <a:latin typeface="Microsoft Sans Serif"/>
                <a:cs typeface="Microsoft Sans Serif"/>
              </a:rPr>
              <a:t>!=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-89" baseline="-2976" dirty="0">
                <a:latin typeface="Microsoft Sans Serif"/>
                <a:cs typeface="Microsoft Sans Serif"/>
              </a:rPr>
              <a:t>&lt;</a:t>
            </a:r>
            <a:endParaRPr sz="4200" baseline="-2976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-89" baseline="-2976" dirty="0">
                <a:latin typeface="Microsoft Sans Serif"/>
                <a:cs typeface="Microsoft Sans Serif"/>
              </a:rPr>
              <a:t>&gt;</a:t>
            </a:r>
            <a:endParaRPr sz="4200" baseline="-2976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944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70" dirty="0">
                <a:latin typeface="Microsoft Sans Serif"/>
                <a:cs typeface="Microsoft Sans Serif"/>
              </a:rPr>
              <a:t>&lt;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70" dirty="0">
                <a:latin typeface="Microsoft Sans Serif"/>
                <a:cs typeface="Microsoft Sans Serif"/>
              </a:rPr>
              <a:t>&gt;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5" dirty="0"/>
              <a:t>Bitwise</a:t>
            </a:r>
            <a:r>
              <a:rPr spc="-17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1684020" cy="31705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Microsoft Sans Serif"/>
                <a:cs typeface="Microsoft Sans Serif"/>
              </a:rPr>
              <a:t>AND</a:t>
            </a:r>
            <a:r>
              <a:rPr sz="2800" spc="-1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&amp;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O</a:t>
            </a:r>
            <a:r>
              <a:rPr sz="2800" spc="-265" dirty="0">
                <a:latin typeface="Microsoft Sans Serif"/>
                <a:cs typeface="Microsoft Sans Serif"/>
              </a:rPr>
              <a:t>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|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280" dirty="0">
                <a:latin typeface="Microsoft Sans Serif"/>
                <a:cs typeface="Microsoft Sans Serif"/>
              </a:rPr>
              <a:t>E</a:t>
            </a:r>
            <a:r>
              <a:rPr sz="2800" spc="-55" dirty="0">
                <a:latin typeface="Microsoft Sans Serif"/>
                <a:cs typeface="Microsoft Sans Serif"/>
              </a:rPr>
              <a:t>X-</a:t>
            </a:r>
            <a:r>
              <a:rPr sz="2800" spc="-100" dirty="0">
                <a:latin typeface="Microsoft Sans Serif"/>
                <a:cs typeface="Microsoft Sans Serif"/>
              </a:rPr>
              <a:t>O</a:t>
            </a:r>
            <a:r>
              <a:rPr sz="2800" spc="-265" dirty="0">
                <a:latin typeface="Microsoft Sans Serif"/>
                <a:cs typeface="Microsoft Sans Serif"/>
              </a:rPr>
              <a:t>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265" dirty="0">
                <a:latin typeface="Microsoft Sans Serif"/>
                <a:cs typeface="Microsoft Sans Serif"/>
              </a:rPr>
              <a:t>^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65" dirty="0">
                <a:latin typeface="Microsoft Sans Serif"/>
                <a:cs typeface="Microsoft Sans Serif"/>
              </a:rPr>
              <a:t>&gt;&gt;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65" dirty="0">
                <a:latin typeface="Microsoft Sans Serif"/>
                <a:cs typeface="Microsoft Sans Serif"/>
              </a:rPr>
              <a:t>&lt;&lt;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64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-89" baseline="-2976" dirty="0">
                <a:latin typeface="Microsoft Sans Serif"/>
                <a:cs typeface="Microsoft Sans Serif"/>
              </a:rPr>
              <a:t>~</a:t>
            </a:r>
            <a:endParaRPr sz="4200" baseline="-2976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5" dirty="0"/>
              <a:t>Type</a:t>
            </a:r>
            <a:r>
              <a:rPr spc="-145" dirty="0"/>
              <a:t> </a:t>
            </a:r>
            <a:r>
              <a:rPr spc="20" dirty="0"/>
              <a:t>Test</a:t>
            </a:r>
            <a:r>
              <a:rPr spc="-14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0034"/>
            <a:ext cx="8060690" cy="39890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30" dirty="0">
                <a:latin typeface="Microsoft Sans Serif"/>
                <a:cs typeface="Microsoft Sans Serif"/>
              </a:rPr>
              <a:t>as</a:t>
            </a:r>
            <a:endParaRPr sz="2800">
              <a:latin typeface="Microsoft Sans Serif"/>
              <a:cs typeface="Microsoft Sans Serif"/>
            </a:endParaRPr>
          </a:p>
          <a:p>
            <a:pPr marL="755650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155" dirty="0">
                <a:latin typeface="Microsoft Sans Serif"/>
                <a:cs typeface="Microsoft Sans Serif"/>
              </a:rPr>
              <a:t>It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is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used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for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typecast.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45" dirty="0">
                <a:latin typeface="Microsoft Sans Serif"/>
                <a:cs typeface="Microsoft Sans Serif"/>
              </a:rPr>
              <a:t>is</a:t>
            </a:r>
            <a:endParaRPr sz="2800">
              <a:latin typeface="Microsoft Sans Serif"/>
              <a:cs typeface="Microsoft Sans Serif"/>
            </a:endParaRPr>
          </a:p>
          <a:p>
            <a:pPr marL="755650" marR="643255" lvl="1" indent="-28638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155" dirty="0">
                <a:latin typeface="Microsoft Sans Serif"/>
                <a:cs typeface="Microsoft Sans Serif"/>
              </a:rPr>
              <a:t>It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returns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95" dirty="0">
                <a:latin typeface="Microsoft Sans Serif"/>
                <a:cs typeface="Microsoft Sans Serif"/>
              </a:rPr>
              <a:t>TRUE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if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object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75" dirty="0">
                <a:latin typeface="Microsoft Sans Serif"/>
                <a:cs typeface="Microsoft Sans Serif"/>
              </a:rPr>
              <a:t>has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specified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type.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35" dirty="0">
                <a:latin typeface="Microsoft Sans Serif"/>
                <a:cs typeface="Microsoft Sans Serif"/>
              </a:rPr>
              <a:t>is!</a:t>
            </a:r>
            <a:endParaRPr sz="2800">
              <a:latin typeface="Microsoft Sans Serif"/>
              <a:cs typeface="Microsoft Sans Serif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685"/>
              </a:spcBef>
              <a:buClr>
                <a:srgbClr val="6697CC"/>
              </a:buClr>
              <a:buFont typeface="Arial MT"/>
              <a:buChar char="–"/>
              <a:tabLst>
                <a:tab pos="756285" algn="l"/>
              </a:tabLst>
            </a:pPr>
            <a:r>
              <a:rPr sz="2800" spc="155" dirty="0">
                <a:latin typeface="Microsoft Sans Serif"/>
                <a:cs typeface="Microsoft Sans Serif"/>
              </a:rPr>
              <a:t>It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returns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95" dirty="0">
                <a:latin typeface="Microsoft Sans Serif"/>
                <a:cs typeface="Microsoft Sans Serif"/>
              </a:rPr>
              <a:t>TRUE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if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object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75" dirty="0">
                <a:latin typeface="Microsoft Sans Serif"/>
                <a:cs typeface="Microsoft Sans Serif"/>
              </a:rPr>
              <a:t>has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60" dirty="0">
                <a:latin typeface="Microsoft Sans Serif"/>
                <a:cs typeface="Microsoft Sans Serif"/>
              </a:rPr>
              <a:t>not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specified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type.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5" dirty="0"/>
              <a:t>Type</a:t>
            </a:r>
            <a:r>
              <a:rPr spc="-145" dirty="0"/>
              <a:t> </a:t>
            </a:r>
            <a:r>
              <a:rPr spc="20" dirty="0"/>
              <a:t>Test</a:t>
            </a:r>
            <a:r>
              <a:rPr spc="-14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4240530" cy="37160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800" spc="55" dirty="0">
                <a:latin typeface="Microsoft Sans Serif"/>
                <a:cs typeface="Microsoft Sans Serif"/>
              </a:rPr>
              <a:t>void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main()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5" dirty="0">
                <a:latin typeface="Microsoft Sans Serif"/>
                <a:cs typeface="Microsoft Sans Serif"/>
              </a:rPr>
              <a:t>{</a:t>
            </a:r>
            <a:endParaRPr sz="2800" dirty="0">
              <a:latin typeface="Microsoft Sans Serif"/>
              <a:cs typeface="Microsoft Sans Serif"/>
            </a:endParaRPr>
          </a:p>
          <a:p>
            <a:pPr marL="175895">
              <a:lnSpc>
                <a:spcPct val="100000"/>
              </a:lnSpc>
              <a:spcBef>
                <a:spcPts val="790"/>
              </a:spcBef>
            </a:pPr>
            <a:r>
              <a:rPr sz="2800" spc="15" dirty="0">
                <a:latin typeface="Microsoft Sans Serif"/>
                <a:cs typeface="Microsoft Sans Serif"/>
              </a:rPr>
              <a:t>var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num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10;</a:t>
            </a:r>
            <a:endParaRPr sz="2800" dirty="0">
              <a:latin typeface="Microsoft Sans Serif"/>
              <a:cs typeface="Microsoft Sans Serif"/>
            </a:endParaRPr>
          </a:p>
          <a:p>
            <a:pPr marL="175895" marR="5080">
              <a:lnSpc>
                <a:spcPct val="123500"/>
              </a:lnSpc>
              <a:spcBef>
                <a:spcPts val="5"/>
              </a:spcBef>
            </a:pPr>
            <a:r>
              <a:rPr sz="2800" spc="15" dirty="0">
                <a:latin typeface="Microsoft Sans Serif"/>
                <a:cs typeface="Microsoft Sans Serif"/>
              </a:rPr>
              <a:t>var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name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"</a:t>
            </a:r>
            <a:r>
              <a:rPr lang="en-US" sz="2800" spc="30" dirty="0">
                <a:latin typeface="Microsoft Sans Serif"/>
                <a:cs typeface="Microsoft Sans Serif"/>
              </a:rPr>
              <a:t>Dart</a:t>
            </a:r>
            <a:r>
              <a:rPr sz="2800" spc="30" dirty="0">
                <a:latin typeface="Microsoft Sans Serif"/>
                <a:cs typeface="Microsoft Sans Serif"/>
              </a:rPr>
              <a:t>";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print(num </a:t>
            </a:r>
            <a:r>
              <a:rPr sz="2800" spc="-45" dirty="0">
                <a:latin typeface="Microsoft Sans Serif"/>
                <a:cs typeface="Microsoft Sans Serif"/>
              </a:rPr>
              <a:t>is </a:t>
            </a:r>
            <a:r>
              <a:rPr sz="2800" spc="65" dirty="0">
                <a:latin typeface="Microsoft Sans Serif"/>
                <a:cs typeface="Microsoft Sans Serif"/>
              </a:rPr>
              <a:t>int); </a:t>
            </a:r>
            <a:r>
              <a:rPr sz="2800" spc="70" dirty="0">
                <a:latin typeface="Microsoft Sans Serif"/>
                <a:cs typeface="Microsoft Sans Serif"/>
              </a:rPr>
              <a:t> print(name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is!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String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65" dirty="0">
                <a:latin typeface="Microsoft Sans Serif"/>
                <a:cs typeface="Microsoft Sans Serif"/>
              </a:rPr>
              <a:t>);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5" dirty="0">
                <a:latin typeface="Microsoft Sans Serif"/>
                <a:cs typeface="Microsoft Sans Serif"/>
              </a:rPr>
              <a:t>}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5" dirty="0"/>
              <a:t>Logical</a:t>
            </a:r>
            <a:r>
              <a:rPr spc="-165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842010" cy="15875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Microsoft Sans Serif"/>
                <a:cs typeface="Microsoft Sans Serif"/>
              </a:rPr>
              <a:t>&amp;</a:t>
            </a:r>
            <a:r>
              <a:rPr sz="2800" spc="-5" dirty="0">
                <a:latin typeface="Microsoft Sans Serif"/>
                <a:cs typeface="Microsoft Sans Serif"/>
              </a:rPr>
              <a:t>&amp;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50" dirty="0">
                <a:latin typeface="Microsoft Sans Serif"/>
                <a:cs typeface="Microsoft Sans Serif"/>
              </a:rPr>
              <a:t>||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4200" spc="-15" baseline="-2976" dirty="0">
                <a:latin typeface="Microsoft Sans Serif"/>
                <a:cs typeface="Microsoft Sans Serif"/>
              </a:rPr>
              <a:t>!</a:t>
            </a:r>
            <a:endParaRPr sz="4200" baseline="-2976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0" dirty="0"/>
              <a:t>Conditional</a:t>
            </a:r>
            <a:r>
              <a:rPr spc="-19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1630" marR="479425" indent="-329565">
              <a:lnSpc>
                <a:spcPts val="3220"/>
              </a:lnSpc>
              <a:spcBef>
                <a:spcPts val="21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2700" spc="-45" dirty="0"/>
              <a:t>The </a:t>
            </a:r>
            <a:r>
              <a:rPr sz="2700" spc="35" dirty="0"/>
              <a:t>Conditional </a:t>
            </a:r>
            <a:r>
              <a:rPr sz="2700" spc="70" dirty="0"/>
              <a:t>Operator </a:t>
            </a:r>
            <a:r>
              <a:rPr sz="2700" spc="-55" dirty="0"/>
              <a:t>is </a:t>
            </a:r>
            <a:r>
              <a:rPr sz="2700" spc="-60" dirty="0"/>
              <a:t>same </a:t>
            </a:r>
            <a:r>
              <a:rPr sz="2700" spc="-135" dirty="0"/>
              <a:t>as </a:t>
            </a:r>
            <a:r>
              <a:rPr sz="2700" spc="20" dirty="0"/>
              <a:t>if-else </a:t>
            </a:r>
            <a:r>
              <a:rPr sz="2700" spc="25" dirty="0"/>
              <a:t> </a:t>
            </a:r>
            <a:r>
              <a:rPr sz="2700" spc="85" dirty="0"/>
              <a:t>statement</a:t>
            </a:r>
            <a:r>
              <a:rPr sz="2700" spc="-100" dirty="0"/>
              <a:t> </a:t>
            </a:r>
            <a:r>
              <a:rPr sz="2700" dirty="0"/>
              <a:t>and</a:t>
            </a:r>
            <a:r>
              <a:rPr sz="2700" spc="-100" dirty="0"/>
              <a:t> </a:t>
            </a:r>
            <a:r>
              <a:rPr sz="2700" spc="25" dirty="0"/>
              <a:t>provides</a:t>
            </a:r>
            <a:r>
              <a:rPr sz="2700" spc="-100" dirty="0"/>
              <a:t> </a:t>
            </a:r>
            <a:r>
              <a:rPr sz="2700" spc="15" dirty="0"/>
              <a:t>similar</a:t>
            </a:r>
            <a:r>
              <a:rPr sz="2700" spc="-90" dirty="0"/>
              <a:t> </a:t>
            </a:r>
            <a:r>
              <a:rPr sz="2700" spc="80" dirty="0"/>
              <a:t>functionality</a:t>
            </a:r>
            <a:r>
              <a:rPr sz="2700" spc="-95" dirty="0"/>
              <a:t> </a:t>
            </a:r>
            <a:r>
              <a:rPr sz="2700" spc="-135" dirty="0"/>
              <a:t>as </a:t>
            </a:r>
            <a:r>
              <a:rPr sz="2700" spc="-700" dirty="0"/>
              <a:t> </a:t>
            </a:r>
            <a:r>
              <a:rPr sz="2700" spc="55" dirty="0"/>
              <a:t>conditional</a:t>
            </a:r>
            <a:r>
              <a:rPr sz="2700" spc="-105" dirty="0"/>
              <a:t> </a:t>
            </a:r>
            <a:r>
              <a:rPr sz="2700" spc="65" dirty="0"/>
              <a:t>statement.</a:t>
            </a:r>
            <a:endParaRPr sz="2700"/>
          </a:p>
          <a:p>
            <a:pPr marL="341630" marR="5080" indent="-329565">
              <a:lnSpc>
                <a:spcPts val="322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2700" spc="145" dirty="0"/>
              <a:t>It</a:t>
            </a:r>
            <a:r>
              <a:rPr sz="2700" spc="-105" dirty="0"/>
              <a:t> </a:t>
            </a:r>
            <a:r>
              <a:rPr sz="2700" spc="-55" dirty="0"/>
              <a:t>is</a:t>
            </a:r>
            <a:r>
              <a:rPr sz="2700" spc="-105" dirty="0"/>
              <a:t> </a:t>
            </a:r>
            <a:r>
              <a:rPr sz="2700" spc="114" dirty="0"/>
              <a:t>the</a:t>
            </a:r>
            <a:r>
              <a:rPr sz="2700" spc="-105" dirty="0"/>
              <a:t> </a:t>
            </a:r>
            <a:r>
              <a:rPr sz="2700" spc="-15" dirty="0"/>
              <a:t>second</a:t>
            </a:r>
            <a:r>
              <a:rPr sz="2700" spc="-100" dirty="0"/>
              <a:t> </a:t>
            </a:r>
            <a:r>
              <a:rPr sz="2700" spc="135" dirty="0"/>
              <a:t>form</a:t>
            </a:r>
            <a:r>
              <a:rPr sz="2700" spc="-100" dirty="0"/>
              <a:t> </a:t>
            </a:r>
            <a:r>
              <a:rPr sz="2700" spc="185" dirty="0"/>
              <a:t>of</a:t>
            </a:r>
            <a:r>
              <a:rPr sz="2700" spc="-110" dirty="0"/>
              <a:t> </a:t>
            </a:r>
            <a:r>
              <a:rPr sz="2700" spc="25" dirty="0"/>
              <a:t>if-else</a:t>
            </a:r>
            <a:r>
              <a:rPr sz="2700" spc="-100" dirty="0"/>
              <a:t> </a:t>
            </a:r>
            <a:r>
              <a:rPr sz="2700" spc="65" dirty="0"/>
              <a:t>statement.</a:t>
            </a:r>
            <a:r>
              <a:rPr sz="2700" spc="-90" dirty="0"/>
              <a:t> </a:t>
            </a:r>
            <a:r>
              <a:rPr sz="2700" spc="145" dirty="0"/>
              <a:t>It</a:t>
            </a:r>
            <a:r>
              <a:rPr sz="2700" spc="-105" dirty="0"/>
              <a:t> </a:t>
            </a:r>
            <a:r>
              <a:rPr sz="2700" spc="-55" dirty="0"/>
              <a:t>is</a:t>
            </a:r>
            <a:r>
              <a:rPr sz="2700" spc="-100" dirty="0"/>
              <a:t> </a:t>
            </a:r>
            <a:r>
              <a:rPr sz="2700" spc="-25" dirty="0"/>
              <a:t>also </a:t>
            </a:r>
            <a:r>
              <a:rPr sz="2700" spc="-700" dirty="0"/>
              <a:t> </a:t>
            </a:r>
            <a:r>
              <a:rPr sz="2700" spc="45" dirty="0"/>
              <a:t>i</a:t>
            </a:r>
            <a:r>
              <a:rPr sz="2700" spc="65" dirty="0"/>
              <a:t>d</a:t>
            </a:r>
            <a:r>
              <a:rPr sz="2700" spc="-5" dirty="0"/>
              <a:t>e</a:t>
            </a:r>
            <a:r>
              <a:rPr sz="2700" spc="30" dirty="0"/>
              <a:t>n</a:t>
            </a:r>
            <a:r>
              <a:rPr sz="2700" spc="325" dirty="0"/>
              <a:t>t</a:t>
            </a:r>
            <a:r>
              <a:rPr sz="2700" spc="45" dirty="0"/>
              <a:t>i</a:t>
            </a:r>
            <a:r>
              <a:rPr sz="2700" spc="195" dirty="0"/>
              <a:t>f</a:t>
            </a:r>
            <a:r>
              <a:rPr sz="2700" spc="145" dirty="0"/>
              <a:t>i</a:t>
            </a:r>
            <a:r>
              <a:rPr sz="2700" spc="-5" dirty="0"/>
              <a:t>e</a:t>
            </a:r>
            <a:r>
              <a:rPr sz="2700" spc="80" dirty="0"/>
              <a:t>d</a:t>
            </a:r>
            <a:r>
              <a:rPr sz="2700" spc="-114" dirty="0"/>
              <a:t> a</a:t>
            </a:r>
            <a:r>
              <a:rPr sz="2700" spc="-155" dirty="0"/>
              <a:t>s</a:t>
            </a:r>
            <a:r>
              <a:rPr sz="2700" spc="-105" dirty="0"/>
              <a:t> </a:t>
            </a:r>
            <a:r>
              <a:rPr sz="2700" spc="150" dirty="0"/>
              <a:t>"</a:t>
            </a:r>
            <a:r>
              <a:rPr sz="2700" spc="-145" dirty="0"/>
              <a:t>T</a:t>
            </a:r>
            <a:r>
              <a:rPr sz="2700" dirty="0"/>
              <a:t>e</a:t>
            </a:r>
            <a:r>
              <a:rPr sz="2700" spc="125" dirty="0"/>
              <a:t>r</a:t>
            </a:r>
            <a:r>
              <a:rPr sz="2700" spc="25" dirty="0"/>
              <a:t>n</a:t>
            </a:r>
            <a:r>
              <a:rPr sz="2700" spc="-110" dirty="0"/>
              <a:t>a</a:t>
            </a:r>
            <a:r>
              <a:rPr sz="2700" spc="125" dirty="0"/>
              <a:t>r</a:t>
            </a:r>
            <a:r>
              <a:rPr sz="2700" spc="-15" dirty="0"/>
              <a:t>y</a:t>
            </a:r>
            <a:r>
              <a:rPr sz="2700" spc="-110" dirty="0"/>
              <a:t> </a:t>
            </a:r>
            <a:r>
              <a:rPr sz="2700" spc="-25" dirty="0"/>
              <a:t>O</a:t>
            </a:r>
            <a:r>
              <a:rPr sz="2700" spc="65" dirty="0"/>
              <a:t>p</a:t>
            </a:r>
            <a:r>
              <a:rPr sz="2700" spc="-5" dirty="0"/>
              <a:t>e</a:t>
            </a:r>
            <a:r>
              <a:rPr sz="2700" spc="125" dirty="0"/>
              <a:t>r</a:t>
            </a:r>
            <a:r>
              <a:rPr sz="2700" spc="-114" dirty="0"/>
              <a:t>a</a:t>
            </a:r>
            <a:r>
              <a:rPr sz="2700" spc="325" dirty="0"/>
              <a:t>t</a:t>
            </a:r>
            <a:r>
              <a:rPr sz="2700" spc="140" dirty="0"/>
              <a:t>o</a:t>
            </a:r>
            <a:r>
              <a:rPr sz="2700" spc="70" dirty="0"/>
              <a:t>r</a:t>
            </a:r>
            <a:r>
              <a:rPr sz="2700" spc="150" dirty="0"/>
              <a:t>"</a:t>
            </a:r>
            <a:r>
              <a:rPr sz="2700" spc="-90" dirty="0"/>
              <a:t>.</a:t>
            </a:r>
            <a:r>
              <a:rPr sz="2700" spc="-95" dirty="0"/>
              <a:t> </a:t>
            </a:r>
            <a:r>
              <a:rPr sz="2700" spc="-145" dirty="0"/>
              <a:t>T</a:t>
            </a:r>
            <a:r>
              <a:rPr sz="2700" spc="10" dirty="0"/>
              <a:t>h</a:t>
            </a:r>
            <a:r>
              <a:rPr sz="2700" dirty="0"/>
              <a:t>e</a:t>
            </a:r>
            <a:r>
              <a:rPr sz="2700" spc="-100" dirty="0"/>
              <a:t> </a:t>
            </a:r>
            <a:r>
              <a:rPr sz="2700" spc="-170" dirty="0"/>
              <a:t>s</a:t>
            </a:r>
            <a:r>
              <a:rPr sz="2700" spc="-25" dirty="0"/>
              <a:t>y</a:t>
            </a:r>
            <a:r>
              <a:rPr sz="2700" spc="30" dirty="0"/>
              <a:t>n</a:t>
            </a:r>
            <a:r>
              <a:rPr sz="2700" spc="325" dirty="0"/>
              <a:t>t</a:t>
            </a:r>
            <a:r>
              <a:rPr sz="2700" spc="-114" dirty="0"/>
              <a:t>a</a:t>
            </a:r>
            <a:r>
              <a:rPr sz="2700" spc="20" dirty="0"/>
              <a:t>x</a:t>
            </a:r>
            <a:r>
              <a:rPr sz="2700" spc="-105" dirty="0"/>
              <a:t> </a:t>
            </a:r>
            <a:r>
              <a:rPr sz="2700" spc="45" dirty="0"/>
              <a:t>i</a:t>
            </a:r>
            <a:r>
              <a:rPr sz="2700" spc="-105" dirty="0"/>
              <a:t>s  </a:t>
            </a:r>
            <a:r>
              <a:rPr sz="2700" spc="20" dirty="0"/>
              <a:t>given</a:t>
            </a:r>
            <a:r>
              <a:rPr sz="2700" spc="-110" dirty="0"/>
              <a:t> </a:t>
            </a:r>
            <a:r>
              <a:rPr sz="2700" spc="45" dirty="0"/>
              <a:t>below.</a:t>
            </a:r>
            <a:endParaRPr sz="2700"/>
          </a:p>
          <a:p>
            <a:pPr marL="341630" indent="-329565">
              <a:lnSpc>
                <a:spcPct val="100000"/>
              </a:lnSpc>
              <a:spcBef>
                <a:spcPts val="63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2700" spc="-25" dirty="0"/>
              <a:t>Syntax</a:t>
            </a:r>
            <a:r>
              <a:rPr sz="2700" spc="-130" dirty="0"/>
              <a:t> </a:t>
            </a:r>
            <a:r>
              <a:rPr sz="2700" spc="15" dirty="0"/>
              <a:t>1</a:t>
            </a:r>
            <a:r>
              <a:rPr sz="2700" spc="-130" dirty="0"/>
              <a:t> </a:t>
            </a:r>
            <a:r>
              <a:rPr sz="2700" spc="-95" dirty="0"/>
              <a:t>-</a:t>
            </a:r>
            <a:endParaRPr sz="2700"/>
          </a:p>
          <a:p>
            <a:pPr marL="341630">
              <a:lnSpc>
                <a:spcPct val="100000"/>
              </a:lnSpc>
              <a:spcBef>
                <a:spcPts val="740"/>
              </a:spcBef>
            </a:pPr>
            <a:r>
              <a:rPr sz="2700" spc="-10" dirty="0"/>
              <a:t>c</a:t>
            </a:r>
            <a:r>
              <a:rPr sz="2700" spc="-20" dirty="0"/>
              <a:t>o</a:t>
            </a:r>
            <a:r>
              <a:rPr sz="2700" spc="30" dirty="0"/>
              <a:t>n</a:t>
            </a:r>
            <a:r>
              <a:rPr sz="2700" spc="65" dirty="0"/>
              <a:t>d</a:t>
            </a:r>
            <a:r>
              <a:rPr sz="2700" spc="45" dirty="0"/>
              <a:t>i</a:t>
            </a:r>
            <a:r>
              <a:rPr sz="2700" spc="325" dirty="0"/>
              <a:t>t</a:t>
            </a:r>
            <a:r>
              <a:rPr sz="2700" spc="45" dirty="0"/>
              <a:t>i</a:t>
            </a:r>
            <a:r>
              <a:rPr sz="2700" spc="75" dirty="0"/>
              <a:t>o</a:t>
            </a:r>
            <a:r>
              <a:rPr sz="2700" spc="40" dirty="0"/>
              <a:t>n</a:t>
            </a:r>
            <a:r>
              <a:rPr sz="2700" spc="-105" dirty="0"/>
              <a:t> </a:t>
            </a:r>
            <a:r>
              <a:rPr sz="2700" spc="-415" dirty="0"/>
              <a:t>?</a:t>
            </a:r>
            <a:r>
              <a:rPr sz="2700" spc="-100" dirty="0"/>
              <a:t> </a:t>
            </a:r>
            <a:r>
              <a:rPr sz="2700" spc="-5" dirty="0"/>
              <a:t>e</a:t>
            </a:r>
            <a:r>
              <a:rPr sz="2700" spc="10" dirty="0"/>
              <a:t>x</a:t>
            </a:r>
            <a:r>
              <a:rPr sz="2700" spc="65" dirty="0"/>
              <a:t>p</a:t>
            </a:r>
            <a:r>
              <a:rPr sz="2700" spc="15" dirty="0"/>
              <a:t>1</a:t>
            </a:r>
            <a:r>
              <a:rPr sz="2700" spc="-110" dirty="0"/>
              <a:t> </a:t>
            </a:r>
            <a:r>
              <a:rPr sz="2700" spc="-90" dirty="0"/>
              <a:t>:</a:t>
            </a:r>
            <a:r>
              <a:rPr sz="2700" spc="-95" dirty="0"/>
              <a:t> </a:t>
            </a:r>
            <a:r>
              <a:rPr sz="2700" spc="-5" dirty="0"/>
              <a:t>e</a:t>
            </a:r>
            <a:r>
              <a:rPr sz="2700" spc="10" dirty="0"/>
              <a:t>x</a:t>
            </a:r>
            <a:r>
              <a:rPr sz="2700" spc="65" dirty="0"/>
              <a:t>p</a:t>
            </a:r>
            <a:r>
              <a:rPr sz="2700" spc="15" dirty="0"/>
              <a:t>2</a:t>
            </a:r>
            <a:endParaRPr sz="2700"/>
          </a:p>
          <a:p>
            <a:pPr marL="341630" marR="41275">
              <a:lnSpc>
                <a:spcPts val="3220"/>
              </a:lnSpc>
              <a:spcBef>
                <a:spcPts val="855"/>
              </a:spcBef>
            </a:pPr>
            <a:r>
              <a:rPr sz="2700" spc="125" dirty="0"/>
              <a:t>If</a:t>
            </a:r>
            <a:r>
              <a:rPr sz="2700" spc="-110" dirty="0"/>
              <a:t> </a:t>
            </a:r>
            <a:r>
              <a:rPr sz="2700" spc="114" dirty="0"/>
              <a:t>the</a:t>
            </a:r>
            <a:r>
              <a:rPr sz="2700" spc="-105" dirty="0"/>
              <a:t> </a:t>
            </a:r>
            <a:r>
              <a:rPr sz="2700" spc="20" dirty="0"/>
              <a:t>given</a:t>
            </a:r>
            <a:r>
              <a:rPr sz="2700" spc="-100" dirty="0"/>
              <a:t> </a:t>
            </a:r>
            <a:r>
              <a:rPr sz="2700" spc="65" dirty="0"/>
              <a:t>condition</a:t>
            </a:r>
            <a:r>
              <a:rPr sz="2700" spc="-105" dirty="0"/>
              <a:t> </a:t>
            </a:r>
            <a:r>
              <a:rPr sz="2700" spc="-45" dirty="0"/>
              <a:t>is</a:t>
            </a:r>
            <a:r>
              <a:rPr sz="2700" spc="-110" dirty="0"/>
              <a:t> </a:t>
            </a:r>
            <a:r>
              <a:rPr sz="2700" spc="-200" dirty="0"/>
              <a:t>TRUE</a:t>
            </a:r>
            <a:r>
              <a:rPr sz="2700" spc="-110" dirty="0"/>
              <a:t> </a:t>
            </a:r>
            <a:r>
              <a:rPr sz="2700" spc="95" dirty="0"/>
              <a:t>then</a:t>
            </a:r>
            <a:r>
              <a:rPr sz="2700" spc="-105" dirty="0"/>
              <a:t> </a:t>
            </a:r>
            <a:r>
              <a:rPr sz="2700" spc="190" dirty="0"/>
              <a:t>it</a:t>
            </a:r>
            <a:r>
              <a:rPr sz="2700" spc="-105" dirty="0"/>
              <a:t> </a:t>
            </a:r>
            <a:r>
              <a:rPr sz="2700" spc="70" dirty="0"/>
              <a:t>returns</a:t>
            </a:r>
            <a:r>
              <a:rPr sz="2700" spc="-105" dirty="0"/>
              <a:t> </a:t>
            </a:r>
            <a:r>
              <a:rPr sz="2700" spc="20" dirty="0"/>
              <a:t>exp1 </a:t>
            </a:r>
            <a:r>
              <a:rPr sz="2700" spc="-705" dirty="0"/>
              <a:t> </a:t>
            </a:r>
            <a:r>
              <a:rPr sz="2700" spc="60" dirty="0"/>
              <a:t>otherwise</a:t>
            </a:r>
            <a:r>
              <a:rPr sz="2700" spc="-100" dirty="0"/>
              <a:t> </a:t>
            </a:r>
            <a:r>
              <a:rPr sz="2700" spc="-5" dirty="0"/>
              <a:t>exp2.</a:t>
            </a:r>
            <a:endParaRPr sz="27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0" dirty="0"/>
              <a:t>Conditional</a:t>
            </a:r>
            <a:r>
              <a:rPr spc="-19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6631940" cy="203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102100" indent="-343535">
              <a:lnSpc>
                <a:spcPct val="1235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Microsoft Sans Serif"/>
                <a:cs typeface="Microsoft Sans Serif"/>
              </a:rPr>
              <a:t>Syntax </a:t>
            </a:r>
            <a:r>
              <a:rPr sz="2800" spc="20" dirty="0">
                <a:latin typeface="Microsoft Sans Serif"/>
                <a:cs typeface="Microsoft Sans Serif"/>
              </a:rPr>
              <a:t>2 </a:t>
            </a:r>
            <a:r>
              <a:rPr sz="2800" spc="-100" dirty="0">
                <a:latin typeface="Microsoft Sans Serif"/>
                <a:cs typeface="Microsoft Sans Serif"/>
              </a:rPr>
              <a:t>- 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e</a:t>
            </a:r>
            <a:r>
              <a:rPr sz="2800" spc="55" dirty="0">
                <a:latin typeface="Microsoft Sans Serif"/>
                <a:cs typeface="Microsoft Sans Serif"/>
              </a:rPr>
              <a:t>x</a:t>
            </a:r>
            <a:r>
              <a:rPr sz="2800" spc="50" dirty="0">
                <a:latin typeface="Microsoft Sans Serif"/>
                <a:cs typeface="Microsoft Sans Serif"/>
              </a:rPr>
              <a:t>p</a:t>
            </a:r>
            <a:r>
              <a:rPr sz="2800" spc="20" dirty="0">
                <a:latin typeface="Microsoft Sans Serif"/>
                <a:cs typeface="Microsoft Sans Serif"/>
              </a:rPr>
              <a:t>1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430" dirty="0">
                <a:latin typeface="Microsoft Sans Serif"/>
                <a:cs typeface="Microsoft Sans Serif"/>
              </a:rPr>
              <a:t>??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</a:t>
            </a:r>
            <a:r>
              <a:rPr sz="2800" spc="70" dirty="0">
                <a:latin typeface="Microsoft Sans Serif"/>
                <a:cs typeface="Microsoft Sans Serif"/>
              </a:rPr>
              <a:t>xpr2</a:t>
            </a:r>
            <a:endParaRPr sz="28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  <a:spcBef>
                <a:spcPts val="790"/>
              </a:spcBef>
            </a:pPr>
            <a:r>
              <a:rPr sz="2800" spc="135" dirty="0">
                <a:latin typeface="Microsoft Sans Serif"/>
                <a:cs typeface="Microsoft Sans Serif"/>
              </a:rPr>
              <a:t>If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exp1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is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not-null,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returns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its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value,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otherwise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returns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exp2's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value.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0" dirty="0"/>
              <a:t>Conditional</a:t>
            </a:r>
            <a:r>
              <a:rPr spc="-19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7436"/>
            <a:ext cx="2576830" cy="318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 marR="490855" indent="-246379" algn="just">
              <a:lnSpc>
                <a:spcPct val="123500"/>
              </a:lnSpc>
              <a:spcBef>
                <a:spcPts val="100"/>
              </a:spcBef>
            </a:pPr>
            <a:r>
              <a:rPr sz="2800" spc="55" dirty="0">
                <a:latin typeface="Microsoft Sans Serif"/>
                <a:cs typeface="Microsoft Sans Serif"/>
              </a:rPr>
              <a:t>void </a:t>
            </a:r>
            <a:r>
              <a:rPr sz="2800" spc="5" dirty="0">
                <a:latin typeface="Microsoft Sans Serif"/>
                <a:cs typeface="Microsoft Sans Serif"/>
              </a:rPr>
              <a:t>main() </a:t>
            </a:r>
            <a:r>
              <a:rPr sz="2800" spc="-5" dirty="0">
                <a:latin typeface="Microsoft Sans Serif"/>
                <a:cs typeface="Microsoft Sans Serif"/>
              </a:rPr>
              <a:t>{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v</a:t>
            </a:r>
            <a:r>
              <a:rPr sz="2800" spc="-105" dirty="0">
                <a:latin typeface="Microsoft Sans Serif"/>
                <a:cs typeface="Microsoft Sans Serif"/>
              </a:rPr>
              <a:t>a</a:t>
            </a:r>
            <a:r>
              <a:rPr sz="2800" spc="145" dirty="0">
                <a:latin typeface="Microsoft Sans Serif"/>
                <a:cs typeface="Microsoft Sans Serif"/>
              </a:rPr>
              <a:t>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x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n</a:t>
            </a:r>
            <a:r>
              <a:rPr sz="2800" spc="85" dirty="0">
                <a:latin typeface="Microsoft Sans Serif"/>
                <a:cs typeface="Microsoft Sans Serif"/>
              </a:rPr>
              <a:t>ul</a:t>
            </a:r>
            <a:r>
              <a:rPr sz="2800" spc="125" dirty="0">
                <a:latin typeface="Microsoft Sans Serif"/>
                <a:cs typeface="Microsoft Sans Serif"/>
              </a:rPr>
              <a:t>l</a:t>
            </a:r>
            <a:r>
              <a:rPr sz="2800" spc="-90" dirty="0">
                <a:latin typeface="Microsoft Sans Serif"/>
                <a:cs typeface="Microsoft Sans Serif"/>
              </a:rPr>
              <a:t>;  </a:t>
            </a:r>
            <a:r>
              <a:rPr sz="2800" spc="15" dirty="0">
                <a:latin typeface="Microsoft Sans Serif"/>
                <a:cs typeface="Microsoft Sans Serif"/>
              </a:rPr>
              <a:t>var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y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20;</a:t>
            </a:r>
            <a:endParaRPr sz="2800">
              <a:latin typeface="Microsoft Sans Serif"/>
              <a:cs typeface="Microsoft Sans Serif"/>
            </a:endParaRPr>
          </a:p>
          <a:p>
            <a:pPr marL="258445" marR="5080" algn="just">
              <a:lnSpc>
                <a:spcPct val="123500"/>
              </a:lnSpc>
              <a:spcBef>
                <a:spcPts val="5"/>
              </a:spcBef>
            </a:pPr>
            <a:r>
              <a:rPr sz="2800" spc="5" dirty="0">
                <a:latin typeface="Microsoft Sans Serif"/>
                <a:cs typeface="Microsoft Sans Serif"/>
              </a:rPr>
              <a:t>v</a:t>
            </a:r>
            <a:r>
              <a:rPr sz="2800" spc="-105" dirty="0">
                <a:latin typeface="Microsoft Sans Serif"/>
                <a:cs typeface="Microsoft Sans Serif"/>
              </a:rPr>
              <a:t>a</a:t>
            </a:r>
            <a:r>
              <a:rPr sz="2800" spc="145" dirty="0">
                <a:latin typeface="Microsoft Sans Serif"/>
                <a:cs typeface="Microsoft Sans Serif"/>
              </a:rPr>
              <a:t>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v</a:t>
            </a:r>
            <a:r>
              <a:rPr sz="2800" spc="-95" dirty="0">
                <a:latin typeface="Microsoft Sans Serif"/>
                <a:cs typeface="Microsoft Sans Serif"/>
              </a:rPr>
              <a:t>a</a:t>
            </a:r>
            <a:r>
              <a:rPr sz="2800" spc="125" dirty="0">
                <a:latin typeface="Microsoft Sans Serif"/>
                <a:cs typeface="Microsoft Sans Serif"/>
              </a:rPr>
              <a:t>l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=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x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430" dirty="0">
                <a:latin typeface="Microsoft Sans Serif"/>
                <a:cs typeface="Microsoft Sans Serif"/>
              </a:rPr>
              <a:t>??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y</a:t>
            </a:r>
            <a:r>
              <a:rPr sz="2800" spc="-90" dirty="0">
                <a:latin typeface="Microsoft Sans Serif"/>
                <a:cs typeface="Microsoft Sans Serif"/>
              </a:rPr>
              <a:t>;  </a:t>
            </a:r>
            <a:r>
              <a:rPr sz="2800" spc="50" dirty="0">
                <a:latin typeface="Microsoft Sans Serif"/>
                <a:cs typeface="Microsoft Sans Serif"/>
              </a:rPr>
              <a:t>print(val);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5" dirty="0">
                <a:latin typeface="Microsoft Sans Serif"/>
                <a:cs typeface="Microsoft Sans Serif"/>
              </a:rPr>
              <a:t>}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0" dirty="0"/>
              <a:t>Conditional</a:t>
            </a:r>
            <a:r>
              <a:rPr spc="-190" dirty="0"/>
              <a:t> </a:t>
            </a:r>
            <a:r>
              <a:rPr spc="8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017" y="1415864"/>
            <a:ext cx="7429500" cy="2543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835" marR="5852160" indent="-191770">
              <a:lnSpc>
                <a:spcPct val="130300"/>
              </a:lnSpc>
              <a:spcBef>
                <a:spcPts val="100"/>
              </a:spcBef>
            </a:pPr>
            <a:r>
              <a:rPr sz="2200" spc="45" dirty="0">
                <a:latin typeface="Microsoft Sans Serif"/>
                <a:cs typeface="Microsoft Sans Serif"/>
              </a:rPr>
              <a:t>void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main()</a:t>
            </a:r>
            <a:r>
              <a:rPr sz="2200" spc="-1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{ </a:t>
            </a:r>
            <a:r>
              <a:rPr sz="2200" spc="-57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v</a:t>
            </a:r>
            <a:r>
              <a:rPr sz="2200" spc="-75" dirty="0">
                <a:latin typeface="Microsoft Sans Serif"/>
                <a:cs typeface="Microsoft Sans Serif"/>
              </a:rPr>
              <a:t>a</a:t>
            </a:r>
            <a:r>
              <a:rPr sz="2200" spc="114" dirty="0">
                <a:latin typeface="Microsoft Sans Serif"/>
                <a:cs typeface="Microsoft Sans Serif"/>
              </a:rPr>
              <a:t>r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-80" dirty="0">
                <a:latin typeface="Microsoft Sans Serif"/>
                <a:cs typeface="Microsoft Sans Serif"/>
              </a:rPr>
              <a:t>a </a:t>
            </a:r>
            <a:r>
              <a:rPr sz="2200" spc="-45" dirty="0">
                <a:latin typeface="Microsoft Sans Serif"/>
                <a:cs typeface="Microsoft Sans Serif"/>
              </a:rPr>
              <a:t>=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3</a:t>
            </a:r>
            <a:r>
              <a:rPr sz="2200" spc="-30" dirty="0">
                <a:latin typeface="Microsoft Sans Serif"/>
                <a:cs typeface="Microsoft Sans Serif"/>
              </a:rPr>
              <a:t>0;</a:t>
            </a:r>
            <a:endParaRPr sz="2200">
              <a:latin typeface="Microsoft Sans Serif"/>
              <a:cs typeface="Microsoft Sans Serif"/>
            </a:endParaRPr>
          </a:p>
          <a:p>
            <a:pPr marL="12700" marR="5080" indent="191135">
              <a:lnSpc>
                <a:spcPct val="100000"/>
              </a:lnSpc>
              <a:spcBef>
                <a:spcPts val="790"/>
              </a:spcBef>
            </a:pPr>
            <a:r>
              <a:rPr sz="2200" spc="-5" dirty="0">
                <a:latin typeface="Microsoft Sans Serif"/>
                <a:cs typeface="Microsoft Sans Serif"/>
              </a:rPr>
              <a:t>v</a:t>
            </a:r>
            <a:r>
              <a:rPr sz="2200" spc="-75" dirty="0">
                <a:latin typeface="Microsoft Sans Serif"/>
                <a:cs typeface="Microsoft Sans Serif"/>
              </a:rPr>
              <a:t>a</a:t>
            </a:r>
            <a:r>
              <a:rPr sz="2200" spc="114" dirty="0">
                <a:latin typeface="Microsoft Sans Serif"/>
                <a:cs typeface="Microsoft Sans Serif"/>
              </a:rPr>
              <a:t>r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o</a:t>
            </a:r>
            <a:r>
              <a:rPr sz="2200" spc="50" dirty="0">
                <a:latin typeface="Microsoft Sans Serif"/>
                <a:cs typeface="Microsoft Sans Serif"/>
              </a:rPr>
              <a:t>u</a:t>
            </a:r>
            <a:r>
              <a:rPr sz="2200" spc="265" dirty="0">
                <a:latin typeface="Microsoft Sans Serif"/>
                <a:cs typeface="Microsoft Sans Serif"/>
              </a:rPr>
              <a:t>t</a:t>
            </a:r>
            <a:r>
              <a:rPr sz="2200" spc="70" dirty="0">
                <a:latin typeface="Microsoft Sans Serif"/>
                <a:cs typeface="Microsoft Sans Serif"/>
              </a:rPr>
              <a:t>p</a:t>
            </a:r>
            <a:r>
              <a:rPr sz="2200" spc="30" dirty="0">
                <a:latin typeface="Microsoft Sans Serif"/>
                <a:cs typeface="Microsoft Sans Serif"/>
              </a:rPr>
              <a:t>u</a:t>
            </a:r>
            <a:r>
              <a:rPr sz="2200" spc="270" dirty="0">
                <a:latin typeface="Microsoft Sans Serif"/>
                <a:cs typeface="Microsoft Sans Serif"/>
              </a:rPr>
              <a:t>t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-45" dirty="0">
                <a:latin typeface="Microsoft Sans Serif"/>
                <a:cs typeface="Microsoft Sans Serif"/>
              </a:rPr>
              <a:t>=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-80" dirty="0">
                <a:latin typeface="Microsoft Sans Serif"/>
                <a:cs typeface="Microsoft Sans Serif"/>
              </a:rPr>
              <a:t>a </a:t>
            </a:r>
            <a:r>
              <a:rPr sz="2200" spc="-45" dirty="0">
                <a:latin typeface="Microsoft Sans Serif"/>
                <a:cs typeface="Microsoft Sans Serif"/>
              </a:rPr>
              <a:t>&gt;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15" dirty="0">
                <a:latin typeface="Microsoft Sans Serif"/>
                <a:cs typeface="Microsoft Sans Serif"/>
              </a:rPr>
              <a:t>38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-335" dirty="0">
                <a:latin typeface="Microsoft Sans Serif"/>
                <a:cs typeface="Microsoft Sans Serif"/>
              </a:rPr>
              <a:t>?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125" dirty="0">
                <a:latin typeface="Microsoft Sans Serif"/>
                <a:cs typeface="Microsoft Sans Serif"/>
              </a:rPr>
              <a:t>"</a:t>
            </a:r>
            <a:r>
              <a:rPr sz="2200" spc="-5" dirty="0">
                <a:latin typeface="Microsoft Sans Serif"/>
                <a:cs typeface="Microsoft Sans Serif"/>
              </a:rPr>
              <a:t>v</a:t>
            </a:r>
            <a:r>
              <a:rPr sz="2200" spc="15" dirty="0">
                <a:latin typeface="Microsoft Sans Serif"/>
                <a:cs typeface="Microsoft Sans Serif"/>
              </a:rPr>
              <a:t>a</a:t>
            </a:r>
            <a:r>
              <a:rPr sz="2200" spc="10" dirty="0">
                <a:latin typeface="Microsoft Sans Serif"/>
                <a:cs typeface="Microsoft Sans Serif"/>
              </a:rPr>
              <a:t>l</a:t>
            </a:r>
            <a:r>
              <a:rPr sz="2200" spc="30" dirty="0">
                <a:latin typeface="Microsoft Sans Serif"/>
                <a:cs typeface="Microsoft Sans Serif"/>
              </a:rPr>
              <a:t>u</a:t>
            </a:r>
            <a:r>
              <a:rPr sz="2200" spc="5" dirty="0">
                <a:latin typeface="Microsoft Sans Serif"/>
                <a:cs typeface="Microsoft Sans Serif"/>
              </a:rPr>
              <a:t>e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g</a:t>
            </a:r>
            <a:r>
              <a:rPr sz="2200" spc="45" dirty="0">
                <a:latin typeface="Microsoft Sans Serif"/>
                <a:cs typeface="Microsoft Sans Serif"/>
              </a:rPr>
              <a:t>r</a:t>
            </a:r>
            <a:r>
              <a:rPr sz="2200" spc="65" dirty="0">
                <a:latin typeface="Microsoft Sans Serif"/>
                <a:cs typeface="Microsoft Sans Serif"/>
              </a:rPr>
              <a:t>e</a:t>
            </a:r>
            <a:r>
              <a:rPr sz="2200" spc="95" dirty="0">
                <a:latin typeface="Microsoft Sans Serif"/>
                <a:cs typeface="Microsoft Sans Serif"/>
              </a:rPr>
              <a:t>at</a:t>
            </a:r>
            <a:r>
              <a:rPr sz="2200" spc="60" dirty="0">
                <a:latin typeface="Microsoft Sans Serif"/>
                <a:cs typeface="Microsoft Sans Serif"/>
              </a:rPr>
              <a:t>er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270" dirty="0">
                <a:latin typeface="Microsoft Sans Serif"/>
                <a:cs typeface="Microsoft Sans Serif"/>
              </a:rPr>
              <a:t>t</a:t>
            </a:r>
            <a:r>
              <a:rPr sz="2200" spc="20" dirty="0">
                <a:latin typeface="Microsoft Sans Serif"/>
                <a:cs typeface="Microsoft Sans Serif"/>
              </a:rPr>
              <a:t>h</a:t>
            </a:r>
            <a:r>
              <a:rPr sz="2200" spc="-20" dirty="0">
                <a:latin typeface="Microsoft Sans Serif"/>
                <a:cs typeface="Microsoft Sans Serif"/>
              </a:rPr>
              <a:t>an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15" dirty="0">
                <a:latin typeface="Microsoft Sans Serif"/>
                <a:cs typeface="Microsoft Sans Serif"/>
              </a:rPr>
              <a:t>1</a:t>
            </a:r>
            <a:r>
              <a:rPr sz="2200" dirty="0">
                <a:latin typeface="Microsoft Sans Serif"/>
                <a:cs typeface="Microsoft Sans Serif"/>
              </a:rPr>
              <a:t>0</a:t>
            </a:r>
            <a:r>
              <a:rPr sz="2200" spc="35" dirty="0">
                <a:latin typeface="Microsoft Sans Serif"/>
                <a:cs typeface="Microsoft Sans Serif"/>
              </a:rPr>
              <a:t>"</a:t>
            </a:r>
            <a:r>
              <a:rPr sz="2200" spc="25" dirty="0">
                <a:latin typeface="Microsoft Sans Serif"/>
                <a:cs typeface="Microsoft Sans Serif"/>
              </a:rPr>
              <a:t>:</a:t>
            </a:r>
            <a:r>
              <a:rPr sz="2200" spc="125" dirty="0">
                <a:latin typeface="Microsoft Sans Serif"/>
                <a:cs typeface="Microsoft Sans Serif"/>
              </a:rPr>
              <a:t>"</a:t>
            </a:r>
            <a:r>
              <a:rPr sz="2200" spc="-5" dirty="0">
                <a:latin typeface="Microsoft Sans Serif"/>
                <a:cs typeface="Microsoft Sans Serif"/>
              </a:rPr>
              <a:t>v</a:t>
            </a:r>
            <a:r>
              <a:rPr sz="2200" spc="15" dirty="0">
                <a:latin typeface="Microsoft Sans Serif"/>
                <a:cs typeface="Microsoft Sans Serif"/>
              </a:rPr>
              <a:t>a</a:t>
            </a:r>
            <a:r>
              <a:rPr sz="2200" spc="10" dirty="0">
                <a:latin typeface="Microsoft Sans Serif"/>
                <a:cs typeface="Microsoft Sans Serif"/>
              </a:rPr>
              <a:t>l</a:t>
            </a:r>
            <a:r>
              <a:rPr sz="2200" spc="20" dirty="0">
                <a:latin typeface="Microsoft Sans Serif"/>
                <a:cs typeface="Microsoft Sans Serif"/>
              </a:rPr>
              <a:t>u</a:t>
            </a:r>
            <a:r>
              <a:rPr sz="2200" spc="5" dirty="0">
                <a:latin typeface="Microsoft Sans Serif"/>
                <a:cs typeface="Microsoft Sans Serif"/>
              </a:rPr>
              <a:t>e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le</a:t>
            </a:r>
            <a:r>
              <a:rPr sz="2200" spc="-15" dirty="0">
                <a:latin typeface="Microsoft Sans Serif"/>
                <a:cs typeface="Microsoft Sans Serif"/>
              </a:rPr>
              <a:t>s</a:t>
            </a:r>
            <a:r>
              <a:rPr sz="2200" spc="-114" dirty="0">
                <a:latin typeface="Microsoft Sans Serif"/>
                <a:cs typeface="Microsoft Sans Serif"/>
              </a:rPr>
              <a:t>s</a:t>
            </a:r>
            <a:r>
              <a:rPr sz="2200" spc="-5" dirty="0">
                <a:latin typeface="Microsoft Sans Serif"/>
                <a:cs typeface="Microsoft Sans Serif"/>
              </a:rPr>
              <a:t>e</a:t>
            </a:r>
            <a:r>
              <a:rPr sz="2200" spc="100" dirty="0">
                <a:latin typeface="Microsoft Sans Serif"/>
                <a:cs typeface="Microsoft Sans Serif"/>
              </a:rPr>
              <a:t>r  </a:t>
            </a:r>
            <a:r>
              <a:rPr sz="2200" spc="65" dirty="0">
                <a:latin typeface="Microsoft Sans Serif"/>
                <a:cs typeface="Microsoft Sans Serif"/>
              </a:rPr>
              <a:t>than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25" dirty="0">
                <a:latin typeface="Microsoft Sans Serif"/>
                <a:cs typeface="Microsoft Sans Serif"/>
              </a:rPr>
              <a:t>equal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170" dirty="0">
                <a:latin typeface="Microsoft Sans Serif"/>
                <a:cs typeface="Microsoft Sans Serif"/>
              </a:rPr>
              <a:t>to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20" dirty="0">
                <a:latin typeface="Microsoft Sans Serif"/>
                <a:cs typeface="Microsoft Sans Serif"/>
              </a:rPr>
              <a:t>30";</a:t>
            </a:r>
            <a:endParaRPr sz="2200">
              <a:latin typeface="Microsoft Sans Serif"/>
              <a:cs typeface="Microsoft Sans Serif"/>
            </a:endParaRPr>
          </a:p>
          <a:p>
            <a:pPr marL="203835">
              <a:lnSpc>
                <a:spcPct val="100000"/>
              </a:lnSpc>
              <a:spcBef>
                <a:spcPts val="790"/>
              </a:spcBef>
            </a:pPr>
            <a:r>
              <a:rPr sz="2200" spc="80" dirty="0">
                <a:latin typeface="Microsoft Sans Serif"/>
                <a:cs typeface="Microsoft Sans Serif"/>
              </a:rPr>
              <a:t>print(output);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200" spc="-5" dirty="0">
                <a:latin typeface="Microsoft Sans Serif"/>
                <a:cs typeface="Microsoft Sans Serif"/>
              </a:rPr>
              <a:t>}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7662"/>
            <a:ext cx="7919720" cy="356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30" dirty="0">
                <a:latin typeface="Microsoft Sans Serif"/>
                <a:cs typeface="Microsoft Sans Serif"/>
              </a:rPr>
              <a:t>The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parse()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function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converts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10" dirty="0">
                <a:latin typeface="Microsoft Sans Serif"/>
                <a:cs typeface="Microsoft Sans Serif"/>
              </a:rPr>
              <a:t>the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numeric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string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10" dirty="0">
                <a:latin typeface="Microsoft Sans Serif"/>
                <a:cs typeface="Microsoft Sans Serif"/>
              </a:rPr>
              <a:t>the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number.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Consider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following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example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-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400" spc="50" dirty="0">
                <a:latin typeface="Microsoft Sans Serif"/>
                <a:cs typeface="Microsoft Sans Serif"/>
              </a:rPr>
              <a:t>void</a:t>
            </a:r>
            <a:r>
              <a:rPr sz="2400" spc="-130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main(){</a:t>
            </a:r>
            <a:endParaRPr sz="2400">
              <a:latin typeface="Microsoft Sans Serif"/>
              <a:cs typeface="Microsoft Sans Serif"/>
            </a:endParaRPr>
          </a:p>
          <a:p>
            <a:pPr marL="355600" marR="3825240">
              <a:lnSpc>
                <a:spcPts val="3679"/>
              </a:lnSpc>
              <a:spcBef>
                <a:spcPts val="254"/>
              </a:spcBef>
            </a:pPr>
            <a:r>
              <a:rPr sz="2400" spc="-5" dirty="0">
                <a:latin typeface="Microsoft Sans Serif"/>
                <a:cs typeface="Microsoft Sans Serif"/>
              </a:rPr>
              <a:t>v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125" dirty="0">
                <a:latin typeface="Microsoft Sans Serif"/>
                <a:cs typeface="Microsoft Sans Serif"/>
              </a:rPr>
              <a:t>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nu</a:t>
            </a:r>
            <a:r>
              <a:rPr sz="2400" spc="55" dirty="0">
                <a:latin typeface="Microsoft Sans Serif"/>
                <a:cs typeface="Microsoft Sans Serif"/>
              </a:rPr>
              <a:t>m</a:t>
            </a:r>
            <a:r>
              <a:rPr sz="2400" dirty="0">
                <a:latin typeface="Microsoft Sans Serif"/>
                <a:cs typeface="Microsoft Sans Serif"/>
              </a:rPr>
              <a:t>.p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114" dirty="0">
                <a:latin typeface="Microsoft Sans Serif"/>
                <a:cs typeface="Microsoft Sans Serif"/>
              </a:rPr>
              <a:t>r</a:t>
            </a:r>
            <a:r>
              <a:rPr sz="2400" spc="-60" dirty="0">
                <a:latin typeface="Microsoft Sans Serif"/>
                <a:cs typeface="Microsoft Sans Serif"/>
              </a:rPr>
              <a:t>s</a:t>
            </a:r>
            <a:r>
              <a:rPr sz="2400" spc="-70" dirty="0">
                <a:latin typeface="Microsoft Sans Serif"/>
                <a:cs typeface="Microsoft Sans Serif"/>
              </a:rPr>
              <a:t>e</a:t>
            </a:r>
            <a:r>
              <a:rPr sz="2400" spc="60" dirty="0">
                <a:latin typeface="Microsoft Sans Serif"/>
                <a:cs typeface="Microsoft Sans Serif"/>
              </a:rPr>
              <a:t>("</a:t>
            </a:r>
            <a:r>
              <a:rPr sz="2400" spc="15" dirty="0">
                <a:latin typeface="Microsoft Sans Serif"/>
                <a:cs typeface="Microsoft Sans Serif"/>
              </a:rPr>
              <a:t>2</a:t>
            </a:r>
            <a:r>
              <a:rPr sz="2400" spc="10" dirty="0">
                <a:latin typeface="Microsoft Sans Serif"/>
                <a:cs typeface="Microsoft Sans Serif"/>
              </a:rPr>
              <a:t>0</a:t>
            </a:r>
            <a:r>
              <a:rPr sz="2400" spc="-30" dirty="0">
                <a:latin typeface="Microsoft Sans Serif"/>
                <a:cs typeface="Microsoft Sans Serif"/>
              </a:rPr>
              <a:t>.5</a:t>
            </a:r>
            <a:r>
              <a:rPr sz="2400" spc="10" dirty="0">
                <a:latin typeface="Microsoft Sans Serif"/>
                <a:cs typeface="Microsoft Sans Serif"/>
              </a:rPr>
              <a:t>6</a:t>
            </a:r>
            <a:r>
              <a:rPr sz="2400" spc="150" dirty="0">
                <a:latin typeface="Microsoft Sans Serif"/>
                <a:cs typeface="Microsoft Sans Serif"/>
              </a:rPr>
              <a:t>"</a:t>
            </a:r>
            <a:r>
              <a:rPr sz="2400" spc="-50" dirty="0">
                <a:latin typeface="Microsoft Sans Serif"/>
                <a:cs typeface="Microsoft Sans Serif"/>
              </a:rPr>
              <a:t>);  </a:t>
            </a:r>
            <a:r>
              <a:rPr sz="2400" spc="10" dirty="0">
                <a:latin typeface="Microsoft Sans Serif"/>
                <a:cs typeface="Microsoft Sans Serif"/>
              </a:rPr>
              <a:t>var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b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num.parse("15.63");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45"/>
              </a:spcBef>
            </a:pPr>
            <a:r>
              <a:rPr sz="2400" spc="-5" dirty="0">
                <a:latin typeface="Microsoft Sans Serif"/>
                <a:cs typeface="Microsoft Sans Serif"/>
              </a:rPr>
              <a:t>v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125" dirty="0">
                <a:latin typeface="Microsoft Sans Serif"/>
                <a:cs typeface="Microsoft Sans Serif"/>
              </a:rPr>
              <a:t>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c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-55" dirty="0">
                <a:latin typeface="Microsoft Sans Serif"/>
                <a:cs typeface="Microsoft Sans Serif"/>
              </a:rPr>
              <a:t>+</a:t>
            </a:r>
            <a:r>
              <a:rPr sz="2400" spc="75" dirty="0">
                <a:latin typeface="Microsoft Sans Serif"/>
                <a:cs typeface="Microsoft Sans Serif"/>
              </a:rPr>
              <a:t>b</a:t>
            </a:r>
            <a:r>
              <a:rPr sz="2400" spc="-80" dirty="0">
                <a:latin typeface="Microsoft Sans Serif"/>
                <a:cs typeface="Microsoft Sans Serif"/>
              </a:rPr>
              <a:t>;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400" spc="60" dirty="0">
                <a:latin typeface="Microsoft Sans Serif"/>
                <a:cs typeface="Microsoft Sans Serif"/>
              </a:rPr>
              <a:t>print("The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sum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${c}");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800"/>
              </a:spcBef>
            </a:pPr>
            <a:r>
              <a:rPr sz="2400" spc="-5" dirty="0">
                <a:latin typeface="Microsoft Sans Serif"/>
                <a:cs typeface="Microsoft Sans Serif"/>
              </a:rPr>
              <a:t>}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40" dirty="0"/>
              <a:t>The</a:t>
            </a:r>
            <a:r>
              <a:rPr spc="-155" dirty="0"/>
              <a:t> </a:t>
            </a:r>
            <a:r>
              <a:rPr spc="-15" dirty="0"/>
              <a:t>parse()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40" dirty="0"/>
              <a:t>The</a:t>
            </a:r>
            <a:r>
              <a:rPr spc="-160" dirty="0"/>
              <a:t> </a:t>
            </a:r>
            <a:r>
              <a:rPr spc="85" dirty="0"/>
              <a:t>number</a:t>
            </a:r>
            <a:r>
              <a:rPr spc="-160" dirty="0"/>
              <a:t> </a:t>
            </a:r>
            <a:r>
              <a:rPr spc="110" dirty="0"/>
              <a:t>properties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004" y="1655635"/>
            <a:ext cx="7371003" cy="42400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40" dirty="0"/>
              <a:t>The</a:t>
            </a:r>
            <a:r>
              <a:rPr spc="-155" dirty="0"/>
              <a:t> </a:t>
            </a:r>
            <a:r>
              <a:rPr spc="85" dirty="0"/>
              <a:t>number</a:t>
            </a:r>
            <a:r>
              <a:rPr spc="-155" dirty="0"/>
              <a:t> </a:t>
            </a:r>
            <a:r>
              <a:rPr spc="90" dirty="0"/>
              <a:t>methods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360" y="1548714"/>
            <a:ext cx="6604914" cy="4570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2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99905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9870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35940" y="1516214"/>
            <a:ext cx="8072119" cy="31726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Strings </a:t>
            </a:r>
            <a:r>
              <a:rPr sz="240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</a:t>
            </a:r>
            <a:r>
              <a:rPr sz="2400"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sz="2400" spc="-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sz="2400" spc="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q</a:t>
            </a:r>
            <a:r>
              <a:rPr sz="2400" spc="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</a:t>
            </a:r>
            <a:r>
              <a:rPr sz="2400" spc="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sz="240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nc</a:t>
            </a:r>
            <a:r>
              <a:rPr sz="2400" spc="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</a:t>
            </a:r>
            <a:r>
              <a:rPr sz="2400" spc="254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2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</a:t>
            </a:r>
            <a:r>
              <a:rPr sz="2400" spc="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</a:t>
            </a:r>
            <a:r>
              <a:rPr sz="2400"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</a:t>
            </a:r>
            <a:r>
              <a:rPr sz="2400"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</a:t>
            </a:r>
            <a:r>
              <a:rPr sz="2400" spc="-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</a:t>
            </a:r>
            <a:r>
              <a:rPr sz="2400" spc="1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ac</a:t>
            </a:r>
            <a:r>
              <a:rPr sz="2400" spc="2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</a:t>
            </a:r>
            <a:r>
              <a:rPr sz="2400" spc="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</a:t>
            </a:r>
            <a:r>
              <a:rPr sz="2400" spc="1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</a:t>
            </a:r>
            <a:r>
              <a:rPr sz="2400"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</a:t>
            </a:r>
            <a:r>
              <a:rPr sz="2400" spc="1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</a:t>
            </a:r>
            <a:r>
              <a:rPr sz="2400" spc="-1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</a:t>
            </a:r>
            <a:r>
              <a:rPr sz="2400" spc="-1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sz="240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-1</a:t>
            </a:r>
            <a:r>
              <a:rPr sz="2400" spc="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</a:t>
            </a:r>
            <a:r>
              <a:rPr sz="2400"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</a:t>
            </a:r>
            <a:r>
              <a:rPr sz="240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</a:t>
            </a:r>
            <a:r>
              <a:rPr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  </a:t>
            </a:r>
            <a:r>
              <a:rPr sz="2400" spc="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units.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1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is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used</a:t>
            </a:r>
            <a:r>
              <a:rPr sz="2400" spc="-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1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store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1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1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value.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sz="2400" spc="-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string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-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can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 </a:t>
            </a:r>
            <a:r>
              <a:rPr sz="2400" spc="-6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created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using</a:t>
            </a:r>
            <a:r>
              <a:rPr sz="2400" spc="-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single</a:t>
            </a:r>
            <a:r>
              <a:rPr sz="2400"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quotes</a:t>
            </a:r>
            <a:r>
              <a:rPr sz="2400"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or</a:t>
            </a:r>
            <a:r>
              <a:rPr sz="2400"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400" spc="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double-quotes.</a:t>
            </a:r>
            <a:endParaRPr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55600" marR="641350" algn="just">
              <a:lnSpc>
                <a:spcPct val="100000"/>
              </a:lnSpc>
              <a:spcBef>
                <a:spcPts val="800"/>
              </a:spcBef>
            </a:pPr>
            <a:r>
              <a:rPr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multiline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7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string</a:t>
            </a:r>
            <a:r>
              <a:rPr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-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can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</a:t>
            </a:r>
            <a:r>
              <a:rPr spc="-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created</a:t>
            </a:r>
            <a:r>
              <a:rPr spc="-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using</a:t>
            </a:r>
            <a:r>
              <a:rPr spc="-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0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triple- </a:t>
            </a:r>
            <a:r>
              <a:rPr spc="-6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quotes.</a:t>
            </a:r>
            <a:r>
              <a:rPr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Strings</a:t>
            </a:r>
            <a:r>
              <a:rPr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are</a:t>
            </a:r>
            <a:r>
              <a:rPr spc="-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5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immutable;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</a:t>
            </a:r>
            <a:r>
              <a:rPr spc="-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-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means</a:t>
            </a:r>
            <a:r>
              <a:rPr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you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cannot </a:t>
            </a:r>
            <a:r>
              <a:rPr spc="-6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modify</a:t>
            </a:r>
            <a:r>
              <a:rPr spc="-1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7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</a:t>
            </a:r>
            <a:r>
              <a:rPr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14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after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creation.</a:t>
            </a:r>
          </a:p>
          <a:p>
            <a:pPr marL="355600" marR="245110" algn="just">
              <a:lnSpc>
                <a:spcPct val="100000"/>
              </a:lnSpc>
              <a:spcBef>
                <a:spcPts val="800"/>
              </a:spcBef>
            </a:pPr>
            <a:r>
              <a:rPr spc="1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Dart,</a:t>
            </a:r>
            <a:r>
              <a:rPr spc="-9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</a:t>
            </a:r>
            <a:r>
              <a:rPr spc="-3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he</a:t>
            </a:r>
            <a:r>
              <a:rPr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3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String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6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keyword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-4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can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4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</a:t>
            </a:r>
            <a:r>
              <a:rPr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-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used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8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</a:t>
            </a:r>
            <a:r>
              <a:rPr spc="-9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2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declare</a:t>
            </a:r>
            <a:r>
              <a:rPr spc="-8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10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</a:t>
            </a:r>
            <a:r>
              <a:rPr spc="-625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pc="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2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3566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7057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416276"/>
            <a:ext cx="7835900" cy="33275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001645" indent="-343535">
              <a:lnSpc>
                <a:spcPct val="1278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35" dirty="0">
                <a:latin typeface="Microsoft Sans Serif"/>
                <a:cs typeface="Microsoft Sans Serif"/>
              </a:rPr>
              <a:t>String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msg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30" dirty="0">
                <a:latin typeface="Microsoft Sans Serif"/>
                <a:cs typeface="Microsoft Sans Serif"/>
              </a:rPr>
              <a:t>'Welcome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85" dirty="0">
                <a:latin typeface="Microsoft Sans Serif"/>
                <a:cs typeface="Microsoft Sans Serif"/>
              </a:rPr>
              <a:t>to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lang="en-US" sz="2400" spc="-20" dirty="0">
                <a:latin typeface="Microsoft Sans Serif"/>
                <a:cs typeface="Microsoft Sans Serif"/>
              </a:rPr>
              <a:t>Dart</a:t>
            </a:r>
            <a:r>
              <a:rPr sz="2400" spc="-20" dirty="0">
                <a:latin typeface="Microsoft Sans Serif"/>
                <a:cs typeface="Microsoft Sans Serif"/>
              </a:rPr>
              <a:t>';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or</a:t>
            </a:r>
            <a:endParaRPr sz="2400" dirty="0">
              <a:latin typeface="Microsoft Sans Serif"/>
              <a:cs typeface="Microsoft Sans Serif"/>
            </a:endParaRPr>
          </a:p>
          <a:p>
            <a:pPr marL="355600" marR="5080">
              <a:lnSpc>
                <a:spcPts val="3679"/>
              </a:lnSpc>
              <a:spcBef>
                <a:spcPts val="254"/>
              </a:spcBef>
            </a:pPr>
            <a:r>
              <a:rPr sz="2400" spc="35" dirty="0">
                <a:latin typeface="Microsoft Sans Serif"/>
                <a:cs typeface="Microsoft Sans Serif"/>
              </a:rPr>
              <a:t>String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msg1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"This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is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double-quoted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string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5" dirty="0">
                <a:latin typeface="Microsoft Sans Serif"/>
                <a:cs typeface="Microsoft Sans Serif"/>
              </a:rPr>
              <a:t>example.";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or</a:t>
            </a:r>
            <a:endParaRPr sz="2400" dirty="0">
              <a:latin typeface="Microsoft Sans Serif"/>
              <a:cs typeface="Microsoft Sans Serif"/>
            </a:endParaRPr>
          </a:p>
          <a:p>
            <a:pPr marL="355600" marR="4405630">
              <a:lnSpc>
                <a:spcPts val="3679"/>
              </a:lnSpc>
              <a:spcBef>
                <a:spcPts val="5"/>
              </a:spcBef>
            </a:pPr>
            <a:r>
              <a:rPr sz="2400" spc="35" dirty="0">
                <a:latin typeface="Microsoft Sans Serif"/>
                <a:cs typeface="Microsoft Sans Serif"/>
              </a:rPr>
              <a:t>String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msg2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=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'''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line1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line2</a:t>
            </a:r>
            <a:endParaRPr sz="2400" dirty="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40"/>
              </a:spcBef>
            </a:pPr>
            <a:r>
              <a:rPr sz="2400" spc="70" dirty="0">
                <a:latin typeface="Microsoft Sans Serif"/>
                <a:cs typeface="Microsoft Sans Serif"/>
              </a:rPr>
              <a:t>line3'''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2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7685405" cy="4152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4175">
              <a:lnSpc>
                <a:spcPct val="127800"/>
              </a:lnSpc>
              <a:spcBef>
                <a:spcPts val="95"/>
              </a:spcBef>
            </a:pPr>
            <a:r>
              <a:rPr sz="2400" spc="-30" dirty="0">
                <a:latin typeface="Microsoft Sans Serif"/>
                <a:cs typeface="Microsoft Sans Serif"/>
              </a:rPr>
              <a:t>The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+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or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+=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operator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used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185" dirty="0">
                <a:latin typeface="Microsoft Sans Serif"/>
                <a:cs typeface="Microsoft Sans Serif"/>
              </a:rPr>
              <a:t>to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merge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10" dirty="0">
                <a:latin typeface="Microsoft Sans Serif"/>
                <a:cs typeface="Microsoft Sans Serif"/>
              </a:rPr>
              <a:t>the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65" dirty="0">
                <a:latin typeface="Microsoft Sans Serif"/>
                <a:cs typeface="Microsoft Sans Serif"/>
              </a:rPr>
              <a:t>two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string.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String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Interpolation</a:t>
            </a:r>
            <a:endParaRPr sz="2400">
              <a:latin typeface="Microsoft Sans Serif"/>
              <a:cs typeface="Microsoft Sans Serif"/>
            </a:endParaRPr>
          </a:p>
          <a:p>
            <a:pPr marL="412115" marR="13970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750" algn="l"/>
              </a:tabLst>
            </a:pPr>
            <a:r>
              <a:rPr sz="2400" spc="-120" dirty="0">
                <a:latin typeface="Microsoft Sans Serif"/>
                <a:cs typeface="Microsoft Sans Serif"/>
              </a:rPr>
              <a:t>T</a:t>
            </a:r>
            <a:r>
              <a:rPr sz="2400" spc="20" dirty="0">
                <a:latin typeface="Microsoft Sans Serif"/>
                <a:cs typeface="Microsoft Sans Serif"/>
              </a:rPr>
              <a:t>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s</a:t>
            </a:r>
            <a:r>
              <a:rPr sz="2400" spc="55" dirty="0">
                <a:latin typeface="Microsoft Sans Serif"/>
                <a:cs typeface="Microsoft Sans Serif"/>
              </a:rPr>
              <a:t>t</a:t>
            </a:r>
            <a:r>
              <a:rPr sz="2400" spc="114" dirty="0">
                <a:latin typeface="Microsoft Sans Serif"/>
                <a:cs typeface="Microsoft Sans Serif"/>
              </a:rPr>
              <a:t>r</a:t>
            </a:r>
            <a:r>
              <a:rPr sz="2400" spc="50" dirty="0">
                <a:latin typeface="Microsoft Sans Serif"/>
                <a:cs typeface="Microsoft Sans Serif"/>
              </a:rPr>
              <a:t>ing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in</a:t>
            </a:r>
            <a:r>
              <a:rPr sz="2400" spc="95" dirty="0">
                <a:latin typeface="Microsoft Sans Serif"/>
                <a:cs typeface="Microsoft Sans Serif"/>
              </a:rPr>
              <a:t>t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125" dirty="0">
                <a:latin typeface="Microsoft Sans Serif"/>
                <a:cs typeface="Microsoft Sans Serif"/>
              </a:rPr>
              <a:t>r</a:t>
            </a:r>
            <a:r>
              <a:rPr sz="2400" spc="70" dirty="0">
                <a:latin typeface="Microsoft Sans Serif"/>
                <a:cs typeface="Microsoft Sans Serif"/>
              </a:rPr>
              <a:t>p</a:t>
            </a:r>
            <a:r>
              <a:rPr sz="2400" spc="80" dirty="0">
                <a:latin typeface="Microsoft Sans Serif"/>
                <a:cs typeface="Microsoft Sans Serif"/>
              </a:rPr>
              <a:t>o</a:t>
            </a:r>
            <a:r>
              <a:rPr sz="2400" spc="105" dirty="0">
                <a:latin typeface="Microsoft Sans Serif"/>
                <a:cs typeface="Microsoft Sans Serif"/>
              </a:rPr>
              <a:t>l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295" dirty="0">
                <a:latin typeface="Microsoft Sans Serif"/>
                <a:cs typeface="Microsoft Sans Serif"/>
              </a:rPr>
              <a:t>t</a:t>
            </a:r>
            <a:r>
              <a:rPr sz="2400" spc="70" dirty="0">
                <a:latin typeface="Microsoft Sans Serif"/>
                <a:cs typeface="Microsoft Sans Serif"/>
              </a:rPr>
              <a:t>io</a:t>
            </a:r>
            <a:r>
              <a:rPr sz="2400" spc="40" dirty="0">
                <a:latin typeface="Microsoft Sans Serif"/>
                <a:cs typeface="Microsoft Sans Serif"/>
              </a:rPr>
              <a:t>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85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290" dirty="0">
                <a:latin typeface="Microsoft Sans Serif"/>
                <a:cs typeface="Microsoft Sans Serif"/>
              </a:rPr>
              <a:t>t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-85" dirty="0">
                <a:latin typeface="Microsoft Sans Serif"/>
                <a:cs typeface="Microsoft Sans Serif"/>
              </a:rPr>
              <a:t>c</a:t>
            </a:r>
            <a:r>
              <a:rPr sz="2400" spc="35" dirty="0">
                <a:latin typeface="Microsoft Sans Serif"/>
                <a:cs typeface="Microsoft Sans Serif"/>
              </a:rPr>
              <a:t>h</a:t>
            </a:r>
            <a:r>
              <a:rPr sz="2400" spc="25" dirty="0">
                <a:latin typeface="Microsoft Sans Serif"/>
                <a:cs typeface="Microsoft Sans Serif"/>
              </a:rPr>
              <a:t>n</a:t>
            </a:r>
            <a:r>
              <a:rPr sz="2400" spc="60" dirty="0">
                <a:latin typeface="Microsoft Sans Serif"/>
                <a:cs typeface="Microsoft Sans Serif"/>
              </a:rPr>
              <a:t>i</a:t>
            </a:r>
            <a:r>
              <a:rPr sz="2400" spc="70" dirty="0">
                <a:latin typeface="Microsoft Sans Serif"/>
                <a:cs typeface="Microsoft Sans Serif"/>
              </a:rPr>
              <a:t>q</a:t>
            </a:r>
            <a:r>
              <a:rPr sz="2400" spc="20" dirty="0">
                <a:latin typeface="Microsoft Sans Serif"/>
                <a:cs typeface="Microsoft Sans Serif"/>
              </a:rPr>
              <a:t>ue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290" dirty="0">
                <a:latin typeface="Microsoft Sans Serif"/>
                <a:cs typeface="Microsoft Sans Serif"/>
              </a:rPr>
              <a:t>t</a:t>
            </a:r>
            <a:r>
              <a:rPr sz="2400" spc="80" dirty="0">
                <a:latin typeface="Microsoft Sans Serif"/>
                <a:cs typeface="Microsoft Sans Serif"/>
              </a:rPr>
              <a:t>o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m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60" dirty="0">
                <a:latin typeface="Microsoft Sans Serif"/>
                <a:cs typeface="Microsoft Sans Serif"/>
              </a:rPr>
              <a:t>nip</a:t>
            </a:r>
            <a:r>
              <a:rPr sz="2400" spc="75" dirty="0">
                <a:latin typeface="Microsoft Sans Serif"/>
                <a:cs typeface="Microsoft Sans Serif"/>
              </a:rPr>
              <a:t>ul</a:t>
            </a:r>
            <a:r>
              <a:rPr sz="2400" spc="-90" dirty="0">
                <a:latin typeface="Microsoft Sans Serif"/>
                <a:cs typeface="Microsoft Sans Serif"/>
              </a:rPr>
              <a:t>a</a:t>
            </a:r>
            <a:r>
              <a:rPr sz="2400" spc="290" dirty="0">
                <a:latin typeface="Microsoft Sans Serif"/>
                <a:cs typeface="Microsoft Sans Serif"/>
              </a:rPr>
              <a:t>t</a:t>
            </a:r>
            <a:r>
              <a:rPr sz="2400" dirty="0">
                <a:latin typeface="Microsoft Sans Serif"/>
                <a:cs typeface="Microsoft Sans Serif"/>
              </a:rPr>
              <a:t>e  </a:t>
            </a:r>
            <a:r>
              <a:rPr sz="2400" spc="110" dirty="0">
                <a:latin typeface="Microsoft Sans Serif"/>
                <a:cs typeface="Microsoft Sans Serif"/>
              </a:rPr>
              <a:t>the </a:t>
            </a:r>
            <a:r>
              <a:rPr sz="2400" spc="70" dirty="0">
                <a:latin typeface="Microsoft Sans Serif"/>
                <a:cs typeface="Microsoft Sans Serif"/>
              </a:rPr>
              <a:t>string </a:t>
            </a:r>
            <a:r>
              <a:rPr sz="2400" spc="10" dirty="0">
                <a:latin typeface="Microsoft Sans Serif"/>
                <a:cs typeface="Microsoft Sans Serif"/>
              </a:rPr>
              <a:t>and </a:t>
            </a:r>
            <a:r>
              <a:rPr sz="2400" spc="40" dirty="0">
                <a:latin typeface="Microsoft Sans Serif"/>
                <a:cs typeface="Microsoft Sans Serif"/>
              </a:rPr>
              <a:t>create </a:t>
            </a:r>
            <a:r>
              <a:rPr sz="2400" spc="110" dirty="0">
                <a:latin typeface="Microsoft Sans Serif"/>
                <a:cs typeface="Microsoft Sans Serif"/>
              </a:rPr>
              <a:t>the </a:t>
            </a:r>
            <a:r>
              <a:rPr sz="2400" spc="55" dirty="0">
                <a:latin typeface="Microsoft Sans Serif"/>
                <a:cs typeface="Microsoft Sans Serif"/>
              </a:rPr>
              <a:t>new </a:t>
            </a:r>
            <a:r>
              <a:rPr sz="2400" spc="70" dirty="0">
                <a:latin typeface="Microsoft Sans Serif"/>
                <a:cs typeface="Microsoft Sans Serif"/>
              </a:rPr>
              <a:t>string </a:t>
            </a:r>
            <a:r>
              <a:rPr sz="2400" spc="35" dirty="0">
                <a:latin typeface="Microsoft Sans Serif"/>
                <a:cs typeface="Microsoft Sans Serif"/>
              </a:rPr>
              <a:t>by adding 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another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value.</a:t>
            </a:r>
            <a:endParaRPr sz="2400">
              <a:latin typeface="Microsoft Sans Serif"/>
              <a:cs typeface="Microsoft Sans Serif"/>
            </a:endParaRPr>
          </a:p>
          <a:p>
            <a:pPr marL="412115" marR="5080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750" algn="l"/>
              </a:tabLst>
            </a:pPr>
            <a:r>
              <a:rPr sz="2400" spc="135" dirty="0">
                <a:latin typeface="Microsoft Sans Serif"/>
                <a:cs typeface="Microsoft Sans Serif"/>
              </a:rPr>
              <a:t>It </a:t>
            </a:r>
            <a:r>
              <a:rPr sz="2400" spc="-45" dirty="0">
                <a:latin typeface="Microsoft Sans Serif"/>
                <a:cs typeface="Microsoft Sans Serif"/>
              </a:rPr>
              <a:t>can </a:t>
            </a:r>
            <a:r>
              <a:rPr sz="2400" spc="40" dirty="0">
                <a:latin typeface="Microsoft Sans Serif"/>
                <a:cs typeface="Microsoft Sans Serif"/>
              </a:rPr>
              <a:t>be </a:t>
            </a:r>
            <a:r>
              <a:rPr sz="2400" spc="-5" dirty="0">
                <a:latin typeface="Microsoft Sans Serif"/>
                <a:cs typeface="Microsoft Sans Serif"/>
              </a:rPr>
              <a:t>used </a:t>
            </a:r>
            <a:r>
              <a:rPr sz="2400" spc="185" dirty="0">
                <a:latin typeface="Microsoft Sans Serif"/>
                <a:cs typeface="Microsoft Sans Serif"/>
              </a:rPr>
              <a:t>to </a:t>
            </a:r>
            <a:r>
              <a:rPr sz="2400" spc="30" dirty="0">
                <a:latin typeface="Microsoft Sans Serif"/>
                <a:cs typeface="Microsoft Sans Serif"/>
              </a:rPr>
              <a:t>evaluate </a:t>
            </a:r>
            <a:r>
              <a:rPr sz="2400" spc="110" dirty="0">
                <a:latin typeface="Microsoft Sans Serif"/>
                <a:cs typeface="Microsoft Sans Serif"/>
              </a:rPr>
              <a:t>the </a:t>
            </a:r>
            <a:r>
              <a:rPr sz="2400" spc="70" dirty="0">
                <a:latin typeface="Microsoft Sans Serif"/>
                <a:cs typeface="Microsoft Sans Serif"/>
              </a:rPr>
              <a:t>string </a:t>
            </a:r>
            <a:r>
              <a:rPr sz="2400" spc="40" dirty="0">
                <a:latin typeface="Microsoft Sans Serif"/>
                <a:cs typeface="Microsoft Sans Serif"/>
              </a:rPr>
              <a:t>including 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15" dirty="0">
                <a:latin typeface="Microsoft Sans Serif"/>
                <a:cs typeface="Microsoft Sans Serif"/>
              </a:rPr>
              <a:t>placeholders,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variables,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and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interpolated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5" dirty="0">
                <a:latin typeface="Microsoft Sans Serif"/>
                <a:cs typeface="Microsoft Sans Serif"/>
              </a:rPr>
              <a:t>expression.</a:t>
            </a:r>
            <a:endParaRPr sz="2400">
              <a:latin typeface="Microsoft Sans Serif"/>
              <a:cs typeface="Microsoft Sans Serif"/>
            </a:endParaRPr>
          </a:p>
          <a:p>
            <a:pPr marL="412115" marR="470534" indent="-286385">
              <a:lnSpc>
                <a:spcPct val="100000"/>
              </a:lnSpc>
              <a:spcBef>
                <a:spcPts val="705"/>
              </a:spcBef>
              <a:buClr>
                <a:srgbClr val="6697CC"/>
              </a:buClr>
              <a:buFont typeface="Arial MT"/>
              <a:buChar char="–"/>
              <a:tabLst>
                <a:tab pos="412750" algn="l"/>
              </a:tabLst>
            </a:pPr>
            <a:r>
              <a:rPr sz="2400" spc="-30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${expression}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used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50" dirty="0">
                <a:latin typeface="Microsoft Sans Serif"/>
                <a:cs typeface="Microsoft Sans Serif"/>
              </a:rPr>
              <a:t>for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string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interpolation.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expressions </a:t>
            </a:r>
            <a:r>
              <a:rPr sz="2400" spc="15" dirty="0">
                <a:latin typeface="Microsoft Sans Serif"/>
                <a:cs typeface="Microsoft Sans Serif"/>
              </a:rPr>
              <a:t>are </a:t>
            </a:r>
            <a:r>
              <a:rPr sz="2400" spc="25" dirty="0">
                <a:latin typeface="Microsoft Sans Serif"/>
                <a:cs typeface="Microsoft Sans Serif"/>
              </a:rPr>
              <a:t>replaced </a:t>
            </a:r>
            <a:r>
              <a:rPr sz="2400" spc="125" dirty="0">
                <a:latin typeface="Microsoft Sans Serif"/>
                <a:cs typeface="Microsoft Sans Serif"/>
              </a:rPr>
              <a:t>with </a:t>
            </a:r>
            <a:r>
              <a:rPr sz="2400" spc="105" dirty="0">
                <a:latin typeface="Microsoft Sans Serif"/>
                <a:cs typeface="Microsoft Sans Serif"/>
              </a:rPr>
              <a:t>their </a:t>
            </a:r>
            <a:r>
              <a:rPr sz="2400" spc="11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corresponding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values.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58091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pc="45" dirty="0"/>
              <a:t>References</a:t>
            </a:r>
            <a:br>
              <a:rPr lang="en-US" spc="45" dirty="0"/>
            </a:br>
            <a:endParaRPr spc="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397212"/>
            <a:ext cx="140970" cy="451104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1417368"/>
            <a:ext cx="6076950" cy="50418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699"/>
              </a:lnSpc>
              <a:spcBef>
                <a:spcPts val="95"/>
              </a:spcBef>
            </a:pPr>
            <a:r>
              <a:rPr sz="2600" spc="50" dirty="0">
                <a:latin typeface="Microsoft Sans Serif"/>
                <a:cs typeface="Microsoft Sans Serif"/>
                <a:hlinkClick r:id="rId2"/>
              </a:rPr>
              <a:t>www.pythonprogramminglanguage.com </a:t>
            </a:r>
            <a:r>
              <a:rPr sz="2600" spc="-68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  <a:hlinkClick r:id="rId3"/>
              </a:rPr>
              <a:t>www.scikit-learn.org </a:t>
            </a:r>
            <a:r>
              <a:rPr sz="2600" spc="50" dirty="0">
                <a:latin typeface="Microsoft Sans Serif"/>
                <a:cs typeface="Microsoft Sans Serif"/>
              </a:rPr>
              <a:t> </a:t>
            </a:r>
            <a:r>
              <a:rPr sz="2600" spc="30" dirty="0">
                <a:latin typeface="Microsoft Sans Serif"/>
                <a:cs typeface="Microsoft Sans Serif"/>
                <a:hlinkClick r:id="rId4"/>
              </a:rPr>
              <a:t>www.towardsdatascience.com 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  <a:hlinkClick r:id="rId5"/>
              </a:rPr>
              <a:t>www.medium.com </a:t>
            </a:r>
            <a:endParaRPr lang="en-US" sz="2600" spc="45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25699"/>
              </a:lnSpc>
              <a:spcBef>
                <a:spcPts val="95"/>
              </a:spcBef>
            </a:pPr>
            <a:r>
              <a:rPr lang="en-US" sz="2600" spc="55" dirty="0">
                <a:latin typeface="Microsoft Sans Serif"/>
                <a:cs typeface="Microsoft Sans Serif"/>
                <a:hlinkClick r:id="rId6"/>
              </a:rPr>
              <a:t>www.mitu.co.in</a:t>
            </a:r>
            <a:endParaRPr lang="en-US" sz="2600" spc="45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25699"/>
              </a:lnSpc>
              <a:spcBef>
                <a:spcPts val="95"/>
              </a:spcBef>
            </a:pPr>
            <a:r>
              <a:rPr sz="2600" spc="20" dirty="0">
                <a:latin typeface="Microsoft Sans Serif"/>
                <a:cs typeface="Microsoft Sans Serif"/>
                <a:hlinkClick r:id="rId7"/>
              </a:rPr>
              <a:t>www.analyticsvidhya.com 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  <a:hlinkClick r:id="rId8"/>
              </a:rPr>
              <a:t>www.kaggle.com</a:t>
            </a:r>
            <a:endParaRPr sz="2600" dirty="0">
              <a:latin typeface="Microsoft Sans Serif"/>
              <a:cs typeface="Microsoft Sans Serif"/>
            </a:endParaRPr>
          </a:p>
          <a:p>
            <a:pPr marL="12700" marR="2680970">
              <a:lnSpc>
                <a:spcPts val="3920"/>
              </a:lnSpc>
              <a:spcBef>
                <a:spcPts val="105"/>
              </a:spcBef>
            </a:pPr>
            <a:r>
              <a:rPr sz="2600" spc="145" dirty="0">
                <a:latin typeface="Microsoft Sans Serif"/>
                <a:cs typeface="Microsoft Sans Serif"/>
                <a:hlinkClick r:id="rId9"/>
              </a:rPr>
              <a:t>w</a:t>
            </a:r>
            <a:r>
              <a:rPr sz="2600" spc="140" dirty="0">
                <a:latin typeface="Microsoft Sans Serif"/>
                <a:cs typeface="Microsoft Sans Serif"/>
                <a:hlinkClick r:id="rId9"/>
              </a:rPr>
              <a:t>w</a:t>
            </a:r>
            <a:r>
              <a:rPr sz="2600" spc="145" dirty="0">
                <a:latin typeface="Microsoft Sans Serif"/>
                <a:cs typeface="Microsoft Sans Serif"/>
                <a:hlinkClick r:id="rId9"/>
              </a:rPr>
              <a:t>w</a:t>
            </a:r>
            <a:r>
              <a:rPr sz="2600" spc="30" dirty="0">
                <a:latin typeface="Microsoft Sans Serif"/>
                <a:cs typeface="Microsoft Sans Serif"/>
                <a:hlinkClick r:id="rId9"/>
              </a:rPr>
              <a:t>.st</a:t>
            </a:r>
            <a:r>
              <a:rPr sz="2600" dirty="0">
                <a:latin typeface="Microsoft Sans Serif"/>
                <a:cs typeface="Microsoft Sans Serif"/>
                <a:hlinkClick r:id="rId9"/>
              </a:rPr>
              <a:t>e</a:t>
            </a:r>
            <a:r>
              <a:rPr sz="2600" spc="90" dirty="0">
                <a:latin typeface="Microsoft Sans Serif"/>
                <a:cs typeface="Microsoft Sans Serif"/>
                <a:hlinkClick r:id="rId9"/>
              </a:rPr>
              <a:t>p</a:t>
            </a:r>
            <a:r>
              <a:rPr sz="2600" spc="25" dirty="0">
                <a:latin typeface="Microsoft Sans Serif"/>
                <a:cs typeface="Microsoft Sans Serif"/>
                <a:hlinkClick r:id="rId9"/>
              </a:rPr>
              <a:t>h</a:t>
            </a:r>
            <a:r>
              <a:rPr sz="2600" spc="-5" dirty="0">
                <a:latin typeface="Microsoft Sans Serif"/>
                <a:cs typeface="Microsoft Sans Serif"/>
                <a:hlinkClick r:id="rId9"/>
              </a:rPr>
              <a:t>acki</a:t>
            </a:r>
            <a:r>
              <a:rPr sz="2600" dirty="0">
                <a:latin typeface="Microsoft Sans Serif"/>
                <a:cs typeface="Microsoft Sans Serif"/>
                <a:hlinkClick r:id="rId9"/>
              </a:rPr>
              <a:t>n</a:t>
            </a:r>
            <a:r>
              <a:rPr sz="2600" spc="50" dirty="0">
                <a:latin typeface="Microsoft Sans Serif"/>
                <a:cs typeface="Microsoft Sans Serif"/>
                <a:hlinkClick r:id="rId9"/>
              </a:rPr>
              <a:t>g</a:t>
            </a:r>
            <a:r>
              <a:rPr sz="2600" spc="-100" dirty="0">
                <a:latin typeface="Microsoft Sans Serif"/>
                <a:cs typeface="Microsoft Sans Serif"/>
                <a:hlinkClick r:id="rId9"/>
              </a:rPr>
              <a:t>.</a:t>
            </a:r>
            <a:r>
              <a:rPr sz="2600" spc="-5" dirty="0">
                <a:latin typeface="Microsoft Sans Serif"/>
                <a:cs typeface="Microsoft Sans Serif"/>
                <a:hlinkClick r:id="rId9"/>
              </a:rPr>
              <a:t>co</a:t>
            </a:r>
            <a:r>
              <a:rPr sz="2600" spc="45" dirty="0">
                <a:latin typeface="Microsoft Sans Serif"/>
                <a:cs typeface="Microsoft Sans Serif"/>
                <a:hlinkClick r:id="rId9"/>
              </a:rPr>
              <a:t>m 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  <a:hlinkClick r:id="rId10"/>
              </a:rPr>
              <a:t>www.github.com</a:t>
            </a:r>
            <a:endParaRPr lang="en-US" sz="2600" spc="65" dirty="0">
              <a:latin typeface="Microsoft Sans Serif"/>
              <a:cs typeface="Microsoft Sans Serif"/>
            </a:endParaRPr>
          </a:p>
          <a:p>
            <a:pPr marL="12700" marR="2680970">
              <a:lnSpc>
                <a:spcPts val="3920"/>
              </a:lnSpc>
              <a:spcBef>
                <a:spcPts val="105"/>
              </a:spcBef>
            </a:pPr>
            <a:endParaRPr sz="2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2456</Words>
  <Application>Microsoft Office PowerPoint</Application>
  <PresentationFormat>On-screen Show (4:3)</PresentationFormat>
  <Paragraphs>286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Arial MT</vt:lpstr>
      <vt:lpstr>Calibri</vt:lpstr>
      <vt:lpstr>Courier New</vt:lpstr>
      <vt:lpstr>Microsoft Sans Serif</vt:lpstr>
      <vt:lpstr>Times New Roman</vt:lpstr>
      <vt:lpstr>Office Theme</vt:lpstr>
      <vt:lpstr>Dart</vt:lpstr>
      <vt:lpstr>Getting Started</vt:lpstr>
      <vt:lpstr>Hello World</vt:lpstr>
      <vt:lpstr>Identifiers</vt:lpstr>
      <vt:lpstr>Identifiers</vt:lpstr>
      <vt:lpstr>Printing and String Interpolation</vt:lpstr>
      <vt:lpstr>Semicolon</vt:lpstr>
      <vt:lpstr>Whitespace and Line Breaks</vt:lpstr>
      <vt:lpstr>Block</vt:lpstr>
      <vt:lpstr>Comments</vt:lpstr>
      <vt:lpstr>Comments</vt:lpstr>
      <vt:lpstr>Single-line Comment</vt:lpstr>
      <vt:lpstr>Multi-line Comment</vt:lpstr>
      <vt:lpstr>Documentation Comment</vt:lpstr>
      <vt:lpstr>Keywords</vt:lpstr>
      <vt:lpstr>Data Types</vt:lpstr>
      <vt:lpstr>Data Types</vt:lpstr>
      <vt:lpstr>Numbers</vt:lpstr>
      <vt:lpstr>Strings</vt:lpstr>
      <vt:lpstr>Boolean</vt:lpstr>
      <vt:lpstr>List</vt:lpstr>
      <vt:lpstr>Map</vt:lpstr>
      <vt:lpstr>Runes</vt:lpstr>
      <vt:lpstr>Example</vt:lpstr>
      <vt:lpstr>Dynamic Type</vt:lpstr>
      <vt:lpstr>Variable Default Value</vt:lpstr>
      <vt:lpstr>Final and const</vt:lpstr>
      <vt:lpstr>Final and const</vt:lpstr>
      <vt:lpstr>Operators</vt:lpstr>
      <vt:lpstr>Arithmetic Operators</vt:lpstr>
      <vt:lpstr>Arithmetic Operators</vt:lpstr>
      <vt:lpstr>Increment and Decrement</vt:lpstr>
      <vt:lpstr>Assignment Operators</vt:lpstr>
      <vt:lpstr>Relational Operators</vt:lpstr>
      <vt:lpstr>Bitwise Operators</vt:lpstr>
      <vt:lpstr>Type Test Operators</vt:lpstr>
      <vt:lpstr>Type Test Operators</vt:lpstr>
      <vt:lpstr>Logical Operators</vt:lpstr>
      <vt:lpstr>Conditional Operators</vt:lpstr>
      <vt:lpstr>Conditional Operators</vt:lpstr>
      <vt:lpstr>Conditional Operators</vt:lpstr>
      <vt:lpstr>Conditional Operators</vt:lpstr>
      <vt:lpstr>The parse()</vt:lpstr>
      <vt:lpstr>The number properties</vt:lpstr>
      <vt:lpstr>The number methods</vt:lpstr>
      <vt:lpstr>Strings</vt:lpstr>
      <vt:lpstr>Strings</vt:lpstr>
      <vt:lpstr>Strings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Md. Mahmodul Hasan</cp:lastModifiedBy>
  <cp:revision>9</cp:revision>
  <dcterms:created xsi:type="dcterms:W3CDTF">2024-08-19T17:18:42Z</dcterms:created>
  <dcterms:modified xsi:type="dcterms:W3CDTF">2024-08-19T17:49:22Z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2022-04-03T00:00:00Z</vt:filetime>
  </property>
  <property fmtid="{D5CDD505-2E9C-101B-9397-08002B2CF9AE}" pid="3" name="Creator">
    <vt:lpwstr>Impress</vt:lpwstr>
  </property>
  <property fmtid="{D5CDD505-2E9C-101B-9397-08002B2CF9AE}" pid="4" name="LastSaved">
    <vt:filetime>2022-04-03T00:00:00Z</vt:filetime>
  </property>
</Properties>
</file>