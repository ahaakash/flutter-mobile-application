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96" y="6192354"/>
            <a:ext cx="1799996" cy="503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19097"/>
            <a:ext cx="7983220" cy="329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://tusharkute.com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contact@mitu.co.in" TargetMode="External"/><Relationship Id="rId3" Type="http://schemas.openxmlformats.org/officeDocument/2006/relationships/hyperlink" Target="mailto:tushar@tusharkute.com" TargetMode="External"/><Relationship Id="rId4" Type="http://schemas.openxmlformats.org/officeDocument/2006/relationships/hyperlink" Target="http://tusharkute.com/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41224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Dart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Data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5">
                <a:latin typeface="Times New Roman"/>
                <a:cs typeface="Times New Roman"/>
              </a:rPr>
              <a:t>Structures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03" y="6191643"/>
            <a:ext cx="1799996" cy="503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7458" y="5040629"/>
            <a:ext cx="257746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10">
                <a:latin typeface="Georgia"/>
                <a:cs typeface="Georgia"/>
              </a:rPr>
              <a:t>Tushar</a:t>
            </a:r>
            <a:r>
              <a:rPr dirty="0" sz="2400" spc="160">
                <a:latin typeface="Georgia"/>
                <a:cs typeface="Georgia"/>
              </a:rPr>
              <a:t> </a:t>
            </a:r>
            <a:r>
              <a:rPr dirty="0" sz="2400" spc="155">
                <a:latin typeface="Georgia"/>
                <a:cs typeface="Georgia"/>
              </a:rPr>
              <a:t>B. </a:t>
            </a:r>
            <a:r>
              <a:rPr dirty="0" sz="2400" spc="95">
                <a:latin typeface="Georgia"/>
                <a:cs typeface="Georgia"/>
              </a:rPr>
              <a:t>Kute,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95">
                <a:latin typeface="Georgia"/>
                <a:cs typeface="Georgia"/>
                <a:hlinkClick r:id="rId3"/>
              </a:rPr>
              <a:t>http://tusharkute.com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71994" y="4895634"/>
            <a:ext cx="1370520" cy="137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05140" cy="4453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7185" marR="83185" indent="-325120">
              <a:lnSpc>
                <a:spcPct val="100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  <a:tab pos="337820" algn="l"/>
              </a:tabLst>
            </a:pPr>
            <a:r>
              <a:rPr dirty="0" sz="2650" spc="85">
                <a:latin typeface="Microsoft Sans Serif"/>
                <a:cs typeface="Microsoft Sans Serif"/>
              </a:rPr>
              <a:t>Dart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40">
                <a:latin typeface="Microsoft Sans Serif"/>
                <a:cs typeface="Microsoft Sans Serif"/>
              </a:rPr>
              <a:t>List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-40">
                <a:latin typeface="Microsoft Sans Serif"/>
                <a:cs typeface="Microsoft Sans Serif"/>
              </a:rPr>
              <a:t>is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30">
                <a:latin typeface="Microsoft Sans Serif"/>
                <a:cs typeface="Microsoft Sans Serif"/>
              </a:rPr>
              <a:t>similar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210">
                <a:latin typeface="Microsoft Sans Serif"/>
                <a:cs typeface="Microsoft Sans Serif"/>
              </a:rPr>
              <a:t>to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an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-5">
                <a:latin typeface="Microsoft Sans Serif"/>
                <a:cs typeface="Microsoft Sans Serif"/>
              </a:rPr>
              <a:t>array,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40">
                <a:latin typeface="Microsoft Sans Serif"/>
                <a:cs typeface="Microsoft Sans Serif"/>
              </a:rPr>
              <a:t>which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-40">
                <a:latin typeface="Microsoft Sans Serif"/>
                <a:cs typeface="Microsoft Sans Serif"/>
              </a:rPr>
              <a:t>is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125">
                <a:latin typeface="Microsoft Sans Serif"/>
                <a:cs typeface="Microsoft Sans Serif"/>
              </a:rPr>
              <a:t>the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75">
                <a:latin typeface="Microsoft Sans Serif"/>
                <a:cs typeface="Microsoft Sans Serif"/>
              </a:rPr>
              <a:t>ordered </a:t>
            </a:r>
            <a:r>
              <a:rPr dirty="0" sz="2650" spc="-690">
                <a:latin typeface="Microsoft Sans Serif"/>
                <a:cs typeface="Microsoft Sans Serif"/>
              </a:rPr>
              <a:t> </a:t>
            </a:r>
            <a:r>
              <a:rPr dirty="0" sz="2650" spc="65">
                <a:latin typeface="Microsoft Sans Serif"/>
                <a:cs typeface="Microsoft Sans Serif"/>
              </a:rPr>
              <a:t>collection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185">
                <a:latin typeface="Microsoft Sans Serif"/>
                <a:cs typeface="Microsoft Sans Serif"/>
              </a:rPr>
              <a:t>of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125">
                <a:latin typeface="Microsoft Sans Serif"/>
                <a:cs typeface="Microsoft Sans Serif"/>
              </a:rPr>
              <a:t>the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30">
                <a:latin typeface="Microsoft Sans Serif"/>
                <a:cs typeface="Microsoft Sans Serif"/>
              </a:rPr>
              <a:t>objects.</a:t>
            </a:r>
            <a:endParaRPr sz="2650">
              <a:latin typeface="Microsoft Sans Serif"/>
              <a:cs typeface="Microsoft Sans Serif"/>
            </a:endParaRPr>
          </a:p>
          <a:p>
            <a:pPr marL="337185" marR="5080" indent="-325120">
              <a:lnSpc>
                <a:spcPct val="100000"/>
              </a:lnSpc>
              <a:spcBef>
                <a:spcPts val="765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  <a:tab pos="337820" algn="l"/>
              </a:tabLst>
            </a:pPr>
            <a:r>
              <a:rPr dirty="0" sz="2650" spc="-25">
                <a:latin typeface="Microsoft Sans Serif"/>
                <a:cs typeface="Microsoft Sans Serif"/>
              </a:rPr>
              <a:t>The </a:t>
            </a:r>
            <a:r>
              <a:rPr dirty="0" sz="2650" spc="15">
                <a:latin typeface="Microsoft Sans Serif"/>
                <a:cs typeface="Microsoft Sans Serif"/>
              </a:rPr>
              <a:t>array </a:t>
            </a:r>
            <a:r>
              <a:rPr dirty="0" sz="2650" spc="-40">
                <a:latin typeface="Microsoft Sans Serif"/>
                <a:cs typeface="Microsoft Sans Serif"/>
              </a:rPr>
              <a:t>is </a:t>
            </a:r>
            <a:r>
              <a:rPr dirty="0" sz="2650" spc="125">
                <a:latin typeface="Microsoft Sans Serif"/>
                <a:cs typeface="Microsoft Sans Serif"/>
              </a:rPr>
              <a:t>the </a:t>
            </a:r>
            <a:r>
              <a:rPr dirty="0" sz="2650" spc="85">
                <a:latin typeface="Microsoft Sans Serif"/>
                <a:cs typeface="Microsoft Sans Serif"/>
              </a:rPr>
              <a:t>most </a:t>
            </a:r>
            <a:r>
              <a:rPr dirty="0" sz="2650" spc="60">
                <a:latin typeface="Microsoft Sans Serif"/>
                <a:cs typeface="Microsoft Sans Serif"/>
              </a:rPr>
              <a:t>popular </a:t>
            </a:r>
            <a:r>
              <a:rPr dirty="0" sz="2650" spc="15">
                <a:latin typeface="Microsoft Sans Serif"/>
                <a:cs typeface="Microsoft Sans Serif"/>
              </a:rPr>
              <a:t>and </a:t>
            </a:r>
            <a:r>
              <a:rPr dirty="0" sz="2650" spc="45">
                <a:latin typeface="Microsoft Sans Serif"/>
                <a:cs typeface="Microsoft Sans Serif"/>
              </a:rPr>
              <a:t>commonly </a:t>
            </a:r>
            <a:r>
              <a:rPr dirty="0" sz="2650">
                <a:latin typeface="Microsoft Sans Serif"/>
                <a:cs typeface="Microsoft Sans Serif"/>
              </a:rPr>
              <a:t>used </a:t>
            </a:r>
            <a:r>
              <a:rPr dirty="0" sz="2650" spc="-690">
                <a:latin typeface="Microsoft Sans Serif"/>
                <a:cs typeface="Microsoft Sans Serif"/>
              </a:rPr>
              <a:t> </a:t>
            </a:r>
            <a:r>
              <a:rPr dirty="0" sz="2650" spc="65">
                <a:latin typeface="Microsoft Sans Serif"/>
                <a:cs typeface="Microsoft Sans Serif"/>
              </a:rPr>
              <a:t>collection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55">
                <a:latin typeface="Microsoft Sans Serif"/>
                <a:cs typeface="Microsoft Sans Serif"/>
              </a:rPr>
              <a:t>in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any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120">
                <a:latin typeface="Microsoft Sans Serif"/>
                <a:cs typeface="Microsoft Sans Serif"/>
              </a:rPr>
              <a:t>other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60">
                <a:latin typeface="Microsoft Sans Serif"/>
                <a:cs typeface="Microsoft Sans Serif"/>
              </a:rPr>
              <a:t>programming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5">
                <a:latin typeface="Microsoft Sans Serif"/>
                <a:cs typeface="Microsoft Sans Serif"/>
              </a:rPr>
              <a:t>language.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The </a:t>
            </a:r>
            <a:r>
              <a:rPr dirty="0" sz="2650" spc="-690">
                <a:latin typeface="Microsoft Sans Serif"/>
                <a:cs typeface="Microsoft Sans Serif"/>
              </a:rPr>
              <a:t> </a:t>
            </a:r>
            <a:r>
              <a:rPr dirty="0" sz="2650" spc="85">
                <a:latin typeface="Microsoft Sans Serif"/>
                <a:cs typeface="Microsoft Sans Serif"/>
              </a:rPr>
              <a:t>Dart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90">
                <a:latin typeface="Microsoft Sans Serif"/>
                <a:cs typeface="Microsoft Sans Serif"/>
              </a:rPr>
              <a:t>list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35">
                <a:latin typeface="Microsoft Sans Serif"/>
                <a:cs typeface="Microsoft Sans Serif"/>
              </a:rPr>
              <a:t>looks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 spc="60">
                <a:latin typeface="Microsoft Sans Serif"/>
                <a:cs typeface="Microsoft Sans Serif"/>
              </a:rPr>
              <a:t>like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125">
                <a:latin typeface="Microsoft Sans Serif"/>
                <a:cs typeface="Microsoft Sans Serif"/>
              </a:rPr>
              <a:t>the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 spc="-5">
                <a:latin typeface="Microsoft Sans Serif"/>
                <a:cs typeface="Microsoft Sans Serif"/>
              </a:rPr>
              <a:t>JavaScript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10">
                <a:latin typeface="Microsoft Sans Serif"/>
                <a:cs typeface="Microsoft Sans Serif"/>
              </a:rPr>
              <a:t>array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45">
                <a:latin typeface="Microsoft Sans Serif"/>
                <a:cs typeface="Microsoft Sans Serif"/>
              </a:rPr>
              <a:t>literals.</a:t>
            </a:r>
            <a:endParaRPr sz="2650">
              <a:latin typeface="Microsoft Sans Serif"/>
              <a:cs typeface="Microsoft Sans Serif"/>
            </a:endParaRPr>
          </a:p>
          <a:p>
            <a:pPr algn="just" marL="337185" marR="767715" indent="-325120">
              <a:lnSpc>
                <a:spcPct val="123900"/>
              </a:lnSpc>
              <a:spcBef>
                <a:spcPts val="10"/>
              </a:spcBef>
              <a:buClr>
                <a:srgbClr val="6697CC"/>
              </a:buClr>
              <a:buFont typeface="Arial MT"/>
              <a:buChar char="•"/>
              <a:tabLst>
                <a:tab pos="337820" algn="l"/>
              </a:tabLst>
            </a:pPr>
            <a:r>
              <a:rPr dirty="0" sz="2650" spc="-25">
                <a:latin typeface="Microsoft Sans Serif"/>
                <a:cs typeface="Microsoft Sans Serif"/>
              </a:rPr>
              <a:t>The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25">
                <a:latin typeface="Microsoft Sans Serif"/>
                <a:cs typeface="Microsoft Sans Serif"/>
              </a:rPr>
              <a:t>syntax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185">
                <a:latin typeface="Microsoft Sans Serif"/>
                <a:cs typeface="Microsoft Sans Serif"/>
              </a:rPr>
              <a:t>of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35">
                <a:latin typeface="Microsoft Sans Serif"/>
                <a:cs typeface="Microsoft Sans Serif"/>
              </a:rPr>
              <a:t>declaring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125">
                <a:latin typeface="Microsoft Sans Serif"/>
                <a:cs typeface="Microsoft Sans Serif"/>
              </a:rPr>
              <a:t>the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90">
                <a:latin typeface="Microsoft Sans Serif"/>
                <a:cs typeface="Microsoft Sans Serif"/>
              </a:rPr>
              <a:t>list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-40">
                <a:latin typeface="Microsoft Sans Serif"/>
                <a:cs typeface="Microsoft Sans Serif"/>
              </a:rPr>
              <a:t>is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35">
                <a:latin typeface="Microsoft Sans Serif"/>
                <a:cs typeface="Microsoft Sans Serif"/>
              </a:rPr>
              <a:t>given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55">
                <a:latin typeface="Microsoft Sans Serif"/>
                <a:cs typeface="Microsoft Sans Serif"/>
              </a:rPr>
              <a:t>below. </a:t>
            </a:r>
            <a:r>
              <a:rPr dirty="0" sz="2650" spc="-695">
                <a:latin typeface="Microsoft Sans Serif"/>
                <a:cs typeface="Microsoft Sans Serif"/>
              </a:rPr>
              <a:t> </a:t>
            </a:r>
            <a:r>
              <a:rPr dirty="0" sz="2650" spc="15">
                <a:latin typeface="Microsoft Sans Serif"/>
                <a:cs typeface="Microsoft Sans Serif"/>
              </a:rPr>
              <a:t>var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75">
                <a:latin typeface="Microsoft Sans Serif"/>
                <a:cs typeface="Microsoft Sans Serif"/>
              </a:rPr>
              <a:t>list1</a:t>
            </a:r>
            <a:r>
              <a:rPr dirty="0" sz="2650" spc="-90">
                <a:latin typeface="Microsoft Sans Serif"/>
                <a:cs typeface="Microsoft Sans Serif"/>
              </a:rPr>
              <a:t> </a:t>
            </a:r>
            <a:r>
              <a:rPr dirty="0" sz="2650" spc="-50">
                <a:latin typeface="Microsoft Sans Serif"/>
                <a:cs typeface="Microsoft Sans Serif"/>
              </a:rPr>
              <a:t>=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20">
                <a:latin typeface="Microsoft Sans Serif"/>
                <a:cs typeface="Microsoft Sans Serif"/>
              </a:rPr>
              <a:t>[10,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15,</a:t>
            </a:r>
            <a:r>
              <a:rPr dirty="0" sz="2650" spc="-114">
                <a:latin typeface="Microsoft Sans Serif"/>
                <a:cs typeface="Microsoft Sans Serif"/>
              </a:rPr>
              <a:t> </a:t>
            </a:r>
            <a:r>
              <a:rPr dirty="0" sz="2650" spc="10">
                <a:latin typeface="Microsoft Sans Serif"/>
                <a:cs typeface="Microsoft Sans Serif"/>
              </a:rPr>
              <a:t>20,25,25]</a:t>
            </a:r>
            <a:endParaRPr sz="2650">
              <a:latin typeface="Microsoft Sans Serif"/>
              <a:cs typeface="Microsoft Sans Serif"/>
            </a:endParaRPr>
          </a:p>
          <a:p>
            <a:pPr algn="just" marL="337185" marR="694055" indent="-325120">
              <a:lnSpc>
                <a:spcPct val="10000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37820" algn="l"/>
              </a:tabLst>
            </a:pPr>
            <a:r>
              <a:rPr dirty="0" sz="2650" spc="-25">
                <a:latin typeface="Microsoft Sans Serif"/>
                <a:cs typeface="Microsoft Sans Serif"/>
              </a:rPr>
              <a:t>The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85">
                <a:latin typeface="Microsoft Sans Serif"/>
                <a:cs typeface="Microsoft Sans Serif"/>
              </a:rPr>
              <a:t>Dart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90">
                <a:latin typeface="Microsoft Sans Serif"/>
                <a:cs typeface="Microsoft Sans Serif"/>
              </a:rPr>
              <a:t>list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-40">
                <a:latin typeface="Microsoft Sans Serif"/>
                <a:cs typeface="Microsoft Sans Serif"/>
              </a:rPr>
              <a:t>is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85">
                <a:latin typeface="Microsoft Sans Serif"/>
                <a:cs typeface="Microsoft Sans Serif"/>
              </a:rPr>
              <a:t>defined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35">
                <a:latin typeface="Microsoft Sans Serif"/>
                <a:cs typeface="Microsoft Sans Serif"/>
              </a:rPr>
              <a:t>by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80">
                <a:latin typeface="Microsoft Sans Serif"/>
                <a:cs typeface="Microsoft Sans Serif"/>
              </a:rPr>
              <a:t>storing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45">
                <a:latin typeface="Microsoft Sans Serif"/>
                <a:cs typeface="Microsoft Sans Serif"/>
              </a:rPr>
              <a:t>all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55">
                <a:latin typeface="Microsoft Sans Serif"/>
                <a:cs typeface="Microsoft Sans Serif"/>
              </a:rPr>
              <a:t>elements </a:t>
            </a:r>
            <a:r>
              <a:rPr dirty="0" sz="2650" spc="-690">
                <a:latin typeface="Microsoft Sans Serif"/>
                <a:cs typeface="Microsoft Sans Serif"/>
              </a:rPr>
              <a:t> </a:t>
            </a:r>
            <a:r>
              <a:rPr dirty="0" sz="2650" spc="20">
                <a:latin typeface="Microsoft Sans Serif"/>
                <a:cs typeface="Microsoft Sans Serif"/>
              </a:rPr>
              <a:t>inside</a:t>
            </a:r>
            <a:r>
              <a:rPr dirty="0" sz="2650" spc="-105">
                <a:latin typeface="Microsoft Sans Serif"/>
                <a:cs typeface="Microsoft Sans Serif"/>
              </a:rPr>
              <a:t> </a:t>
            </a:r>
            <a:r>
              <a:rPr dirty="0" sz="2650" spc="125">
                <a:latin typeface="Microsoft Sans Serif"/>
                <a:cs typeface="Microsoft Sans Serif"/>
              </a:rPr>
              <a:t>the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5">
                <a:latin typeface="Microsoft Sans Serif"/>
                <a:cs typeface="Microsoft Sans Serif"/>
              </a:rPr>
              <a:t>square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60">
                <a:latin typeface="Microsoft Sans Serif"/>
                <a:cs typeface="Microsoft Sans Serif"/>
              </a:rPr>
              <a:t>bracket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55">
                <a:latin typeface="Microsoft Sans Serif"/>
                <a:cs typeface="Microsoft Sans Serif"/>
              </a:rPr>
              <a:t>([])</a:t>
            </a:r>
            <a:r>
              <a:rPr dirty="0" sz="2650" spc="-95">
                <a:latin typeface="Microsoft Sans Serif"/>
                <a:cs typeface="Microsoft Sans Serif"/>
              </a:rPr>
              <a:t> </a:t>
            </a:r>
            <a:r>
              <a:rPr dirty="0" sz="2650" spc="10">
                <a:latin typeface="Microsoft Sans Serif"/>
                <a:cs typeface="Microsoft Sans Serif"/>
              </a:rPr>
              <a:t>and</a:t>
            </a:r>
            <a:r>
              <a:rPr dirty="0" sz="2650" spc="-110">
                <a:latin typeface="Microsoft Sans Serif"/>
                <a:cs typeface="Microsoft Sans Serif"/>
              </a:rPr>
              <a:t> </a:t>
            </a:r>
            <a:r>
              <a:rPr dirty="0" sz="2650" spc="35">
                <a:latin typeface="Microsoft Sans Serif"/>
                <a:cs typeface="Microsoft Sans Serif"/>
              </a:rPr>
              <a:t>separated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35">
                <a:latin typeface="Microsoft Sans Serif"/>
                <a:cs typeface="Microsoft Sans Serif"/>
              </a:rPr>
              <a:t>by </a:t>
            </a:r>
            <a:r>
              <a:rPr dirty="0" sz="2650" spc="-690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commas</a:t>
            </a:r>
            <a:r>
              <a:rPr dirty="0" sz="2650" spc="-100">
                <a:latin typeface="Microsoft Sans Serif"/>
                <a:cs typeface="Microsoft Sans Serif"/>
              </a:rPr>
              <a:t> </a:t>
            </a:r>
            <a:r>
              <a:rPr dirty="0" sz="2650" spc="-60">
                <a:latin typeface="Microsoft Sans Serif"/>
                <a:cs typeface="Microsoft Sans Serif"/>
              </a:rPr>
              <a:t>(,).</a:t>
            </a:r>
            <a:endParaRPr sz="26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0"/>
              <a:t>List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720" y="2592006"/>
            <a:ext cx="7613281" cy="1655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734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420"/>
              </a:spcBef>
            </a:pPr>
            <a:r>
              <a:rPr dirty="0" spc="-5"/>
              <a:t>Fixed</a:t>
            </a:r>
            <a:r>
              <a:rPr dirty="0" spc="-165"/>
              <a:t> </a:t>
            </a:r>
            <a:r>
              <a:rPr dirty="0" spc="85"/>
              <a:t>Length</a:t>
            </a:r>
            <a:r>
              <a:rPr dirty="0" spc="-175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98519"/>
            <a:ext cx="132715" cy="96011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4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24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17662"/>
            <a:ext cx="7589520" cy="360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22555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400" spc="-30">
                <a:latin typeface="Microsoft Sans Serif"/>
                <a:cs typeface="Microsoft Sans Serif"/>
              </a:rPr>
              <a:t>The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70">
                <a:latin typeface="Microsoft Sans Serif"/>
                <a:cs typeface="Microsoft Sans Serif"/>
              </a:rPr>
              <a:t>fixed-length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40">
                <a:latin typeface="Microsoft Sans Serif"/>
                <a:cs typeface="Microsoft Sans Serif"/>
              </a:rPr>
              <a:t>lists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10">
                <a:latin typeface="Microsoft Sans Serif"/>
                <a:cs typeface="Microsoft Sans Serif"/>
              </a:rPr>
              <a:t>are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75">
                <a:latin typeface="Microsoft Sans Serif"/>
                <a:cs typeface="Microsoft Sans Serif"/>
              </a:rPr>
              <a:t>defined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130">
                <a:latin typeface="Microsoft Sans Serif"/>
                <a:cs typeface="Microsoft Sans Serif"/>
              </a:rPr>
              <a:t>with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105">
                <a:latin typeface="Microsoft Sans Serif"/>
                <a:cs typeface="Microsoft Sans Serif"/>
              </a:rPr>
              <a:t>the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35">
                <a:latin typeface="Microsoft Sans Serif"/>
                <a:cs typeface="Microsoft Sans Serif"/>
              </a:rPr>
              <a:t>specified </a:t>
            </a:r>
            <a:r>
              <a:rPr dirty="0" sz="2400" spc="-620">
                <a:latin typeface="Microsoft Sans Serif"/>
                <a:cs typeface="Microsoft Sans Serif"/>
              </a:rPr>
              <a:t> </a:t>
            </a:r>
            <a:r>
              <a:rPr dirty="0" sz="2400" spc="60">
                <a:latin typeface="Microsoft Sans Serif"/>
                <a:cs typeface="Microsoft Sans Serif"/>
              </a:rPr>
              <a:t>length. </a:t>
            </a:r>
            <a:r>
              <a:rPr dirty="0" sz="2400" spc="-15">
                <a:latin typeface="Microsoft Sans Serif"/>
                <a:cs typeface="Microsoft Sans Serif"/>
              </a:rPr>
              <a:t>We </a:t>
            </a:r>
            <a:r>
              <a:rPr dirty="0" sz="2400" spc="45">
                <a:latin typeface="Microsoft Sans Serif"/>
                <a:cs typeface="Microsoft Sans Serif"/>
              </a:rPr>
              <a:t>cannot </a:t>
            </a:r>
            <a:r>
              <a:rPr dirty="0" sz="2400" spc="-10">
                <a:latin typeface="Microsoft Sans Serif"/>
                <a:cs typeface="Microsoft Sans Serif"/>
              </a:rPr>
              <a:t>change </a:t>
            </a:r>
            <a:r>
              <a:rPr dirty="0" sz="2400" spc="110">
                <a:latin typeface="Microsoft Sans Serif"/>
                <a:cs typeface="Microsoft Sans Serif"/>
              </a:rPr>
              <a:t>the </a:t>
            </a:r>
            <a:r>
              <a:rPr dirty="0" sz="2400" spc="-40">
                <a:latin typeface="Microsoft Sans Serif"/>
                <a:cs typeface="Microsoft Sans Serif"/>
              </a:rPr>
              <a:t>size </a:t>
            </a:r>
            <a:r>
              <a:rPr dirty="0" sz="2400" spc="105">
                <a:latin typeface="Microsoft Sans Serif"/>
                <a:cs typeface="Microsoft Sans Serif"/>
              </a:rPr>
              <a:t>at </a:t>
            </a:r>
            <a:r>
              <a:rPr dirty="0" sz="2400" spc="65">
                <a:latin typeface="Microsoft Sans Serif"/>
                <a:cs typeface="Microsoft Sans Serif"/>
              </a:rPr>
              <a:t>runtime. </a:t>
            </a:r>
            <a:r>
              <a:rPr dirty="0" sz="2400" spc="-25">
                <a:latin typeface="Microsoft Sans Serif"/>
                <a:cs typeface="Microsoft Sans Serif"/>
              </a:rPr>
              <a:t>The </a:t>
            </a:r>
            <a:r>
              <a:rPr dirty="0" sz="2400" spc="-20">
                <a:latin typeface="Microsoft Sans Serif"/>
                <a:cs typeface="Microsoft Sans Serif"/>
              </a:rPr>
              <a:t> </a:t>
            </a:r>
            <a:r>
              <a:rPr dirty="0" sz="2400" spc="15">
                <a:latin typeface="Microsoft Sans Serif"/>
                <a:cs typeface="Microsoft Sans Serif"/>
              </a:rPr>
              <a:t>syntax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-35">
                <a:latin typeface="Microsoft Sans Serif"/>
                <a:cs typeface="Microsoft Sans Serif"/>
              </a:rPr>
              <a:t>is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30">
                <a:latin typeface="Microsoft Sans Serif"/>
                <a:cs typeface="Microsoft Sans Serif"/>
              </a:rPr>
              <a:t>given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50">
                <a:latin typeface="Microsoft Sans Serif"/>
                <a:cs typeface="Microsoft Sans Serif"/>
              </a:rPr>
              <a:t>below.</a:t>
            </a:r>
            <a:endParaRPr sz="2400">
              <a:latin typeface="Microsoft Sans Serif"/>
              <a:cs typeface="Microsoft Sans Serif"/>
            </a:endParaRPr>
          </a:p>
          <a:p>
            <a:pPr marL="355600" marR="2360930">
              <a:lnSpc>
                <a:spcPts val="3679"/>
              </a:lnSpc>
              <a:spcBef>
                <a:spcPts val="254"/>
              </a:spcBef>
            </a:pPr>
            <a:r>
              <a:rPr dirty="0" sz="2400" spc="-335">
                <a:latin typeface="Microsoft Sans Serif"/>
                <a:cs typeface="Microsoft Sans Serif"/>
              </a:rPr>
              <a:t>S</a:t>
            </a:r>
            <a:r>
              <a:rPr dirty="0" sz="2400" spc="-15">
                <a:latin typeface="Microsoft Sans Serif"/>
                <a:cs typeface="Microsoft Sans Serif"/>
              </a:rPr>
              <a:t>y</a:t>
            </a:r>
            <a:r>
              <a:rPr dirty="0" sz="2400" spc="225">
                <a:latin typeface="Microsoft Sans Serif"/>
                <a:cs typeface="Microsoft Sans Serif"/>
              </a:rPr>
              <a:t>n</a:t>
            </a:r>
            <a:r>
              <a:rPr dirty="0" sz="2400" spc="105">
                <a:latin typeface="Microsoft Sans Serif"/>
                <a:cs typeface="Microsoft Sans Serif"/>
              </a:rPr>
              <a:t>t</a:t>
            </a:r>
            <a:r>
              <a:rPr dirty="0" sz="2400" spc="-90">
                <a:latin typeface="Microsoft Sans Serif"/>
                <a:cs typeface="Microsoft Sans Serif"/>
              </a:rPr>
              <a:t>a</a:t>
            </a:r>
            <a:r>
              <a:rPr dirty="0" sz="2400" spc="25">
                <a:latin typeface="Microsoft Sans Serif"/>
                <a:cs typeface="Microsoft Sans Serif"/>
              </a:rPr>
              <a:t>x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-85">
                <a:latin typeface="Microsoft Sans Serif"/>
                <a:cs typeface="Microsoft Sans Serif"/>
              </a:rPr>
              <a:t>-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60">
                <a:latin typeface="Microsoft Sans Serif"/>
                <a:cs typeface="Microsoft Sans Serif"/>
              </a:rPr>
              <a:t>Cr</a:t>
            </a:r>
            <a:r>
              <a:rPr dirty="0" sz="2400">
                <a:latin typeface="Microsoft Sans Serif"/>
                <a:cs typeface="Microsoft Sans Serif"/>
              </a:rPr>
              <a:t>e</a:t>
            </a:r>
            <a:r>
              <a:rPr dirty="0" sz="2400" spc="-90">
                <a:latin typeface="Microsoft Sans Serif"/>
                <a:cs typeface="Microsoft Sans Serif"/>
              </a:rPr>
              <a:t>a</a:t>
            </a:r>
            <a:r>
              <a:rPr dirty="0" sz="2400" spc="290">
                <a:latin typeface="Microsoft Sans Serif"/>
                <a:cs typeface="Microsoft Sans Serif"/>
              </a:rPr>
              <a:t>t</a:t>
            </a:r>
            <a:r>
              <a:rPr dirty="0" sz="2400" spc="5">
                <a:latin typeface="Microsoft Sans Serif"/>
                <a:cs typeface="Microsoft Sans Serif"/>
              </a:rPr>
              <a:t>e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280">
                <a:latin typeface="Microsoft Sans Serif"/>
                <a:cs typeface="Microsoft Sans Serif"/>
              </a:rPr>
              <a:t>t</a:t>
            </a:r>
            <a:r>
              <a:rPr dirty="0" sz="2400" spc="20">
                <a:latin typeface="Microsoft Sans Serif"/>
                <a:cs typeface="Microsoft Sans Serif"/>
              </a:rPr>
              <a:t>he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105">
                <a:latin typeface="Microsoft Sans Serif"/>
                <a:cs typeface="Microsoft Sans Serif"/>
              </a:rPr>
              <a:t>l</a:t>
            </a:r>
            <a:r>
              <a:rPr dirty="0" sz="2400" spc="75">
                <a:latin typeface="Microsoft Sans Serif"/>
                <a:cs typeface="Microsoft Sans Serif"/>
              </a:rPr>
              <a:t>ist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80">
                <a:latin typeface="Microsoft Sans Serif"/>
                <a:cs typeface="Microsoft Sans Serif"/>
              </a:rPr>
              <a:t>o</a:t>
            </a:r>
            <a:r>
              <a:rPr dirty="0" sz="2400" spc="254">
                <a:latin typeface="Microsoft Sans Serif"/>
                <a:cs typeface="Microsoft Sans Serif"/>
              </a:rPr>
              <a:t>f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160">
                <a:latin typeface="Microsoft Sans Serif"/>
                <a:cs typeface="Microsoft Sans Serif"/>
              </a:rPr>
              <a:t>fi</a:t>
            </a:r>
            <a:r>
              <a:rPr dirty="0" sz="2400" spc="15">
                <a:latin typeface="Microsoft Sans Serif"/>
                <a:cs typeface="Microsoft Sans Serif"/>
              </a:rPr>
              <a:t>x</a:t>
            </a:r>
            <a:r>
              <a:rPr dirty="0" sz="2400" spc="10">
                <a:latin typeface="Microsoft Sans Serif"/>
                <a:cs typeface="Microsoft Sans Serif"/>
              </a:rPr>
              <a:t>e</a:t>
            </a:r>
            <a:r>
              <a:rPr dirty="0" sz="2400" spc="75">
                <a:latin typeface="Microsoft Sans Serif"/>
                <a:cs typeface="Microsoft Sans Serif"/>
              </a:rPr>
              <a:t>d</a:t>
            </a:r>
            <a:r>
              <a:rPr dirty="0" sz="2400" spc="-85">
                <a:latin typeface="Microsoft Sans Serif"/>
                <a:cs typeface="Microsoft Sans Serif"/>
              </a:rPr>
              <a:t>-</a:t>
            </a:r>
            <a:r>
              <a:rPr dirty="0" sz="2400" spc="-140">
                <a:latin typeface="Microsoft Sans Serif"/>
                <a:cs typeface="Microsoft Sans Serif"/>
              </a:rPr>
              <a:t>s</a:t>
            </a:r>
            <a:r>
              <a:rPr dirty="0" sz="2400" spc="-5">
                <a:latin typeface="Microsoft Sans Serif"/>
                <a:cs typeface="Microsoft Sans Serif"/>
              </a:rPr>
              <a:t>ize  </a:t>
            </a:r>
            <a:r>
              <a:rPr dirty="0" sz="2400" spc="10">
                <a:latin typeface="Microsoft Sans Serif"/>
                <a:cs typeface="Microsoft Sans Serif"/>
              </a:rPr>
              <a:t>var</a:t>
            </a:r>
            <a:r>
              <a:rPr dirty="0" sz="2400" spc="-100">
                <a:latin typeface="Microsoft Sans Serif"/>
                <a:cs typeface="Microsoft Sans Serif"/>
              </a:rPr>
              <a:t> </a:t>
            </a:r>
            <a:r>
              <a:rPr dirty="0" sz="2400" spc="20">
                <a:latin typeface="Microsoft Sans Serif"/>
                <a:cs typeface="Microsoft Sans Serif"/>
              </a:rPr>
              <a:t>list_name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=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55">
                <a:latin typeface="Microsoft Sans Serif"/>
                <a:cs typeface="Microsoft Sans Serif"/>
              </a:rPr>
              <a:t>new</a:t>
            </a:r>
            <a:r>
              <a:rPr dirty="0" sz="2400" spc="-100">
                <a:latin typeface="Microsoft Sans Serif"/>
                <a:cs typeface="Microsoft Sans Serif"/>
              </a:rPr>
              <a:t> </a:t>
            </a:r>
            <a:r>
              <a:rPr dirty="0" sz="2400" spc="-5">
                <a:latin typeface="Microsoft Sans Serif"/>
                <a:cs typeface="Microsoft Sans Serif"/>
              </a:rPr>
              <a:t>List(size)</a:t>
            </a:r>
            <a:endParaRPr sz="2400">
              <a:latin typeface="Microsoft Sans Serif"/>
              <a:cs typeface="Microsoft Sans Serif"/>
            </a:endParaRPr>
          </a:p>
          <a:p>
            <a:pPr marL="755650" marR="5080" indent="-286385">
              <a:lnSpc>
                <a:spcPct val="100000"/>
              </a:lnSpc>
              <a:spcBef>
                <a:spcPts val="445"/>
              </a:spcBef>
            </a:pPr>
            <a:r>
              <a:rPr dirty="0" baseline="3472" sz="3600">
                <a:solidFill>
                  <a:srgbClr val="6697CC"/>
                </a:solidFill>
                <a:latin typeface="Arial MT"/>
                <a:cs typeface="Arial MT"/>
              </a:rPr>
              <a:t>– </a:t>
            </a:r>
            <a:r>
              <a:rPr dirty="0" sz="2400" spc="-30">
                <a:latin typeface="Microsoft Sans Serif"/>
                <a:cs typeface="Microsoft Sans Serif"/>
              </a:rPr>
              <a:t>The </a:t>
            </a:r>
            <a:r>
              <a:rPr dirty="0" sz="2400" spc="10">
                <a:latin typeface="Microsoft Sans Serif"/>
                <a:cs typeface="Microsoft Sans Serif"/>
              </a:rPr>
              <a:t>above </a:t>
            </a:r>
            <a:r>
              <a:rPr dirty="0" sz="2400" spc="20">
                <a:latin typeface="Microsoft Sans Serif"/>
                <a:cs typeface="Microsoft Sans Serif"/>
              </a:rPr>
              <a:t>syntax </a:t>
            </a:r>
            <a:r>
              <a:rPr dirty="0" sz="2400" spc="-40">
                <a:latin typeface="Microsoft Sans Serif"/>
                <a:cs typeface="Microsoft Sans Serif"/>
              </a:rPr>
              <a:t>is </a:t>
            </a:r>
            <a:r>
              <a:rPr dirty="0" sz="2400" spc="-5">
                <a:latin typeface="Microsoft Sans Serif"/>
                <a:cs typeface="Microsoft Sans Serif"/>
              </a:rPr>
              <a:t>used </a:t>
            </a:r>
            <a:r>
              <a:rPr dirty="0" sz="2400" spc="185">
                <a:latin typeface="Microsoft Sans Serif"/>
                <a:cs typeface="Microsoft Sans Serif"/>
              </a:rPr>
              <a:t>to </a:t>
            </a:r>
            <a:r>
              <a:rPr dirty="0" sz="2400" spc="40">
                <a:latin typeface="Microsoft Sans Serif"/>
                <a:cs typeface="Microsoft Sans Serif"/>
              </a:rPr>
              <a:t>create </a:t>
            </a:r>
            <a:r>
              <a:rPr dirty="0" sz="2400" spc="110">
                <a:latin typeface="Microsoft Sans Serif"/>
                <a:cs typeface="Microsoft Sans Serif"/>
              </a:rPr>
              <a:t>the </a:t>
            </a:r>
            <a:r>
              <a:rPr dirty="0" sz="2400" spc="80">
                <a:latin typeface="Microsoft Sans Serif"/>
                <a:cs typeface="Microsoft Sans Serif"/>
              </a:rPr>
              <a:t>list </a:t>
            </a:r>
            <a:r>
              <a:rPr dirty="0" sz="2400" spc="165">
                <a:latin typeface="Microsoft Sans Serif"/>
                <a:cs typeface="Microsoft Sans Serif"/>
              </a:rPr>
              <a:t>of </a:t>
            </a:r>
            <a:r>
              <a:rPr dirty="0" sz="2400" spc="110">
                <a:latin typeface="Microsoft Sans Serif"/>
                <a:cs typeface="Microsoft Sans Serif"/>
              </a:rPr>
              <a:t>the </a:t>
            </a:r>
            <a:r>
              <a:rPr dirty="0" sz="2400" spc="-625">
                <a:latin typeface="Microsoft Sans Serif"/>
                <a:cs typeface="Microsoft Sans Serif"/>
              </a:rPr>
              <a:t> </a:t>
            </a:r>
            <a:r>
              <a:rPr dirty="0" sz="2400" spc="85">
                <a:latin typeface="Microsoft Sans Serif"/>
                <a:cs typeface="Microsoft Sans Serif"/>
              </a:rPr>
              <a:t>fixed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45">
                <a:latin typeface="Microsoft Sans Serif"/>
                <a:cs typeface="Microsoft Sans Serif"/>
              </a:rPr>
              <a:t>size.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-15">
                <a:latin typeface="Microsoft Sans Serif"/>
                <a:cs typeface="Microsoft Sans Serif"/>
              </a:rPr>
              <a:t>We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45">
                <a:latin typeface="Microsoft Sans Serif"/>
                <a:cs typeface="Microsoft Sans Serif"/>
              </a:rPr>
              <a:t>cannot</a:t>
            </a:r>
            <a:r>
              <a:rPr dirty="0" sz="2400" spc="-100">
                <a:latin typeface="Microsoft Sans Serif"/>
                <a:cs typeface="Microsoft Sans Serif"/>
              </a:rPr>
              <a:t> </a:t>
            </a:r>
            <a:r>
              <a:rPr dirty="0" sz="2400" spc="20">
                <a:latin typeface="Microsoft Sans Serif"/>
                <a:cs typeface="Microsoft Sans Serif"/>
              </a:rPr>
              <a:t>add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95">
                <a:latin typeface="Microsoft Sans Serif"/>
                <a:cs typeface="Microsoft Sans Serif"/>
              </a:rPr>
              <a:t>or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80">
                <a:latin typeface="Microsoft Sans Serif"/>
                <a:cs typeface="Microsoft Sans Serif"/>
              </a:rPr>
              <a:t>delete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an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75">
                <a:latin typeface="Microsoft Sans Serif"/>
                <a:cs typeface="Microsoft Sans Serif"/>
              </a:rPr>
              <a:t>element</a:t>
            </a:r>
            <a:r>
              <a:rPr dirty="0" sz="2400" spc="-95">
                <a:latin typeface="Microsoft Sans Serif"/>
                <a:cs typeface="Microsoft Sans Serif"/>
              </a:rPr>
              <a:t> </a:t>
            </a:r>
            <a:r>
              <a:rPr dirty="0" sz="2400" spc="100">
                <a:latin typeface="Microsoft Sans Serif"/>
                <a:cs typeface="Microsoft Sans Serif"/>
              </a:rPr>
              <a:t>at </a:t>
            </a:r>
            <a:r>
              <a:rPr dirty="0" sz="2400" spc="-625">
                <a:latin typeface="Microsoft Sans Serif"/>
                <a:cs typeface="Microsoft Sans Serif"/>
              </a:rPr>
              <a:t> </a:t>
            </a:r>
            <a:r>
              <a:rPr dirty="0" sz="2400" spc="65">
                <a:latin typeface="Microsoft Sans Serif"/>
                <a:cs typeface="Microsoft Sans Serif"/>
              </a:rPr>
              <a:t>runtime. </a:t>
            </a:r>
            <a:r>
              <a:rPr dirty="0" sz="2400" spc="135">
                <a:latin typeface="Microsoft Sans Serif"/>
                <a:cs typeface="Microsoft Sans Serif"/>
              </a:rPr>
              <a:t>It </a:t>
            </a:r>
            <a:r>
              <a:rPr dirty="0" sz="2400" spc="100">
                <a:latin typeface="Microsoft Sans Serif"/>
                <a:cs typeface="Microsoft Sans Serif"/>
              </a:rPr>
              <a:t>will </a:t>
            </a:r>
            <a:r>
              <a:rPr dirty="0" sz="2400" spc="125">
                <a:latin typeface="Microsoft Sans Serif"/>
                <a:cs typeface="Microsoft Sans Serif"/>
              </a:rPr>
              <a:t>throw </a:t>
            </a:r>
            <a:r>
              <a:rPr dirty="0" sz="2400" spc="-30">
                <a:latin typeface="Microsoft Sans Serif"/>
                <a:cs typeface="Microsoft Sans Serif"/>
              </a:rPr>
              <a:t>an </a:t>
            </a:r>
            <a:r>
              <a:rPr dirty="0" sz="2400" spc="55">
                <a:latin typeface="Microsoft Sans Serif"/>
                <a:cs typeface="Microsoft Sans Serif"/>
              </a:rPr>
              <a:t>exception </a:t>
            </a:r>
            <a:r>
              <a:rPr dirty="0" sz="2400" spc="155">
                <a:latin typeface="Microsoft Sans Serif"/>
                <a:cs typeface="Microsoft Sans Serif"/>
              </a:rPr>
              <a:t>if </a:t>
            </a:r>
            <a:r>
              <a:rPr dirty="0" sz="2400" spc="-20">
                <a:latin typeface="Microsoft Sans Serif"/>
                <a:cs typeface="Microsoft Sans Serif"/>
              </a:rPr>
              <a:t>any </a:t>
            </a:r>
            <a:r>
              <a:rPr dirty="0" sz="2400" spc="130">
                <a:latin typeface="Microsoft Sans Serif"/>
                <a:cs typeface="Microsoft Sans Serif"/>
              </a:rPr>
              <a:t>try </a:t>
            </a:r>
            <a:r>
              <a:rPr dirty="0" sz="2400" spc="185">
                <a:latin typeface="Microsoft Sans Serif"/>
                <a:cs typeface="Microsoft Sans Serif"/>
              </a:rPr>
              <a:t>to </a:t>
            </a:r>
            <a:r>
              <a:rPr dirty="0" sz="2400" spc="190">
                <a:latin typeface="Microsoft Sans Serif"/>
                <a:cs typeface="Microsoft Sans Serif"/>
              </a:rPr>
              <a:t> </a:t>
            </a:r>
            <a:r>
              <a:rPr dirty="0" sz="2400" spc="85">
                <a:latin typeface="Microsoft Sans Serif"/>
                <a:cs typeface="Microsoft Sans Serif"/>
              </a:rPr>
              <a:t>modify</a:t>
            </a:r>
            <a:r>
              <a:rPr dirty="0" sz="2400" spc="-100">
                <a:latin typeface="Microsoft Sans Serif"/>
                <a:cs typeface="Microsoft Sans Serif"/>
              </a:rPr>
              <a:t> </a:t>
            </a:r>
            <a:r>
              <a:rPr dirty="0" sz="2400" spc="70">
                <a:latin typeface="Microsoft Sans Serif"/>
                <a:cs typeface="Microsoft Sans Serif"/>
              </a:rPr>
              <a:t>its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45">
                <a:latin typeface="Microsoft Sans Serif"/>
                <a:cs typeface="Microsoft Sans Serif"/>
              </a:rPr>
              <a:t>size.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734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420"/>
              </a:spcBef>
            </a:pPr>
            <a:r>
              <a:rPr dirty="0" spc="-5"/>
              <a:t>Fixed</a:t>
            </a:r>
            <a:r>
              <a:rPr dirty="0" spc="-165"/>
              <a:t> </a:t>
            </a:r>
            <a:r>
              <a:rPr dirty="0" spc="85"/>
              <a:t>Length</a:t>
            </a:r>
            <a:r>
              <a:rPr dirty="0" spc="-175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53070"/>
            <a:ext cx="4832350" cy="454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" marR="5080" indent="-226695">
              <a:lnSpc>
                <a:spcPct val="123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238125" algn="l"/>
                <a:tab pos="239395" algn="l"/>
              </a:tabLst>
            </a:pPr>
            <a:r>
              <a:rPr dirty="0" sz="1850" spc="-254">
                <a:latin typeface="Microsoft Sans Serif"/>
                <a:cs typeface="Microsoft Sans Serif"/>
              </a:rPr>
              <a:t>S</a:t>
            </a:r>
            <a:r>
              <a:rPr dirty="0" sz="1850" spc="-5">
                <a:latin typeface="Microsoft Sans Serif"/>
                <a:cs typeface="Microsoft Sans Serif"/>
              </a:rPr>
              <a:t>y</a:t>
            </a:r>
            <a:r>
              <a:rPr dirty="0" sz="1850" spc="25">
                <a:latin typeface="Microsoft Sans Serif"/>
                <a:cs typeface="Microsoft Sans Serif"/>
              </a:rPr>
              <a:t>n</a:t>
            </a:r>
            <a:r>
              <a:rPr dirty="0" sz="1850" spc="225">
                <a:latin typeface="Microsoft Sans Serif"/>
                <a:cs typeface="Microsoft Sans Serif"/>
              </a:rPr>
              <a:t>t</a:t>
            </a:r>
            <a:r>
              <a:rPr dirty="0" sz="1850" spc="-75">
                <a:latin typeface="Microsoft Sans Serif"/>
                <a:cs typeface="Microsoft Sans Serif"/>
              </a:rPr>
              <a:t>a</a:t>
            </a:r>
            <a:r>
              <a:rPr dirty="0" sz="1850" spc="20">
                <a:latin typeface="Microsoft Sans Serif"/>
                <a:cs typeface="Microsoft Sans Serif"/>
              </a:rPr>
              <a:t>x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65">
                <a:latin typeface="Microsoft Sans Serif"/>
                <a:cs typeface="Microsoft Sans Serif"/>
              </a:rPr>
              <a:t>-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 spc="-30">
                <a:latin typeface="Microsoft Sans Serif"/>
                <a:cs typeface="Microsoft Sans Serif"/>
              </a:rPr>
              <a:t>I</a:t>
            </a:r>
            <a:r>
              <a:rPr dirty="0" sz="1850" spc="25">
                <a:latin typeface="Microsoft Sans Serif"/>
                <a:cs typeface="Microsoft Sans Serif"/>
              </a:rPr>
              <a:t>n</a:t>
            </a:r>
            <a:r>
              <a:rPr dirty="0" sz="1850" spc="120">
                <a:latin typeface="Microsoft Sans Serif"/>
                <a:cs typeface="Microsoft Sans Serif"/>
              </a:rPr>
              <a:t>i</a:t>
            </a:r>
            <a:r>
              <a:rPr dirty="0" sz="1850" spc="145">
                <a:latin typeface="Microsoft Sans Serif"/>
                <a:cs typeface="Microsoft Sans Serif"/>
              </a:rPr>
              <a:t>t</a:t>
            </a:r>
            <a:r>
              <a:rPr dirty="0" sz="1850" spc="-5">
                <a:latin typeface="Microsoft Sans Serif"/>
                <a:cs typeface="Microsoft Sans Serif"/>
              </a:rPr>
              <a:t>i</a:t>
            </a:r>
            <a:r>
              <a:rPr dirty="0" sz="1850" spc="-25">
                <a:latin typeface="Microsoft Sans Serif"/>
                <a:cs typeface="Microsoft Sans Serif"/>
              </a:rPr>
              <a:t>a</a:t>
            </a:r>
            <a:r>
              <a:rPr dirty="0" sz="1850" spc="70">
                <a:latin typeface="Microsoft Sans Serif"/>
                <a:cs typeface="Microsoft Sans Serif"/>
              </a:rPr>
              <a:t>l</a:t>
            </a:r>
            <a:r>
              <a:rPr dirty="0" sz="1850" spc="-5">
                <a:latin typeface="Microsoft Sans Serif"/>
                <a:cs typeface="Microsoft Sans Serif"/>
              </a:rPr>
              <a:t>i</a:t>
            </a:r>
            <a:r>
              <a:rPr dirty="0" sz="1850">
                <a:latin typeface="Microsoft Sans Serif"/>
                <a:cs typeface="Microsoft Sans Serif"/>
              </a:rPr>
              <a:t>z</a:t>
            </a:r>
            <a:r>
              <a:rPr dirty="0" sz="1850" spc="5">
                <a:latin typeface="Microsoft Sans Serif"/>
                <a:cs typeface="Microsoft Sans Serif"/>
              </a:rPr>
              <a:t>e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 spc="229">
                <a:latin typeface="Microsoft Sans Serif"/>
                <a:cs typeface="Microsoft Sans Serif"/>
              </a:rPr>
              <a:t>t</a:t>
            </a:r>
            <a:r>
              <a:rPr dirty="0" sz="1850" spc="15">
                <a:latin typeface="Microsoft Sans Serif"/>
                <a:cs typeface="Microsoft Sans Serif"/>
              </a:rPr>
              <a:t>h</a:t>
            </a:r>
            <a:r>
              <a:rPr dirty="0" sz="1850" spc="5">
                <a:latin typeface="Microsoft Sans Serif"/>
                <a:cs typeface="Microsoft Sans Serif"/>
              </a:rPr>
              <a:t>e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135">
                <a:latin typeface="Microsoft Sans Serif"/>
                <a:cs typeface="Microsoft Sans Serif"/>
              </a:rPr>
              <a:t>f</a:t>
            </a:r>
            <a:r>
              <a:rPr dirty="0" sz="1850" spc="100">
                <a:latin typeface="Microsoft Sans Serif"/>
                <a:cs typeface="Microsoft Sans Serif"/>
              </a:rPr>
              <a:t>i</a:t>
            </a:r>
            <a:r>
              <a:rPr dirty="0" sz="1850" spc="20">
                <a:latin typeface="Microsoft Sans Serif"/>
                <a:cs typeface="Microsoft Sans Serif"/>
              </a:rPr>
              <a:t>x</a:t>
            </a:r>
            <a:r>
              <a:rPr dirty="0" sz="1850" spc="5">
                <a:latin typeface="Microsoft Sans Serif"/>
                <a:cs typeface="Microsoft Sans Serif"/>
              </a:rPr>
              <a:t>e</a:t>
            </a:r>
            <a:r>
              <a:rPr dirty="0" sz="1850" spc="60">
                <a:latin typeface="Microsoft Sans Serif"/>
                <a:cs typeface="Microsoft Sans Serif"/>
              </a:rPr>
              <a:t>d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100">
                <a:latin typeface="Microsoft Sans Serif"/>
                <a:cs typeface="Microsoft Sans Serif"/>
              </a:rPr>
              <a:t>s</a:t>
            </a:r>
            <a:r>
              <a:rPr dirty="0" sz="1850" spc="35">
                <a:latin typeface="Microsoft Sans Serif"/>
                <a:cs typeface="Microsoft Sans Serif"/>
              </a:rPr>
              <a:t>i</a:t>
            </a:r>
            <a:r>
              <a:rPr dirty="0" sz="1850" spc="-50">
                <a:latin typeface="Microsoft Sans Serif"/>
                <a:cs typeface="Microsoft Sans Serif"/>
              </a:rPr>
              <a:t>z</a:t>
            </a:r>
            <a:r>
              <a:rPr dirty="0" sz="1850" spc="5">
                <a:latin typeface="Microsoft Sans Serif"/>
                <a:cs typeface="Microsoft Sans Serif"/>
              </a:rPr>
              <a:t>e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 spc="80">
                <a:latin typeface="Microsoft Sans Serif"/>
                <a:cs typeface="Microsoft Sans Serif"/>
              </a:rPr>
              <a:t>l</a:t>
            </a:r>
            <a:r>
              <a:rPr dirty="0" sz="1850" spc="-20">
                <a:latin typeface="Microsoft Sans Serif"/>
                <a:cs typeface="Microsoft Sans Serif"/>
              </a:rPr>
              <a:t>i</a:t>
            </a:r>
            <a:r>
              <a:rPr dirty="0" sz="1850" spc="-50">
                <a:latin typeface="Microsoft Sans Serif"/>
                <a:cs typeface="Microsoft Sans Serif"/>
              </a:rPr>
              <a:t>s</a:t>
            </a:r>
            <a:r>
              <a:rPr dirty="0" sz="1850" spc="229">
                <a:latin typeface="Microsoft Sans Serif"/>
                <a:cs typeface="Microsoft Sans Serif"/>
              </a:rPr>
              <a:t>t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>
                <a:latin typeface="Microsoft Sans Serif"/>
                <a:cs typeface="Microsoft Sans Serif"/>
              </a:rPr>
              <a:t>e</a:t>
            </a:r>
            <a:r>
              <a:rPr dirty="0" sz="1850" spc="80">
                <a:latin typeface="Microsoft Sans Serif"/>
                <a:cs typeface="Microsoft Sans Serif"/>
              </a:rPr>
              <a:t>l</a:t>
            </a:r>
            <a:r>
              <a:rPr dirty="0" sz="1850">
                <a:latin typeface="Microsoft Sans Serif"/>
                <a:cs typeface="Microsoft Sans Serif"/>
              </a:rPr>
              <a:t>e</a:t>
            </a:r>
            <a:r>
              <a:rPr dirty="0" sz="1850" spc="45">
                <a:latin typeface="Microsoft Sans Serif"/>
                <a:cs typeface="Microsoft Sans Serif"/>
              </a:rPr>
              <a:t>m</a:t>
            </a:r>
            <a:r>
              <a:rPr dirty="0" sz="1850" spc="5">
                <a:latin typeface="Microsoft Sans Serif"/>
                <a:cs typeface="Microsoft Sans Serif"/>
              </a:rPr>
              <a:t>e</a:t>
            </a:r>
            <a:r>
              <a:rPr dirty="0" sz="1850" spc="15">
                <a:latin typeface="Microsoft Sans Serif"/>
                <a:cs typeface="Microsoft Sans Serif"/>
              </a:rPr>
              <a:t>n</a:t>
            </a:r>
            <a:r>
              <a:rPr dirty="0" sz="1850" spc="220">
                <a:latin typeface="Microsoft Sans Serif"/>
                <a:cs typeface="Microsoft Sans Serif"/>
              </a:rPr>
              <a:t>t  </a:t>
            </a:r>
            <a:r>
              <a:rPr dirty="0" sz="1850" spc="30">
                <a:latin typeface="Microsoft Sans Serif"/>
                <a:cs typeface="Microsoft Sans Serif"/>
              </a:rPr>
              <a:t>list_name[index]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-10">
                <a:latin typeface="Microsoft Sans Serif"/>
                <a:cs typeface="Microsoft Sans Serif"/>
              </a:rPr>
              <a:t>value;</a:t>
            </a:r>
            <a:endParaRPr sz="1850">
              <a:latin typeface="Microsoft Sans Serif"/>
              <a:cs typeface="Microsoft Sans Serif"/>
            </a:endParaRPr>
          </a:p>
          <a:p>
            <a:pPr marL="238760" indent="-226695">
              <a:lnSpc>
                <a:spcPct val="100000"/>
              </a:lnSpc>
              <a:spcBef>
                <a:spcPts val="515"/>
              </a:spcBef>
              <a:buClr>
                <a:srgbClr val="6697CC"/>
              </a:buClr>
              <a:buFont typeface="Arial MT"/>
              <a:buChar char="•"/>
              <a:tabLst>
                <a:tab pos="238125" algn="l"/>
                <a:tab pos="239395" algn="l"/>
              </a:tabLst>
            </a:pPr>
            <a:r>
              <a:rPr dirty="0" sz="1850" spc="25">
                <a:latin typeface="Microsoft Sans Serif"/>
                <a:cs typeface="Microsoft Sans Serif"/>
              </a:rPr>
              <a:t>Let's</a:t>
            </a:r>
            <a:r>
              <a:rPr dirty="0" sz="1850" spc="-75">
                <a:latin typeface="Microsoft Sans Serif"/>
                <a:cs typeface="Microsoft Sans Serif"/>
              </a:rPr>
              <a:t> </a:t>
            </a:r>
            <a:r>
              <a:rPr dirty="0" sz="1850" spc="30">
                <a:latin typeface="Microsoft Sans Serif"/>
                <a:cs typeface="Microsoft Sans Serif"/>
              </a:rPr>
              <a:t>understand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85">
                <a:latin typeface="Microsoft Sans Serif"/>
                <a:cs typeface="Microsoft Sans Serif"/>
              </a:rPr>
              <a:t>the</a:t>
            </a:r>
            <a:r>
              <a:rPr dirty="0" sz="1850" spc="-75">
                <a:latin typeface="Microsoft Sans Serif"/>
                <a:cs typeface="Microsoft Sans Serif"/>
              </a:rPr>
              <a:t> </a:t>
            </a:r>
            <a:r>
              <a:rPr dirty="0" sz="1850" spc="75">
                <a:latin typeface="Microsoft Sans Serif"/>
                <a:cs typeface="Microsoft Sans Serif"/>
              </a:rPr>
              <a:t>following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 spc="10">
                <a:latin typeface="Microsoft Sans Serif"/>
                <a:cs typeface="Microsoft Sans Serif"/>
              </a:rPr>
              <a:t>example.</a:t>
            </a:r>
            <a:endParaRPr sz="1850">
              <a:latin typeface="Microsoft Sans Serif"/>
              <a:cs typeface="Microsoft Sans Serif"/>
            </a:endParaRPr>
          </a:p>
          <a:p>
            <a:pPr marL="238760" marR="3273425" indent="-226695">
              <a:lnSpc>
                <a:spcPct val="123500"/>
              </a:lnSpc>
              <a:buClr>
                <a:srgbClr val="6697CC"/>
              </a:buClr>
              <a:buFont typeface="Arial MT"/>
              <a:buChar char="•"/>
              <a:tabLst>
                <a:tab pos="238125" algn="l"/>
                <a:tab pos="239395" algn="l"/>
              </a:tabLst>
            </a:pPr>
            <a:r>
              <a:rPr dirty="0" sz="1850" spc="-5">
                <a:latin typeface="Microsoft Sans Serif"/>
                <a:cs typeface="Microsoft Sans Serif"/>
              </a:rPr>
              <a:t>Example </a:t>
            </a:r>
            <a:r>
              <a:rPr dirty="0" sz="1850" spc="-65">
                <a:latin typeface="Microsoft Sans Serif"/>
                <a:cs typeface="Microsoft Sans Serif"/>
              </a:rPr>
              <a:t>- 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40">
                <a:latin typeface="Microsoft Sans Serif"/>
                <a:cs typeface="Microsoft Sans Serif"/>
              </a:rPr>
              <a:t>void</a:t>
            </a:r>
            <a:r>
              <a:rPr dirty="0" sz="1850" spc="-95">
                <a:latin typeface="Microsoft Sans Serif"/>
                <a:cs typeface="Microsoft Sans Serif"/>
              </a:rPr>
              <a:t> </a:t>
            </a:r>
            <a:r>
              <a:rPr dirty="0" sz="1850">
                <a:latin typeface="Microsoft Sans Serif"/>
                <a:cs typeface="Microsoft Sans Serif"/>
              </a:rPr>
              <a:t>main()</a:t>
            </a:r>
            <a:r>
              <a:rPr dirty="0" sz="1850" spc="-105">
                <a:latin typeface="Microsoft Sans Serif"/>
                <a:cs typeface="Microsoft Sans Serif"/>
              </a:rPr>
              <a:t> </a:t>
            </a:r>
            <a:r>
              <a:rPr dirty="0" sz="1850" spc="-5">
                <a:latin typeface="Microsoft Sans Serif"/>
                <a:cs typeface="Microsoft Sans Serif"/>
              </a:rPr>
              <a:t>{</a:t>
            </a:r>
            <a:endParaRPr sz="1850">
              <a:latin typeface="Microsoft Sans Serif"/>
              <a:cs typeface="Microsoft Sans Serif"/>
            </a:endParaRPr>
          </a:p>
          <a:p>
            <a:pPr marL="403860" marR="2113280">
              <a:lnSpc>
                <a:spcPts val="2740"/>
              </a:lnSpc>
              <a:spcBef>
                <a:spcPts val="175"/>
              </a:spcBef>
            </a:pPr>
            <a:r>
              <a:rPr dirty="0" sz="1850" spc="5">
                <a:latin typeface="Microsoft Sans Serif"/>
                <a:cs typeface="Microsoft Sans Serif"/>
              </a:rPr>
              <a:t>var</a:t>
            </a:r>
            <a:r>
              <a:rPr dirty="0" sz="1850" spc="-85">
                <a:latin typeface="Microsoft Sans Serif"/>
                <a:cs typeface="Microsoft Sans Serif"/>
              </a:rPr>
              <a:t> </a:t>
            </a:r>
            <a:r>
              <a:rPr dirty="0" sz="1850" spc="50">
                <a:latin typeface="Microsoft Sans Serif"/>
                <a:cs typeface="Microsoft Sans Serif"/>
              </a:rPr>
              <a:t>list1</a:t>
            </a:r>
            <a:r>
              <a:rPr dirty="0" sz="1850" spc="-75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75">
                <a:latin typeface="Microsoft Sans Serif"/>
                <a:cs typeface="Microsoft Sans Serif"/>
              </a:rPr>
              <a:t> </a:t>
            </a:r>
            <a:r>
              <a:rPr dirty="0" sz="1850" spc="40">
                <a:latin typeface="Microsoft Sans Serif"/>
                <a:cs typeface="Microsoft Sans Serif"/>
              </a:rPr>
              <a:t>new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>
                <a:latin typeface="Microsoft Sans Serif"/>
                <a:cs typeface="Microsoft Sans Serif"/>
              </a:rPr>
              <a:t>List(5); </a:t>
            </a:r>
            <a:r>
              <a:rPr dirty="0" sz="1850" spc="-480">
                <a:latin typeface="Microsoft Sans Serif"/>
                <a:cs typeface="Microsoft Sans Serif"/>
              </a:rPr>
              <a:t> </a:t>
            </a:r>
            <a:r>
              <a:rPr dirty="0" sz="1850" spc="55">
                <a:latin typeface="Microsoft Sans Serif"/>
                <a:cs typeface="Microsoft Sans Serif"/>
              </a:rPr>
              <a:t>list1[0]</a:t>
            </a:r>
            <a:r>
              <a:rPr dirty="0" sz="1850" spc="-70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10">
                <a:latin typeface="Microsoft Sans Serif"/>
                <a:cs typeface="Microsoft Sans Serif"/>
              </a:rPr>
              <a:t>10;</a:t>
            </a:r>
            <a:endParaRPr sz="1850">
              <a:latin typeface="Microsoft Sans Serif"/>
              <a:cs typeface="Microsoft Sans Serif"/>
            </a:endParaRPr>
          </a:p>
          <a:p>
            <a:pPr marL="403860">
              <a:lnSpc>
                <a:spcPct val="100000"/>
              </a:lnSpc>
              <a:spcBef>
                <a:spcPts val="335"/>
              </a:spcBef>
            </a:pPr>
            <a:r>
              <a:rPr dirty="0" sz="1850" spc="70">
                <a:latin typeface="Microsoft Sans Serif"/>
                <a:cs typeface="Microsoft Sans Serif"/>
              </a:rPr>
              <a:t>l</a:t>
            </a:r>
            <a:r>
              <a:rPr dirty="0" sz="1850" spc="-30">
                <a:latin typeface="Microsoft Sans Serif"/>
                <a:cs typeface="Microsoft Sans Serif"/>
              </a:rPr>
              <a:t>is</a:t>
            </a:r>
            <a:r>
              <a:rPr dirty="0" sz="1850" spc="225">
                <a:latin typeface="Microsoft Sans Serif"/>
                <a:cs typeface="Microsoft Sans Serif"/>
              </a:rPr>
              <a:t>t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100">
                <a:latin typeface="Microsoft Sans Serif"/>
                <a:cs typeface="Microsoft Sans Serif"/>
              </a:rPr>
              <a:t>[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95">
                <a:latin typeface="Microsoft Sans Serif"/>
                <a:cs typeface="Microsoft Sans Serif"/>
              </a:rPr>
              <a:t>]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20">
                <a:latin typeface="Microsoft Sans Serif"/>
                <a:cs typeface="Microsoft Sans Serif"/>
              </a:rPr>
              <a:t>1</a:t>
            </a:r>
            <a:r>
              <a:rPr dirty="0" sz="1850" spc="-60">
                <a:latin typeface="Microsoft Sans Serif"/>
                <a:cs typeface="Microsoft Sans Serif"/>
              </a:rPr>
              <a:t>;</a:t>
            </a:r>
            <a:endParaRPr sz="1850">
              <a:latin typeface="Microsoft Sans Serif"/>
              <a:cs typeface="Microsoft Sans Serif"/>
            </a:endParaRPr>
          </a:p>
          <a:p>
            <a:pPr marL="403860">
              <a:lnSpc>
                <a:spcPct val="100000"/>
              </a:lnSpc>
              <a:spcBef>
                <a:spcPts val="520"/>
              </a:spcBef>
            </a:pPr>
            <a:r>
              <a:rPr dirty="0" sz="1850" spc="70">
                <a:latin typeface="Microsoft Sans Serif"/>
                <a:cs typeface="Microsoft Sans Serif"/>
              </a:rPr>
              <a:t>l</a:t>
            </a:r>
            <a:r>
              <a:rPr dirty="0" sz="1850" spc="-30">
                <a:latin typeface="Microsoft Sans Serif"/>
                <a:cs typeface="Microsoft Sans Serif"/>
              </a:rPr>
              <a:t>is</a:t>
            </a:r>
            <a:r>
              <a:rPr dirty="0" sz="1850" spc="225">
                <a:latin typeface="Microsoft Sans Serif"/>
                <a:cs typeface="Microsoft Sans Serif"/>
              </a:rPr>
              <a:t>t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100">
                <a:latin typeface="Microsoft Sans Serif"/>
                <a:cs typeface="Microsoft Sans Serif"/>
              </a:rPr>
              <a:t>[</a:t>
            </a:r>
            <a:r>
              <a:rPr dirty="0" sz="1850" spc="10">
                <a:latin typeface="Microsoft Sans Serif"/>
                <a:cs typeface="Microsoft Sans Serif"/>
              </a:rPr>
              <a:t>2</a:t>
            </a:r>
            <a:r>
              <a:rPr dirty="0" sz="1850" spc="95">
                <a:latin typeface="Microsoft Sans Serif"/>
                <a:cs typeface="Microsoft Sans Serif"/>
              </a:rPr>
              <a:t>]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20">
                <a:latin typeface="Microsoft Sans Serif"/>
                <a:cs typeface="Microsoft Sans Serif"/>
              </a:rPr>
              <a:t>2</a:t>
            </a:r>
            <a:r>
              <a:rPr dirty="0" sz="1850" spc="-60">
                <a:latin typeface="Microsoft Sans Serif"/>
                <a:cs typeface="Microsoft Sans Serif"/>
              </a:rPr>
              <a:t>;</a:t>
            </a:r>
            <a:endParaRPr sz="1850">
              <a:latin typeface="Microsoft Sans Serif"/>
              <a:cs typeface="Microsoft Sans Serif"/>
            </a:endParaRPr>
          </a:p>
          <a:p>
            <a:pPr marL="403860">
              <a:lnSpc>
                <a:spcPct val="100000"/>
              </a:lnSpc>
              <a:spcBef>
                <a:spcPts val="520"/>
              </a:spcBef>
            </a:pPr>
            <a:r>
              <a:rPr dirty="0" sz="1850" spc="70">
                <a:latin typeface="Microsoft Sans Serif"/>
                <a:cs typeface="Microsoft Sans Serif"/>
              </a:rPr>
              <a:t>l</a:t>
            </a:r>
            <a:r>
              <a:rPr dirty="0" sz="1850" spc="-30">
                <a:latin typeface="Microsoft Sans Serif"/>
                <a:cs typeface="Microsoft Sans Serif"/>
              </a:rPr>
              <a:t>is</a:t>
            </a:r>
            <a:r>
              <a:rPr dirty="0" sz="1850" spc="225">
                <a:latin typeface="Microsoft Sans Serif"/>
                <a:cs typeface="Microsoft Sans Serif"/>
              </a:rPr>
              <a:t>t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100">
                <a:latin typeface="Microsoft Sans Serif"/>
                <a:cs typeface="Microsoft Sans Serif"/>
              </a:rPr>
              <a:t>[</a:t>
            </a:r>
            <a:r>
              <a:rPr dirty="0" sz="1850" spc="10">
                <a:latin typeface="Microsoft Sans Serif"/>
                <a:cs typeface="Microsoft Sans Serif"/>
              </a:rPr>
              <a:t>3</a:t>
            </a:r>
            <a:r>
              <a:rPr dirty="0" sz="1850" spc="95">
                <a:latin typeface="Microsoft Sans Serif"/>
                <a:cs typeface="Microsoft Sans Serif"/>
              </a:rPr>
              <a:t>]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20">
                <a:latin typeface="Microsoft Sans Serif"/>
                <a:cs typeface="Microsoft Sans Serif"/>
              </a:rPr>
              <a:t>3</a:t>
            </a:r>
            <a:r>
              <a:rPr dirty="0" sz="1850" spc="-60">
                <a:latin typeface="Microsoft Sans Serif"/>
                <a:cs typeface="Microsoft Sans Serif"/>
              </a:rPr>
              <a:t>;</a:t>
            </a:r>
            <a:endParaRPr sz="1850">
              <a:latin typeface="Microsoft Sans Serif"/>
              <a:cs typeface="Microsoft Sans Serif"/>
            </a:endParaRPr>
          </a:p>
          <a:p>
            <a:pPr marL="403860" marR="3112770">
              <a:lnSpc>
                <a:spcPct val="123300"/>
              </a:lnSpc>
            </a:pPr>
            <a:r>
              <a:rPr dirty="0" sz="1850" spc="70">
                <a:latin typeface="Microsoft Sans Serif"/>
                <a:cs typeface="Microsoft Sans Serif"/>
              </a:rPr>
              <a:t>l</a:t>
            </a:r>
            <a:r>
              <a:rPr dirty="0" sz="1850" spc="-30">
                <a:latin typeface="Microsoft Sans Serif"/>
                <a:cs typeface="Microsoft Sans Serif"/>
              </a:rPr>
              <a:t>is</a:t>
            </a:r>
            <a:r>
              <a:rPr dirty="0" sz="1850" spc="225">
                <a:latin typeface="Microsoft Sans Serif"/>
                <a:cs typeface="Microsoft Sans Serif"/>
              </a:rPr>
              <a:t>t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100">
                <a:latin typeface="Microsoft Sans Serif"/>
                <a:cs typeface="Microsoft Sans Serif"/>
              </a:rPr>
              <a:t>[</a:t>
            </a:r>
            <a:r>
              <a:rPr dirty="0" sz="1850" spc="10">
                <a:latin typeface="Microsoft Sans Serif"/>
                <a:cs typeface="Microsoft Sans Serif"/>
              </a:rPr>
              <a:t>4</a:t>
            </a:r>
            <a:r>
              <a:rPr dirty="0" sz="1850" spc="95">
                <a:latin typeface="Microsoft Sans Serif"/>
                <a:cs typeface="Microsoft Sans Serif"/>
              </a:rPr>
              <a:t>]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850" spc="-40">
                <a:latin typeface="Microsoft Sans Serif"/>
                <a:cs typeface="Microsoft Sans Serif"/>
              </a:rPr>
              <a:t>=</a:t>
            </a:r>
            <a:r>
              <a:rPr dirty="0" sz="1850" spc="-60">
                <a:latin typeface="Microsoft Sans Serif"/>
                <a:cs typeface="Microsoft Sans Serif"/>
              </a:rPr>
              <a:t> </a:t>
            </a:r>
            <a:r>
              <a:rPr dirty="0" sz="1850" spc="10">
                <a:latin typeface="Microsoft Sans Serif"/>
                <a:cs typeface="Microsoft Sans Serif"/>
              </a:rPr>
              <a:t>1</a:t>
            </a:r>
            <a:r>
              <a:rPr dirty="0" sz="1850" spc="20">
                <a:latin typeface="Microsoft Sans Serif"/>
                <a:cs typeface="Microsoft Sans Serif"/>
              </a:rPr>
              <a:t>4</a:t>
            </a:r>
            <a:r>
              <a:rPr dirty="0" sz="1850" spc="-60">
                <a:latin typeface="Microsoft Sans Serif"/>
                <a:cs typeface="Microsoft Sans Serif"/>
              </a:rPr>
              <a:t>;  </a:t>
            </a:r>
            <a:r>
              <a:rPr dirty="0" sz="1850" spc="45">
                <a:latin typeface="Microsoft Sans Serif"/>
                <a:cs typeface="Microsoft Sans Serif"/>
              </a:rPr>
              <a:t>print(list1);</a:t>
            </a:r>
            <a:endParaRPr sz="1850">
              <a:latin typeface="Microsoft Sans Serif"/>
              <a:cs typeface="Microsoft Sans Serif"/>
            </a:endParaRPr>
          </a:p>
          <a:p>
            <a:pPr marL="238760">
              <a:lnSpc>
                <a:spcPct val="100000"/>
              </a:lnSpc>
              <a:spcBef>
                <a:spcPts val="509"/>
              </a:spcBef>
            </a:pPr>
            <a:r>
              <a:rPr dirty="0" sz="1850" spc="-5">
                <a:latin typeface="Microsoft Sans Serif"/>
                <a:cs typeface="Microsoft Sans Serif"/>
              </a:rPr>
              <a:t>}</a:t>
            </a:r>
            <a:endParaRPr sz="18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35"/>
              <a:t>Growable</a:t>
            </a:r>
            <a:r>
              <a:rPr dirty="0" spc="-204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28000" cy="4344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0515" marR="76200" indent="-298450">
              <a:lnSpc>
                <a:spcPct val="1012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  <a:tab pos="311150" algn="l"/>
              </a:tabLst>
            </a:pPr>
            <a:r>
              <a:rPr dirty="0" sz="2400" spc="-15">
                <a:latin typeface="Microsoft Sans Serif"/>
                <a:cs typeface="Microsoft Sans Serif"/>
              </a:rPr>
              <a:t>The</a:t>
            </a:r>
            <a:r>
              <a:rPr dirty="0" sz="2400" spc="-70">
                <a:latin typeface="Microsoft Sans Serif"/>
                <a:cs typeface="Microsoft Sans Serif"/>
              </a:rPr>
              <a:t> </a:t>
            </a:r>
            <a:r>
              <a:rPr dirty="0" sz="2400" spc="90">
                <a:latin typeface="Microsoft Sans Serif"/>
                <a:cs typeface="Microsoft Sans Serif"/>
              </a:rPr>
              <a:t>list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-30">
                <a:latin typeface="Microsoft Sans Serif"/>
                <a:cs typeface="Microsoft Sans Serif"/>
              </a:rPr>
              <a:t>is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35">
                <a:latin typeface="Microsoft Sans Serif"/>
                <a:cs typeface="Microsoft Sans Serif"/>
              </a:rPr>
              <a:t>declared</a:t>
            </a:r>
            <a:r>
              <a:rPr dirty="0" sz="2400" spc="-70">
                <a:latin typeface="Microsoft Sans Serif"/>
                <a:cs typeface="Microsoft Sans Serif"/>
              </a:rPr>
              <a:t> </a:t>
            </a:r>
            <a:r>
              <a:rPr dirty="0" sz="2400" spc="140">
                <a:latin typeface="Microsoft Sans Serif"/>
                <a:cs typeface="Microsoft Sans Serif"/>
              </a:rPr>
              <a:t>without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40">
                <a:latin typeface="Microsoft Sans Serif"/>
                <a:cs typeface="Microsoft Sans Serif"/>
              </a:rPr>
              <a:t>specifying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size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is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80">
                <a:latin typeface="Microsoft Sans Serif"/>
                <a:cs typeface="Microsoft Sans Serif"/>
              </a:rPr>
              <a:t>known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100">
                <a:latin typeface="Microsoft Sans Serif"/>
                <a:cs typeface="Microsoft Sans Serif"/>
              </a:rPr>
              <a:t>as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70">
                <a:latin typeface="Microsoft Sans Serif"/>
                <a:cs typeface="Microsoft Sans Serif"/>
              </a:rPr>
              <a:t>a </a:t>
            </a:r>
            <a:r>
              <a:rPr dirty="0" sz="2400" spc="-625">
                <a:latin typeface="Microsoft Sans Serif"/>
                <a:cs typeface="Microsoft Sans Serif"/>
              </a:rPr>
              <a:t> </a:t>
            </a:r>
            <a:r>
              <a:rPr dirty="0" sz="2400" spc="30">
                <a:latin typeface="Microsoft Sans Serif"/>
                <a:cs typeface="Microsoft Sans Serif"/>
              </a:rPr>
              <a:t>Growable </a:t>
            </a:r>
            <a:r>
              <a:rPr dirty="0" sz="2400" spc="55">
                <a:latin typeface="Microsoft Sans Serif"/>
                <a:cs typeface="Microsoft Sans Serif"/>
              </a:rPr>
              <a:t>list. </a:t>
            </a:r>
            <a:r>
              <a:rPr dirty="0" sz="2400" spc="-15">
                <a:latin typeface="Microsoft Sans Serif"/>
                <a:cs typeface="Microsoft Sans Serif"/>
              </a:rPr>
              <a:t>The </a:t>
            </a:r>
            <a:r>
              <a:rPr dirty="0" sz="2400" spc="-25">
                <a:latin typeface="Microsoft Sans Serif"/>
                <a:cs typeface="Microsoft Sans Serif"/>
              </a:rPr>
              <a:t>size </a:t>
            </a:r>
            <a:r>
              <a:rPr dirty="0" sz="2400" spc="180">
                <a:latin typeface="Microsoft Sans Serif"/>
                <a:cs typeface="Microsoft Sans Serif"/>
              </a:rPr>
              <a:t>of </a:t>
            </a:r>
            <a:r>
              <a:rPr dirty="0" sz="2400" spc="120">
                <a:latin typeface="Microsoft Sans Serif"/>
                <a:cs typeface="Microsoft Sans Serif"/>
              </a:rPr>
              <a:t>the </a:t>
            </a:r>
            <a:r>
              <a:rPr dirty="0" sz="2400" spc="35">
                <a:latin typeface="Microsoft Sans Serif"/>
                <a:cs typeface="Microsoft Sans Serif"/>
              </a:rPr>
              <a:t>Growable </a:t>
            </a:r>
            <a:r>
              <a:rPr dirty="0" sz="2400" spc="90">
                <a:latin typeface="Microsoft Sans Serif"/>
                <a:cs typeface="Microsoft Sans Serif"/>
              </a:rPr>
              <a:t>list </a:t>
            </a:r>
            <a:r>
              <a:rPr dirty="0" sz="2400" spc="-30">
                <a:latin typeface="Microsoft Sans Serif"/>
                <a:cs typeface="Microsoft Sans Serif"/>
              </a:rPr>
              <a:t>can </a:t>
            </a:r>
            <a:r>
              <a:rPr dirty="0" sz="2400" spc="55">
                <a:latin typeface="Microsoft Sans Serif"/>
                <a:cs typeface="Microsoft Sans Serif"/>
              </a:rPr>
              <a:t>be 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 spc="95">
                <a:latin typeface="Microsoft Sans Serif"/>
                <a:cs typeface="Microsoft Sans Serif"/>
              </a:rPr>
              <a:t>modified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114">
                <a:latin typeface="Microsoft Sans Serif"/>
                <a:cs typeface="Microsoft Sans Serif"/>
              </a:rPr>
              <a:t>at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120">
                <a:latin typeface="Microsoft Sans Serif"/>
                <a:cs typeface="Microsoft Sans Serif"/>
              </a:rPr>
              <a:t>the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80">
                <a:latin typeface="Microsoft Sans Serif"/>
                <a:cs typeface="Microsoft Sans Serif"/>
              </a:rPr>
              <a:t>runtime.</a:t>
            </a:r>
            <a:endParaRPr sz="2400">
              <a:latin typeface="Microsoft Sans Serif"/>
              <a:cs typeface="Microsoft Sans Serif"/>
            </a:endParaRPr>
          </a:p>
          <a:p>
            <a:pPr marL="310515" indent="-298450">
              <a:lnSpc>
                <a:spcPct val="100000"/>
              </a:lnSpc>
              <a:spcBef>
                <a:spcPts val="72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  <a:tab pos="311150" algn="l"/>
              </a:tabLst>
            </a:pPr>
            <a:r>
              <a:rPr dirty="0" sz="2400" spc="-15">
                <a:latin typeface="Microsoft Sans Serif"/>
                <a:cs typeface="Microsoft Sans Serif"/>
              </a:rPr>
              <a:t>The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30">
                <a:latin typeface="Microsoft Sans Serif"/>
                <a:cs typeface="Microsoft Sans Serif"/>
              </a:rPr>
              <a:t>syntax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180">
                <a:latin typeface="Microsoft Sans Serif"/>
                <a:cs typeface="Microsoft Sans Serif"/>
              </a:rPr>
              <a:t>of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120">
                <a:latin typeface="Microsoft Sans Serif"/>
                <a:cs typeface="Microsoft Sans Serif"/>
              </a:rPr>
              <a:t>the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40">
                <a:latin typeface="Microsoft Sans Serif"/>
                <a:cs typeface="Microsoft Sans Serif"/>
              </a:rPr>
              <a:t>declaring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35">
                <a:latin typeface="Microsoft Sans Serif"/>
                <a:cs typeface="Microsoft Sans Serif"/>
              </a:rPr>
              <a:t>Growable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90">
                <a:latin typeface="Microsoft Sans Serif"/>
                <a:cs typeface="Microsoft Sans Serif"/>
              </a:rPr>
              <a:t>list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30">
                <a:latin typeface="Microsoft Sans Serif"/>
                <a:cs typeface="Microsoft Sans Serif"/>
              </a:rPr>
              <a:t>is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40">
                <a:latin typeface="Microsoft Sans Serif"/>
                <a:cs typeface="Microsoft Sans Serif"/>
              </a:rPr>
              <a:t>given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65">
                <a:latin typeface="Microsoft Sans Serif"/>
                <a:cs typeface="Microsoft Sans Serif"/>
              </a:rPr>
              <a:t>below.</a:t>
            </a:r>
            <a:endParaRPr sz="2400">
              <a:latin typeface="Microsoft Sans Serif"/>
              <a:cs typeface="Microsoft Sans Serif"/>
            </a:endParaRPr>
          </a:p>
          <a:p>
            <a:pPr marL="310515" indent="-298450">
              <a:lnSpc>
                <a:spcPct val="100000"/>
              </a:lnSpc>
              <a:spcBef>
                <a:spcPts val="73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  <a:tab pos="311150" algn="l"/>
              </a:tabLst>
            </a:pPr>
            <a:r>
              <a:rPr dirty="0" sz="2400" spc="-325">
                <a:latin typeface="Microsoft Sans Serif"/>
                <a:cs typeface="Microsoft Sans Serif"/>
              </a:rPr>
              <a:t>S</a:t>
            </a:r>
            <a:r>
              <a:rPr dirty="0" sz="2400" spc="-5">
                <a:latin typeface="Microsoft Sans Serif"/>
                <a:cs typeface="Microsoft Sans Serif"/>
              </a:rPr>
              <a:t>y</a:t>
            </a:r>
            <a:r>
              <a:rPr dirty="0" sz="2400" spc="50">
                <a:latin typeface="Microsoft Sans Serif"/>
                <a:cs typeface="Microsoft Sans Serif"/>
              </a:rPr>
              <a:t>n</a:t>
            </a:r>
            <a:r>
              <a:rPr dirty="0" sz="2400" spc="295">
                <a:latin typeface="Microsoft Sans Serif"/>
                <a:cs typeface="Microsoft Sans Serif"/>
              </a:rPr>
              <a:t>t</a:t>
            </a:r>
            <a:r>
              <a:rPr dirty="0" sz="2400" spc="-15">
                <a:latin typeface="Microsoft Sans Serif"/>
                <a:cs typeface="Microsoft Sans Serif"/>
              </a:rPr>
              <a:t>ax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-75">
                <a:latin typeface="Microsoft Sans Serif"/>
                <a:cs typeface="Microsoft Sans Serif"/>
              </a:rPr>
              <a:t>-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</a:t>
            </a:r>
            <a:r>
              <a:rPr dirty="0" sz="2400" spc="10">
                <a:latin typeface="Microsoft Sans Serif"/>
                <a:cs typeface="Microsoft Sans Serif"/>
              </a:rPr>
              <a:t>e</a:t>
            </a:r>
            <a:r>
              <a:rPr dirty="0" sz="2400" spc="30">
                <a:latin typeface="Microsoft Sans Serif"/>
                <a:cs typeface="Microsoft Sans Serif"/>
              </a:rPr>
              <a:t>c</a:t>
            </a:r>
            <a:r>
              <a:rPr dirty="0" sz="2400" spc="5">
                <a:latin typeface="Microsoft Sans Serif"/>
                <a:cs typeface="Microsoft Sans Serif"/>
              </a:rPr>
              <a:t>l</a:t>
            </a:r>
            <a:r>
              <a:rPr dirty="0" sz="2400" spc="-80">
                <a:latin typeface="Microsoft Sans Serif"/>
                <a:cs typeface="Microsoft Sans Serif"/>
              </a:rPr>
              <a:t>a</a:t>
            </a:r>
            <a:r>
              <a:rPr dirty="0" sz="2400" spc="120">
                <a:latin typeface="Microsoft Sans Serif"/>
                <a:cs typeface="Microsoft Sans Serif"/>
              </a:rPr>
              <a:t>r</a:t>
            </a:r>
            <a:r>
              <a:rPr dirty="0" sz="2400" spc="75">
                <a:latin typeface="Microsoft Sans Serif"/>
                <a:cs typeface="Microsoft Sans Serif"/>
              </a:rPr>
              <a:t>i</a:t>
            </a:r>
            <a:r>
              <a:rPr dirty="0" sz="2400" spc="50">
                <a:latin typeface="Microsoft Sans Serif"/>
                <a:cs typeface="Microsoft Sans Serif"/>
              </a:rPr>
              <a:t>n</a:t>
            </a:r>
            <a:r>
              <a:rPr dirty="0" sz="2400" spc="65">
                <a:latin typeface="Microsoft Sans Serif"/>
                <a:cs typeface="Microsoft Sans Serif"/>
              </a:rPr>
              <a:t>g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-70">
                <a:latin typeface="Microsoft Sans Serif"/>
                <a:cs typeface="Microsoft Sans Serif"/>
              </a:rPr>
              <a:t>a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-5">
                <a:latin typeface="Microsoft Sans Serif"/>
                <a:cs typeface="Microsoft Sans Serif"/>
              </a:rPr>
              <a:t>L</a:t>
            </a:r>
            <a:r>
              <a:rPr dirty="0" sz="2400" spc="-10">
                <a:latin typeface="Microsoft Sans Serif"/>
                <a:cs typeface="Microsoft Sans Serif"/>
              </a:rPr>
              <a:t>i</a:t>
            </a:r>
            <a:r>
              <a:rPr dirty="0" sz="2400" spc="-125">
                <a:latin typeface="Microsoft Sans Serif"/>
                <a:cs typeface="Microsoft Sans Serif"/>
              </a:rPr>
              <a:t>s</a:t>
            </a:r>
            <a:r>
              <a:rPr dirty="0" sz="2400" spc="305">
                <a:latin typeface="Microsoft Sans Serif"/>
                <a:cs typeface="Microsoft Sans Serif"/>
              </a:rPr>
              <a:t>t</a:t>
            </a:r>
            <a:endParaRPr sz="2400">
              <a:latin typeface="Microsoft Sans Serif"/>
              <a:cs typeface="Microsoft Sans Serif"/>
            </a:endParaRPr>
          </a:p>
          <a:p>
            <a:pPr marL="310515">
              <a:lnSpc>
                <a:spcPct val="100000"/>
              </a:lnSpc>
              <a:spcBef>
                <a:spcPts val="730"/>
              </a:spcBef>
            </a:pPr>
            <a:r>
              <a:rPr dirty="0" sz="2400" spc="260">
                <a:latin typeface="Microsoft Sans Serif"/>
                <a:cs typeface="Microsoft Sans Serif"/>
              </a:rPr>
              <a:t>/</a:t>
            </a:r>
            <a:r>
              <a:rPr dirty="0" sz="2400" spc="265">
                <a:latin typeface="Microsoft Sans Serif"/>
                <a:cs typeface="Microsoft Sans Serif"/>
              </a:rPr>
              <a:t>/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25">
                <a:latin typeface="Microsoft Sans Serif"/>
                <a:cs typeface="Microsoft Sans Serif"/>
              </a:rPr>
              <a:t>cr</a:t>
            </a:r>
            <a:r>
              <a:rPr dirty="0" sz="2400" spc="25">
                <a:latin typeface="Microsoft Sans Serif"/>
                <a:cs typeface="Microsoft Sans Serif"/>
              </a:rPr>
              <a:t>e</a:t>
            </a:r>
            <a:r>
              <a:rPr dirty="0" sz="2400" spc="-80">
                <a:latin typeface="Microsoft Sans Serif"/>
                <a:cs typeface="Microsoft Sans Serif"/>
              </a:rPr>
              <a:t>a</a:t>
            </a:r>
            <a:r>
              <a:rPr dirty="0" sz="2400" spc="295">
                <a:latin typeface="Microsoft Sans Serif"/>
                <a:cs typeface="Microsoft Sans Serif"/>
              </a:rPr>
              <a:t>t</a:t>
            </a:r>
            <a:r>
              <a:rPr dirty="0" sz="2400" spc="-50">
                <a:latin typeface="Microsoft Sans Serif"/>
                <a:cs typeface="Microsoft Sans Serif"/>
              </a:rPr>
              <a:t>es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-70">
                <a:latin typeface="Microsoft Sans Serif"/>
                <a:cs typeface="Microsoft Sans Serif"/>
              </a:rPr>
              <a:t>a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110">
                <a:latin typeface="Microsoft Sans Serif"/>
                <a:cs typeface="Microsoft Sans Serif"/>
              </a:rPr>
              <a:t>l</a:t>
            </a:r>
            <a:r>
              <a:rPr dirty="0" sz="2400" spc="60">
                <a:latin typeface="Microsoft Sans Serif"/>
                <a:cs typeface="Microsoft Sans Serif"/>
              </a:rPr>
              <a:t>i</a:t>
            </a:r>
            <a:r>
              <a:rPr dirty="0" sz="2400" spc="-125">
                <a:latin typeface="Microsoft Sans Serif"/>
                <a:cs typeface="Microsoft Sans Serif"/>
              </a:rPr>
              <a:t>s</a:t>
            </a:r>
            <a:r>
              <a:rPr dirty="0" sz="2400" spc="305">
                <a:latin typeface="Microsoft Sans Serif"/>
                <a:cs typeface="Microsoft Sans Serif"/>
              </a:rPr>
              <a:t>t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140">
                <a:latin typeface="Microsoft Sans Serif"/>
                <a:cs typeface="Microsoft Sans Serif"/>
              </a:rPr>
              <a:t>w</a:t>
            </a:r>
            <a:r>
              <a:rPr dirty="0" sz="2400" spc="60">
                <a:latin typeface="Microsoft Sans Serif"/>
                <a:cs typeface="Microsoft Sans Serif"/>
              </a:rPr>
              <a:t>i</a:t>
            </a:r>
            <a:r>
              <a:rPr dirty="0" sz="2400" spc="295">
                <a:latin typeface="Microsoft Sans Serif"/>
                <a:cs typeface="Microsoft Sans Serif"/>
              </a:rPr>
              <a:t>t</a:t>
            </a:r>
            <a:r>
              <a:rPr dirty="0" sz="2400" spc="50">
                <a:latin typeface="Microsoft Sans Serif"/>
                <a:cs typeface="Microsoft Sans Serif"/>
              </a:rPr>
              <a:t>h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5">
                <a:latin typeface="Microsoft Sans Serif"/>
                <a:cs typeface="Microsoft Sans Serif"/>
              </a:rPr>
              <a:t>v</a:t>
            </a:r>
            <a:r>
              <a:rPr dirty="0" sz="2400" spc="-80">
                <a:latin typeface="Microsoft Sans Serif"/>
                <a:cs typeface="Microsoft Sans Serif"/>
              </a:rPr>
              <a:t>a</a:t>
            </a:r>
            <a:r>
              <a:rPr dirty="0" sz="2400" spc="110">
                <a:latin typeface="Microsoft Sans Serif"/>
                <a:cs typeface="Microsoft Sans Serif"/>
              </a:rPr>
              <a:t>l</a:t>
            </a:r>
            <a:r>
              <a:rPr dirty="0" sz="2400" spc="50">
                <a:latin typeface="Microsoft Sans Serif"/>
                <a:cs typeface="Microsoft Sans Serif"/>
              </a:rPr>
              <a:t>u</a:t>
            </a:r>
            <a:r>
              <a:rPr dirty="0" sz="2400" spc="-50">
                <a:latin typeface="Microsoft Sans Serif"/>
                <a:cs typeface="Microsoft Sans Serif"/>
              </a:rPr>
              <a:t>es</a:t>
            </a:r>
            <a:endParaRPr sz="2400">
              <a:latin typeface="Microsoft Sans Serif"/>
              <a:cs typeface="Microsoft Sans Serif"/>
            </a:endParaRPr>
          </a:p>
          <a:p>
            <a:pPr marL="310515" marR="3430270">
              <a:lnSpc>
                <a:spcPts val="3610"/>
              </a:lnSpc>
              <a:spcBef>
                <a:spcPts val="229"/>
              </a:spcBef>
            </a:pPr>
            <a:r>
              <a:rPr dirty="0" sz="2400" spc="20">
                <a:latin typeface="Microsoft Sans Serif"/>
                <a:cs typeface="Microsoft Sans Serif"/>
              </a:rPr>
              <a:t>var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30">
                <a:latin typeface="Microsoft Sans Serif"/>
                <a:cs typeface="Microsoft Sans Serif"/>
              </a:rPr>
              <a:t>list_name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35">
                <a:latin typeface="Microsoft Sans Serif"/>
                <a:cs typeface="Microsoft Sans Serif"/>
              </a:rPr>
              <a:t>=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20">
                <a:latin typeface="Microsoft Sans Serif"/>
                <a:cs typeface="Microsoft Sans Serif"/>
              </a:rPr>
              <a:t>[val1,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val2,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40">
                <a:latin typeface="Microsoft Sans Serif"/>
                <a:cs typeface="Microsoft Sans Serif"/>
              </a:rPr>
              <a:t>val3] </a:t>
            </a:r>
            <a:r>
              <a:rPr dirty="0" sz="2400" spc="-625">
                <a:latin typeface="Microsoft Sans Serif"/>
                <a:cs typeface="Microsoft Sans Serif"/>
              </a:rPr>
              <a:t> </a:t>
            </a:r>
            <a:r>
              <a:rPr dirty="0" sz="2400" spc="75">
                <a:latin typeface="Microsoft Sans Serif"/>
                <a:cs typeface="Microsoft Sans Serif"/>
              </a:rPr>
              <a:t>Or</a:t>
            </a:r>
            <a:endParaRPr sz="2400">
              <a:latin typeface="Microsoft Sans Serif"/>
              <a:cs typeface="Microsoft Sans Serif"/>
            </a:endParaRPr>
          </a:p>
          <a:p>
            <a:pPr marL="310515" marR="3543300">
              <a:lnSpc>
                <a:spcPts val="3610"/>
              </a:lnSpc>
            </a:pPr>
            <a:r>
              <a:rPr dirty="0" sz="2400" spc="260">
                <a:latin typeface="Microsoft Sans Serif"/>
                <a:cs typeface="Microsoft Sans Serif"/>
              </a:rPr>
              <a:t>/</a:t>
            </a:r>
            <a:r>
              <a:rPr dirty="0" sz="2400" spc="265">
                <a:latin typeface="Microsoft Sans Serif"/>
                <a:cs typeface="Microsoft Sans Serif"/>
              </a:rPr>
              <a:t>/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25">
                <a:latin typeface="Microsoft Sans Serif"/>
                <a:cs typeface="Microsoft Sans Serif"/>
              </a:rPr>
              <a:t>cr</a:t>
            </a:r>
            <a:r>
              <a:rPr dirty="0" sz="2400" spc="25">
                <a:latin typeface="Microsoft Sans Serif"/>
                <a:cs typeface="Microsoft Sans Serif"/>
              </a:rPr>
              <a:t>e</a:t>
            </a:r>
            <a:r>
              <a:rPr dirty="0" sz="2400" spc="-80">
                <a:latin typeface="Microsoft Sans Serif"/>
                <a:cs typeface="Microsoft Sans Serif"/>
              </a:rPr>
              <a:t>a</a:t>
            </a:r>
            <a:r>
              <a:rPr dirty="0" sz="2400" spc="295">
                <a:latin typeface="Microsoft Sans Serif"/>
                <a:cs typeface="Microsoft Sans Serif"/>
              </a:rPr>
              <a:t>t</a:t>
            </a:r>
            <a:r>
              <a:rPr dirty="0" sz="2400" spc="-50">
                <a:latin typeface="Microsoft Sans Serif"/>
                <a:cs typeface="Microsoft Sans Serif"/>
              </a:rPr>
              <a:t>es</a:t>
            </a:r>
            <a:r>
              <a:rPr dirty="0" sz="2400" spc="-75">
                <a:latin typeface="Microsoft Sans Serif"/>
                <a:cs typeface="Microsoft Sans Serif"/>
              </a:rPr>
              <a:t> </a:t>
            </a:r>
            <a:r>
              <a:rPr dirty="0" sz="2400" spc="-70">
                <a:latin typeface="Microsoft Sans Serif"/>
                <a:cs typeface="Microsoft Sans Serif"/>
              </a:rPr>
              <a:t>a</a:t>
            </a:r>
            <a:r>
              <a:rPr dirty="0" sz="2400" spc="-90">
                <a:latin typeface="Microsoft Sans Serif"/>
                <a:cs typeface="Microsoft Sans Serif"/>
              </a:rPr>
              <a:t> </a:t>
            </a:r>
            <a:r>
              <a:rPr dirty="0" sz="2400" spc="110">
                <a:latin typeface="Microsoft Sans Serif"/>
                <a:cs typeface="Microsoft Sans Serif"/>
              </a:rPr>
              <a:t>l</a:t>
            </a:r>
            <a:r>
              <a:rPr dirty="0" sz="2400" spc="60">
                <a:latin typeface="Microsoft Sans Serif"/>
                <a:cs typeface="Microsoft Sans Serif"/>
              </a:rPr>
              <a:t>i</a:t>
            </a:r>
            <a:r>
              <a:rPr dirty="0" sz="2400" spc="-125">
                <a:latin typeface="Microsoft Sans Serif"/>
                <a:cs typeface="Microsoft Sans Serif"/>
              </a:rPr>
              <a:t>s</a:t>
            </a:r>
            <a:r>
              <a:rPr dirty="0" sz="2400" spc="305">
                <a:latin typeface="Microsoft Sans Serif"/>
                <a:cs typeface="Microsoft Sans Serif"/>
              </a:rPr>
              <a:t>t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80">
                <a:latin typeface="Microsoft Sans Serif"/>
                <a:cs typeface="Microsoft Sans Serif"/>
              </a:rPr>
              <a:t>o</a:t>
            </a:r>
            <a:r>
              <a:rPr dirty="0" sz="2400" spc="270">
                <a:latin typeface="Microsoft Sans Serif"/>
                <a:cs typeface="Microsoft Sans Serif"/>
              </a:rPr>
              <a:t>f</a:t>
            </a:r>
            <a:r>
              <a:rPr dirty="0" sz="2400" spc="-70">
                <a:latin typeface="Microsoft Sans Serif"/>
                <a:cs typeface="Microsoft Sans Serif"/>
              </a:rPr>
              <a:t> </a:t>
            </a:r>
            <a:r>
              <a:rPr dirty="0" sz="2400" spc="295">
                <a:latin typeface="Microsoft Sans Serif"/>
                <a:cs typeface="Microsoft Sans Serif"/>
              </a:rPr>
              <a:t>t</a:t>
            </a:r>
            <a:r>
              <a:rPr dirty="0" sz="2400" spc="40">
                <a:latin typeface="Microsoft Sans Serif"/>
                <a:cs typeface="Microsoft Sans Serif"/>
              </a:rPr>
              <a:t>h</a:t>
            </a:r>
            <a:r>
              <a:rPr dirty="0" sz="2400" spc="20">
                <a:latin typeface="Microsoft Sans Serif"/>
                <a:cs typeface="Microsoft Sans Serif"/>
              </a:rPr>
              <a:t>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125">
                <a:latin typeface="Microsoft Sans Serif"/>
                <a:cs typeface="Microsoft Sans Serif"/>
              </a:rPr>
              <a:t>s</a:t>
            </a:r>
            <a:r>
              <a:rPr dirty="0" sz="2400" spc="60">
                <a:latin typeface="Microsoft Sans Serif"/>
                <a:cs typeface="Microsoft Sans Serif"/>
              </a:rPr>
              <a:t>i</a:t>
            </a:r>
            <a:r>
              <a:rPr dirty="0" sz="2400" spc="-65">
                <a:latin typeface="Microsoft Sans Serif"/>
                <a:cs typeface="Microsoft Sans Serif"/>
              </a:rPr>
              <a:t>z</a:t>
            </a:r>
            <a:r>
              <a:rPr dirty="0" sz="2400" spc="20">
                <a:latin typeface="Microsoft Sans Serif"/>
                <a:cs typeface="Microsoft Sans Serif"/>
              </a:rPr>
              <a:t>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65">
                <a:latin typeface="Microsoft Sans Serif"/>
                <a:cs typeface="Microsoft Sans Serif"/>
              </a:rPr>
              <a:t>z</a:t>
            </a:r>
            <a:r>
              <a:rPr dirty="0" sz="2400" spc="100">
                <a:latin typeface="Microsoft Sans Serif"/>
                <a:cs typeface="Microsoft Sans Serif"/>
              </a:rPr>
              <a:t>e</a:t>
            </a:r>
            <a:r>
              <a:rPr dirty="0" sz="2400" spc="50">
                <a:latin typeface="Microsoft Sans Serif"/>
                <a:cs typeface="Microsoft Sans Serif"/>
              </a:rPr>
              <a:t>r</a:t>
            </a:r>
            <a:r>
              <a:rPr dirty="0" sz="2400" spc="60">
                <a:latin typeface="Microsoft Sans Serif"/>
                <a:cs typeface="Microsoft Sans Serif"/>
              </a:rPr>
              <a:t>o  </a:t>
            </a:r>
            <a:r>
              <a:rPr dirty="0" sz="2400" spc="20">
                <a:latin typeface="Microsoft Sans Serif"/>
                <a:cs typeface="Microsoft Sans Serif"/>
              </a:rPr>
              <a:t>var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30">
                <a:latin typeface="Microsoft Sans Serif"/>
                <a:cs typeface="Microsoft Sans Serif"/>
              </a:rPr>
              <a:t>list_name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-35">
                <a:latin typeface="Microsoft Sans Serif"/>
                <a:cs typeface="Microsoft Sans Serif"/>
              </a:rPr>
              <a:t>=</a:t>
            </a:r>
            <a:r>
              <a:rPr dirty="0" sz="2400" spc="-85">
                <a:latin typeface="Microsoft Sans Serif"/>
                <a:cs typeface="Microsoft Sans Serif"/>
              </a:rPr>
              <a:t> </a:t>
            </a:r>
            <a:r>
              <a:rPr dirty="0" sz="2400" spc="75">
                <a:latin typeface="Microsoft Sans Serif"/>
                <a:cs typeface="Microsoft Sans Serif"/>
              </a:rPr>
              <a:t>new</a:t>
            </a:r>
            <a:r>
              <a:rPr dirty="0" sz="2400" spc="-80">
                <a:latin typeface="Microsoft Sans Serif"/>
                <a:cs typeface="Microsoft Sans Serif"/>
              </a:rPr>
              <a:t> </a:t>
            </a:r>
            <a:r>
              <a:rPr dirty="0" sz="2400" spc="20">
                <a:latin typeface="Microsoft Sans Serif"/>
                <a:cs typeface="Microsoft Sans Serif"/>
              </a:rPr>
              <a:t>List()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35"/>
              <a:t>Growable</a:t>
            </a:r>
            <a:r>
              <a:rPr dirty="0" spc="-204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5672455" cy="424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319530" indent="-343535">
              <a:lnSpc>
                <a:spcPct val="1235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25">
                <a:latin typeface="Microsoft Sans Serif"/>
                <a:cs typeface="Microsoft Sans Serif"/>
              </a:rPr>
              <a:t>S</a:t>
            </a:r>
            <a:r>
              <a:rPr dirty="0" sz="2800" spc="-175">
                <a:latin typeface="Microsoft Sans Serif"/>
                <a:cs typeface="Microsoft Sans Serif"/>
              </a:rPr>
              <a:t>y</a:t>
            </a:r>
            <a:r>
              <a:rPr dirty="0" sz="2800" spc="265">
                <a:latin typeface="Microsoft Sans Serif"/>
                <a:cs typeface="Microsoft Sans Serif"/>
              </a:rPr>
              <a:t>n</a:t>
            </a:r>
            <a:r>
              <a:rPr dirty="0" sz="2800" spc="120">
                <a:latin typeface="Microsoft Sans Serif"/>
                <a:cs typeface="Microsoft Sans Serif"/>
              </a:rPr>
              <a:t>t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30">
                <a:latin typeface="Microsoft Sans Serif"/>
                <a:cs typeface="Microsoft Sans Serif"/>
              </a:rPr>
              <a:t>x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-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I</a:t>
            </a:r>
            <a:r>
              <a:rPr dirty="0" sz="2800" spc="170">
                <a:latin typeface="Microsoft Sans Serif"/>
                <a:cs typeface="Microsoft Sans Serif"/>
              </a:rPr>
              <a:t>ni</a:t>
            </a:r>
            <a:r>
              <a:rPr dirty="0" sz="2800" spc="110">
                <a:latin typeface="Microsoft Sans Serif"/>
                <a:cs typeface="Microsoft Sans Serif"/>
              </a:rPr>
              <a:t>t</a:t>
            </a:r>
            <a:r>
              <a:rPr dirty="0" sz="2800" spc="-10">
                <a:latin typeface="Microsoft Sans Serif"/>
                <a:cs typeface="Microsoft Sans Serif"/>
              </a:rPr>
              <a:t>i</a:t>
            </a:r>
            <a:r>
              <a:rPr dirty="0" sz="2800" spc="-25">
                <a:latin typeface="Microsoft Sans Serif"/>
                <a:cs typeface="Microsoft Sans Serif"/>
              </a:rPr>
              <a:t>a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30">
                <a:latin typeface="Microsoft Sans Serif"/>
                <a:cs typeface="Microsoft Sans Serif"/>
              </a:rPr>
              <a:t>izing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a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-110">
                <a:latin typeface="Microsoft Sans Serif"/>
                <a:cs typeface="Microsoft Sans Serif"/>
              </a:rPr>
              <a:t>L</a:t>
            </a:r>
            <a:r>
              <a:rPr dirty="0" sz="2800" spc="80">
                <a:latin typeface="Microsoft Sans Serif"/>
                <a:cs typeface="Microsoft Sans Serif"/>
              </a:rPr>
              <a:t>ist  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-30">
                <a:latin typeface="Microsoft Sans Serif"/>
                <a:cs typeface="Microsoft Sans Serif"/>
              </a:rPr>
              <a:t>i</a:t>
            </a:r>
            <a:r>
              <a:rPr dirty="0" sz="2800" spc="-70">
                <a:latin typeface="Microsoft Sans Serif"/>
                <a:cs typeface="Microsoft Sans Serif"/>
              </a:rPr>
              <a:t>s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75">
                <a:latin typeface="Microsoft Sans Serif"/>
                <a:cs typeface="Microsoft Sans Serif"/>
              </a:rPr>
              <a:t>_n</a:t>
            </a:r>
            <a:r>
              <a:rPr dirty="0" sz="2800" spc="-80">
                <a:latin typeface="Microsoft Sans Serif"/>
                <a:cs typeface="Microsoft Sans Serif"/>
              </a:rPr>
              <a:t>a</a:t>
            </a:r>
            <a:r>
              <a:rPr dirty="0" sz="2800" spc="40">
                <a:latin typeface="Microsoft Sans Serif"/>
                <a:cs typeface="Microsoft Sans Serif"/>
              </a:rPr>
              <a:t>me</a:t>
            </a:r>
            <a:r>
              <a:rPr dirty="0" sz="2800" spc="75">
                <a:latin typeface="Microsoft Sans Serif"/>
                <a:cs typeface="Microsoft Sans Serif"/>
              </a:rPr>
              <a:t>[in</a:t>
            </a:r>
            <a:r>
              <a:rPr dirty="0" sz="2800" spc="110">
                <a:latin typeface="Microsoft Sans Serif"/>
                <a:cs typeface="Microsoft Sans Serif"/>
              </a:rPr>
              <a:t>d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85">
                <a:latin typeface="Microsoft Sans Serif"/>
                <a:cs typeface="Microsoft Sans Serif"/>
              </a:rPr>
              <a:t>x]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60">
                <a:latin typeface="Microsoft Sans Serif"/>
                <a:cs typeface="Microsoft Sans Serif"/>
              </a:rPr>
              <a:t>=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v</a:t>
            </a:r>
            <a:r>
              <a:rPr dirty="0" sz="2800" spc="-95">
                <a:latin typeface="Microsoft Sans Serif"/>
                <a:cs typeface="Microsoft Sans Serif"/>
              </a:rPr>
              <a:t>a</a:t>
            </a:r>
            <a:r>
              <a:rPr dirty="0" sz="2800" spc="114">
                <a:latin typeface="Microsoft Sans Serif"/>
                <a:cs typeface="Microsoft Sans Serif"/>
              </a:rPr>
              <a:t>l</a:t>
            </a:r>
            <a:r>
              <a:rPr dirty="0" sz="2800" spc="25">
                <a:latin typeface="Microsoft Sans Serif"/>
                <a:cs typeface="Microsoft Sans Serif"/>
              </a:rPr>
              <a:t>u</a:t>
            </a:r>
            <a:r>
              <a:rPr dirty="0" sz="2800" spc="15">
                <a:latin typeface="Microsoft Sans Serif"/>
                <a:cs typeface="Microsoft Sans Serif"/>
              </a:rPr>
              <a:t>e</a:t>
            </a:r>
            <a:r>
              <a:rPr dirty="0" sz="2800" spc="-90">
                <a:latin typeface="Microsoft Sans Serif"/>
                <a:cs typeface="Microsoft Sans Serif"/>
              </a:rPr>
              <a:t>;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5">
                <a:latin typeface="Microsoft Sans Serif"/>
                <a:cs typeface="Microsoft Sans Serif"/>
              </a:rPr>
              <a:t>Consider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following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example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-</a:t>
            </a:r>
            <a:endParaRPr sz="2800">
              <a:latin typeface="Microsoft Sans Serif"/>
              <a:cs typeface="Microsoft Sans Serif"/>
            </a:endParaRPr>
          </a:p>
          <a:p>
            <a:pPr marL="355600" marR="3325495" indent="-343535">
              <a:lnSpc>
                <a:spcPct val="123500"/>
              </a:lnSpc>
              <a:spcBef>
                <a:spcPts val="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280">
                <a:latin typeface="Microsoft Sans Serif"/>
                <a:cs typeface="Microsoft Sans Serif"/>
              </a:rPr>
              <a:t>E</a:t>
            </a:r>
            <a:r>
              <a:rPr dirty="0" sz="2800" spc="-35">
                <a:latin typeface="Microsoft Sans Serif"/>
                <a:cs typeface="Microsoft Sans Serif"/>
              </a:rPr>
              <a:t>x</a:t>
            </a:r>
            <a:r>
              <a:rPr dirty="0" sz="2800" spc="-30">
                <a:latin typeface="Microsoft Sans Serif"/>
                <a:cs typeface="Microsoft Sans Serif"/>
              </a:rPr>
              <a:t>a</a:t>
            </a:r>
            <a:r>
              <a:rPr dirty="0" sz="2800" spc="100">
                <a:latin typeface="Microsoft Sans Serif"/>
                <a:cs typeface="Microsoft Sans Serif"/>
              </a:rPr>
              <a:t>m</a:t>
            </a:r>
            <a:r>
              <a:rPr dirty="0" sz="2800" spc="55">
                <a:latin typeface="Microsoft Sans Serif"/>
                <a:cs typeface="Microsoft Sans Serif"/>
              </a:rPr>
              <a:t>p</a:t>
            </a:r>
            <a:r>
              <a:rPr dirty="0" sz="2800" spc="125">
                <a:latin typeface="Microsoft Sans Serif"/>
                <a:cs typeface="Microsoft Sans Serif"/>
              </a:rPr>
              <a:t>l</a:t>
            </a:r>
            <a:r>
              <a:rPr dirty="0" sz="2800" spc="5">
                <a:latin typeface="Microsoft Sans Serif"/>
                <a:cs typeface="Microsoft Sans Serif"/>
              </a:rPr>
              <a:t>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-100">
                <a:latin typeface="Microsoft Sans Serif"/>
                <a:cs typeface="Microsoft Sans Serif"/>
              </a:rPr>
              <a:t>-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1  </a:t>
            </a:r>
            <a:r>
              <a:rPr dirty="0" sz="2800" spc="55">
                <a:latin typeface="Microsoft Sans Serif"/>
                <a:cs typeface="Microsoft Sans Serif"/>
              </a:rPr>
              <a:t>void</a:t>
            </a:r>
            <a:r>
              <a:rPr dirty="0" sz="2800" spc="-140">
                <a:latin typeface="Microsoft Sans Serif"/>
                <a:cs typeface="Microsoft Sans Serif"/>
              </a:rPr>
              <a:t> </a:t>
            </a:r>
            <a:r>
              <a:rPr dirty="0" sz="2800" spc="5">
                <a:latin typeface="Microsoft Sans Serif"/>
                <a:cs typeface="Microsoft Sans Serif"/>
              </a:rPr>
              <a:t>main()</a:t>
            </a:r>
            <a:r>
              <a:rPr dirty="0" sz="2800" spc="-145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601980">
              <a:lnSpc>
                <a:spcPct val="100000"/>
              </a:lnSpc>
              <a:spcBef>
                <a:spcPts val="790"/>
              </a:spcBef>
            </a:pPr>
            <a:r>
              <a:rPr dirty="0" sz="2800" spc="15">
                <a:latin typeface="Microsoft Sans Serif"/>
                <a:cs typeface="Microsoft Sans Serif"/>
              </a:rPr>
              <a:t>var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list1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60">
                <a:latin typeface="Microsoft Sans Serif"/>
                <a:cs typeface="Microsoft Sans Serif"/>
              </a:rPr>
              <a:t>=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[10,11,12,13,14,15];</a:t>
            </a:r>
            <a:endParaRPr sz="2800">
              <a:latin typeface="Microsoft Sans Serif"/>
              <a:cs typeface="Microsoft Sans Serif"/>
            </a:endParaRPr>
          </a:p>
          <a:p>
            <a:pPr marL="601980">
              <a:lnSpc>
                <a:spcPct val="100000"/>
              </a:lnSpc>
              <a:spcBef>
                <a:spcPts val="790"/>
              </a:spcBef>
            </a:pPr>
            <a:r>
              <a:rPr dirty="0" sz="2800" spc="70">
                <a:latin typeface="Microsoft Sans Serif"/>
                <a:cs typeface="Microsoft Sans Serif"/>
              </a:rPr>
              <a:t>print(list1);</a:t>
            </a:r>
            <a:endParaRPr sz="2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35"/>
              <a:t>Growable</a:t>
            </a:r>
            <a:r>
              <a:rPr dirty="0" spc="-204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01305" cy="45377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69240" marR="5080" indent="-257175">
              <a:lnSpc>
                <a:spcPct val="996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269240" algn="l"/>
                <a:tab pos="269875" algn="l"/>
              </a:tabLst>
            </a:pPr>
            <a:r>
              <a:rPr dirty="0" sz="2100" spc="-20">
                <a:latin typeface="Microsoft Sans Serif"/>
                <a:cs typeface="Microsoft Sans Serif"/>
              </a:rPr>
              <a:t>I</a:t>
            </a:r>
            <a:r>
              <a:rPr dirty="0" sz="2100" spc="35">
                <a:latin typeface="Microsoft Sans Serif"/>
                <a:cs typeface="Microsoft Sans Serif"/>
              </a:rPr>
              <a:t>n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254">
                <a:latin typeface="Microsoft Sans Serif"/>
                <a:cs typeface="Microsoft Sans Serif"/>
              </a:rPr>
              <a:t>t</a:t>
            </a:r>
            <a:r>
              <a:rPr dirty="0" sz="2100" spc="15">
                <a:latin typeface="Microsoft Sans Serif"/>
                <a:cs typeface="Microsoft Sans Serif"/>
              </a:rPr>
              <a:t>he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95">
                <a:latin typeface="Microsoft Sans Serif"/>
                <a:cs typeface="Microsoft Sans Serif"/>
              </a:rPr>
              <a:t>f</a:t>
            </a:r>
            <a:r>
              <a:rPr dirty="0" sz="2100" spc="185">
                <a:latin typeface="Microsoft Sans Serif"/>
                <a:cs typeface="Microsoft Sans Serif"/>
              </a:rPr>
              <a:t>o</a:t>
            </a:r>
            <a:r>
              <a:rPr dirty="0" sz="2100" spc="90">
                <a:latin typeface="Microsoft Sans Serif"/>
                <a:cs typeface="Microsoft Sans Serif"/>
              </a:rPr>
              <a:t>ll</a:t>
            </a:r>
            <a:r>
              <a:rPr dirty="0" sz="2100" spc="60">
                <a:latin typeface="Microsoft Sans Serif"/>
                <a:cs typeface="Microsoft Sans Serif"/>
              </a:rPr>
              <a:t>o</a:t>
            </a:r>
            <a:r>
              <a:rPr dirty="0" sz="2100" spc="120">
                <a:latin typeface="Microsoft Sans Serif"/>
                <a:cs typeface="Microsoft Sans Serif"/>
              </a:rPr>
              <a:t>w</a:t>
            </a:r>
            <a:r>
              <a:rPr dirty="0" sz="2100" spc="35">
                <a:latin typeface="Microsoft Sans Serif"/>
                <a:cs typeface="Microsoft Sans Serif"/>
              </a:rPr>
              <a:t>i</a:t>
            </a:r>
            <a:r>
              <a:rPr dirty="0" sz="2100" spc="25">
                <a:latin typeface="Microsoft Sans Serif"/>
                <a:cs typeface="Microsoft Sans Serif"/>
              </a:rPr>
              <a:t>n</a:t>
            </a:r>
            <a:r>
              <a:rPr dirty="0" sz="2100" spc="45">
                <a:latin typeface="Microsoft Sans Serif"/>
                <a:cs typeface="Microsoft Sans Serif"/>
              </a:rPr>
              <a:t>g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</a:t>
            </a:r>
            <a:r>
              <a:rPr dirty="0" sz="2100" spc="15">
                <a:latin typeface="Microsoft Sans Serif"/>
                <a:cs typeface="Microsoft Sans Serif"/>
              </a:rPr>
              <a:t>x</a:t>
            </a:r>
            <a:r>
              <a:rPr dirty="0" sz="2100" spc="-85">
                <a:latin typeface="Microsoft Sans Serif"/>
                <a:cs typeface="Microsoft Sans Serif"/>
              </a:rPr>
              <a:t>a</a:t>
            </a:r>
            <a:r>
              <a:rPr dirty="0" sz="2100" spc="95">
                <a:latin typeface="Microsoft Sans Serif"/>
                <a:cs typeface="Microsoft Sans Serif"/>
              </a:rPr>
              <a:t>mp</a:t>
            </a:r>
            <a:r>
              <a:rPr dirty="0" sz="2100" spc="25">
                <a:latin typeface="Microsoft Sans Serif"/>
                <a:cs typeface="Microsoft Sans Serif"/>
              </a:rPr>
              <a:t>l</a:t>
            </a:r>
            <a:r>
              <a:rPr dirty="0" sz="2100" spc="5">
                <a:latin typeface="Microsoft Sans Serif"/>
                <a:cs typeface="Microsoft Sans Serif"/>
              </a:rPr>
              <a:t>e</a:t>
            </a:r>
            <a:r>
              <a:rPr dirty="0" sz="2100" spc="-70">
                <a:latin typeface="Microsoft Sans Serif"/>
                <a:cs typeface="Microsoft Sans Serif"/>
              </a:rPr>
              <a:t>,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110">
                <a:latin typeface="Microsoft Sans Serif"/>
                <a:cs typeface="Microsoft Sans Serif"/>
              </a:rPr>
              <a:t>w</a:t>
            </a:r>
            <a:r>
              <a:rPr dirty="0" sz="2100" spc="5">
                <a:latin typeface="Microsoft Sans Serif"/>
                <a:cs typeface="Microsoft Sans Serif"/>
              </a:rPr>
              <a:t>e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-85">
                <a:latin typeface="Microsoft Sans Serif"/>
                <a:cs typeface="Microsoft Sans Serif"/>
              </a:rPr>
              <a:t>a</a:t>
            </a:r>
            <a:r>
              <a:rPr dirty="0" sz="2100" spc="55">
                <a:latin typeface="Microsoft Sans Serif"/>
                <a:cs typeface="Microsoft Sans Serif"/>
              </a:rPr>
              <a:t>re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-85">
                <a:latin typeface="Microsoft Sans Serif"/>
                <a:cs typeface="Microsoft Sans Serif"/>
              </a:rPr>
              <a:t>c</a:t>
            </a:r>
            <a:r>
              <a:rPr dirty="0" sz="2100" spc="114">
                <a:latin typeface="Microsoft Sans Serif"/>
                <a:cs typeface="Microsoft Sans Serif"/>
              </a:rPr>
              <a:t>r</a:t>
            </a:r>
            <a:r>
              <a:rPr dirty="0" sz="2100" spc="5">
                <a:latin typeface="Microsoft Sans Serif"/>
                <a:cs typeface="Microsoft Sans Serif"/>
              </a:rPr>
              <a:t>e</a:t>
            </a:r>
            <a:r>
              <a:rPr dirty="0" sz="2100" spc="-85">
                <a:latin typeface="Microsoft Sans Serif"/>
                <a:cs typeface="Microsoft Sans Serif"/>
              </a:rPr>
              <a:t>a</a:t>
            </a:r>
            <a:r>
              <a:rPr dirty="0" sz="2100" spc="254">
                <a:latin typeface="Microsoft Sans Serif"/>
                <a:cs typeface="Microsoft Sans Serif"/>
              </a:rPr>
              <a:t>t</a:t>
            </a:r>
            <a:r>
              <a:rPr dirty="0" sz="2100" spc="35">
                <a:latin typeface="Microsoft Sans Serif"/>
                <a:cs typeface="Microsoft Sans Serif"/>
              </a:rPr>
              <a:t>i</a:t>
            </a:r>
            <a:r>
              <a:rPr dirty="0" sz="2100" spc="25">
                <a:latin typeface="Microsoft Sans Serif"/>
                <a:cs typeface="Microsoft Sans Serif"/>
              </a:rPr>
              <a:t>n</a:t>
            </a:r>
            <a:r>
              <a:rPr dirty="0" sz="2100" spc="45">
                <a:latin typeface="Microsoft Sans Serif"/>
                <a:cs typeface="Microsoft Sans Serif"/>
              </a:rPr>
              <a:t>g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-75">
                <a:latin typeface="Microsoft Sans Serif"/>
                <a:cs typeface="Microsoft Sans Serif"/>
              </a:rPr>
              <a:t>a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85">
                <a:latin typeface="Microsoft Sans Serif"/>
                <a:cs typeface="Microsoft Sans Serif"/>
              </a:rPr>
              <a:t>l</a:t>
            </a:r>
            <a:r>
              <a:rPr dirty="0" sz="2100" spc="45">
                <a:latin typeface="Microsoft Sans Serif"/>
                <a:cs typeface="Microsoft Sans Serif"/>
              </a:rPr>
              <a:t>i</a:t>
            </a:r>
            <a:r>
              <a:rPr dirty="0" sz="2100" spc="-114">
                <a:latin typeface="Microsoft Sans Serif"/>
                <a:cs typeface="Microsoft Sans Serif"/>
              </a:rPr>
              <a:t>s</a:t>
            </a:r>
            <a:r>
              <a:rPr dirty="0" sz="2100" spc="260">
                <a:latin typeface="Microsoft Sans Serif"/>
                <a:cs typeface="Microsoft Sans Serif"/>
              </a:rPr>
              <a:t>t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25">
                <a:latin typeface="Microsoft Sans Serif"/>
                <a:cs typeface="Microsoft Sans Serif"/>
              </a:rPr>
              <a:t>u</a:t>
            </a:r>
            <a:r>
              <a:rPr dirty="0" sz="2100" spc="-125">
                <a:latin typeface="Microsoft Sans Serif"/>
                <a:cs typeface="Microsoft Sans Serif"/>
              </a:rPr>
              <a:t>s</a:t>
            </a:r>
            <a:r>
              <a:rPr dirty="0" sz="2100" spc="45">
                <a:latin typeface="Microsoft Sans Serif"/>
                <a:cs typeface="Microsoft Sans Serif"/>
              </a:rPr>
              <a:t>i</a:t>
            </a:r>
            <a:r>
              <a:rPr dirty="0" sz="2100" spc="25">
                <a:latin typeface="Microsoft Sans Serif"/>
                <a:cs typeface="Microsoft Sans Serif"/>
              </a:rPr>
              <a:t>n</a:t>
            </a:r>
            <a:r>
              <a:rPr dirty="0" sz="2100" spc="45">
                <a:latin typeface="Microsoft Sans Serif"/>
                <a:cs typeface="Microsoft Sans Serif"/>
              </a:rPr>
              <a:t>g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245">
                <a:latin typeface="Microsoft Sans Serif"/>
                <a:cs typeface="Microsoft Sans Serif"/>
              </a:rPr>
              <a:t>t</a:t>
            </a:r>
            <a:r>
              <a:rPr dirty="0" sz="2100" spc="15">
                <a:latin typeface="Microsoft Sans Serif"/>
                <a:cs typeface="Microsoft Sans Serif"/>
              </a:rPr>
              <a:t>he</a:t>
            </a:r>
            <a:r>
              <a:rPr dirty="0" sz="2100" spc="-75">
                <a:latin typeface="Microsoft Sans Serif"/>
                <a:cs typeface="Microsoft Sans Serif"/>
              </a:rPr>
              <a:t> </a:t>
            </a:r>
            <a:r>
              <a:rPr dirty="0" sz="2100" spc="5">
                <a:latin typeface="Microsoft Sans Serif"/>
                <a:cs typeface="Microsoft Sans Serif"/>
              </a:rPr>
              <a:t>e</a:t>
            </a:r>
            <a:r>
              <a:rPr dirty="0" sz="2100" spc="160">
                <a:latin typeface="Microsoft Sans Serif"/>
                <a:cs typeface="Microsoft Sans Serif"/>
              </a:rPr>
              <a:t>mp</a:t>
            </a:r>
            <a:r>
              <a:rPr dirty="0" sz="2100" spc="45">
                <a:latin typeface="Microsoft Sans Serif"/>
                <a:cs typeface="Microsoft Sans Serif"/>
              </a:rPr>
              <a:t>t</a:t>
            </a:r>
            <a:r>
              <a:rPr dirty="0" sz="2100" spc="-5">
                <a:latin typeface="Microsoft Sans Serif"/>
                <a:cs typeface="Microsoft Sans Serif"/>
              </a:rPr>
              <a:t>y  </a:t>
            </a:r>
            <a:r>
              <a:rPr dirty="0" sz="2100" spc="65">
                <a:latin typeface="Microsoft Sans Serif"/>
                <a:cs typeface="Microsoft Sans Serif"/>
              </a:rPr>
              <a:t>list </a:t>
            </a:r>
            <a:r>
              <a:rPr dirty="0" sz="2100" spc="90">
                <a:latin typeface="Microsoft Sans Serif"/>
                <a:cs typeface="Microsoft Sans Serif"/>
              </a:rPr>
              <a:t>or </a:t>
            </a:r>
            <a:r>
              <a:rPr dirty="0" sz="2100" spc="10">
                <a:latin typeface="Microsoft Sans Serif"/>
                <a:cs typeface="Microsoft Sans Serif"/>
              </a:rPr>
              <a:t>List() </a:t>
            </a:r>
            <a:r>
              <a:rPr dirty="0" sz="2100" spc="45">
                <a:latin typeface="Microsoft Sans Serif"/>
                <a:cs typeface="Microsoft Sans Serif"/>
              </a:rPr>
              <a:t>constructor. </a:t>
            </a:r>
            <a:r>
              <a:rPr dirty="0" sz="2100" spc="-20">
                <a:latin typeface="Microsoft Sans Serif"/>
                <a:cs typeface="Microsoft Sans Serif"/>
              </a:rPr>
              <a:t>The </a:t>
            </a:r>
            <a:r>
              <a:rPr dirty="0" sz="2100">
                <a:latin typeface="Microsoft Sans Serif"/>
                <a:cs typeface="Microsoft Sans Serif"/>
              </a:rPr>
              <a:t>add() </a:t>
            </a:r>
            <a:r>
              <a:rPr dirty="0" sz="2100" spc="80">
                <a:latin typeface="Microsoft Sans Serif"/>
                <a:cs typeface="Microsoft Sans Serif"/>
              </a:rPr>
              <a:t>method </a:t>
            </a:r>
            <a:r>
              <a:rPr dirty="0" sz="2100" spc="-40">
                <a:latin typeface="Microsoft Sans Serif"/>
                <a:cs typeface="Microsoft Sans Serif"/>
              </a:rPr>
              <a:t>is </a:t>
            </a:r>
            <a:r>
              <a:rPr dirty="0" sz="2100" spc="-10">
                <a:latin typeface="Microsoft Sans Serif"/>
                <a:cs typeface="Microsoft Sans Serif"/>
              </a:rPr>
              <a:t>used </a:t>
            </a:r>
            <a:r>
              <a:rPr dirty="0" sz="2100" spc="160">
                <a:latin typeface="Microsoft Sans Serif"/>
                <a:cs typeface="Microsoft Sans Serif"/>
              </a:rPr>
              <a:t>to </a:t>
            </a:r>
            <a:r>
              <a:rPr dirty="0" sz="2100" spc="15">
                <a:latin typeface="Microsoft Sans Serif"/>
                <a:cs typeface="Microsoft Sans Serif"/>
              </a:rPr>
              <a:t>add </a:t>
            </a:r>
            <a:r>
              <a:rPr dirty="0" sz="2100" spc="20">
                <a:latin typeface="Microsoft Sans Serif"/>
                <a:cs typeface="Microsoft Sans Serif"/>
              </a:rPr>
              <a:t> </a:t>
            </a:r>
            <a:r>
              <a:rPr dirty="0" sz="2100" spc="60">
                <a:latin typeface="Microsoft Sans Serif"/>
                <a:cs typeface="Microsoft Sans Serif"/>
              </a:rPr>
              <a:t>element</a:t>
            </a:r>
            <a:r>
              <a:rPr dirty="0" sz="2100" spc="-90">
                <a:latin typeface="Microsoft Sans Serif"/>
                <a:cs typeface="Microsoft Sans Serif"/>
              </a:rPr>
              <a:t> </a:t>
            </a:r>
            <a:r>
              <a:rPr dirty="0" sz="2100" spc="10">
                <a:latin typeface="Microsoft Sans Serif"/>
                <a:cs typeface="Microsoft Sans Serif"/>
              </a:rPr>
              <a:t>dynamically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40">
                <a:latin typeface="Microsoft Sans Serif"/>
                <a:cs typeface="Microsoft Sans Serif"/>
              </a:rPr>
              <a:t>in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95">
                <a:latin typeface="Microsoft Sans Serif"/>
                <a:cs typeface="Microsoft Sans Serif"/>
              </a:rPr>
              <a:t>the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25">
                <a:latin typeface="Microsoft Sans Serif"/>
                <a:cs typeface="Microsoft Sans Serif"/>
              </a:rPr>
              <a:t>given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40">
                <a:latin typeface="Microsoft Sans Serif"/>
                <a:cs typeface="Microsoft Sans Serif"/>
              </a:rPr>
              <a:t>list.</a:t>
            </a:r>
            <a:endParaRPr sz="2100">
              <a:latin typeface="Microsoft Sans Serif"/>
              <a:cs typeface="Microsoft Sans Serif"/>
            </a:endParaRPr>
          </a:p>
          <a:p>
            <a:pPr marL="269240" marR="6136005" indent="-257175">
              <a:lnSpc>
                <a:spcPct val="123400"/>
              </a:lnSpc>
              <a:buClr>
                <a:srgbClr val="6697CC"/>
              </a:buClr>
              <a:buFont typeface="Arial MT"/>
              <a:buChar char="•"/>
              <a:tabLst>
                <a:tab pos="269240" algn="l"/>
                <a:tab pos="269875" algn="l"/>
              </a:tabLst>
            </a:pPr>
            <a:r>
              <a:rPr dirty="0" sz="2100" spc="-10">
                <a:latin typeface="Microsoft Sans Serif"/>
                <a:cs typeface="Microsoft Sans Serif"/>
              </a:rPr>
              <a:t>Example </a:t>
            </a:r>
            <a:r>
              <a:rPr dirty="0" sz="2100" spc="-5">
                <a:latin typeface="Microsoft Sans Serif"/>
                <a:cs typeface="Microsoft Sans Serif"/>
              </a:rPr>
              <a:t> </a:t>
            </a:r>
            <a:r>
              <a:rPr dirty="0" sz="2100" spc="45">
                <a:latin typeface="Microsoft Sans Serif"/>
                <a:cs typeface="Microsoft Sans Serif"/>
              </a:rPr>
              <a:t>void</a:t>
            </a:r>
            <a:r>
              <a:rPr dirty="0" sz="2100" spc="-120">
                <a:latin typeface="Microsoft Sans Serif"/>
                <a:cs typeface="Microsoft Sans Serif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main()</a:t>
            </a:r>
            <a:r>
              <a:rPr dirty="0" sz="2100" spc="-114">
                <a:latin typeface="Microsoft Sans Serif"/>
                <a:cs typeface="Microsoft Sans Serif"/>
              </a:rPr>
              <a:t> </a:t>
            </a:r>
            <a:r>
              <a:rPr dirty="0" sz="2100" spc="-5">
                <a:latin typeface="Microsoft Sans Serif"/>
                <a:cs typeface="Microsoft Sans Serif"/>
              </a:rPr>
              <a:t>{</a:t>
            </a:r>
            <a:endParaRPr sz="2100">
              <a:latin typeface="Microsoft Sans Serif"/>
              <a:cs typeface="Microsoft Sans Serif"/>
            </a:endParaRPr>
          </a:p>
          <a:p>
            <a:pPr marL="452120" marR="4973955">
              <a:lnSpc>
                <a:spcPct val="123400"/>
              </a:lnSpc>
            </a:pPr>
            <a:r>
              <a:rPr dirty="0" sz="2100" spc="10">
                <a:latin typeface="Microsoft Sans Serif"/>
                <a:cs typeface="Microsoft Sans Serif"/>
              </a:rPr>
              <a:t>var</a:t>
            </a:r>
            <a:r>
              <a:rPr dirty="0" sz="2100" spc="-90">
                <a:latin typeface="Microsoft Sans Serif"/>
                <a:cs typeface="Microsoft Sans Serif"/>
              </a:rPr>
              <a:t> </a:t>
            </a:r>
            <a:r>
              <a:rPr dirty="0" sz="2100" spc="55">
                <a:latin typeface="Microsoft Sans Serif"/>
                <a:cs typeface="Microsoft Sans Serif"/>
              </a:rPr>
              <a:t>list1</a:t>
            </a:r>
            <a:r>
              <a:rPr dirty="0" sz="2100" spc="-95">
                <a:latin typeface="Microsoft Sans Serif"/>
                <a:cs typeface="Microsoft Sans Serif"/>
              </a:rPr>
              <a:t> </a:t>
            </a:r>
            <a:r>
              <a:rPr dirty="0" sz="2100" spc="-45">
                <a:latin typeface="Microsoft Sans Serif"/>
                <a:cs typeface="Microsoft Sans Serif"/>
              </a:rPr>
              <a:t>=</a:t>
            </a:r>
            <a:r>
              <a:rPr dirty="0" sz="2100" spc="-85">
                <a:latin typeface="Microsoft Sans Serif"/>
                <a:cs typeface="Microsoft Sans Serif"/>
              </a:rPr>
              <a:t> </a:t>
            </a:r>
            <a:r>
              <a:rPr dirty="0" sz="2100" spc="45">
                <a:latin typeface="Microsoft Sans Serif"/>
                <a:cs typeface="Microsoft Sans Serif"/>
              </a:rPr>
              <a:t>new</a:t>
            </a:r>
            <a:r>
              <a:rPr dirty="0" sz="2100" spc="-95">
                <a:latin typeface="Microsoft Sans Serif"/>
                <a:cs typeface="Microsoft Sans Serif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List(); </a:t>
            </a:r>
            <a:r>
              <a:rPr dirty="0" sz="2100" spc="-540">
                <a:latin typeface="Microsoft Sans Serif"/>
                <a:cs typeface="Microsoft Sans Serif"/>
              </a:rPr>
              <a:t> </a:t>
            </a:r>
            <a:r>
              <a:rPr dirty="0" sz="2100" spc="10">
                <a:latin typeface="Microsoft Sans Serif"/>
                <a:cs typeface="Microsoft Sans Serif"/>
              </a:rPr>
              <a:t>list1.add(10); </a:t>
            </a:r>
            <a:r>
              <a:rPr dirty="0" sz="2100" spc="15">
                <a:latin typeface="Microsoft Sans Serif"/>
                <a:cs typeface="Microsoft Sans Serif"/>
              </a:rPr>
              <a:t> </a:t>
            </a:r>
            <a:r>
              <a:rPr dirty="0" sz="2100" spc="10">
                <a:latin typeface="Microsoft Sans Serif"/>
                <a:cs typeface="Microsoft Sans Serif"/>
              </a:rPr>
              <a:t>list1.add(11); </a:t>
            </a:r>
            <a:r>
              <a:rPr dirty="0" sz="2100" spc="15">
                <a:latin typeface="Microsoft Sans Serif"/>
                <a:cs typeface="Microsoft Sans Serif"/>
              </a:rPr>
              <a:t> </a:t>
            </a:r>
            <a:r>
              <a:rPr dirty="0" sz="2100" spc="10">
                <a:latin typeface="Microsoft Sans Serif"/>
                <a:cs typeface="Microsoft Sans Serif"/>
              </a:rPr>
              <a:t>list1.add(12); </a:t>
            </a:r>
            <a:r>
              <a:rPr dirty="0" sz="2100" spc="15">
                <a:latin typeface="Microsoft Sans Serif"/>
                <a:cs typeface="Microsoft Sans Serif"/>
              </a:rPr>
              <a:t> </a:t>
            </a:r>
            <a:r>
              <a:rPr dirty="0" sz="2100" spc="10">
                <a:latin typeface="Microsoft Sans Serif"/>
                <a:cs typeface="Microsoft Sans Serif"/>
              </a:rPr>
              <a:t>list1.add(13); </a:t>
            </a:r>
            <a:r>
              <a:rPr dirty="0" sz="2100" spc="15">
                <a:latin typeface="Microsoft Sans Serif"/>
                <a:cs typeface="Microsoft Sans Serif"/>
              </a:rPr>
              <a:t> </a:t>
            </a:r>
            <a:r>
              <a:rPr dirty="0" sz="2100" spc="50">
                <a:latin typeface="Microsoft Sans Serif"/>
                <a:cs typeface="Microsoft Sans Serif"/>
              </a:rPr>
              <a:t>print(list1);</a:t>
            </a:r>
            <a:endParaRPr sz="2100">
              <a:latin typeface="Microsoft Sans Serif"/>
              <a:cs typeface="Microsoft Sans Serif"/>
            </a:endParaRPr>
          </a:p>
          <a:p>
            <a:pPr marL="269240">
              <a:lnSpc>
                <a:spcPct val="100000"/>
              </a:lnSpc>
              <a:spcBef>
                <a:spcPts val="590"/>
              </a:spcBef>
            </a:pPr>
            <a:r>
              <a:rPr dirty="0" sz="2100" spc="-5">
                <a:latin typeface="Microsoft Sans Serif"/>
                <a:cs typeface="Microsoft Sans Serif"/>
              </a:rPr>
              <a:t>}</a:t>
            </a:r>
            <a:endParaRPr sz="21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0"/>
              <a:t>List</a:t>
            </a:r>
            <a:r>
              <a:rPr dirty="0" spc="-200"/>
              <a:t> </a:t>
            </a:r>
            <a:r>
              <a:rPr dirty="0" spc="75"/>
              <a:t>Properties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004" y="1583639"/>
            <a:ext cx="7667282" cy="41040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75"/>
              <a:t>Inserting</a:t>
            </a:r>
            <a:r>
              <a:rPr dirty="0" spc="-160"/>
              <a:t> </a:t>
            </a:r>
            <a:r>
              <a:rPr dirty="0" spc="60"/>
              <a:t>Element</a:t>
            </a:r>
            <a:r>
              <a:rPr dirty="0" spc="-145"/>
              <a:t> </a:t>
            </a:r>
            <a:r>
              <a:rPr dirty="0" spc="180"/>
              <a:t>into</a:t>
            </a:r>
            <a:r>
              <a:rPr dirty="0" spc="-155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742555" cy="3362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85">
                <a:latin typeface="Microsoft Sans Serif"/>
                <a:cs typeface="Microsoft Sans Serif"/>
              </a:rPr>
              <a:t>Dart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provides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45">
                <a:latin typeface="Microsoft Sans Serif"/>
                <a:cs typeface="Microsoft Sans Serif"/>
              </a:rPr>
              <a:t>four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methods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which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are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used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215">
                <a:latin typeface="Microsoft Sans Serif"/>
                <a:cs typeface="Microsoft Sans Serif"/>
              </a:rPr>
              <a:t>to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insert </a:t>
            </a:r>
            <a:r>
              <a:rPr dirty="0" sz="2800" spc="125">
                <a:latin typeface="Microsoft Sans Serif"/>
                <a:cs typeface="Microsoft Sans Serif"/>
              </a:rPr>
              <a:t>the </a:t>
            </a:r>
            <a:r>
              <a:rPr dirty="0" sz="2800" spc="55">
                <a:latin typeface="Microsoft Sans Serif"/>
                <a:cs typeface="Microsoft Sans Serif"/>
              </a:rPr>
              <a:t>elements </a:t>
            </a:r>
            <a:r>
              <a:rPr dirty="0" sz="2800" spc="140">
                <a:latin typeface="Microsoft Sans Serif"/>
                <a:cs typeface="Microsoft Sans Serif"/>
              </a:rPr>
              <a:t>into </a:t>
            </a:r>
            <a:r>
              <a:rPr dirty="0" sz="2800" spc="125">
                <a:latin typeface="Microsoft Sans Serif"/>
                <a:cs typeface="Microsoft Sans Serif"/>
              </a:rPr>
              <a:t>the </a:t>
            </a:r>
            <a:r>
              <a:rPr dirty="0" sz="2800" spc="20">
                <a:latin typeface="Microsoft Sans Serif"/>
                <a:cs typeface="Microsoft Sans Serif"/>
              </a:rPr>
              <a:t>lists. </a:t>
            </a:r>
            <a:r>
              <a:rPr dirty="0" sz="2800" spc="-50">
                <a:latin typeface="Microsoft Sans Serif"/>
                <a:cs typeface="Microsoft Sans Serif"/>
              </a:rPr>
              <a:t>These </a:t>
            </a:r>
            <a:r>
              <a:rPr dirty="0" sz="2800" spc="-45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methods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are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30">
                <a:latin typeface="Microsoft Sans Serif"/>
                <a:cs typeface="Microsoft Sans Serif"/>
              </a:rPr>
              <a:t>given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below.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Microsoft Sans Serif"/>
                <a:cs typeface="Microsoft Sans Serif"/>
              </a:rPr>
              <a:t>add()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25">
                <a:latin typeface="Microsoft Sans Serif"/>
                <a:cs typeface="Microsoft Sans Serif"/>
              </a:rPr>
              <a:t>addAll()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45">
                <a:latin typeface="Microsoft Sans Serif"/>
                <a:cs typeface="Microsoft Sans Serif"/>
              </a:rPr>
              <a:t>insert()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55">
                <a:latin typeface="Microsoft Sans Serif"/>
                <a:cs typeface="Microsoft Sans Serif"/>
              </a:rPr>
              <a:t>insertAll()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5"/>
              <a:t>Removing</a:t>
            </a:r>
            <a:r>
              <a:rPr dirty="0" spc="-160"/>
              <a:t> </a:t>
            </a:r>
            <a:r>
              <a:rPr dirty="0" spc="55"/>
              <a:t>Element</a:t>
            </a:r>
            <a:r>
              <a:rPr dirty="0" spc="-140"/>
              <a:t> </a:t>
            </a:r>
            <a:r>
              <a:rPr dirty="0" spc="200"/>
              <a:t>from</a:t>
            </a:r>
            <a:r>
              <a:rPr dirty="0" spc="-140"/>
              <a:t> </a:t>
            </a:r>
            <a:r>
              <a:rPr dirty="0" spc="5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6879590" cy="2935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-30">
                <a:latin typeface="Microsoft Sans Serif"/>
                <a:cs typeface="Microsoft Sans Serif"/>
              </a:rPr>
              <a:t>The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85">
                <a:latin typeface="Microsoft Sans Serif"/>
                <a:cs typeface="Microsoft Sans Serif"/>
              </a:rPr>
              <a:t>Dart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provides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following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functions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220">
                <a:latin typeface="Microsoft Sans Serif"/>
                <a:cs typeface="Microsoft Sans Serif"/>
              </a:rPr>
              <a:t>to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50">
                <a:latin typeface="Microsoft Sans Serif"/>
                <a:cs typeface="Microsoft Sans Serif"/>
              </a:rPr>
              <a:t>remove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25">
                <a:latin typeface="Microsoft Sans Serif"/>
                <a:cs typeface="Microsoft Sans Serif"/>
              </a:rPr>
              <a:t>the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95">
                <a:latin typeface="Microsoft Sans Serif"/>
                <a:cs typeface="Microsoft Sans Serif"/>
              </a:rPr>
              <a:t>list</a:t>
            </a:r>
            <a:r>
              <a:rPr dirty="0" sz="2800" spc="-95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elements.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30">
                <a:latin typeface="Microsoft Sans Serif"/>
                <a:cs typeface="Microsoft Sans Serif"/>
              </a:rPr>
              <a:t>remove()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55">
                <a:latin typeface="Microsoft Sans Serif"/>
                <a:cs typeface="Microsoft Sans Serif"/>
              </a:rPr>
              <a:t>removeAt()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15">
                <a:latin typeface="Microsoft Sans Serif"/>
                <a:cs typeface="Microsoft Sans Serif"/>
              </a:rPr>
              <a:t>removeLast()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-5">
                <a:latin typeface="Microsoft Sans Serif"/>
                <a:cs typeface="Microsoft Sans Serif"/>
              </a:rPr>
              <a:t>removeRange()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1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42019"/>
            <a:ext cx="136525" cy="405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1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00627"/>
            <a:ext cx="136525" cy="405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1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459223"/>
            <a:ext cx="136525" cy="405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1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519097"/>
            <a:ext cx="8077834" cy="41249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41630" marR="33655" indent="-329565">
              <a:lnSpc>
                <a:spcPct val="102099"/>
              </a:lnSpc>
              <a:spcBef>
                <a:spcPts val="7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dirty="0" sz="2450" spc="10">
                <a:latin typeface="Microsoft Sans Serif"/>
                <a:cs typeface="Microsoft Sans Serif"/>
              </a:rPr>
              <a:t>Set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-25">
                <a:latin typeface="Microsoft Sans Serif"/>
                <a:cs typeface="Microsoft Sans Serif"/>
              </a:rPr>
              <a:t>is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85">
                <a:latin typeface="Microsoft Sans Serif"/>
                <a:cs typeface="Microsoft Sans Serif"/>
              </a:rPr>
              <a:t>unordered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collection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95">
                <a:latin typeface="Microsoft Sans Serif"/>
                <a:cs typeface="Microsoft Sans Serif"/>
              </a:rPr>
              <a:t>of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45">
                <a:latin typeface="Microsoft Sans Serif"/>
                <a:cs typeface="Microsoft Sans Serif"/>
              </a:rPr>
              <a:t>different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0">
                <a:latin typeface="Microsoft Sans Serif"/>
                <a:cs typeface="Microsoft Sans Serif"/>
              </a:rPr>
              <a:t>values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190">
                <a:latin typeface="Microsoft Sans Serif"/>
                <a:cs typeface="Microsoft Sans Serif"/>
              </a:rPr>
              <a:t>of </a:t>
            </a:r>
            <a:r>
              <a:rPr dirty="0" sz="2450" spc="135">
                <a:latin typeface="Microsoft Sans Serif"/>
                <a:cs typeface="Microsoft Sans Serif"/>
              </a:rPr>
              <a:t>the </a:t>
            </a:r>
            <a:r>
              <a:rPr dirty="0" sz="2450" spc="-10">
                <a:latin typeface="Microsoft Sans Serif"/>
                <a:cs typeface="Microsoft Sans Serif"/>
              </a:rPr>
              <a:t>same </a:t>
            </a:r>
            <a:r>
              <a:rPr dirty="0" sz="2450" spc="80">
                <a:latin typeface="Microsoft Sans Serif"/>
                <a:cs typeface="Microsoft Sans Serif"/>
              </a:rPr>
              <a:t>type. </a:t>
            </a:r>
            <a:r>
              <a:rPr dirty="0" sz="2450" spc="155">
                <a:latin typeface="Microsoft Sans Serif"/>
                <a:cs typeface="Microsoft Sans Serif"/>
              </a:rPr>
              <a:t>It </a:t>
            </a:r>
            <a:r>
              <a:rPr dirty="0" sz="2450" spc="-40">
                <a:latin typeface="Microsoft Sans Serif"/>
                <a:cs typeface="Microsoft Sans Serif"/>
              </a:rPr>
              <a:t>has </a:t>
            </a:r>
            <a:r>
              <a:rPr dirty="0" sz="2450" spc="35">
                <a:latin typeface="Microsoft Sans Serif"/>
                <a:cs typeface="Microsoft Sans Serif"/>
              </a:rPr>
              <a:t>much </a:t>
            </a:r>
            <a:r>
              <a:rPr dirty="0" sz="2450" spc="90">
                <a:latin typeface="Microsoft Sans Serif"/>
                <a:cs typeface="Microsoft Sans Serif"/>
              </a:rPr>
              <a:t>functionality, </a:t>
            </a:r>
            <a:r>
              <a:rPr dirty="0" sz="2450" spc="55">
                <a:latin typeface="Microsoft Sans Serif"/>
                <a:cs typeface="Microsoft Sans Serif"/>
              </a:rPr>
              <a:t>which </a:t>
            </a:r>
            <a:r>
              <a:rPr dirty="0" sz="2450" spc="-25">
                <a:latin typeface="Microsoft Sans Serif"/>
                <a:cs typeface="Microsoft Sans Serif"/>
              </a:rPr>
              <a:t>is </a:t>
            </a:r>
            <a:r>
              <a:rPr dirty="0" sz="2450" spc="-20">
                <a:latin typeface="Microsoft Sans Serif"/>
                <a:cs typeface="Microsoft Sans Serif"/>
              </a:rPr>
              <a:t> </a:t>
            </a:r>
            <a:r>
              <a:rPr dirty="0" sz="2450" spc="320">
                <a:latin typeface="Microsoft Sans Serif"/>
                <a:cs typeface="Microsoft Sans Serif"/>
              </a:rPr>
              <a:t>t</a:t>
            </a:r>
            <a:r>
              <a:rPr dirty="0" sz="2450" spc="50">
                <a:latin typeface="Microsoft Sans Serif"/>
                <a:cs typeface="Microsoft Sans Serif"/>
              </a:rPr>
              <a:t>h</a:t>
            </a:r>
            <a:r>
              <a:rPr dirty="0" sz="2450" spc="25">
                <a:latin typeface="Microsoft Sans Serif"/>
                <a:cs typeface="Microsoft Sans Serif"/>
              </a:rPr>
              <a:t>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110">
                <a:latin typeface="Microsoft Sans Serif"/>
                <a:cs typeface="Microsoft Sans Serif"/>
              </a:rPr>
              <a:t>s</a:t>
            </a:r>
            <a:r>
              <a:rPr dirty="0" sz="2450" spc="-60">
                <a:latin typeface="Microsoft Sans Serif"/>
                <a:cs typeface="Microsoft Sans Serif"/>
              </a:rPr>
              <a:t>a</a:t>
            </a:r>
            <a:r>
              <a:rPr dirty="0" sz="2450" spc="100">
                <a:latin typeface="Microsoft Sans Serif"/>
                <a:cs typeface="Microsoft Sans Serif"/>
              </a:rPr>
              <a:t>m</a:t>
            </a:r>
            <a:r>
              <a:rPr dirty="0" sz="2450" spc="25">
                <a:latin typeface="Microsoft Sans Serif"/>
                <a:cs typeface="Microsoft Sans Serif"/>
              </a:rPr>
              <a:t>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60">
                <a:latin typeface="Microsoft Sans Serif"/>
                <a:cs typeface="Microsoft Sans Serif"/>
              </a:rPr>
              <a:t>a</a:t>
            </a:r>
            <a:r>
              <a:rPr dirty="0" sz="2450" spc="-114">
                <a:latin typeface="Microsoft Sans Serif"/>
                <a:cs typeface="Microsoft Sans Serif"/>
              </a:rPr>
              <a:t>s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60">
                <a:latin typeface="Microsoft Sans Serif"/>
                <a:cs typeface="Microsoft Sans Serif"/>
              </a:rPr>
              <a:t>a</a:t>
            </a:r>
            <a:r>
              <a:rPr dirty="0" sz="2450" spc="65">
                <a:latin typeface="Microsoft Sans Serif"/>
                <a:cs typeface="Microsoft Sans Serif"/>
              </a:rPr>
              <a:t>n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arr</a:t>
            </a:r>
            <a:r>
              <a:rPr dirty="0" sz="2450" spc="55">
                <a:latin typeface="Microsoft Sans Serif"/>
                <a:cs typeface="Microsoft Sans Serif"/>
              </a:rPr>
              <a:t>a</a:t>
            </a:r>
            <a:r>
              <a:rPr dirty="0" sz="2450" spc="-30">
                <a:latin typeface="Microsoft Sans Serif"/>
                <a:cs typeface="Microsoft Sans Serif"/>
              </a:rPr>
              <a:t>y,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10">
                <a:latin typeface="Microsoft Sans Serif"/>
                <a:cs typeface="Microsoft Sans Serif"/>
              </a:rPr>
              <a:t>b</a:t>
            </a:r>
            <a:r>
              <a:rPr dirty="0" sz="2450" spc="190">
                <a:latin typeface="Microsoft Sans Serif"/>
                <a:cs typeface="Microsoft Sans Serif"/>
              </a:rPr>
              <a:t>ut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i</a:t>
            </a:r>
            <a:r>
              <a:rPr dirty="0" sz="2450" spc="315">
                <a:latin typeface="Microsoft Sans Serif"/>
                <a:cs typeface="Microsoft Sans Serif"/>
              </a:rPr>
              <a:t>t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i</a:t>
            </a:r>
            <a:r>
              <a:rPr dirty="0" sz="2450" spc="-114">
                <a:latin typeface="Microsoft Sans Serif"/>
                <a:cs typeface="Microsoft Sans Serif"/>
              </a:rPr>
              <a:t>s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unor</a:t>
            </a:r>
            <a:r>
              <a:rPr dirty="0" sz="2450" spc="114">
                <a:latin typeface="Microsoft Sans Serif"/>
                <a:cs typeface="Microsoft Sans Serif"/>
              </a:rPr>
              <a:t>d</a:t>
            </a:r>
            <a:r>
              <a:rPr dirty="0" sz="2450" spc="20">
                <a:latin typeface="Microsoft Sans Serif"/>
                <a:cs typeface="Microsoft Sans Serif"/>
              </a:rPr>
              <a:t>e</a:t>
            </a:r>
            <a:r>
              <a:rPr dirty="0" sz="2450" spc="65">
                <a:latin typeface="Microsoft Sans Serif"/>
                <a:cs typeface="Microsoft Sans Serif"/>
              </a:rPr>
              <a:t>r</a:t>
            </a:r>
            <a:r>
              <a:rPr dirty="0" sz="2450" spc="100">
                <a:latin typeface="Microsoft Sans Serif"/>
                <a:cs typeface="Microsoft Sans Serif"/>
              </a:rPr>
              <a:t>e</a:t>
            </a:r>
            <a:r>
              <a:rPr dirty="0" sz="2450" spc="110">
                <a:latin typeface="Microsoft Sans Serif"/>
                <a:cs typeface="Microsoft Sans Serif"/>
              </a:rPr>
              <a:t>d</a:t>
            </a:r>
            <a:r>
              <a:rPr dirty="0" sz="2450" spc="-70">
                <a:latin typeface="Microsoft Sans Serif"/>
                <a:cs typeface="Microsoft Sans Serif"/>
              </a:rPr>
              <a:t>.</a:t>
            </a:r>
            <a:endParaRPr sz="2450">
              <a:latin typeface="Microsoft Sans Serif"/>
              <a:cs typeface="Microsoft Sans Serif"/>
            </a:endParaRPr>
          </a:p>
          <a:p>
            <a:pPr marL="341630" marR="5080">
              <a:lnSpc>
                <a:spcPct val="101600"/>
              </a:lnSpc>
              <a:spcBef>
                <a:spcPts val="785"/>
              </a:spcBef>
            </a:pPr>
            <a:r>
              <a:rPr dirty="0" sz="2450" spc="10">
                <a:latin typeface="Microsoft Sans Serif"/>
                <a:cs typeface="Microsoft Sans Serif"/>
              </a:rPr>
              <a:t>Set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90">
                <a:latin typeface="Microsoft Sans Serif"/>
                <a:cs typeface="Microsoft Sans Serif"/>
              </a:rPr>
              <a:t>doesn't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90">
                <a:latin typeface="Microsoft Sans Serif"/>
                <a:cs typeface="Microsoft Sans Serif"/>
              </a:rPr>
              <a:t>allow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storing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duplicate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values.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set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90">
                <a:latin typeface="Microsoft Sans Serif"/>
                <a:cs typeface="Microsoft Sans Serif"/>
              </a:rPr>
              <a:t>must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70">
                <a:latin typeface="Microsoft Sans Serif"/>
                <a:cs typeface="Microsoft Sans Serif"/>
              </a:rPr>
              <a:t>contain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65">
                <a:latin typeface="Microsoft Sans Serif"/>
                <a:cs typeface="Microsoft Sans Serif"/>
              </a:rPr>
              <a:t>unique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values.</a:t>
            </a:r>
            <a:endParaRPr sz="2450">
              <a:latin typeface="Microsoft Sans Serif"/>
              <a:cs typeface="Microsoft Sans Serif"/>
            </a:endParaRPr>
          </a:p>
          <a:p>
            <a:pPr marL="341630" marR="22225">
              <a:lnSpc>
                <a:spcPct val="102099"/>
              </a:lnSpc>
              <a:spcBef>
                <a:spcPts val="765"/>
              </a:spcBef>
            </a:pPr>
            <a:r>
              <a:rPr dirty="0" sz="2450" spc="150">
                <a:latin typeface="Microsoft Sans Serif"/>
                <a:cs typeface="Microsoft Sans Serif"/>
              </a:rPr>
              <a:t>It </a:t>
            </a:r>
            <a:r>
              <a:rPr dirty="0" sz="2450" spc="10">
                <a:latin typeface="Microsoft Sans Serif"/>
                <a:cs typeface="Microsoft Sans Serif"/>
              </a:rPr>
              <a:t>plays </a:t>
            </a:r>
            <a:r>
              <a:rPr dirty="0" sz="2450">
                <a:latin typeface="Microsoft Sans Serif"/>
                <a:cs typeface="Microsoft Sans Serif"/>
              </a:rPr>
              <a:t>an </a:t>
            </a:r>
            <a:r>
              <a:rPr dirty="0" sz="2450" spc="35">
                <a:latin typeface="Microsoft Sans Serif"/>
                <a:cs typeface="Microsoft Sans Serif"/>
              </a:rPr>
              <a:t>essential </a:t>
            </a:r>
            <a:r>
              <a:rPr dirty="0" sz="2450" spc="100">
                <a:latin typeface="Microsoft Sans Serif"/>
                <a:cs typeface="Microsoft Sans Serif"/>
              </a:rPr>
              <a:t>role </a:t>
            </a:r>
            <a:r>
              <a:rPr dirty="0" sz="2450" spc="75">
                <a:latin typeface="Microsoft Sans Serif"/>
                <a:cs typeface="Microsoft Sans Serif"/>
              </a:rPr>
              <a:t>when </a:t>
            </a:r>
            <a:r>
              <a:rPr dirty="0" sz="2450" spc="100">
                <a:latin typeface="Microsoft Sans Serif"/>
                <a:cs typeface="Microsoft Sans Serif"/>
              </a:rPr>
              <a:t>we </a:t>
            </a:r>
            <a:r>
              <a:rPr dirty="0" sz="2450" spc="120">
                <a:latin typeface="Microsoft Sans Serif"/>
                <a:cs typeface="Microsoft Sans Serif"/>
              </a:rPr>
              <a:t>want </a:t>
            </a:r>
            <a:r>
              <a:rPr dirty="0" sz="2450" spc="215">
                <a:latin typeface="Microsoft Sans Serif"/>
                <a:cs typeface="Microsoft Sans Serif"/>
              </a:rPr>
              <a:t>to </a:t>
            </a:r>
            <a:r>
              <a:rPr dirty="0" sz="2450" spc="95">
                <a:latin typeface="Microsoft Sans Serif"/>
                <a:cs typeface="Microsoft Sans Serif"/>
              </a:rPr>
              <a:t>store </a:t>
            </a:r>
            <a:r>
              <a:rPr dirty="0" sz="2450" spc="135">
                <a:latin typeface="Microsoft Sans Serif"/>
                <a:cs typeface="Microsoft Sans Serif"/>
              </a:rPr>
              <a:t>the </a:t>
            </a:r>
            <a:r>
              <a:rPr dirty="0" sz="2450" spc="140">
                <a:latin typeface="Microsoft Sans Serif"/>
                <a:cs typeface="Microsoft Sans Serif"/>
              </a:rPr>
              <a:t> </a:t>
            </a:r>
            <a:r>
              <a:rPr dirty="0" sz="2450" spc="95">
                <a:latin typeface="Microsoft Sans Serif"/>
                <a:cs typeface="Microsoft Sans Serif"/>
              </a:rPr>
              <a:t>distinct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data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95">
                <a:latin typeface="Microsoft Sans Serif"/>
                <a:cs typeface="Microsoft Sans Serif"/>
              </a:rPr>
              <a:t>of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15">
                <a:latin typeface="Microsoft Sans Serif"/>
                <a:cs typeface="Microsoft Sans Serif"/>
              </a:rPr>
              <a:t>same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14">
                <a:latin typeface="Microsoft Sans Serif"/>
                <a:cs typeface="Microsoft Sans Serif"/>
              </a:rPr>
              <a:t>type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40">
                <a:latin typeface="Microsoft Sans Serif"/>
                <a:cs typeface="Microsoft Sans Serif"/>
              </a:rPr>
              <a:t>into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single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30">
                <a:latin typeface="Microsoft Sans Serif"/>
                <a:cs typeface="Microsoft Sans Serif"/>
              </a:rPr>
              <a:t>variable.</a:t>
            </a:r>
            <a:endParaRPr sz="2450">
              <a:latin typeface="Microsoft Sans Serif"/>
              <a:cs typeface="Microsoft Sans Serif"/>
            </a:endParaRPr>
          </a:p>
          <a:p>
            <a:pPr marL="341630" marR="341630">
              <a:lnSpc>
                <a:spcPct val="102099"/>
              </a:lnSpc>
              <a:spcBef>
                <a:spcPts val="760"/>
              </a:spcBef>
            </a:pPr>
            <a:r>
              <a:rPr dirty="0" sz="2450" spc="10">
                <a:latin typeface="Microsoft Sans Serif"/>
                <a:cs typeface="Microsoft Sans Serif"/>
              </a:rPr>
              <a:t>Once </a:t>
            </a:r>
            <a:r>
              <a:rPr dirty="0" sz="2450" spc="100">
                <a:latin typeface="Microsoft Sans Serif"/>
                <a:cs typeface="Microsoft Sans Serif"/>
              </a:rPr>
              <a:t>we </a:t>
            </a:r>
            <a:r>
              <a:rPr dirty="0" sz="2450" spc="40">
                <a:latin typeface="Microsoft Sans Serif"/>
                <a:cs typeface="Microsoft Sans Serif"/>
              </a:rPr>
              <a:t>declare </a:t>
            </a:r>
            <a:r>
              <a:rPr dirty="0" sz="2450" spc="135">
                <a:latin typeface="Microsoft Sans Serif"/>
                <a:cs typeface="Microsoft Sans Serif"/>
              </a:rPr>
              <a:t>the </a:t>
            </a:r>
            <a:r>
              <a:rPr dirty="0" sz="2450" spc="114">
                <a:latin typeface="Microsoft Sans Serif"/>
                <a:cs typeface="Microsoft Sans Serif"/>
              </a:rPr>
              <a:t>type </a:t>
            </a:r>
            <a:r>
              <a:rPr dirty="0" sz="2450" spc="195">
                <a:latin typeface="Microsoft Sans Serif"/>
                <a:cs typeface="Microsoft Sans Serif"/>
              </a:rPr>
              <a:t>of </a:t>
            </a:r>
            <a:r>
              <a:rPr dirty="0" sz="2450" spc="135">
                <a:latin typeface="Microsoft Sans Serif"/>
                <a:cs typeface="Microsoft Sans Serif"/>
              </a:rPr>
              <a:t>the </a:t>
            </a:r>
            <a:r>
              <a:rPr dirty="0" sz="2450" spc="-5">
                <a:latin typeface="Microsoft Sans Serif"/>
                <a:cs typeface="Microsoft Sans Serif"/>
              </a:rPr>
              <a:t>Set, </a:t>
            </a:r>
            <a:r>
              <a:rPr dirty="0" sz="2450" spc="114">
                <a:latin typeface="Microsoft Sans Serif"/>
                <a:cs typeface="Microsoft Sans Serif"/>
              </a:rPr>
              <a:t>then </a:t>
            </a:r>
            <a:r>
              <a:rPr dirty="0" sz="2450" spc="95">
                <a:latin typeface="Microsoft Sans Serif"/>
                <a:cs typeface="Microsoft Sans Serif"/>
              </a:rPr>
              <a:t>we </a:t>
            </a:r>
            <a:r>
              <a:rPr dirty="0" sz="2450" spc="-20">
                <a:latin typeface="Microsoft Sans Serif"/>
                <a:cs typeface="Microsoft Sans Serif"/>
              </a:rPr>
              <a:t>can </a:t>
            </a:r>
            <a:r>
              <a:rPr dirty="0" sz="2450" spc="-15">
                <a:latin typeface="Microsoft Sans Serif"/>
                <a:cs typeface="Microsoft Sans Serif"/>
              </a:rPr>
              <a:t> </a:t>
            </a:r>
            <a:r>
              <a:rPr dirty="0" sz="2450" spc="10">
                <a:latin typeface="Microsoft Sans Serif"/>
                <a:cs typeface="Microsoft Sans Serif"/>
              </a:rPr>
              <a:t>have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an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only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value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90">
                <a:latin typeface="Microsoft Sans Serif"/>
                <a:cs typeface="Microsoft Sans Serif"/>
              </a:rPr>
              <a:t>of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10">
                <a:latin typeface="Microsoft Sans Serif"/>
                <a:cs typeface="Microsoft Sans Serif"/>
              </a:rPr>
              <a:t>same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type.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set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70">
                <a:latin typeface="Microsoft Sans Serif"/>
                <a:cs typeface="Microsoft Sans Serif"/>
              </a:rPr>
              <a:t>cannot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keep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05">
                <a:latin typeface="Microsoft Sans Serif"/>
                <a:cs typeface="Microsoft Sans Serif"/>
              </a:rPr>
              <a:t>order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90">
                <a:latin typeface="Microsoft Sans Serif"/>
                <a:cs typeface="Microsoft Sans Serif"/>
              </a:rPr>
              <a:t>of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35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elements.</a:t>
            </a:r>
            <a:endParaRPr sz="24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1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519097"/>
            <a:ext cx="8023225" cy="449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600" spc="85">
                <a:latin typeface="Microsoft Sans Serif"/>
                <a:cs typeface="Microsoft Sans Serif"/>
              </a:rPr>
              <a:t>Dart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35">
                <a:latin typeface="Microsoft Sans Serif"/>
                <a:cs typeface="Microsoft Sans Serif"/>
              </a:rPr>
              <a:t>provides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80">
                <a:latin typeface="Microsoft Sans Serif"/>
                <a:cs typeface="Microsoft Sans Serif"/>
              </a:rPr>
              <a:t>two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methods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204">
                <a:latin typeface="Microsoft Sans Serif"/>
                <a:cs typeface="Microsoft Sans Serif"/>
              </a:rPr>
              <a:t>to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55">
                <a:latin typeface="Microsoft Sans Serif"/>
                <a:cs typeface="Microsoft Sans Serif"/>
              </a:rPr>
              <a:t>declare/initialize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-30">
                <a:latin typeface="Microsoft Sans Serif"/>
                <a:cs typeface="Microsoft Sans Serif"/>
              </a:rPr>
              <a:t>an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95">
                <a:latin typeface="Microsoft Sans Serif"/>
                <a:cs typeface="Microsoft Sans Serif"/>
              </a:rPr>
              <a:t>empty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25">
                <a:latin typeface="Microsoft Sans Serif"/>
                <a:cs typeface="Microsoft Sans Serif"/>
              </a:rPr>
              <a:t>set.</a:t>
            </a:r>
            <a:endParaRPr sz="2600">
              <a:latin typeface="Microsoft Sans Serif"/>
              <a:cs typeface="Microsoft Sans Serif"/>
            </a:endParaRPr>
          </a:p>
          <a:p>
            <a:pPr marL="355600" marR="84455">
              <a:lnSpc>
                <a:spcPct val="100000"/>
              </a:lnSpc>
              <a:spcBef>
                <a:spcPts val="795"/>
              </a:spcBef>
            </a:pPr>
            <a:r>
              <a:rPr dirty="0" sz="2600" spc="-30">
                <a:latin typeface="Microsoft Sans Serif"/>
                <a:cs typeface="Microsoft Sans Serif"/>
              </a:rPr>
              <a:t>The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60">
                <a:latin typeface="Microsoft Sans Serif"/>
                <a:cs typeface="Microsoft Sans Serif"/>
              </a:rPr>
              <a:t>set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-50">
                <a:latin typeface="Microsoft Sans Serif"/>
                <a:cs typeface="Microsoft Sans Serif"/>
              </a:rPr>
              <a:t>can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45">
                <a:latin typeface="Microsoft Sans Serif"/>
                <a:cs typeface="Microsoft Sans Serif"/>
              </a:rPr>
              <a:t>be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declared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by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5">
                <a:latin typeface="Microsoft Sans Serif"/>
                <a:cs typeface="Microsoft Sans Serif"/>
              </a:rPr>
              <a:t>using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{}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curly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-15">
                <a:latin typeface="Microsoft Sans Serif"/>
                <a:cs typeface="Microsoft Sans Serif"/>
              </a:rPr>
              <a:t>braces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proceeded </a:t>
            </a:r>
            <a:r>
              <a:rPr dirty="0" sz="2600" spc="35">
                <a:latin typeface="Microsoft Sans Serif"/>
                <a:cs typeface="Microsoft Sans Serif"/>
              </a:rPr>
              <a:t>by </a:t>
            </a:r>
            <a:r>
              <a:rPr dirty="0" sz="2600" spc="-90">
                <a:latin typeface="Microsoft Sans Serif"/>
                <a:cs typeface="Microsoft Sans Serif"/>
              </a:rPr>
              <a:t>a </a:t>
            </a:r>
            <a:r>
              <a:rPr dirty="0" sz="2600" spc="95">
                <a:latin typeface="Microsoft Sans Serif"/>
                <a:cs typeface="Microsoft Sans Serif"/>
              </a:rPr>
              <a:t>type </a:t>
            </a:r>
            <a:r>
              <a:rPr dirty="0" sz="2600" spc="55">
                <a:latin typeface="Microsoft Sans Serif"/>
                <a:cs typeface="Microsoft Sans Serif"/>
              </a:rPr>
              <a:t>argument, </a:t>
            </a:r>
            <a:r>
              <a:rPr dirty="0" sz="2600" spc="105">
                <a:latin typeface="Microsoft Sans Serif"/>
                <a:cs typeface="Microsoft Sans Serif"/>
              </a:rPr>
              <a:t>or </a:t>
            </a:r>
            <a:r>
              <a:rPr dirty="0" sz="2600" spc="20">
                <a:latin typeface="Microsoft Sans Serif"/>
                <a:cs typeface="Microsoft Sans Serif"/>
              </a:rPr>
              <a:t>declare </a:t>
            </a:r>
            <a:r>
              <a:rPr dirty="0" sz="2600" spc="114">
                <a:latin typeface="Microsoft Sans Serif"/>
                <a:cs typeface="Microsoft Sans Serif"/>
              </a:rPr>
              <a:t>the </a:t>
            </a:r>
            <a:r>
              <a:rPr dirty="0" sz="2600" spc="120">
                <a:latin typeface="Microsoft Sans Serif"/>
                <a:cs typeface="Microsoft Sans Serif"/>
              </a:rPr>
              <a:t> </a:t>
            </a:r>
            <a:r>
              <a:rPr dirty="0" sz="2600" spc="25">
                <a:latin typeface="Microsoft Sans Serif"/>
                <a:cs typeface="Microsoft Sans Serif"/>
              </a:rPr>
              <a:t>variable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00">
                <a:latin typeface="Microsoft Sans Serif"/>
                <a:cs typeface="Microsoft Sans Serif"/>
              </a:rPr>
              <a:t>type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-15">
                <a:latin typeface="Microsoft Sans Serif"/>
                <a:cs typeface="Microsoft Sans Serif"/>
              </a:rPr>
              <a:t>Set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140">
                <a:latin typeface="Microsoft Sans Serif"/>
                <a:cs typeface="Microsoft Sans Serif"/>
              </a:rPr>
              <a:t>with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curly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-20">
                <a:latin typeface="Microsoft Sans Serif"/>
                <a:cs typeface="Microsoft Sans Serif"/>
              </a:rPr>
              <a:t>braces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-35">
                <a:latin typeface="Microsoft Sans Serif"/>
                <a:cs typeface="Microsoft Sans Serif"/>
              </a:rPr>
              <a:t>{}.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-25">
                <a:latin typeface="Microsoft Sans Serif"/>
                <a:cs typeface="Microsoft Sans Serif"/>
              </a:rPr>
              <a:t>The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25">
                <a:latin typeface="Microsoft Sans Serif"/>
                <a:cs typeface="Microsoft Sans Serif"/>
              </a:rPr>
              <a:t>syntax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180">
                <a:latin typeface="Microsoft Sans Serif"/>
                <a:cs typeface="Microsoft Sans Serif"/>
              </a:rPr>
              <a:t>of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35">
                <a:latin typeface="Microsoft Sans Serif"/>
                <a:cs typeface="Microsoft Sans Serif"/>
              </a:rPr>
              <a:t>declaring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set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-40">
                <a:latin typeface="Microsoft Sans Serif"/>
                <a:cs typeface="Microsoft Sans Serif"/>
              </a:rPr>
              <a:t>is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given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55">
                <a:latin typeface="Microsoft Sans Serif"/>
                <a:cs typeface="Microsoft Sans Serif"/>
              </a:rPr>
              <a:t>below.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19"/>
              </a:spcBef>
            </a:pPr>
            <a:r>
              <a:rPr dirty="0" sz="2600" spc="-15">
                <a:latin typeface="Microsoft Sans Serif"/>
                <a:cs typeface="Microsoft Sans Serif"/>
              </a:rPr>
              <a:t>Syntax</a:t>
            </a:r>
            <a:r>
              <a:rPr dirty="0" sz="2600" spc="-120">
                <a:latin typeface="Microsoft Sans Serif"/>
                <a:cs typeface="Microsoft Sans Serif"/>
              </a:rPr>
              <a:t> </a:t>
            </a:r>
            <a:r>
              <a:rPr dirty="0" sz="2600" spc="-90">
                <a:latin typeface="Microsoft Sans Serif"/>
                <a:cs typeface="Microsoft Sans Serif"/>
              </a:rPr>
              <a:t>-</a:t>
            </a:r>
            <a:endParaRPr sz="2600">
              <a:latin typeface="Microsoft Sans Serif"/>
              <a:cs typeface="Microsoft Sans Serif"/>
            </a:endParaRPr>
          </a:p>
          <a:p>
            <a:pPr marL="355600" marR="4084954">
              <a:lnSpc>
                <a:spcPts val="3929"/>
              </a:lnSpc>
              <a:spcBef>
                <a:spcPts val="259"/>
              </a:spcBef>
            </a:pPr>
            <a:r>
              <a:rPr dirty="0" sz="2600" spc="5">
                <a:latin typeface="Microsoft Sans Serif"/>
                <a:cs typeface="Microsoft Sans Serif"/>
              </a:rPr>
              <a:t>v</a:t>
            </a:r>
            <a:r>
              <a:rPr dirty="0" sz="2600" spc="-100">
                <a:latin typeface="Microsoft Sans Serif"/>
                <a:cs typeface="Microsoft Sans Serif"/>
              </a:rPr>
              <a:t>a</a:t>
            </a:r>
            <a:r>
              <a:rPr dirty="0" sz="2600" spc="135">
                <a:latin typeface="Microsoft Sans Serif"/>
                <a:cs typeface="Microsoft Sans Serif"/>
              </a:rPr>
              <a:t>r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-140">
                <a:latin typeface="Microsoft Sans Serif"/>
                <a:cs typeface="Microsoft Sans Serif"/>
              </a:rPr>
              <a:t>s</a:t>
            </a:r>
            <a:r>
              <a:rPr dirty="0" sz="2600">
                <a:latin typeface="Microsoft Sans Serif"/>
                <a:cs typeface="Microsoft Sans Serif"/>
              </a:rPr>
              <a:t>e</a:t>
            </a:r>
            <a:r>
              <a:rPr dirty="0" sz="2600" spc="310">
                <a:latin typeface="Microsoft Sans Serif"/>
                <a:cs typeface="Microsoft Sans Serif"/>
              </a:rPr>
              <a:t>t</a:t>
            </a:r>
            <a:r>
              <a:rPr dirty="0" sz="2600" spc="20">
                <a:latin typeface="Microsoft Sans Serif"/>
                <a:cs typeface="Microsoft Sans Serif"/>
              </a:rPr>
              <a:t>N</a:t>
            </a:r>
            <a:r>
              <a:rPr dirty="0" sz="2600" spc="-100">
                <a:latin typeface="Microsoft Sans Serif"/>
                <a:cs typeface="Microsoft Sans Serif"/>
              </a:rPr>
              <a:t>a</a:t>
            </a:r>
            <a:r>
              <a:rPr dirty="0" sz="2600" spc="75">
                <a:latin typeface="Microsoft Sans Serif"/>
                <a:cs typeface="Microsoft Sans Serif"/>
              </a:rPr>
              <a:t>m</a:t>
            </a:r>
            <a:r>
              <a:rPr dirty="0" sz="2600" spc="5">
                <a:latin typeface="Microsoft Sans Serif"/>
                <a:cs typeface="Microsoft Sans Serif"/>
              </a:rPr>
              <a:t>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180">
                <a:latin typeface="Microsoft Sans Serif"/>
                <a:cs typeface="Microsoft Sans Serif"/>
              </a:rPr>
              <a:t>&lt;</a:t>
            </a:r>
            <a:r>
              <a:rPr dirty="0" sz="2600" spc="75">
                <a:latin typeface="Microsoft Sans Serif"/>
                <a:cs typeface="Microsoft Sans Serif"/>
              </a:rPr>
              <a:t>t</a:t>
            </a:r>
            <a:r>
              <a:rPr dirty="0" sz="2600" spc="-5">
                <a:latin typeface="Microsoft Sans Serif"/>
                <a:cs typeface="Microsoft Sans Serif"/>
              </a:rPr>
              <a:t>y</a:t>
            </a:r>
            <a:r>
              <a:rPr dirty="0" sz="2600" spc="80">
                <a:latin typeface="Microsoft Sans Serif"/>
                <a:cs typeface="Microsoft Sans Serif"/>
              </a:rPr>
              <a:t>p</a:t>
            </a:r>
            <a:r>
              <a:rPr dirty="0" sz="2600">
                <a:latin typeface="Microsoft Sans Serif"/>
                <a:cs typeface="Microsoft Sans Serif"/>
              </a:rPr>
              <a:t>e</a:t>
            </a:r>
            <a:r>
              <a:rPr dirty="0" sz="2600" spc="-35">
                <a:latin typeface="Microsoft Sans Serif"/>
                <a:cs typeface="Microsoft Sans Serif"/>
              </a:rPr>
              <a:t>&gt;</a:t>
            </a:r>
            <a:r>
              <a:rPr dirty="0" sz="2600" spc="-30">
                <a:latin typeface="Microsoft Sans Serif"/>
                <a:cs typeface="Microsoft Sans Serif"/>
              </a:rPr>
              <a:t>{</a:t>
            </a:r>
            <a:r>
              <a:rPr dirty="0" sz="2600" spc="-5">
                <a:latin typeface="Microsoft Sans Serif"/>
                <a:cs typeface="Microsoft Sans Serif"/>
              </a:rPr>
              <a:t>}</a:t>
            </a:r>
            <a:r>
              <a:rPr dirty="0" sz="2600" spc="-85">
                <a:latin typeface="Microsoft Sans Serif"/>
                <a:cs typeface="Microsoft Sans Serif"/>
              </a:rPr>
              <a:t>;  </a:t>
            </a:r>
            <a:r>
              <a:rPr dirty="0" sz="2600" spc="70">
                <a:latin typeface="Microsoft Sans Serif"/>
                <a:cs typeface="Microsoft Sans Serif"/>
              </a:rPr>
              <a:t>Or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dirty="0" sz="2600" spc="25">
                <a:latin typeface="Microsoft Sans Serif"/>
                <a:cs typeface="Microsoft Sans Serif"/>
              </a:rPr>
              <a:t>Set&lt;type&gt;</a:t>
            </a:r>
            <a:r>
              <a:rPr dirty="0" sz="2600" spc="-110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setname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-35">
                <a:latin typeface="Microsoft Sans Serif"/>
                <a:cs typeface="Microsoft Sans Serif"/>
              </a:rPr>
              <a:t>{};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1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276"/>
            <a:ext cx="6360795" cy="2059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865" marR="3088005" indent="-177800">
              <a:lnSpc>
                <a:spcPct val="133300"/>
              </a:lnSpc>
              <a:spcBef>
                <a:spcPts val="100"/>
              </a:spcBef>
            </a:pPr>
            <a:r>
              <a:rPr dirty="0" sz="2000" spc="45">
                <a:latin typeface="Microsoft Sans Serif"/>
                <a:cs typeface="Microsoft Sans Serif"/>
              </a:rPr>
              <a:t>void </a:t>
            </a:r>
            <a:r>
              <a:rPr dirty="0" sz="2000" spc="5">
                <a:latin typeface="Microsoft Sans Serif"/>
                <a:cs typeface="Microsoft Sans Serif"/>
              </a:rPr>
              <a:t>main(){ </a:t>
            </a:r>
            <a:r>
              <a:rPr dirty="0" sz="2000" spc="10">
                <a:latin typeface="Microsoft Sans Serif"/>
                <a:cs typeface="Microsoft Sans Serif"/>
              </a:rPr>
              <a:t> </a:t>
            </a:r>
            <a:r>
              <a:rPr dirty="0" sz="2000" spc="55">
                <a:latin typeface="Microsoft Sans Serif"/>
                <a:cs typeface="Microsoft Sans Serif"/>
              </a:rPr>
              <a:t>print("Initializing</a:t>
            </a:r>
            <a:r>
              <a:rPr dirty="0" sz="2000" spc="-70">
                <a:latin typeface="Microsoft Sans Serif"/>
                <a:cs typeface="Microsoft Sans Serif"/>
              </a:rPr>
              <a:t> </a:t>
            </a:r>
            <a:r>
              <a:rPr dirty="0" sz="2000" spc="90">
                <a:latin typeface="Microsoft Sans Serif"/>
                <a:cs typeface="Microsoft Sans Serif"/>
              </a:rPr>
              <a:t>the</a:t>
            </a:r>
            <a:r>
              <a:rPr dirty="0" sz="2000" spc="-8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Set");</a:t>
            </a:r>
            <a:endParaRPr sz="2000">
              <a:latin typeface="Microsoft Sans Serif"/>
              <a:cs typeface="Microsoft Sans Serif"/>
            </a:endParaRPr>
          </a:p>
          <a:p>
            <a:pPr marL="189865" marR="5080">
              <a:lnSpc>
                <a:spcPts val="3210"/>
              </a:lnSpc>
              <a:spcBef>
                <a:spcPts val="229"/>
              </a:spcBef>
            </a:pPr>
            <a:r>
              <a:rPr dirty="0" sz="2000" spc="10">
                <a:latin typeface="Microsoft Sans Serif"/>
                <a:cs typeface="Microsoft Sans Serif"/>
              </a:rPr>
              <a:t>var</a:t>
            </a:r>
            <a:r>
              <a:rPr dirty="0" sz="2000" spc="-65">
                <a:latin typeface="Microsoft Sans Serif"/>
                <a:cs typeface="Microsoft Sans Serif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names</a:t>
            </a:r>
            <a:r>
              <a:rPr dirty="0" sz="2000" spc="-75">
                <a:latin typeface="Microsoft Sans Serif"/>
                <a:cs typeface="Microsoft Sans Serif"/>
              </a:rPr>
              <a:t> </a:t>
            </a:r>
            <a:r>
              <a:rPr dirty="0" sz="2000" spc="-40">
                <a:latin typeface="Microsoft Sans Serif"/>
                <a:cs typeface="Microsoft Sans Serif"/>
              </a:rPr>
              <a:t>=</a:t>
            </a:r>
            <a:r>
              <a:rPr dirty="0" sz="2000" spc="-65">
                <a:latin typeface="Microsoft Sans Serif"/>
                <a:cs typeface="Microsoft Sans Serif"/>
              </a:rPr>
              <a:t> </a:t>
            </a:r>
            <a:r>
              <a:rPr dirty="0" sz="2000" spc="15">
                <a:latin typeface="Microsoft Sans Serif"/>
                <a:cs typeface="Microsoft Sans Serif"/>
              </a:rPr>
              <a:t>&lt;String&gt;{"Rima","Mohan","Babu","Ram"}; </a:t>
            </a:r>
            <a:r>
              <a:rPr dirty="0" sz="2000" spc="-520">
                <a:latin typeface="Microsoft Sans Serif"/>
                <a:cs typeface="Microsoft Sans Serif"/>
              </a:rPr>
              <a:t> </a:t>
            </a:r>
            <a:r>
              <a:rPr dirty="0" sz="2000" spc="20">
                <a:latin typeface="Microsoft Sans Serif"/>
                <a:cs typeface="Microsoft Sans Serif"/>
              </a:rPr>
              <a:t>print(names);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000" spc="-5">
                <a:latin typeface="Microsoft Sans Serif"/>
                <a:cs typeface="Microsoft Sans Serif"/>
              </a:rPr>
              <a:t>}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1441450" algn="l"/>
              </a:tabLst>
            </a:pPr>
            <a:r>
              <a:rPr dirty="0" spc="-240"/>
              <a:t>Se</a:t>
            </a:r>
            <a:r>
              <a:rPr dirty="0" spc="445"/>
              <a:t>t</a:t>
            </a:r>
            <a:r>
              <a:rPr dirty="0" spc="445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70"/>
              <a:t>Add</a:t>
            </a:r>
            <a:r>
              <a:rPr dirty="0" spc="-120"/>
              <a:t> </a:t>
            </a:r>
            <a:r>
              <a:rPr dirty="0" spc="-360"/>
              <a:t>E</a:t>
            </a:r>
            <a:r>
              <a:rPr dirty="0" spc="155"/>
              <a:t>l</a:t>
            </a:r>
            <a:r>
              <a:rPr dirty="0" spc="10"/>
              <a:t>e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50"/>
              <a:t>n</a:t>
            </a:r>
            <a:r>
              <a:rPr dirty="0" spc="455"/>
              <a:t>t</a:t>
            </a:r>
            <a:r>
              <a:rPr dirty="0" spc="-19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5450205" cy="16065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-20">
                <a:latin typeface="Microsoft Sans Serif"/>
                <a:cs typeface="Microsoft Sans Serif"/>
              </a:rPr>
              <a:t>Set_name.add(&lt;value&gt;);</a:t>
            </a:r>
            <a:endParaRPr sz="2800">
              <a:latin typeface="Microsoft Sans Serif"/>
              <a:cs typeface="Microsoft Sans Serif"/>
            </a:endParaRPr>
          </a:p>
          <a:p>
            <a:pPr marL="12700" marR="5080" indent="2465705">
              <a:lnSpc>
                <a:spcPct val="123500"/>
              </a:lnSpc>
            </a:pPr>
            <a:r>
              <a:rPr dirty="0" sz="2800" spc="65">
                <a:latin typeface="Microsoft Sans Serif"/>
                <a:cs typeface="Microsoft Sans Serif"/>
              </a:rPr>
              <a:t>Or </a:t>
            </a:r>
            <a:r>
              <a:rPr dirty="0" sz="2800" spc="70">
                <a:latin typeface="Microsoft Sans Serif"/>
                <a:cs typeface="Microsoft Sans Serif"/>
              </a:rPr>
              <a:t> </a:t>
            </a:r>
            <a:r>
              <a:rPr dirty="0" sz="2800" spc="-15">
                <a:latin typeface="Microsoft Sans Serif"/>
                <a:cs typeface="Microsoft Sans Serif"/>
              </a:rPr>
              <a:t>Set_name.addAll(val1,val2....valN)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1441450" algn="l"/>
              </a:tabLst>
            </a:pPr>
            <a:r>
              <a:rPr dirty="0" spc="-240"/>
              <a:t>Se</a:t>
            </a:r>
            <a:r>
              <a:rPr dirty="0" spc="445"/>
              <a:t>t</a:t>
            </a:r>
            <a:r>
              <a:rPr dirty="0" spc="445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70"/>
              <a:t>Add</a:t>
            </a:r>
            <a:r>
              <a:rPr dirty="0" spc="-120"/>
              <a:t> </a:t>
            </a:r>
            <a:r>
              <a:rPr dirty="0" spc="-360"/>
              <a:t>E</a:t>
            </a:r>
            <a:r>
              <a:rPr dirty="0" spc="155"/>
              <a:t>l</a:t>
            </a:r>
            <a:r>
              <a:rPr dirty="0" spc="10"/>
              <a:t>e</a:t>
            </a:r>
            <a:r>
              <a:rPr dirty="0" spc="65"/>
              <a:t>m</a:t>
            </a:r>
            <a:r>
              <a:rPr dirty="0" spc="35"/>
              <a:t>e</a:t>
            </a:r>
            <a:r>
              <a:rPr dirty="0" spc="50"/>
              <a:t>n</a:t>
            </a:r>
            <a:r>
              <a:rPr dirty="0" spc="455"/>
              <a:t>t</a:t>
            </a:r>
            <a:r>
              <a:rPr dirty="0" spc="-19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533" y="1415864"/>
            <a:ext cx="3571875" cy="3517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35965">
              <a:lnSpc>
                <a:spcPct val="130200"/>
              </a:lnSpc>
              <a:spcBef>
                <a:spcPts val="100"/>
              </a:spcBef>
            </a:pPr>
            <a:r>
              <a:rPr dirty="0" sz="2200" spc="229">
                <a:latin typeface="Microsoft Sans Serif"/>
                <a:cs typeface="Microsoft Sans Serif"/>
              </a:rPr>
              <a:t>//</a:t>
            </a:r>
            <a:r>
              <a:rPr dirty="0" sz="2200" spc="-110">
                <a:latin typeface="Microsoft Sans Serif"/>
                <a:cs typeface="Microsoft Sans Serif"/>
              </a:rPr>
              <a:t> </a:t>
            </a:r>
            <a:r>
              <a:rPr dirty="0" sz="2200" spc="15">
                <a:latin typeface="Microsoft Sans Serif"/>
                <a:cs typeface="Microsoft Sans Serif"/>
              </a:rPr>
              <a:t>Declaring</a:t>
            </a:r>
            <a:r>
              <a:rPr dirty="0" sz="2200" spc="-95">
                <a:latin typeface="Microsoft Sans Serif"/>
                <a:cs typeface="Microsoft Sans Serif"/>
              </a:rPr>
              <a:t> </a:t>
            </a:r>
            <a:r>
              <a:rPr dirty="0" sz="2200" spc="75">
                <a:latin typeface="Microsoft Sans Serif"/>
                <a:cs typeface="Microsoft Sans Serif"/>
              </a:rPr>
              <a:t>empty</a:t>
            </a:r>
            <a:r>
              <a:rPr dirty="0" sz="2200" spc="-100">
                <a:latin typeface="Microsoft Sans Serif"/>
                <a:cs typeface="Microsoft Sans Serif"/>
              </a:rPr>
              <a:t> </a:t>
            </a:r>
            <a:r>
              <a:rPr dirty="0" sz="2200" spc="50">
                <a:latin typeface="Microsoft Sans Serif"/>
                <a:cs typeface="Microsoft Sans Serif"/>
              </a:rPr>
              <a:t>set </a:t>
            </a:r>
            <a:r>
              <a:rPr dirty="0" sz="2200" spc="-570">
                <a:latin typeface="Microsoft Sans Serif"/>
                <a:cs typeface="Microsoft Sans Serif"/>
              </a:rPr>
              <a:t> </a:t>
            </a:r>
            <a:r>
              <a:rPr dirty="0" sz="2200" spc="15">
                <a:latin typeface="Microsoft Sans Serif"/>
                <a:cs typeface="Microsoft Sans Serif"/>
              </a:rPr>
              <a:t>var </a:t>
            </a:r>
            <a:r>
              <a:rPr dirty="0" sz="2200" spc="45">
                <a:latin typeface="Microsoft Sans Serif"/>
                <a:cs typeface="Microsoft Sans Serif"/>
              </a:rPr>
              <a:t>emp </a:t>
            </a:r>
            <a:r>
              <a:rPr dirty="0" sz="2200" spc="-45">
                <a:latin typeface="Microsoft Sans Serif"/>
                <a:cs typeface="Microsoft Sans Serif"/>
              </a:rPr>
              <a:t>= </a:t>
            </a:r>
            <a:r>
              <a:rPr dirty="0" sz="2200">
                <a:latin typeface="Microsoft Sans Serif"/>
                <a:cs typeface="Microsoft Sans Serif"/>
              </a:rPr>
              <a:t>&lt;String&gt;{}; 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 spc="10">
                <a:latin typeface="Microsoft Sans Serif"/>
                <a:cs typeface="Microsoft Sans Serif"/>
              </a:rPr>
              <a:t>emp.add("Jay"); 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 spc="45">
                <a:latin typeface="Microsoft Sans Serif"/>
                <a:cs typeface="Microsoft Sans Serif"/>
              </a:rPr>
              <a:t>print(emp);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Microsoft Sans Serif"/>
              <a:cs typeface="Microsoft Sans Serif"/>
            </a:endParaRPr>
          </a:p>
          <a:p>
            <a:pPr marL="12700" marR="5080">
              <a:lnSpc>
                <a:spcPct val="130100"/>
              </a:lnSpc>
            </a:pPr>
            <a:r>
              <a:rPr dirty="0" sz="2200" spc="229">
                <a:latin typeface="Microsoft Sans Serif"/>
                <a:cs typeface="Microsoft Sans Serif"/>
              </a:rPr>
              <a:t>//</a:t>
            </a:r>
            <a:r>
              <a:rPr dirty="0" sz="2200" spc="-110">
                <a:latin typeface="Microsoft Sans Serif"/>
                <a:cs typeface="Microsoft Sans Serif"/>
              </a:rPr>
              <a:t> </a:t>
            </a:r>
            <a:r>
              <a:rPr dirty="0" sz="2200" spc="40">
                <a:latin typeface="Microsoft Sans Serif"/>
                <a:cs typeface="Microsoft Sans Serif"/>
              </a:rPr>
              <a:t>Adding</a:t>
            </a:r>
            <a:r>
              <a:rPr dirty="0" sz="2200" spc="-95">
                <a:latin typeface="Microsoft Sans Serif"/>
                <a:cs typeface="Microsoft Sans Serif"/>
              </a:rPr>
              <a:t> </a:t>
            </a:r>
            <a:r>
              <a:rPr dirty="0" sz="2200" spc="85">
                <a:latin typeface="Microsoft Sans Serif"/>
                <a:cs typeface="Microsoft Sans Serif"/>
              </a:rPr>
              <a:t>multiple</a:t>
            </a:r>
            <a:r>
              <a:rPr dirty="0" sz="2200" spc="-110">
                <a:latin typeface="Microsoft Sans Serif"/>
                <a:cs typeface="Microsoft Sans Serif"/>
              </a:rPr>
              <a:t> </a:t>
            </a:r>
            <a:r>
              <a:rPr dirty="0" sz="2200" spc="40">
                <a:latin typeface="Microsoft Sans Serif"/>
                <a:cs typeface="Microsoft Sans Serif"/>
              </a:rPr>
              <a:t>elements </a:t>
            </a:r>
            <a:r>
              <a:rPr dirty="0" sz="2200" spc="-57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emp.addAll(names); 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 spc="45">
                <a:latin typeface="Microsoft Sans Serif"/>
                <a:cs typeface="Microsoft Sans Serif"/>
              </a:rPr>
              <a:t>print(emp);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50"/>
              <a:t>Accessing</a:t>
            </a:r>
            <a:r>
              <a:rPr dirty="0" spc="-170"/>
              <a:t> </a:t>
            </a:r>
            <a:r>
              <a:rPr dirty="0" spc="25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978336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519097"/>
            <a:ext cx="7712075" cy="4385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355600" marR="245745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r>
              <a:rPr dirty="0" sz="2600" spc="85">
                <a:latin typeface="Microsoft Sans Serif"/>
                <a:cs typeface="Microsoft Sans Serif"/>
              </a:rPr>
              <a:t>Dart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35">
                <a:latin typeface="Microsoft Sans Serif"/>
                <a:cs typeface="Microsoft Sans Serif"/>
              </a:rPr>
              <a:t>provides</a:t>
            </a:r>
            <a:r>
              <a:rPr dirty="0" sz="2600" spc="-75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70">
                <a:latin typeface="Microsoft Sans Serif"/>
                <a:cs typeface="Microsoft Sans Serif"/>
              </a:rPr>
              <a:t>elementAt()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70">
                <a:latin typeface="Microsoft Sans Serif"/>
                <a:cs typeface="Microsoft Sans Serif"/>
              </a:rPr>
              <a:t>method,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35">
                <a:latin typeface="Microsoft Sans Serif"/>
                <a:cs typeface="Microsoft Sans Serif"/>
              </a:rPr>
              <a:t>which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-40">
                <a:latin typeface="Microsoft Sans Serif"/>
                <a:cs typeface="Microsoft Sans Serif"/>
              </a:rPr>
              <a:t>is </a:t>
            </a:r>
            <a:r>
              <a:rPr dirty="0" sz="2600" spc="-680">
                <a:latin typeface="Microsoft Sans Serif"/>
                <a:cs typeface="Microsoft Sans Serif"/>
              </a:rPr>
              <a:t> </a:t>
            </a:r>
            <a:r>
              <a:rPr dirty="0" sz="2600" spc="-5">
                <a:latin typeface="Microsoft Sans Serif"/>
                <a:cs typeface="Microsoft Sans Serif"/>
              </a:rPr>
              <a:t>used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200">
                <a:latin typeface="Microsoft Sans Serif"/>
                <a:cs typeface="Microsoft Sans Serif"/>
              </a:rPr>
              <a:t>to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-95">
                <a:latin typeface="Microsoft Sans Serif"/>
                <a:cs typeface="Microsoft Sans Serif"/>
              </a:rPr>
              <a:t>access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item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by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-20">
                <a:latin typeface="Microsoft Sans Serif"/>
                <a:cs typeface="Microsoft Sans Serif"/>
              </a:rPr>
              <a:t>passing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75">
                <a:latin typeface="Microsoft Sans Serif"/>
                <a:cs typeface="Microsoft Sans Serif"/>
              </a:rPr>
              <a:t>its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specified </a:t>
            </a:r>
            <a:r>
              <a:rPr dirty="0" sz="2600" spc="45">
                <a:latin typeface="Microsoft Sans Serif"/>
                <a:cs typeface="Microsoft Sans Serif"/>
              </a:rPr>
              <a:t> index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55">
                <a:latin typeface="Microsoft Sans Serif"/>
                <a:cs typeface="Microsoft Sans Serif"/>
              </a:rPr>
              <a:t>position.</a:t>
            </a:r>
            <a:endParaRPr sz="26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  <a:spcBef>
                <a:spcPts val="800"/>
              </a:spcBef>
            </a:pPr>
            <a:r>
              <a:rPr dirty="0" sz="2600" spc="-30">
                <a:latin typeface="Microsoft Sans Serif"/>
                <a:cs typeface="Microsoft Sans Serif"/>
              </a:rPr>
              <a:t>The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60">
                <a:latin typeface="Microsoft Sans Serif"/>
                <a:cs typeface="Microsoft Sans Serif"/>
              </a:rPr>
              <a:t>set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50">
                <a:latin typeface="Microsoft Sans Serif"/>
                <a:cs typeface="Microsoft Sans Serif"/>
              </a:rPr>
              <a:t>indexing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starts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140">
                <a:latin typeface="Microsoft Sans Serif"/>
                <a:cs typeface="Microsoft Sans Serif"/>
              </a:rPr>
              <a:t>from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20">
                <a:latin typeface="Microsoft Sans Serif"/>
                <a:cs typeface="Microsoft Sans Serif"/>
              </a:rPr>
              <a:t>0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0">
                <a:latin typeface="Microsoft Sans Serif"/>
                <a:cs typeface="Microsoft Sans Serif"/>
              </a:rPr>
              <a:t>and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goes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up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200">
                <a:latin typeface="Microsoft Sans Serif"/>
                <a:cs typeface="Microsoft Sans Serif"/>
              </a:rPr>
              <a:t>to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-40">
                <a:latin typeface="Microsoft Sans Serif"/>
                <a:cs typeface="Microsoft Sans Serif"/>
              </a:rPr>
              <a:t>size </a:t>
            </a:r>
            <a:r>
              <a:rPr dirty="0" sz="2600" spc="-90">
                <a:latin typeface="Microsoft Sans Serif"/>
                <a:cs typeface="Microsoft Sans Serif"/>
              </a:rPr>
              <a:t>- </a:t>
            </a:r>
            <a:r>
              <a:rPr dirty="0" sz="2600" spc="-40">
                <a:latin typeface="Microsoft Sans Serif"/>
                <a:cs typeface="Microsoft Sans Serif"/>
              </a:rPr>
              <a:t>1, </a:t>
            </a:r>
            <a:r>
              <a:rPr dirty="0" sz="2600" spc="65">
                <a:latin typeface="Microsoft Sans Serif"/>
                <a:cs typeface="Microsoft Sans Serif"/>
              </a:rPr>
              <a:t>where </a:t>
            </a:r>
            <a:r>
              <a:rPr dirty="0" sz="2600" spc="-40">
                <a:latin typeface="Microsoft Sans Serif"/>
                <a:cs typeface="Microsoft Sans Serif"/>
              </a:rPr>
              <a:t>size is </a:t>
            </a:r>
            <a:r>
              <a:rPr dirty="0" sz="2600" spc="114">
                <a:latin typeface="Microsoft Sans Serif"/>
                <a:cs typeface="Microsoft Sans Serif"/>
              </a:rPr>
              <a:t>the </a:t>
            </a:r>
            <a:r>
              <a:rPr dirty="0" sz="2600" spc="65">
                <a:latin typeface="Microsoft Sans Serif"/>
                <a:cs typeface="Microsoft Sans Serif"/>
              </a:rPr>
              <a:t>number </a:t>
            </a:r>
            <a:r>
              <a:rPr dirty="0" sz="2600" spc="180">
                <a:latin typeface="Microsoft Sans Serif"/>
                <a:cs typeface="Microsoft Sans Serif"/>
              </a:rPr>
              <a:t>of </a:t>
            </a:r>
            <a:r>
              <a:rPr dirty="0" sz="2600" spc="114">
                <a:latin typeface="Microsoft Sans Serif"/>
                <a:cs typeface="Microsoft Sans Serif"/>
              </a:rPr>
              <a:t>the </a:t>
            </a:r>
            <a:r>
              <a:rPr dirty="0" sz="2600" spc="80">
                <a:latin typeface="Microsoft Sans Serif"/>
                <a:cs typeface="Microsoft Sans Serif"/>
              </a:rPr>
              <a:t>element </a:t>
            </a:r>
            <a:r>
              <a:rPr dirty="0" sz="2600" spc="-680">
                <a:latin typeface="Microsoft Sans Serif"/>
                <a:cs typeface="Microsoft Sans Serif"/>
              </a:rPr>
              <a:t> </a:t>
            </a:r>
            <a:r>
              <a:rPr dirty="0" sz="2600" spc="55">
                <a:latin typeface="Microsoft Sans Serif"/>
                <a:cs typeface="Microsoft Sans Serif"/>
              </a:rPr>
              <a:t>exist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55">
                <a:latin typeface="Microsoft Sans Serif"/>
                <a:cs typeface="Microsoft Sans Serif"/>
              </a:rPr>
              <a:t>in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-30">
                <a:latin typeface="Microsoft Sans Serif"/>
                <a:cs typeface="Microsoft Sans Serif"/>
              </a:rPr>
              <a:t>Set.</a:t>
            </a:r>
            <a:endParaRPr sz="2600">
              <a:latin typeface="Microsoft Sans Serif"/>
              <a:cs typeface="Microsoft Sans Serif"/>
            </a:endParaRPr>
          </a:p>
          <a:p>
            <a:pPr marL="355600" marR="49530">
              <a:lnSpc>
                <a:spcPct val="100000"/>
              </a:lnSpc>
              <a:spcBef>
                <a:spcPts val="810"/>
              </a:spcBef>
            </a:pPr>
            <a:r>
              <a:rPr dirty="0" sz="2600" spc="145">
                <a:latin typeface="Microsoft Sans Serif"/>
                <a:cs typeface="Microsoft Sans Serif"/>
              </a:rPr>
              <a:t>It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110">
                <a:latin typeface="Microsoft Sans Serif"/>
                <a:cs typeface="Microsoft Sans Serif"/>
              </a:rPr>
              <a:t>will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140">
                <a:latin typeface="Microsoft Sans Serif"/>
                <a:cs typeface="Microsoft Sans Serif"/>
              </a:rPr>
              <a:t>throw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-30">
                <a:latin typeface="Microsoft Sans Serif"/>
                <a:cs typeface="Microsoft Sans Serif"/>
              </a:rPr>
              <a:t>an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100">
                <a:latin typeface="Microsoft Sans Serif"/>
                <a:cs typeface="Microsoft Sans Serif"/>
              </a:rPr>
              <a:t>error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165">
                <a:latin typeface="Microsoft Sans Serif"/>
                <a:cs typeface="Microsoft Sans Serif"/>
              </a:rPr>
              <a:t>if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75">
                <a:latin typeface="Microsoft Sans Serif"/>
                <a:cs typeface="Microsoft Sans Serif"/>
              </a:rPr>
              <a:t>we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100">
                <a:latin typeface="Microsoft Sans Serif"/>
                <a:cs typeface="Microsoft Sans Serif"/>
              </a:rPr>
              <a:t>enter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114">
                <a:latin typeface="Microsoft Sans Serif"/>
                <a:cs typeface="Microsoft Sans Serif"/>
              </a:rPr>
              <a:t>the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bigger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45">
                <a:latin typeface="Microsoft Sans Serif"/>
                <a:cs typeface="Microsoft Sans Serif"/>
              </a:rPr>
              <a:t>index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number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75">
                <a:latin typeface="Microsoft Sans Serif"/>
                <a:cs typeface="Microsoft Sans Serif"/>
              </a:rPr>
              <a:t>than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75">
                <a:latin typeface="Microsoft Sans Serif"/>
                <a:cs typeface="Microsoft Sans Serif"/>
              </a:rPr>
              <a:t>its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-50">
                <a:latin typeface="Microsoft Sans Serif"/>
                <a:cs typeface="Microsoft Sans Serif"/>
              </a:rPr>
              <a:t>size.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-30">
                <a:latin typeface="Microsoft Sans Serif"/>
                <a:cs typeface="Microsoft Sans Serif"/>
              </a:rPr>
              <a:t>The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25">
                <a:latin typeface="Microsoft Sans Serif"/>
                <a:cs typeface="Microsoft Sans Serif"/>
              </a:rPr>
              <a:t>syntax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-40">
                <a:latin typeface="Microsoft Sans Serif"/>
                <a:cs typeface="Microsoft Sans Serif"/>
              </a:rPr>
              <a:t>is</a:t>
            </a:r>
            <a:r>
              <a:rPr dirty="0" sz="2600" spc="-95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given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55">
                <a:latin typeface="Microsoft Sans Serif"/>
                <a:cs typeface="Microsoft Sans Serif"/>
              </a:rPr>
              <a:t>below.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10"/>
              </a:spcBef>
            </a:pPr>
            <a:r>
              <a:rPr dirty="0" sz="2600" spc="-25">
                <a:latin typeface="Microsoft Sans Serif"/>
                <a:cs typeface="Microsoft Sans Serif"/>
              </a:rPr>
              <a:t>Syntax:</a:t>
            </a:r>
            <a:endParaRPr sz="26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dirty="0" baseline="3205" sz="3900">
                <a:solidFill>
                  <a:srgbClr val="6697CC"/>
                </a:solidFill>
                <a:latin typeface="Arial MT"/>
                <a:cs typeface="Arial MT"/>
              </a:rPr>
              <a:t>–</a:t>
            </a:r>
            <a:r>
              <a:rPr dirty="0" baseline="3205" sz="3900" spc="89">
                <a:solidFill>
                  <a:srgbClr val="6697CC"/>
                </a:solidFill>
                <a:latin typeface="Arial MT"/>
                <a:cs typeface="Arial MT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Set_name.elementAt(index)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35"/>
              <a:t>Other</a:t>
            </a:r>
            <a:r>
              <a:rPr dirty="0" spc="-215"/>
              <a:t> </a:t>
            </a:r>
            <a:r>
              <a:rPr dirty="0" spc="9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7212"/>
            <a:ext cx="140970" cy="1521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7368"/>
            <a:ext cx="3925570" cy="1519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699"/>
              </a:lnSpc>
              <a:spcBef>
                <a:spcPts val="95"/>
              </a:spcBef>
            </a:pPr>
            <a:r>
              <a:rPr dirty="0" sz="2600" spc="-65">
                <a:latin typeface="Microsoft Sans Serif"/>
                <a:cs typeface="Microsoft Sans Serif"/>
              </a:rPr>
              <a:t>s</a:t>
            </a:r>
            <a:r>
              <a:rPr dirty="0" sz="2600" spc="-75">
                <a:latin typeface="Microsoft Sans Serif"/>
                <a:cs typeface="Microsoft Sans Serif"/>
              </a:rPr>
              <a:t>e</a:t>
            </a:r>
            <a:r>
              <a:rPr dirty="0" sz="2600" spc="320">
                <a:latin typeface="Microsoft Sans Serif"/>
                <a:cs typeface="Microsoft Sans Serif"/>
              </a:rPr>
              <a:t>t</a:t>
            </a:r>
            <a:r>
              <a:rPr dirty="0" sz="2600" spc="-55">
                <a:latin typeface="Microsoft Sans Serif"/>
                <a:cs typeface="Microsoft Sans Serif"/>
              </a:rPr>
              <a:t>_</a:t>
            </a:r>
            <a:r>
              <a:rPr dirty="0" sz="2600" spc="-50">
                <a:latin typeface="Microsoft Sans Serif"/>
                <a:cs typeface="Microsoft Sans Serif"/>
              </a:rPr>
              <a:t>n</a:t>
            </a:r>
            <a:r>
              <a:rPr dirty="0" sz="2600" spc="-5">
                <a:latin typeface="Microsoft Sans Serif"/>
                <a:cs typeface="Microsoft Sans Serif"/>
              </a:rPr>
              <a:t>am</a:t>
            </a:r>
            <a:r>
              <a:rPr dirty="0" sz="2600">
                <a:latin typeface="Microsoft Sans Serif"/>
                <a:cs typeface="Microsoft Sans Serif"/>
              </a:rPr>
              <a:t>e</a:t>
            </a:r>
            <a:r>
              <a:rPr dirty="0" sz="2600" spc="-100">
                <a:latin typeface="Microsoft Sans Serif"/>
                <a:cs typeface="Microsoft Sans Serif"/>
              </a:rPr>
              <a:t>.</a:t>
            </a:r>
            <a:r>
              <a:rPr dirty="0" sz="2600" spc="-5">
                <a:latin typeface="Microsoft Sans Serif"/>
                <a:cs typeface="Microsoft Sans Serif"/>
              </a:rPr>
              <a:t>co</a:t>
            </a:r>
            <a:r>
              <a:rPr dirty="0" sz="2600" spc="50">
                <a:latin typeface="Microsoft Sans Serif"/>
                <a:cs typeface="Microsoft Sans Serif"/>
              </a:rPr>
              <a:t>n</a:t>
            </a:r>
            <a:r>
              <a:rPr dirty="0" sz="2600" spc="310">
                <a:latin typeface="Microsoft Sans Serif"/>
                <a:cs typeface="Microsoft Sans Serif"/>
              </a:rPr>
              <a:t>t</a:t>
            </a:r>
            <a:r>
              <a:rPr dirty="0" sz="2600" spc="5">
                <a:latin typeface="Microsoft Sans Serif"/>
                <a:cs typeface="Microsoft Sans Serif"/>
              </a:rPr>
              <a:t>ai</a:t>
            </a:r>
            <a:r>
              <a:rPr dirty="0" sz="2600" spc="10">
                <a:latin typeface="Microsoft Sans Serif"/>
                <a:cs typeface="Microsoft Sans Serif"/>
              </a:rPr>
              <a:t>n</a:t>
            </a:r>
            <a:r>
              <a:rPr dirty="0" sz="2600" spc="-100">
                <a:latin typeface="Microsoft Sans Serif"/>
                <a:cs typeface="Microsoft Sans Serif"/>
              </a:rPr>
              <a:t>s</a:t>
            </a:r>
            <a:r>
              <a:rPr dirty="0" sz="2600" spc="-75">
                <a:latin typeface="Microsoft Sans Serif"/>
                <a:cs typeface="Microsoft Sans Serif"/>
              </a:rPr>
              <a:t>(</a:t>
            </a:r>
            <a:r>
              <a:rPr dirty="0" sz="2600" spc="5">
                <a:latin typeface="Microsoft Sans Serif"/>
                <a:cs typeface="Microsoft Sans Serif"/>
              </a:rPr>
              <a:t>v</a:t>
            </a:r>
            <a:r>
              <a:rPr dirty="0" sz="2600" spc="20">
                <a:latin typeface="Microsoft Sans Serif"/>
                <a:cs typeface="Microsoft Sans Serif"/>
              </a:rPr>
              <a:t>al</a:t>
            </a:r>
            <a:r>
              <a:rPr dirty="0" sz="2600" spc="25">
                <a:latin typeface="Microsoft Sans Serif"/>
                <a:cs typeface="Microsoft Sans Serif"/>
              </a:rPr>
              <a:t>u</a:t>
            </a:r>
            <a:r>
              <a:rPr dirty="0" sz="2600" spc="10">
                <a:latin typeface="Microsoft Sans Serif"/>
                <a:cs typeface="Microsoft Sans Serif"/>
              </a:rPr>
              <a:t>e</a:t>
            </a:r>
            <a:r>
              <a:rPr dirty="0" sz="2600" spc="-30">
                <a:latin typeface="Microsoft Sans Serif"/>
                <a:cs typeface="Microsoft Sans Serif"/>
              </a:rPr>
              <a:t>)</a:t>
            </a:r>
            <a:r>
              <a:rPr dirty="0" sz="2600" spc="-85">
                <a:latin typeface="Microsoft Sans Serif"/>
                <a:cs typeface="Microsoft Sans Serif"/>
              </a:rPr>
              <a:t>;  </a:t>
            </a:r>
            <a:r>
              <a:rPr dirty="0" sz="2600" spc="10">
                <a:latin typeface="Microsoft Sans Serif"/>
                <a:cs typeface="Microsoft Sans Serif"/>
              </a:rPr>
              <a:t>set_name.remove(value); </a:t>
            </a:r>
            <a:r>
              <a:rPr dirty="0" sz="2600" spc="15">
                <a:latin typeface="Microsoft Sans Serif"/>
                <a:cs typeface="Microsoft Sans Serif"/>
              </a:rPr>
              <a:t> </a:t>
            </a:r>
            <a:r>
              <a:rPr dirty="0" sz="2600" spc="-5">
                <a:latin typeface="Microsoft Sans Serif"/>
                <a:cs typeface="Microsoft Sans Serif"/>
              </a:rPr>
              <a:t>set_name.clear();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91964"/>
            <a:ext cx="140970" cy="151955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409972"/>
            <a:ext cx="2458085" cy="1520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800"/>
              </a:lnSpc>
              <a:spcBef>
                <a:spcPts val="95"/>
              </a:spcBef>
            </a:pPr>
            <a:r>
              <a:rPr dirty="0" sz="2600" spc="15">
                <a:latin typeface="Microsoft Sans Serif"/>
                <a:cs typeface="Microsoft Sans Serif"/>
              </a:rPr>
              <a:t>x.union(y) </a:t>
            </a:r>
            <a:r>
              <a:rPr dirty="0" sz="2600" spc="20">
                <a:latin typeface="Microsoft Sans Serif"/>
                <a:cs typeface="Microsoft Sans Serif"/>
              </a:rPr>
              <a:t> </a:t>
            </a:r>
            <a:r>
              <a:rPr dirty="0" sz="2600" spc="10">
                <a:latin typeface="Microsoft Sans Serif"/>
                <a:cs typeface="Microsoft Sans Serif"/>
              </a:rPr>
              <a:t>x.i</a:t>
            </a:r>
            <a:r>
              <a:rPr dirty="0" sz="2600" spc="25">
                <a:latin typeface="Microsoft Sans Serif"/>
                <a:cs typeface="Microsoft Sans Serif"/>
              </a:rPr>
              <a:t>n</a:t>
            </a:r>
            <a:r>
              <a:rPr dirty="0" sz="2600" spc="310">
                <a:latin typeface="Microsoft Sans Serif"/>
                <a:cs typeface="Microsoft Sans Serif"/>
              </a:rPr>
              <a:t>t</a:t>
            </a:r>
            <a:r>
              <a:rPr dirty="0" sz="2600">
                <a:latin typeface="Microsoft Sans Serif"/>
                <a:cs typeface="Microsoft Sans Serif"/>
              </a:rPr>
              <a:t>e</a:t>
            </a:r>
            <a:r>
              <a:rPr dirty="0" sz="2600" spc="135">
                <a:latin typeface="Microsoft Sans Serif"/>
                <a:cs typeface="Microsoft Sans Serif"/>
              </a:rPr>
              <a:t>r</a:t>
            </a:r>
            <a:r>
              <a:rPr dirty="0" sz="2600" spc="-65">
                <a:latin typeface="Microsoft Sans Serif"/>
                <a:cs typeface="Microsoft Sans Serif"/>
              </a:rPr>
              <a:t>s</a:t>
            </a:r>
            <a:r>
              <a:rPr dirty="0" sz="2600" spc="-65">
                <a:latin typeface="Microsoft Sans Serif"/>
                <a:cs typeface="Microsoft Sans Serif"/>
              </a:rPr>
              <a:t>e</a:t>
            </a:r>
            <a:r>
              <a:rPr dirty="0" sz="2600" spc="145">
                <a:latin typeface="Microsoft Sans Serif"/>
                <a:cs typeface="Microsoft Sans Serif"/>
              </a:rPr>
              <a:t>c</a:t>
            </a:r>
            <a:r>
              <a:rPr dirty="0" sz="2600" spc="70">
                <a:latin typeface="Microsoft Sans Serif"/>
                <a:cs typeface="Microsoft Sans Serif"/>
              </a:rPr>
              <a:t>t</a:t>
            </a:r>
            <a:r>
              <a:rPr dirty="0" sz="2600" spc="75">
                <a:latin typeface="Microsoft Sans Serif"/>
                <a:cs typeface="Microsoft Sans Serif"/>
              </a:rPr>
              <a:t>io</a:t>
            </a:r>
            <a:r>
              <a:rPr dirty="0" sz="2600" spc="50">
                <a:latin typeface="Microsoft Sans Serif"/>
                <a:cs typeface="Microsoft Sans Serif"/>
              </a:rPr>
              <a:t>n</a:t>
            </a:r>
            <a:r>
              <a:rPr dirty="0" sz="2600" spc="-30">
                <a:latin typeface="Microsoft Sans Serif"/>
                <a:cs typeface="Microsoft Sans Serif"/>
              </a:rPr>
              <a:t>(</a:t>
            </a:r>
            <a:r>
              <a:rPr dirty="0" sz="2600" spc="-5">
                <a:latin typeface="Microsoft Sans Serif"/>
                <a:cs typeface="Microsoft Sans Serif"/>
              </a:rPr>
              <a:t>y</a:t>
            </a:r>
            <a:r>
              <a:rPr dirty="0" sz="2600" spc="-25">
                <a:latin typeface="Microsoft Sans Serif"/>
                <a:cs typeface="Microsoft Sans Serif"/>
              </a:rPr>
              <a:t>)  </a:t>
            </a:r>
            <a:r>
              <a:rPr dirty="0" sz="2600" spc="40">
                <a:latin typeface="Microsoft Sans Serif"/>
                <a:cs typeface="Microsoft Sans Serif"/>
              </a:rPr>
              <a:t>y.difference(z)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4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105251"/>
            <a:ext cx="135255" cy="401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50" spc="5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32135"/>
            <a:ext cx="135255" cy="401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50" spc="5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181739"/>
            <a:ext cx="135255" cy="401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50" spc="5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519097"/>
            <a:ext cx="8078470" cy="4459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37185" marR="153670" indent="-325120">
              <a:lnSpc>
                <a:spcPct val="100899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  <a:tab pos="337820" algn="l"/>
              </a:tabLst>
            </a:pPr>
            <a:r>
              <a:rPr dirty="0" sz="2450" spc="40">
                <a:latin typeface="Microsoft Sans Serif"/>
                <a:cs typeface="Microsoft Sans Serif"/>
              </a:rPr>
              <a:t>Map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-30">
                <a:latin typeface="Microsoft Sans Serif"/>
                <a:cs typeface="Microsoft Sans Serif"/>
              </a:rPr>
              <a:t>is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10">
                <a:latin typeface="Microsoft Sans Serif"/>
                <a:cs typeface="Microsoft Sans Serif"/>
              </a:rPr>
              <a:t>an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object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50">
                <a:latin typeface="Microsoft Sans Serif"/>
                <a:cs typeface="Microsoft Sans Serif"/>
              </a:rPr>
              <a:t>that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stores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60">
                <a:latin typeface="Microsoft Sans Serif"/>
                <a:cs typeface="Microsoft Sans Serif"/>
              </a:rPr>
              <a:t>data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in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25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45">
                <a:latin typeface="Microsoft Sans Serif"/>
                <a:cs typeface="Microsoft Sans Serif"/>
              </a:rPr>
              <a:t>form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80">
                <a:latin typeface="Microsoft Sans Serif"/>
                <a:cs typeface="Microsoft Sans Serif"/>
              </a:rPr>
              <a:t>of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-75">
                <a:latin typeface="Microsoft Sans Serif"/>
                <a:cs typeface="Microsoft Sans Serif"/>
              </a:rPr>
              <a:t>a </a:t>
            </a:r>
            <a:r>
              <a:rPr dirty="0" sz="2450">
                <a:latin typeface="Microsoft Sans Serif"/>
                <a:cs typeface="Microsoft Sans Serif"/>
              </a:rPr>
              <a:t>key-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value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pair.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85">
                <a:latin typeface="Microsoft Sans Serif"/>
                <a:cs typeface="Microsoft Sans Serif"/>
              </a:rPr>
              <a:t>Each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value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is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0">
                <a:latin typeface="Microsoft Sans Serif"/>
                <a:cs typeface="Microsoft Sans Serif"/>
              </a:rPr>
              <a:t>associated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40">
                <a:latin typeface="Microsoft Sans Serif"/>
                <a:cs typeface="Microsoft Sans Serif"/>
              </a:rPr>
              <a:t>with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its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key,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and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85">
                <a:latin typeface="Microsoft Sans Serif"/>
                <a:cs typeface="Microsoft Sans Serif"/>
              </a:rPr>
              <a:t>it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-30">
                <a:latin typeface="Microsoft Sans Serif"/>
                <a:cs typeface="Microsoft Sans Serif"/>
              </a:rPr>
              <a:t>is </a:t>
            </a:r>
            <a:r>
              <a:rPr dirty="0" sz="2450" spc="5">
                <a:latin typeface="Microsoft Sans Serif"/>
                <a:cs typeface="Microsoft Sans Serif"/>
              </a:rPr>
              <a:t>used </a:t>
            </a:r>
            <a:r>
              <a:rPr dirty="0" sz="2450" spc="200">
                <a:latin typeface="Microsoft Sans Serif"/>
                <a:cs typeface="Microsoft Sans Serif"/>
              </a:rPr>
              <a:t>to </a:t>
            </a:r>
            <a:r>
              <a:rPr dirty="0" sz="2450" spc="-80">
                <a:latin typeface="Microsoft Sans Serif"/>
                <a:cs typeface="Microsoft Sans Serif"/>
              </a:rPr>
              <a:t>access </a:t>
            </a:r>
            <a:r>
              <a:rPr dirty="0" sz="2450" spc="80">
                <a:latin typeface="Microsoft Sans Serif"/>
                <a:cs typeface="Microsoft Sans Serif"/>
              </a:rPr>
              <a:t>its </a:t>
            </a:r>
            <a:r>
              <a:rPr dirty="0" sz="2450" spc="50">
                <a:latin typeface="Microsoft Sans Serif"/>
                <a:cs typeface="Microsoft Sans Serif"/>
              </a:rPr>
              <a:t>corresponding </a:t>
            </a:r>
            <a:r>
              <a:rPr dirty="0" sz="2450" spc="5">
                <a:latin typeface="Microsoft Sans Serif"/>
                <a:cs typeface="Microsoft Sans Serif"/>
              </a:rPr>
              <a:t>value. </a:t>
            </a:r>
            <a:r>
              <a:rPr dirty="0" sz="2450" spc="95">
                <a:latin typeface="Microsoft Sans Serif"/>
                <a:cs typeface="Microsoft Sans Serif"/>
              </a:rPr>
              <a:t>Both </a:t>
            </a:r>
            <a:r>
              <a:rPr dirty="0" sz="2450" spc="-15">
                <a:latin typeface="Microsoft Sans Serif"/>
                <a:cs typeface="Microsoft Sans Serif"/>
              </a:rPr>
              <a:t>keys </a:t>
            </a:r>
            <a:r>
              <a:rPr dirty="0" sz="2450" spc="-10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and</a:t>
            </a:r>
            <a:r>
              <a:rPr dirty="0" sz="2450" spc="-95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values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can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be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10">
                <a:latin typeface="Microsoft Sans Serif"/>
                <a:cs typeface="Microsoft Sans Serif"/>
              </a:rPr>
              <a:t>any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65">
                <a:latin typeface="Microsoft Sans Serif"/>
                <a:cs typeface="Microsoft Sans Serif"/>
              </a:rPr>
              <a:t>type.</a:t>
            </a:r>
            <a:endParaRPr sz="2450">
              <a:latin typeface="Microsoft Sans Serif"/>
              <a:cs typeface="Microsoft Sans Serif"/>
            </a:endParaRPr>
          </a:p>
          <a:p>
            <a:pPr marL="337185" marR="391795">
              <a:lnSpc>
                <a:spcPct val="100899"/>
              </a:lnSpc>
              <a:spcBef>
                <a:spcPts val="760"/>
              </a:spcBef>
            </a:pPr>
            <a:r>
              <a:rPr dirty="0" sz="2450" spc="15">
                <a:latin typeface="Microsoft Sans Serif"/>
                <a:cs typeface="Microsoft Sans Serif"/>
              </a:rPr>
              <a:t>In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90">
                <a:latin typeface="Microsoft Sans Serif"/>
                <a:cs typeface="Microsoft Sans Serif"/>
              </a:rPr>
              <a:t>Dart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5">
                <a:latin typeface="Microsoft Sans Serif"/>
                <a:cs typeface="Microsoft Sans Serif"/>
              </a:rPr>
              <a:t>Map,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25">
                <a:latin typeface="Microsoft Sans Serif"/>
                <a:cs typeface="Microsoft Sans Serif"/>
              </a:rPr>
              <a:t>each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key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must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be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unique,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50">
                <a:latin typeface="Microsoft Sans Serif"/>
                <a:cs typeface="Microsoft Sans Serif"/>
              </a:rPr>
              <a:t>but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25">
                <a:latin typeface="Microsoft Sans Serif"/>
                <a:cs typeface="Microsoft Sans Serif"/>
              </a:rPr>
              <a:t>the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30">
                <a:latin typeface="Microsoft Sans Serif"/>
                <a:cs typeface="Microsoft Sans Serif"/>
              </a:rPr>
              <a:t>same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value </a:t>
            </a:r>
            <a:r>
              <a:rPr dirty="0" sz="2450" spc="-35">
                <a:latin typeface="Microsoft Sans Serif"/>
                <a:cs typeface="Microsoft Sans Serif"/>
              </a:rPr>
              <a:t>can </a:t>
            </a:r>
            <a:r>
              <a:rPr dirty="0" sz="2450" spc="25">
                <a:latin typeface="Microsoft Sans Serif"/>
                <a:cs typeface="Microsoft Sans Serif"/>
              </a:rPr>
              <a:t>occur </a:t>
            </a:r>
            <a:r>
              <a:rPr dirty="0" sz="2450" spc="100">
                <a:latin typeface="Microsoft Sans Serif"/>
                <a:cs typeface="Microsoft Sans Serif"/>
              </a:rPr>
              <a:t>multiple </a:t>
            </a:r>
            <a:r>
              <a:rPr dirty="0" sz="2450" spc="40">
                <a:latin typeface="Microsoft Sans Serif"/>
                <a:cs typeface="Microsoft Sans Serif"/>
              </a:rPr>
              <a:t>times. </a:t>
            </a:r>
            <a:r>
              <a:rPr dirty="0" sz="2450" spc="-15">
                <a:latin typeface="Microsoft Sans Serif"/>
                <a:cs typeface="Microsoft Sans Serif"/>
              </a:rPr>
              <a:t>The </a:t>
            </a:r>
            <a:r>
              <a:rPr dirty="0" sz="2450" spc="40">
                <a:latin typeface="Microsoft Sans Serif"/>
                <a:cs typeface="Microsoft Sans Serif"/>
              </a:rPr>
              <a:t>Map </a:t>
            </a:r>
            <a:r>
              <a:rPr dirty="0" sz="2450" spc="45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representation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30">
                <a:latin typeface="Microsoft Sans Serif"/>
                <a:cs typeface="Microsoft Sans Serif"/>
              </a:rPr>
              <a:t>is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00">
                <a:latin typeface="Microsoft Sans Serif"/>
                <a:cs typeface="Microsoft Sans Serif"/>
              </a:rPr>
              <a:t>quite</a:t>
            </a:r>
            <a:r>
              <a:rPr dirty="0" sz="2450" spc="-6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similar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200">
                <a:latin typeface="Microsoft Sans Serif"/>
                <a:cs typeface="Microsoft Sans Serif"/>
              </a:rPr>
              <a:t>to</a:t>
            </a:r>
            <a:r>
              <a:rPr dirty="0" sz="2450" spc="-65">
                <a:latin typeface="Microsoft Sans Serif"/>
                <a:cs typeface="Microsoft Sans Serif"/>
              </a:rPr>
              <a:t> </a:t>
            </a:r>
            <a:r>
              <a:rPr dirty="0" sz="2450" spc="60">
                <a:latin typeface="Microsoft Sans Serif"/>
                <a:cs typeface="Microsoft Sans Serif"/>
              </a:rPr>
              <a:t>Python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Dictionary.</a:t>
            </a:r>
            <a:endParaRPr sz="2450">
              <a:latin typeface="Microsoft Sans Serif"/>
              <a:cs typeface="Microsoft Sans Serif"/>
            </a:endParaRPr>
          </a:p>
          <a:p>
            <a:pPr marL="337185" marR="229870">
              <a:lnSpc>
                <a:spcPct val="100800"/>
              </a:lnSpc>
              <a:spcBef>
                <a:spcPts val="770"/>
              </a:spcBef>
            </a:pPr>
            <a:r>
              <a:rPr dirty="0" sz="2450" spc="-15">
                <a:latin typeface="Microsoft Sans Serif"/>
                <a:cs typeface="Microsoft Sans Serif"/>
              </a:rPr>
              <a:t>The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Map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can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be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declared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by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using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curly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braces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{}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>
                <a:latin typeface="Microsoft Sans Serif"/>
                <a:cs typeface="Microsoft Sans Serif"/>
              </a:rPr>
              <a:t>,and </a:t>
            </a:r>
            <a:r>
              <a:rPr dirty="0" sz="2450" spc="-640">
                <a:latin typeface="Microsoft Sans Serif"/>
                <a:cs typeface="Microsoft Sans Serif"/>
              </a:rPr>
              <a:t> </a:t>
            </a:r>
            <a:r>
              <a:rPr dirty="0" sz="2450" spc="-25">
                <a:latin typeface="Microsoft Sans Serif"/>
                <a:cs typeface="Microsoft Sans Serif"/>
              </a:rPr>
              <a:t>each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0">
                <a:latin typeface="Microsoft Sans Serif"/>
                <a:cs typeface="Microsoft Sans Serif"/>
              </a:rPr>
              <a:t>key-value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pair</a:t>
            </a:r>
            <a:r>
              <a:rPr dirty="0" sz="2450" spc="-65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is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separated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by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25">
                <a:latin typeface="Microsoft Sans Serif"/>
                <a:cs typeface="Microsoft Sans Serif"/>
              </a:rPr>
              <a:t>the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-20">
                <a:latin typeface="Microsoft Sans Serif"/>
                <a:cs typeface="Microsoft Sans Serif"/>
              </a:rPr>
              <a:t>commas(,).</a:t>
            </a:r>
            <a:endParaRPr sz="2450">
              <a:latin typeface="Microsoft Sans Serif"/>
              <a:cs typeface="Microsoft Sans Serif"/>
            </a:endParaRPr>
          </a:p>
          <a:p>
            <a:pPr marL="337185" marR="5080">
              <a:lnSpc>
                <a:spcPct val="101000"/>
              </a:lnSpc>
              <a:spcBef>
                <a:spcPts val="755"/>
              </a:spcBef>
            </a:pPr>
            <a:r>
              <a:rPr dirty="0" sz="2450" spc="-15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value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85">
                <a:latin typeface="Microsoft Sans Serif"/>
                <a:cs typeface="Microsoft Sans Serif"/>
              </a:rPr>
              <a:t>of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25">
                <a:latin typeface="Microsoft Sans Serif"/>
                <a:cs typeface="Microsoft Sans Serif"/>
              </a:rPr>
              <a:t>the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key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can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be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-45">
                <a:latin typeface="Microsoft Sans Serif"/>
                <a:cs typeface="Microsoft Sans Serif"/>
              </a:rPr>
              <a:t>accessed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by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using</a:t>
            </a:r>
            <a:r>
              <a:rPr dirty="0" sz="2450" spc="-75">
                <a:latin typeface="Microsoft Sans Serif"/>
                <a:cs typeface="Microsoft Sans Serif"/>
              </a:rPr>
              <a:t> a </a:t>
            </a:r>
            <a:r>
              <a:rPr dirty="0" sz="2450" spc="15">
                <a:latin typeface="Microsoft Sans Serif"/>
                <a:cs typeface="Microsoft Sans Serif"/>
              </a:rPr>
              <a:t>square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50">
                <a:latin typeface="Microsoft Sans Serif"/>
                <a:cs typeface="Microsoft Sans Serif"/>
              </a:rPr>
              <a:t>bracket([]).</a:t>
            </a:r>
            <a:endParaRPr sz="24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4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368"/>
            <a:ext cx="5882640" cy="201803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600" spc="55">
                <a:latin typeface="Microsoft Sans Serif"/>
                <a:cs typeface="Microsoft Sans Serif"/>
              </a:rPr>
              <a:t>void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5">
                <a:latin typeface="Microsoft Sans Serif"/>
                <a:cs typeface="Microsoft Sans Serif"/>
              </a:rPr>
              <a:t>main()</a:t>
            </a:r>
            <a:r>
              <a:rPr dirty="0" sz="2600" spc="-114">
                <a:latin typeface="Microsoft Sans Serif"/>
                <a:cs typeface="Microsoft Sans Serif"/>
              </a:rPr>
              <a:t> </a:t>
            </a:r>
            <a:r>
              <a:rPr dirty="0" sz="2600" spc="-5">
                <a:latin typeface="Microsoft Sans Serif"/>
                <a:cs typeface="Microsoft Sans Serif"/>
              </a:rPr>
              <a:t>{</a:t>
            </a:r>
            <a:endParaRPr sz="2600">
              <a:latin typeface="Microsoft Sans Serif"/>
              <a:cs typeface="Microsoft Sans Serif"/>
            </a:endParaRPr>
          </a:p>
          <a:p>
            <a:pPr marL="241300" marR="5080">
              <a:lnSpc>
                <a:spcPts val="3920"/>
              </a:lnSpc>
              <a:spcBef>
                <a:spcPts val="265"/>
              </a:spcBef>
            </a:pPr>
            <a:r>
              <a:rPr dirty="0" sz="2600" spc="10">
                <a:latin typeface="Microsoft Sans Serif"/>
                <a:cs typeface="Microsoft Sans Serif"/>
              </a:rPr>
              <a:t>var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95">
                <a:latin typeface="Microsoft Sans Serif"/>
                <a:cs typeface="Microsoft Sans Serif"/>
              </a:rPr>
              <a:t>student</a:t>
            </a:r>
            <a:r>
              <a:rPr dirty="0" sz="2600" spc="-110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15">
                <a:latin typeface="Microsoft Sans Serif"/>
                <a:cs typeface="Microsoft Sans Serif"/>
              </a:rPr>
              <a:t>{'name':'Raju','age':'21'};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80">
                <a:latin typeface="Microsoft Sans Serif"/>
                <a:cs typeface="Microsoft Sans Serif"/>
              </a:rPr>
              <a:t>print(student);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600" spc="-5">
                <a:latin typeface="Microsoft Sans Serif"/>
                <a:cs typeface="Microsoft Sans Serif"/>
              </a:rPr>
              <a:t>}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91571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4009580"/>
            <a:ext cx="41001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70">
                <a:latin typeface="Microsoft Sans Serif"/>
                <a:cs typeface="Microsoft Sans Serif"/>
              </a:rPr>
              <a:t>student['course']</a:t>
            </a:r>
            <a:r>
              <a:rPr dirty="0" sz="2600" spc="-114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'B.tech';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4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368"/>
            <a:ext cx="6138545" cy="401066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600" spc="55">
                <a:latin typeface="Microsoft Sans Serif"/>
                <a:cs typeface="Microsoft Sans Serif"/>
              </a:rPr>
              <a:t>void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5">
                <a:latin typeface="Microsoft Sans Serif"/>
                <a:cs typeface="Microsoft Sans Serif"/>
              </a:rPr>
              <a:t>main()</a:t>
            </a:r>
            <a:r>
              <a:rPr dirty="0" sz="2600" spc="-114">
                <a:latin typeface="Microsoft Sans Serif"/>
                <a:cs typeface="Microsoft Sans Serif"/>
              </a:rPr>
              <a:t> </a:t>
            </a:r>
            <a:r>
              <a:rPr dirty="0" sz="2600" spc="-5">
                <a:latin typeface="Microsoft Sans Serif"/>
                <a:cs typeface="Microsoft Sans Serif"/>
              </a:rPr>
              <a:t>{</a:t>
            </a:r>
            <a:endParaRPr sz="2600">
              <a:latin typeface="Microsoft Sans Serif"/>
              <a:cs typeface="Microsoft Sans Serif"/>
            </a:endParaRPr>
          </a:p>
          <a:p>
            <a:pPr marL="241300" marR="2181225">
              <a:lnSpc>
                <a:spcPts val="3920"/>
              </a:lnSpc>
              <a:spcBef>
                <a:spcPts val="265"/>
              </a:spcBef>
            </a:pPr>
            <a:r>
              <a:rPr dirty="0" sz="2600" spc="10">
                <a:latin typeface="Microsoft Sans Serif"/>
                <a:cs typeface="Microsoft Sans Serif"/>
              </a:rPr>
              <a:t>var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95">
                <a:latin typeface="Microsoft Sans Serif"/>
                <a:cs typeface="Microsoft Sans Serif"/>
              </a:rPr>
              <a:t>student</a:t>
            </a:r>
            <a:r>
              <a:rPr dirty="0" sz="2600" spc="-110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00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new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Map(); </a:t>
            </a:r>
            <a:r>
              <a:rPr dirty="0" sz="2600" spc="-675">
                <a:latin typeface="Microsoft Sans Serif"/>
                <a:cs typeface="Microsoft Sans Serif"/>
              </a:rPr>
              <a:t> </a:t>
            </a:r>
            <a:r>
              <a:rPr dirty="0" sz="2600" spc="80">
                <a:latin typeface="Microsoft Sans Serif"/>
                <a:cs typeface="Microsoft Sans Serif"/>
              </a:rPr>
              <a:t>student['name']</a:t>
            </a:r>
            <a:r>
              <a:rPr dirty="0" sz="2600" spc="-120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14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'Raju';</a:t>
            </a:r>
            <a:endParaRPr sz="2600">
              <a:latin typeface="Microsoft Sans Serif"/>
              <a:cs typeface="Microsoft Sans Serif"/>
            </a:endParaRPr>
          </a:p>
          <a:p>
            <a:pPr marL="241300" marR="1814195">
              <a:lnSpc>
                <a:spcPts val="3920"/>
              </a:lnSpc>
              <a:spcBef>
                <a:spcPts val="5"/>
              </a:spcBef>
            </a:pPr>
            <a:r>
              <a:rPr dirty="0" sz="2600" spc="80">
                <a:latin typeface="Microsoft Sans Serif"/>
                <a:cs typeface="Microsoft Sans Serif"/>
              </a:rPr>
              <a:t>student['age'] </a:t>
            </a:r>
            <a:r>
              <a:rPr dirty="0" sz="2600" spc="-55">
                <a:latin typeface="Microsoft Sans Serif"/>
                <a:cs typeface="Microsoft Sans Serif"/>
              </a:rPr>
              <a:t>= </a:t>
            </a:r>
            <a:r>
              <a:rPr dirty="0" sz="2600" spc="-20">
                <a:latin typeface="Microsoft Sans Serif"/>
                <a:cs typeface="Microsoft Sans Serif"/>
              </a:rPr>
              <a:t>21; </a:t>
            </a:r>
            <a:r>
              <a:rPr dirty="0" sz="2600" spc="-15">
                <a:latin typeface="Microsoft Sans Serif"/>
                <a:cs typeface="Microsoft Sans Serif"/>
              </a:rPr>
              <a:t> </a:t>
            </a:r>
            <a:r>
              <a:rPr dirty="0" sz="2600" spc="70">
                <a:latin typeface="Microsoft Sans Serif"/>
                <a:cs typeface="Microsoft Sans Serif"/>
              </a:rPr>
              <a:t>student['course']</a:t>
            </a:r>
            <a:r>
              <a:rPr dirty="0" sz="2600" spc="-114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'B.tech';</a:t>
            </a:r>
            <a:endParaRPr sz="26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40"/>
              </a:spcBef>
            </a:pPr>
            <a:r>
              <a:rPr dirty="0" sz="2600" spc="65">
                <a:latin typeface="Microsoft Sans Serif"/>
                <a:cs typeface="Microsoft Sans Serif"/>
              </a:rPr>
              <a:t>student['Branch']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 spc="-55">
                <a:latin typeface="Microsoft Sans Serif"/>
                <a:cs typeface="Microsoft Sans Serif"/>
              </a:rPr>
              <a:t>=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65">
                <a:latin typeface="Microsoft Sans Serif"/>
                <a:cs typeface="Microsoft Sans Serif"/>
              </a:rPr>
              <a:t>'Computer</a:t>
            </a:r>
            <a:r>
              <a:rPr dirty="0" sz="2600" spc="-75">
                <a:latin typeface="Microsoft Sans Serif"/>
                <a:cs typeface="Microsoft Sans Serif"/>
              </a:rPr>
              <a:t> </a:t>
            </a:r>
            <a:r>
              <a:rPr dirty="0" sz="2600" spc="-45">
                <a:latin typeface="Microsoft Sans Serif"/>
                <a:cs typeface="Microsoft Sans Serif"/>
              </a:rPr>
              <a:t>Science';</a:t>
            </a:r>
            <a:endParaRPr sz="26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810"/>
              </a:spcBef>
            </a:pPr>
            <a:r>
              <a:rPr dirty="0" sz="2600" spc="80">
                <a:latin typeface="Microsoft Sans Serif"/>
                <a:cs typeface="Microsoft Sans Serif"/>
              </a:rPr>
              <a:t>print(student);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600" spc="-5">
                <a:latin typeface="Microsoft Sans Serif"/>
                <a:cs typeface="Microsoft Sans Serif"/>
              </a:rPr>
              <a:t>}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  <a:tabLst>
                <a:tab pos="1665605" algn="l"/>
              </a:tabLst>
            </a:pPr>
            <a:r>
              <a:rPr dirty="0" spc="125"/>
              <a:t>M</a:t>
            </a:r>
            <a:r>
              <a:rPr dirty="0" spc="-120"/>
              <a:t>a</a:t>
            </a:r>
            <a:r>
              <a:rPr dirty="0" spc="114"/>
              <a:t>p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40"/>
              <a:t> </a:t>
            </a:r>
            <a:r>
              <a:rPr dirty="0" spc="30"/>
              <a:t>Pr</a:t>
            </a:r>
            <a:r>
              <a:rPr dirty="0" spc="30"/>
              <a:t>o</a:t>
            </a:r>
            <a:r>
              <a:rPr dirty="0" spc="120"/>
              <a:t>p</a:t>
            </a:r>
            <a:r>
              <a:rPr dirty="0" spc="5"/>
              <a:t>e</a:t>
            </a:r>
            <a:r>
              <a:rPr dirty="0" spc="195"/>
              <a:t>r</a:t>
            </a:r>
            <a:r>
              <a:rPr dirty="0" spc="180"/>
              <a:t>tie</a:t>
            </a:r>
            <a:r>
              <a:rPr dirty="0" spc="-195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995" y="1628279"/>
            <a:ext cx="8000276" cy="28353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33984"/>
            <a:ext cx="33178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21105" algn="l"/>
              </a:tabLst>
            </a:pPr>
            <a:r>
              <a:rPr dirty="0" spc="125"/>
              <a:t>M</a:t>
            </a:r>
            <a:r>
              <a:rPr dirty="0" spc="-120"/>
              <a:t>a</a:t>
            </a:r>
            <a:r>
              <a:rPr dirty="0" spc="114"/>
              <a:t>p</a:t>
            </a:r>
            <a:r>
              <a:rPr dirty="0"/>
              <a:t>	</a:t>
            </a:r>
            <a:r>
              <a:rPr dirty="0" spc="-125"/>
              <a:t>-</a:t>
            </a:r>
            <a:r>
              <a:rPr dirty="0" spc="-125"/>
              <a:t> </a:t>
            </a:r>
            <a:r>
              <a:rPr dirty="0" spc="125"/>
              <a:t>M</a:t>
            </a:r>
            <a:r>
              <a:rPr dirty="0" spc="10"/>
              <a:t>e</a:t>
            </a:r>
            <a:r>
              <a:rPr dirty="0" spc="165"/>
              <a:t>t</a:t>
            </a:r>
            <a:r>
              <a:rPr dirty="0" spc="320"/>
              <a:t>h</a:t>
            </a:r>
            <a:r>
              <a:rPr dirty="0" spc="120"/>
              <a:t>o</a:t>
            </a:r>
            <a:r>
              <a:rPr dirty="0" spc="-40"/>
              <a:t>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7212"/>
            <a:ext cx="140970" cy="1521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7368"/>
            <a:ext cx="7345680" cy="1519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699"/>
              </a:lnSpc>
              <a:spcBef>
                <a:spcPts val="95"/>
              </a:spcBef>
            </a:pPr>
            <a:r>
              <a:rPr dirty="0" sz="2600" spc="35">
                <a:latin typeface="Microsoft Sans Serif"/>
                <a:cs typeface="Microsoft Sans Serif"/>
              </a:rPr>
              <a:t>student.addAll({'dept':'Civil','email':'raj@abc.in'}); </a:t>
            </a:r>
            <a:r>
              <a:rPr dirty="0" sz="2600" spc="-680">
                <a:latin typeface="Microsoft Sans Serif"/>
                <a:cs typeface="Microsoft Sans Serif"/>
              </a:rPr>
              <a:t> </a:t>
            </a:r>
            <a:r>
              <a:rPr dirty="0" sz="2600" spc="30">
                <a:latin typeface="Microsoft Sans Serif"/>
                <a:cs typeface="Microsoft Sans Serif"/>
              </a:rPr>
              <a:t>student.clear();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600" spc="40">
                <a:latin typeface="Microsoft Sans Serif"/>
                <a:cs typeface="Microsoft Sans Serif"/>
              </a:rPr>
              <a:t>student.remove('age');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5"/>
              <a:t>Symbol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51061"/>
            <a:ext cx="135255" cy="401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50" spc="5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54856"/>
            <a:ext cx="135255" cy="401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50" spc="5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804461"/>
            <a:ext cx="135255" cy="401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50" spc="5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519097"/>
            <a:ext cx="8110220" cy="4459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37185" marR="384810" indent="-325120">
              <a:lnSpc>
                <a:spcPct val="1010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  <a:tab pos="337820" algn="l"/>
              </a:tabLst>
            </a:pPr>
            <a:r>
              <a:rPr dirty="0" sz="2450" spc="5">
                <a:latin typeface="Microsoft Sans Serif"/>
                <a:cs typeface="Microsoft Sans Serif"/>
              </a:rPr>
              <a:t>Symbol </a:t>
            </a:r>
            <a:r>
              <a:rPr dirty="0" sz="2450" spc="80">
                <a:latin typeface="Microsoft Sans Serif"/>
                <a:cs typeface="Microsoft Sans Serif"/>
              </a:rPr>
              <a:t>object </a:t>
            </a:r>
            <a:r>
              <a:rPr dirty="0" sz="2450" spc="-35">
                <a:latin typeface="Microsoft Sans Serif"/>
                <a:cs typeface="Microsoft Sans Serif"/>
              </a:rPr>
              <a:t>is </a:t>
            </a:r>
            <a:r>
              <a:rPr dirty="0" sz="2450" spc="5">
                <a:latin typeface="Microsoft Sans Serif"/>
                <a:cs typeface="Microsoft Sans Serif"/>
              </a:rPr>
              <a:t>used </a:t>
            </a:r>
            <a:r>
              <a:rPr dirty="0" sz="2450" spc="200">
                <a:latin typeface="Microsoft Sans Serif"/>
                <a:cs typeface="Microsoft Sans Serif"/>
              </a:rPr>
              <a:t>to </a:t>
            </a:r>
            <a:r>
              <a:rPr dirty="0" sz="2450" spc="30">
                <a:latin typeface="Microsoft Sans Serif"/>
                <a:cs typeface="Microsoft Sans Serif"/>
              </a:rPr>
              <a:t>specify </a:t>
            </a:r>
            <a:r>
              <a:rPr dirty="0" sz="2450" spc="-10">
                <a:latin typeface="Microsoft Sans Serif"/>
                <a:cs typeface="Microsoft Sans Serif"/>
              </a:rPr>
              <a:t>an </a:t>
            </a:r>
            <a:r>
              <a:rPr dirty="0" sz="2450" spc="100">
                <a:latin typeface="Microsoft Sans Serif"/>
                <a:cs typeface="Microsoft Sans Serif"/>
              </a:rPr>
              <a:t>operator </a:t>
            </a:r>
            <a:r>
              <a:rPr dirty="0" sz="2450" spc="114">
                <a:latin typeface="Microsoft Sans Serif"/>
                <a:cs typeface="Microsoft Sans Serif"/>
              </a:rPr>
              <a:t>or </a:t>
            </a:r>
            <a:r>
              <a:rPr dirty="0" sz="2450" spc="120">
                <a:latin typeface="Microsoft Sans Serif"/>
                <a:cs typeface="Microsoft Sans Serif"/>
              </a:rPr>
              <a:t> </a:t>
            </a:r>
            <a:r>
              <a:rPr dirty="0" sz="2450" spc="105">
                <a:latin typeface="Microsoft Sans Serif"/>
                <a:cs typeface="Microsoft Sans Serif"/>
              </a:rPr>
              <a:t>identifier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declared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60">
                <a:latin typeface="Microsoft Sans Serif"/>
                <a:cs typeface="Microsoft Sans Serif"/>
              </a:rPr>
              <a:t>in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75">
                <a:latin typeface="Microsoft Sans Serif"/>
                <a:cs typeface="Microsoft Sans Serif"/>
              </a:rPr>
              <a:t>a </a:t>
            </a:r>
            <a:r>
              <a:rPr dirty="0" sz="2450" spc="90">
                <a:latin typeface="Microsoft Sans Serif"/>
                <a:cs typeface="Microsoft Sans Serif"/>
              </a:rPr>
              <a:t>Dart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70">
                <a:latin typeface="Microsoft Sans Serif"/>
                <a:cs typeface="Microsoft Sans Serif"/>
              </a:rPr>
              <a:t>programming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language.</a:t>
            </a:r>
            <a:endParaRPr sz="2450">
              <a:latin typeface="Microsoft Sans Serif"/>
              <a:cs typeface="Microsoft Sans Serif"/>
            </a:endParaRPr>
          </a:p>
          <a:p>
            <a:pPr marL="337185" marR="5080">
              <a:lnSpc>
                <a:spcPct val="100899"/>
              </a:lnSpc>
              <a:spcBef>
                <a:spcPts val="750"/>
              </a:spcBef>
            </a:pPr>
            <a:r>
              <a:rPr dirty="0" sz="2450" spc="5">
                <a:latin typeface="Microsoft Sans Serif"/>
                <a:cs typeface="Microsoft Sans Serif"/>
              </a:rPr>
              <a:t>Generally, </a:t>
            </a:r>
            <a:r>
              <a:rPr dirty="0" sz="2450" spc="80">
                <a:latin typeface="Microsoft Sans Serif"/>
                <a:cs typeface="Microsoft Sans Serif"/>
              </a:rPr>
              <a:t>we </a:t>
            </a:r>
            <a:r>
              <a:rPr dirty="0" sz="2450" spc="90">
                <a:latin typeface="Microsoft Sans Serif"/>
                <a:cs typeface="Microsoft Sans Serif"/>
              </a:rPr>
              <a:t>do </a:t>
            </a:r>
            <a:r>
              <a:rPr dirty="0" sz="2450" spc="150">
                <a:latin typeface="Microsoft Sans Serif"/>
                <a:cs typeface="Microsoft Sans Serif"/>
              </a:rPr>
              <a:t>not </a:t>
            </a:r>
            <a:r>
              <a:rPr dirty="0" sz="2450" spc="40">
                <a:latin typeface="Microsoft Sans Serif"/>
                <a:cs typeface="Microsoft Sans Serif"/>
              </a:rPr>
              <a:t>need </a:t>
            </a:r>
            <a:r>
              <a:rPr dirty="0" sz="2450" spc="200">
                <a:latin typeface="Microsoft Sans Serif"/>
                <a:cs typeface="Microsoft Sans Serif"/>
              </a:rPr>
              <a:t>to </a:t>
            </a:r>
            <a:r>
              <a:rPr dirty="0" sz="2450" spc="-25">
                <a:latin typeface="Microsoft Sans Serif"/>
                <a:cs typeface="Microsoft Sans Serif"/>
              </a:rPr>
              <a:t>use </a:t>
            </a:r>
            <a:r>
              <a:rPr dirty="0" sz="2450" spc="15">
                <a:latin typeface="Microsoft Sans Serif"/>
                <a:cs typeface="Microsoft Sans Serif"/>
              </a:rPr>
              <a:t>symbols </a:t>
            </a:r>
            <a:r>
              <a:rPr dirty="0" sz="2450" spc="75">
                <a:latin typeface="Microsoft Sans Serif"/>
                <a:cs typeface="Microsoft Sans Serif"/>
              </a:rPr>
              <a:t>while </a:t>
            </a:r>
            <a:r>
              <a:rPr dirty="0" sz="2450" spc="90">
                <a:latin typeface="Microsoft Sans Serif"/>
                <a:cs typeface="Microsoft Sans Serif"/>
              </a:rPr>
              <a:t>Dart </a:t>
            </a:r>
            <a:r>
              <a:rPr dirty="0" sz="2450" spc="95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programming, </a:t>
            </a:r>
            <a:r>
              <a:rPr dirty="0" sz="2450" spc="145">
                <a:latin typeface="Microsoft Sans Serif"/>
                <a:cs typeface="Microsoft Sans Serif"/>
              </a:rPr>
              <a:t>but </a:t>
            </a:r>
            <a:r>
              <a:rPr dirty="0" sz="2450" spc="90">
                <a:latin typeface="Microsoft Sans Serif"/>
                <a:cs typeface="Microsoft Sans Serif"/>
              </a:rPr>
              <a:t>they </a:t>
            </a:r>
            <a:r>
              <a:rPr dirty="0" sz="2450" spc="25">
                <a:latin typeface="Microsoft Sans Serif"/>
                <a:cs typeface="Microsoft Sans Serif"/>
              </a:rPr>
              <a:t>are </a:t>
            </a:r>
            <a:r>
              <a:rPr dirty="0" sz="2450" spc="100">
                <a:latin typeface="Microsoft Sans Serif"/>
                <a:cs typeface="Microsoft Sans Serif"/>
              </a:rPr>
              <a:t>helpful </a:t>
            </a:r>
            <a:r>
              <a:rPr dirty="0" sz="2450" spc="165">
                <a:latin typeface="Microsoft Sans Serif"/>
                <a:cs typeface="Microsoft Sans Serif"/>
              </a:rPr>
              <a:t>for </a:t>
            </a:r>
            <a:r>
              <a:rPr dirty="0" sz="2450" spc="-75">
                <a:latin typeface="Microsoft Sans Serif"/>
                <a:cs typeface="Microsoft Sans Serif"/>
              </a:rPr>
              <a:t>APIs. </a:t>
            </a:r>
            <a:r>
              <a:rPr dirty="0" sz="2450" spc="145">
                <a:latin typeface="Microsoft Sans Serif"/>
                <a:cs typeface="Microsoft Sans Serif"/>
              </a:rPr>
              <a:t>It </a:t>
            </a:r>
            <a:r>
              <a:rPr dirty="0" sz="2450" spc="15">
                <a:latin typeface="Microsoft Sans Serif"/>
                <a:cs typeface="Microsoft Sans Serif"/>
              </a:rPr>
              <a:t>usually </a:t>
            </a:r>
            <a:r>
              <a:rPr dirty="0" sz="2450" spc="20">
                <a:latin typeface="Microsoft Sans Serif"/>
                <a:cs typeface="Microsoft Sans Serif"/>
              </a:rPr>
              <a:t> </a:t>
            </a:r>
            <a:r>
              <a:rPr dirty="0" sz="2450" spc="75">
                <a:latin typeface="Microsoft Sans Serif"/>
                <a:cs typeface="Microsoft Sans Serif"/>
              </a:rPr>
              <a:t>refers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200">
                <a:latin typeface="Microsoft Sans Serif"/>
                <a:cs typeface="Microsoft Sans Serif"/>
              </a:rPr>
              <a:t>to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85">
                <a:latin typeface="Microsoft Sans Serif"/>
                <a:cs typeface="Microsoft Sans Serif"/>
              </a:rPr>
              <a:t>identifiers</a:t>
            </a:r>
            <a:r>
              <a:rPr dirty="0" sz="2450" spc="-65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by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5">
                <a:latin typeface="Microsoft Sans Serif"/>
                <a:cs typeface="Microsoft Sans Serif"/>
              </a:rPr>
              <a:t>name,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-15">
                <a:latin typeface="Microsoft Sans Serif"/>
                <a:cs typeface="Microsoft Sans Serif"/>
              </a:rPr>
              <a:t>because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05">
                <a:latin typeface="Microsoft Sans Serif"/>
                <a:cs typeface="Microsoft Sans Serif"/>
              </a:rPr>
              <a:t>identifier</a:t>
            </a:r>
            <a:r>
              <a:rPr dirty="0" sz="2450" spc="-65">
                <a:latin typeface="Microsoft Sans Serif"/>
                <a:cs typeface="Microsoft Sans Serif"/>
              </a:rPr>
              <a:t> </a:t>
            </a:r>
            <a:r>
              <a:rPr dirty="0" sz="2450" spc="-15">
                <a:latin typeface="Microsoft Sans Serif"/>
                <a:cs typeface="Microsoft Sans Serif"/>
              </a:rPr>
              <a:t>names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can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20">
                <a:latin typeface="Microsoft Sans Serif"/>
                <a:cs typeface="Microsoft Sans Serif"/>
              </a:rPr>
              <a:t>vary</a:t>
            </a:r>
            <a:r>
              <a:rPr dirty="0" sz="2450" spc="-85">
                <a:latin typeface="Microsoft Sans Serif"/>
                <a:cs typeface="Microsoft Sans Serif"/>
              </a:rPr>
              <a:t> </a:t>
            </a:r>
            <a:r>
              <a:rPr dirty="0" sz="2450" spc="145">
                <a:latin typeface="Microsoft Sans Serif"/>
                <a:cs typeface="Microsoft Sans Serif"/>
              </a:rPr>
              <a:t>but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50">
                <a:latin typeface="Microsoft Sans Serif"/>
                <a:cs typeface="Microsoft Sans Serif"/>
              </a:rPr>
              <a:t>not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05">
                <a:latin typeface="Microsoft Sans Serif"/>
                <a:cs typeface="Microsoft Sans Serif"/>
              </a:rPr>
              <a:t>identifier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5">
                <a:latin typeface="Microsoft Sans Serif"/>
                <a:cs typeface="Microsoft Sans Serif"/>
              </a:rPr>
              <a:t>symbols.</a:t>
            </a:r>
            <a:endParaRPr sz="2450">
              <a:latin typeface="Microsoft Sans Serif"/>
              <a:cs typeface="Microsoft Sans Serif"/>
            </a:endParaRPr>
          </a:p>
          <a:p>
            <a:pPr marL="337185" marR="250190">
              <a:lnSpc>
                <a:spcPct val="100899"/>
              </a:lnSpc>
              <a:spcBef>
                <a:spcPts val="765"/>
              </a:spcBef>
            </a:pPr>
            <a:r>
              <a:rPr dirty="0" sz="2450" spc="90">
                <a:latin typeface="Microsoft Sans Serif"/>
                <a:cs typeface="Microsoft Sans Serif"/>
              </a:rPr>
              <a:t>Dart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symbols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25">
                <a:latin typeface="Microsoft Sans Serif"/>
                <a:cs typeface="Microsoft Sans Serif"/>
              </a:rPr>
              <a:t>are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dynamic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80">
                <a:latin typeface="Microsoft Sans Serif"/>
                <a:cs typeface="Microsoft Sans Serif"/>
              </a:rPr>
              <a:t>string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name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50">
                <a:latin typeface="Microsoft Sans Serif"/>
                <a:cs typeface="Microsoft Sans Serif"/>
              </a:rPr>
              <a:t>that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-35">
                <a:latin typeface="Microsoft Sans Serif"/>
                <a:cs typeface="Microsoft Sans Serif"/>
              </a:rPr>
              <a:t>is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5">
                <a:latin typeface="Microsoft Sans Serif"/>
                <a:cs typeface="Microsoft Sans Serif"/>
              </a:rPr>
              <a:t>used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200">
                <a:latin typeface="Microsoft Sans Serif"/>
                <a:cs typeface="Microsoft Sans Serif"/>
              </a:rPr>
              <a:t>to </a:t>
            </a:r>
            <a:r>
              <a:rPr dirty="0" sz="2450" spc="-640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derive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25">
                <a:latin typeface="Microsoft Sans Serif"/>
                <a:cs typeface="Microsoft Sans Serif"/>
              </a:rPr>
              <a:t>the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70">
                <a:latin typeface="Microsoft Sans Serif"/>
                <a:cs typeface="Microsoft Sans Serif"/>
              </a:rPr>
              <a:t>metadata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45">
                <a:latin typeface="Microsoft Sans Serif"/>
                <a:cs typeface="Microsoft Sans Serif"/>
              </a:rPr>
              <a:t>from</a:t>
            </a:r>
            <a:r>
              <a:rPr dirty="0" sz="2450" spc="-90">
                <a:latin typeface="Microsoft Sans Serif"/>
                <a:cs typeface="Microsoft Sans Serif"/>
              </a:rPr>
              <a:t> </a:t>
            </a:r>
            <a:r>
              <a:rPr dirty="0" sz="2450" spc="-75">
                <a:latin typeface="Microsoft Sans Serif"/>
                <a:cs typeface="Microsoft Sans Serif"/>
              </a:rPr>
              <a:t>a</a:t>
            </a:r>
            <a:r>
              <a:rPr dirty="0" sz="2450" spc="-70">
                <a:latin typeface="Microsoft Sans Serif"/>
                <a:cs typeface="Microsoft Sans Serif"/>
              </a:rPr>
              <a:t> </a:t>
            </a:r>
            <a:r>
              <a:rPr dirty="0" sz="2450" spc="45">
                <a:latin typeface="Microsoft Sans Serif"/>
                <a:cs typeface="Microsoft Sans Serif"/>
              </a:rPr>
              <a:t>library.</a:t>
            </a:r>
            <a:endParaRPr sz="2450">
              <a:latin typeface="Microsoft Sans Serif"/>
              <a:cs typeface="Microsoft Sans Serif"/>
            </a:endParaRPr>
          </a:p>
          <a:p>
            <a:pPr marL="337185" marR="17780">
              <a:lnSpc>
                <a:spcPct val="101000"/>
              </a:lnSpc>
              <a:spcBef>
                <a:spcPts val="750"/>
              </a:spcBef>
            </a:pPr>
            <a:r>
              <a:rPr dirty="0" sz="2450" spc="145">
                <a:latin typeface="Microsoft Sans Serif"/>
                <a:cs typeface="Microsoft Sans Serif"/>
              </a:rPr>
              <a:t>It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40">
                <a:latin typeface="Microsoft Sans Serif"/>
                <a:cs typeface="Microsoft Sans Serif"/>
              </a:rPr>
              <a:t>mainly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5">
                <a:latin typeface="Microsoft Sans Serif"/>
                <a:cs typeface="Microsoft Sans Serif"/>
              </a:rPr>
              <a:t>accumulates</a:t>
            </a:r>
            <a:r>
              <a:rPr dirty="0" sz="2450" spc="-75">
                <a:latin typeface="Microsoft Sans Serif"/>
                <a:cs typeface="Microsoft Sans Serif"/>
              </a:rPr>
              <a:t> </a:t>
            </a:r>
            <a:r>
              <a:rPr dirty="0" sz="2450" spc="125">
                <a:latin typeface="Microsoft Sans Serif"/>
                <a:cs typeface="Microsoft Sans Serif"/>
              </a:rPr>
              <a:t>the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55">
                <a:latin typeface="Microsoft Sans Serif"/>
                <a:cs typeface="Microsoft Sans Serif"/>
              </a:rPr>
              <a:t>connection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90">
                <a:latin typeface="Microsoft Sans Serif"/>
                <a:cs typeface="Microsoft Sans Serif"/>
              </a:rPr>
              <a:t>between</a:t>
            </a:r>
            <a:r>
              <a:rPr dirty="0" sz="2450" spc="-80">
                <a:latin typeface="Microsoft Sans Serif"/>
                <a:cs typeface="Microsoft Sans Serif"/>
              </a:rPr>
              <a:t> </a:t>
            </a:r>
            <a:r>
              <a:rPr dirty="0" sz="2450" spc="10">
                <a:latin typeface="Microsoft Sans Serif"/>
                <a:cs typeface="Microsoft Sans Serif"/>
              </a:rPr>
              <a:t>human- </a:t>
            </a:r>
            <a:r>
              <a:rPr dirty="0" sz="2450" spc="-635">
                <a:latin typeface="Microsoft Sans Serif"/>
                <a:cs typeface="Microsoft Sans Serif"/>
              </a:rPr>
              <a:t> </a:t>
            </a:r>
            <a:r>
              <a:rPr dirty="0" sz="2450" spc="35">
                <a:latin typeface="Microsoft Sans Serif"/>
                <a:cs typeface="Microsoft Sans Serif"/>
              </a:rPr>
              <a:t>readable </a:t>
            </a:r>
            <a:r>
              <a:rPr dirty="0" sz="2450" spc="50">
                <a:latin typeface="Microsoft Sans Serif"/>
                <a:cs typeface="Microsoft Sans Serif"/>
              </a:rPr>
              <a:t>strings </a:t>
            </a:r>
            <a:r>
              <a:rPr dirty="0" sz="2450" spc="150">
                <a:latin typeface="Microsoft Sans Serif"/>
                <a:cs typeface="Microsoft Sans Serif"/>
              </a:rPr>
              <a:t>that </a:t>
            </a:r>
            <a:r>
              <a:rPr dirty="0" sz="2450" spc="25">
                <a:latin typeface="Microsoft Sans Serif"/>
                <a:cs typeface="Microsoft Sans Serif"/>
              </a:rPr>
              <a:t>are </a:t>
            </a:r>
            <a:r>
              <a:rPr dirty="0" sz="2450" spc="15">
                <a:latin typeface="Microsoft Sans Serif"/>
                <a:cs typeface="Microsoft Sans Serif"/>
              </a:rPr>
              <a:t>enhanced </a:t>
            </a:r>
            <a:r>
              <a:rPr dirty="0" sz="2450" spc="200">
                <a:latin typeface="Microsoft Sans Serif"/>
                <a:cs typeface="Microsoft Sans Serif"/>
              </a:rPr>
              <a:t>to </a:t>
            </a:r>
            <a:r>
              <a:rPr dirty="0" sz="2450" spc="50">
                <a:latin typeface="Microsoft Sans Serif"/>
                <a:cs typeface="Microsoft Sans Serif"/>
              </a:rPr>
              <a:t>be </a:t>
            </a:r>
            <a:r>
              <a:rPr dirty="0" sz="2450" spc="5">
                <a:latin typeface="Microsoft Sans Serif"/>
                <a:cs typeface="Microsoft Sans Serif"/>
              </a:rPr>
              <a:t>used </a:t>
            </a:r>
            <a:r>
              <a:rPr dirty="0" sz="2450" spc="45">
                <a:latin typeface="Microsoft Sans Serif"/>
                <a:cs typeface="Microsoft Sans Serif"/>
              </a:rPr>
              <a:t>by </a:t>
            </a:r>
            <a:r>
              <a:rPr dirty="0" sz="2450" spc="50">
                <a:latin typeface="Microsoft Sans Serif"/>
                <a:cs typeface="Microsoft Sans Serif"/>
              </a:rPr>
              <a:t> computers.</a:t>
            </a:r>
            <a:endParaRPr sz="24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-5"/>
              <a:t>Symbol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585133"/>
            <a:ext cx="1409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600" spc="-25"/>
              <a:t>Symbols</a:t>
            </a:r>
            <a:r>
              <a:rPr dirty="0" sz="2600" spc="-90"/>
              <a:t> </a:t>
            </a:r>
            <a:r>
              <a:rPr dirty="0" sz="2600" spc="-15"/>
              <a:t>have</a:t>
            </a:r>
            <a:r>
              <a:rPr dirty="0" sz="2600" spc="-80"/>
              <a:t> </a:t>
            </a:r>
            <a:r>
              <a:rPr dirty="0" sz="2600" spc="-90"/>
              <a:t>a</a:t>
            </a:r>
            <a:r>
              <a:rPr dirty="0" sz="2600" spc="-100"/>
              <a:t> </a:t>
            </a:r>
            <a:r>
              <a:rPr dirty="0" sz="2600" spc="130"/>
              <a:t>term</a:t>
            </a:r>
            <a:r>
              <a:rPr dirty="0" sz="2600" spc="-90"/>
              <a:t> </a:t>
            </a:r>
            <a:r>
              <a:rPr dirty="0" sz="2600" spc="35"/>
              <a:t>which</a:t>
            </a:r>
            <a:r>
              <a:rPr dirty="0" sz="2600" spc="-85"/>
              <a:t> </a:t>
            </a:r>
            <a:r>
              <a:rPr dirty="0" sz="2600" spc="-40"/>
              <a:t>is</a:t>
            </a:r>
            <a:r>
              <a:rPr dirty="0" sz="2600" spc="-90"/>
              <a:t> </a:t>
            </a:r>
            <a:r>
              <a:rPr dirty="0" sz="2600" spc="20"/>
              <a:t>called</a:t>
            </a:r>
            <a:r>
              <a:rPr dirty="0" sz="2600" spc="-90"/>
              <a:t> </a:t>
            </a:r>
            <a:r>
              <a:rPr dirty="0" sz="2600" spc="45"/>
              <a:t>Reflection;</a:t>
            </a:r>
            <a:r>
              <a:rPr dirty="0" sz="2600" spc="-100"/>
              <a:t> </a:t>
            </a:r>
            <a:r>
              <a:rPr dirty="0" sz="2600" spc="195"/>
              <a:t>it</a:t>
            </a:r>
            <a:r>
              <a:rPr dirty="0" sz="2600" spc="-95"/>
              <a:t> </a:t>
            </a:r>
            <a:r>
              <a:rPr dirty="0" sz="2600" spc="-40"/>
              <a:t>is </a:t>
            </a:r>
            <a:r>
              <a:rPr dirty="0" sz="2600" spc="-675"/>
              <a:t> </a:t>
            </a:r>
            <a:r>
              <a:rPr dirty="0" sz="2600" spc="-90"/>
              <a:t>a </a:t>
            </a:r>
            <a:r>
              <a:rPr dirty="0" sz="2600" spc="55"/>
              <a:t>technique </a:t>
            </a:r>
            <a:r>
              <a:rPr dirty="0" sz="2600" spc="145"/>
              <a:t>that </a:t>
            </a:r>
            <a:r>
              <a:rPr dirty="0" sz="2600"/>
              <a:t>used </a:t>
            </a:r>
            <a:r>
              <a:rPr dirty="0" sz="2600" spc="204"/>
              <a:t>to </a:t>
            </a:r>
            <a:r>
              <a:rPr dirty="0" sz="2600" spc="114"/>
              <a:t>the </a:t>
            </a:r>
            <a:r>
              <a:rPr dirty="0" sz="2600" spc="65"/>
              <a:t>metadata </a:t>
            </a:r>
            <a:r>
              <a:rPr dirty="0" sz="2600" spc="180"/>
              <a:t>of </a:t>
            </a:r>
            <a:r>
              <a:rPr dirty="0" sz="2600" spc="114"/>
              <a:t>at </a:t>
            </a:r>
            <a:r>
              <a:rPr dirty="0" sz="2600" spc="35"/>
              <a:t>run- </a:t>
            </a:r>
            <a:r>
              <a:rPr dirty="0" sz="2600" spc="40"/>
              <a:t> </a:t>
            </a:r>
            <a:r>
              <a:rPr dirty="0" sz="2600" spc="75"/>
              <a:t>time,</a:t>
            </a:r>
            <a:r>
              <a:rPr dirty="0" sz="2600" spc="-105"/>
              <a:t> </a:t>
            </a:r>
            <a:r>
              <a:rPr dirty="0" sz="2600" spc="165"/>
              <a:t>for</a:t>
            </a:r>
            <a:r>
              <a:rPr dirty="0" sz="2600" spc="-90"/>
              <a:t> </a:t>
            </a:r>
            <a:r>
              <a:rPr dirty="0" sz="2600" spc="30"/>
              <a:t>example</a:t>
            </a:r>
            <a:r>
              <a:rPr dirty="0" sz="2600" spc="-95"/>
              <a:t> </a:t>
            </a:r>
            <a:r>
              <a:rPr dirty="0" sz="2600" spc="-90"/>
              <a:t>-</a:t>
            </a:r>
            <a:r>
              <a:rPr dirty="0" sz="2600" spc="-95"/>
              <a:t> </a:t>
            </a:r>
            <a:r>
              <a:rPr dirty="0" sz="2600" spc="114"/>
              <a:t>the</a:t>
            </a:r>
            <a:r>
              <a:rPr dirty="0" sz="2600" spc="-95"/>
              <a:t> </a:t>
            </a:r>
            <a:r>
              <a:rPr dirty="0" sz="2600" spc="65"/>
              <a:t>number</a:t>
            </a:r>
            <a:r>
              <a:rPr dirty="0" sz="2600" spc="-90"/>
              <a:t> </a:t>
            </a:r>
            <a:r>
              <a:rPr dirty="0" sz="2600" spc="180"/>
              <a:t>of</a:t>
            </a:r>
            <a:r>
              <a:rPr dirty="0" sz="2600" spc="-90"/>
              <a:t> </a:t>
            </a:r>
            <a:r>
              <a:rPr dirty="0" sz="2600" spc="65"/>
              <a:t>methods</a:t>
            </a:r>
            <a:r>
              <a:rPr dirty="0" sz="2600" spc="-95"/>
              <a:t> </a:t>
            </a:r>
            <a:r>
              <a:rPr dirty="0" sz="2600" spc="-5"/>
              <a:t>used</a:t>
            </a:r>
            <a:r>
              <a:rPr dirty="0" sz="2600" spc="-85"/>
              <a:t> </a:t>
            </a:r>
            <a:r>
              <a:rPr dirty="0" sz="2600" spc="55"/>
              <a:t>in </a:t>
            </a:r>
            <a:r>
              <a:rPr dirty="0" sz="2600" spc="-675"/>
              <a:t> </a:t>
            </a:r>
            <a:r>
              <a:rPr dirty="0" sz="2600" spc="-75"/>
              <a:t>class,</a:t>
            </a:r>
            <a:r>
              <a:rPr dirty="0" sz="2600" spc="-95"/>
              <a:t> </a:t>
            </a:r>
            <a:r>
              <a:rPr dirty="0" sz="2600" spc="-90"/>
              <a:t>a</a:t>
            </a:r>
            <a:r>
              <a:rPr dirty="0" sz="2600" spc="-100"/>
              <a:t> </a:t>
            </a:r>
            <a:r>
              <a:rPr dirty="0" sz="2600" spc="50"/>
              <a:t>nu</a:t>
            </a:r>
            <a:r>
              <a:rPr dirty="0" sz="2600" spc="75"/>
              <a:t>m</a:t>
            </a:r>
            <a:r>
              <a:rPr dirty="0" sz="2600" spc="80"/>
              <a:t>b</a:t>
            </a:r>
            <a:r>
              <a:rPr dirty="0" sz="2600" spc="10"/>
              <a:t>e</a:t>
            </a:r>
            <a:r>
              <a:rPr dirty="0" sz="2600" spc="135"/>
              <a:t>r</a:t>
            </a:r>
            <a:r>
              <a:rPr dirty="0" sz="2600" spc="-100"/>
              <a:t> </a:t>
            </a:r>
            <a:r>
              <a:rPr dirty="0" sz="2600" spc="85"/>
              <a:t>o</a:t>
            </a:r>
            <a:r>
              <a:rPr dirty="0" sz="2600" spc="280"/>
              <a:t>f</a:t>
            </a:r>
            <a:r>
              <a:rPr dirty="0" sz="2600" spc="-90"/>
              <a:t> </a:t>
            </a:r>
            <a:r>
              <a:rPr dirty="0" sz="2600" spc="-5"/>
              <a:t>co</a:t>
            </a:r>
            <a:r>
              <a:rPr dirty="0" sz="2600" spc="50"/>
              <a:t>n</a:t>
            </a:r>
            <a:r>
              <a:rPr dirty="0" sz="2600" spc="114"/>
              <a:t>s</a:t>
            </a:r>
            <a:r>
              <a:rPr dirty="0" sz="2600" spc="55"/>
              <a:t>t</a:t>
            </a:r>
            <a:r>
              <a:rPr dirty="0" sz="2600" spc="135"/>
              <a:t>r</a:t>
            </a:r>
            <a:r>
              <a:rPr dirty="0" sz="2600" spc="50"/>
              <a:t>u</a:t>
            </a:r>
            <a:r>
              <a:rPr dirty="0" sz="2600" spc="114"/>
              <a:t>ct</a:t>
            </a:r>
            <a:r>
              <a:rPr dirty="0" sz="2600" spc="85"/>
              <a:t>o</a:t>
            </a:r>
            <a:r>
              <a:rPr dirty="0" sz="2600" spc="130"/>
              <a:t>r</a:t>
            </a:r>
            <a:r>
              <a:rPr dirty="0" sz="2600" spc="-145"/>
              <a:t>s</a:t>
            </a:r>
            <a:r>
              <a:rPr dirty="0" sz="2600" spc="-85"/>
              <a:t> </a:t>
            </a:r>
            <a:r>
              <a:rPr dirty="0" sz="2600" spc="55"/>
              <a:t>in</a:t>
            </a:r>
            <a:r>
              <a:rPr dirty="0" sz="2600" spc="-85"/>
              <a:t> </a:t>
            </a:r>
            <a:r>
              <a:rPr dirty="0" sz="2600" spc="-90"/>
              <a:t>a</a:t>
            </a:r>
            <a:r>
              <a:rPr dirty="0" sz="2600" spc="-100"/>
              <a:t> </a:t>
            </a:r>
            <a:r>
              <a:rPr dirty="0" sz="2600" spc="-90"/>
              <a:t>c</a:t>
            </a:r>
            <a:r>
              <a:rPr dirty="0" sz="2600" spc="100"/>
              <a:t>l</a:t>
            </a:r>
            <a:r>
              <a:rPr dirty="0" sz="2600" spc="-130"/>
              <a:t>as</a:t>
            </a:r>
            <a:r>
              <a:rPr dirty="0" sz="2600" spc="-114"/>
              <a:t>s</a:t>
            </a:r>
            <a:r>
              <a:rPr dirty="0" sz="2600" spc="-85"/>
              <a:t>,</a:t>
            </a:r>
            <a:r>
              <a:rPr dirty="0" sz="2600" spc="-105"/>
              <a:t> </a:t>
            </a:r>
            <a:r>
              <a:rPr dirty="0" sz="2600" spc="85"/>
              <a:t>o</a:t>
            </a:r>
            <a:r>
              <a:rPr dirty="0" sz="2600" spc="114"/>
              <a:t>r  </a:t>
            </a:r>
            <a:r>
              <a:rPr dirty="0" sz="2600" spc="50"/>
              <a:t>nu</a:t>
            </a:r>
            <a:r>
              <a:rPr dirty="0" sz="2600" spc="90"/>
              <a:t>m</a:t>
            </a:r>
            <a:r>
              <a:rPr dirty="0" sz="2600" spc="65"/>
              <a:t>b</a:t>
            </a:r>
            <a:r>
              <a:rPr dirty="0" sz="2600"/>
              <a:t>e</a:t>
            </a:r>
            <a:r>
              <a:rPr dirty="0" sz="2600" spc="135"/>
              <a:t>r</a:t>
            </a:r>
            <a:r>
              <a:rPr dirty="0" sz="2600" spc="-145"/>
              <a:t>s</a:t>
            </a:r>
            <a:r>
              <a:rPr dirty="0" sz="2600" spc="-95"/>
              <a:t> </a:t>
            </a:r>
            <a:r>
              <a:rPr dirty="0" sz="2600" spc="85"/>
              <a:t>o</a:t>
            </a:r>
            <a:r>
              <a:rPr dirty="0" sz="2600" spc="280"/>
              <a:t>f</a:t>
            </a:r>
            <a:r>
              <a:rPr dirty="0" sz="2600" spc="-90"/>
              <a:t> </a:t>
            </a:r>
            <a:r>
              <a:rPr dirty="0" sz="2600" spc="-100"/>
              <a:t>a</a:t>
            </a:r>
            <a:r>
              <a:rPr dirty="0" sz="2600" spc="135"/>
              <a:t>r</a:t>
            </a:r>
            <a:r>
              <a:rPr dirty="0" sz="2600" spc="50"/>
              <a:t>g</a:t>
            </a:r>
            <a:r>
              <a:rPr dirty="0" sz="2600" spc="50"/>
              <a:t>u</a:t>
            </a:r>
            <a:r>
              <a:rPr dirty="0" sz="2600" spc="45"/>
              <a:t>m</a:t>
            </a:r>
            <a:r>
              <a:rPr dirty="0" sz="2600" spc="35"/>
              <a:t>e</a:t>
            </a:r>
            <a:r>
              <a:rPr dirty="0" sz="2600" spc="50"/>
              <a:t>n</a:t>
            </a:r>
            <a:r>
              <a:rPr dirty="0" sz="2600" spc="310"/>
              <a:t>t</a:t>
            </a:r>
            <a:r>
              <a:rPr dirty="0" sz="2600" spc="-145"/>
              <a:t>s</a:t>
            </a:r>
            <a:r>
              <a:rPr dirty="0" sz="2600" spc="-95"/>
              <a:t> </a:t>
            </a:r>
            <a:r>
              <a:rPr dirty="0" sz="2600" spc="55"/>
              <a:t>in</a:t>
            </a:r>
            <a:r>
              <a:rPr dirty="0" sz="2600" spc="-80"/>
              <a:t> </a:t>
            </a:r>
            <a:r>
              <a:rPr dirty="0" sz="2600" spc="-90"/>
              <a:t>a</a:t>
            </a:r>
            <a:r>
              <a:rPr dirty="0" sz="2600" spc="-100"/>
              <a:t> </a:t>
            </a:r>
            <a:r>
              <a:rPr dirty="0" sz="2600" spc="280"/>
              <a:t>f</a:t>
            </a:r>
            <a:r>
              <a:rPr dirty="0" sz="2600" spc="50"/>
              <a:t>un</a:t>
            </a:r>
            <a:r>
              <a:rPr dirty="0" sz="2600" spc="114"/>
              <a:t>ct</a:t>
            </a:r>
            <a:r>
              <a:rPr dirty="0" sz="2600" spc="50"/>
              <a:t>i</a:t>
            </a:r>
            <a:r>
              <a:rPr dirty="0" sz="2600" spc="85"/>
              <a:t>o</a:t>
            </a:r>
            <a:r>
              <a:rPr dirty="0" sz="2600" spc="50"/>
              <a:t>n</a:t>
            </a:r>
            <a:r>
              <a:rPr dirty="0" sz="2600" spc="-85"/>
              <a:t>.</a:t>
            </a:r>
            <a:endParaRPr sz="2600"/>
          </a:p>
          <a:p>
            <a:pPr marL="355600" marR="227329">
              <a:lnSpc>
                <a:spcPct val="100000"/>
              </a:lnSpc>
              <a:spcBef>
                <a:spcPts val="810"/>
              </a:spcBef>
            </a:pPr>
            <a:r>
              <a:rPr dirty="0" spc="-30"/>
              <a:t>The </a:t>
            </a:r>
            <a:r>
              <a:rPr dirty="0" spc="70"/>
              <a:t>dart:mirrors </a:t>
            </a:r>
            <a:r>
              <a:rPr dirty="0" spc="60"/>
              <a:t>library </a:t>
            </a:r>
            <a:r>
              <a:rPr dirty="0" spc="-65"/>
              <a:t>has </a:t>
            </a:r>
            <a:r>
              <a:rPr dirty="0" spc="45"/>
              <a:t>all </a:t>
            </a:r>
            <a:r>
              <a:rPr dirty="0" spc="175"/>
              <a:t>of </a:t>
            </a:r>
            <a:r>
              <a:rPr dirty="0" spc="114"/>
              <a:t>the </a:t>
            </a:r>
            <a:r>
              <a:rPr dirty="0" spc="95"/>
              <a:t>reflection </a:t>
            </a:r>
            <a:r>
              <a:rPr dirty="0" spc="100"/>
              <a:t> </a:t>
            </a:r>
            <a:r>
              <a:rPr dirty="0" spc="80"/>
              <a:t>related</a:t>
            </a:r>
            <a:r>
              <a:rPr dirty="0" spc="-95"/>
              <a:t> </a:t>
            </a:r>
            <a:r>
              <a:rPr dirty="0" spc="-75"/>
              <a:t>classes.</a:t>
            </a:r>
            <a:r>
              <a:rPr dirty="0" spc="-95"/>
              <a:t> </a:t>
            </a:r>
            <a:r>
              <a:rPr dirty="0" spc="145"/>
              <a:t>It</a:t>
            </a:r>
            <a:r>
              <a:rPr dirty="0" spc="-95"/>
              <a:t> </a:t>
            </a:r>
            <a:r>
              <a:rPr dirty="0" spc="-45"/>
              <a:t>can</a:t>
            </a:r>
            <a:r>
              <a:rPr dirty="0" spc="-85"/>
              <a:t> </a:t>
            </a:r>
            <a:r>
              <a:rPr dirty="0" spc="40"/>
              <a:t>be</a:t>
            </a:r>
            <a:r>
              <a:rPr dirty="0" spc="-80"/>
              <a:t> </a:t>
            </a:r>
            <a:r>
              <a:rPr dirty="0" spc="-5"/>
              <a:t>used</a:t>
            </a:r>
            <a:r>
              <a:rPr dirty="0" spc="-85"/>
              <a:t> </a:t>
            </a:r>
            <a:r>
              <a:rPr dirty="0" spc="140"/>
              <a:t>with</a:t>
            </a:r>
            <a:r>
              <a:rPr dirty="0" spc="-85"/>
              <a:t> </a:t>
            </a:r>
            <a:r>
              <a:rPr dirty="0" spc="114"/>
              <a:t>the</a:t>
            </a:r>
            <a:r>
              <a:rPr dirty="0" spc="-95"/>
              <a:t> </a:t>
            </a:r>
            <a:r>
              <a:rPr dirty="0" spc="10"/>
              <a:t>command- </a:t>
            </a:r>
            <a:r>
              <a:rPr dirty="0" spc="-675"/>
              <a:t> </a:t>
            </a:r>
            <a:r>
              <a:rPr dirty="0" spc="50"/>
              <a:t>li</a:t>
            </a:r>
            <a:r>
              <a:rPr dirty="0" spc="130"/>
              <a:t>n</a:t>
            </a:r>
            <a:r>
              <a:rPr dirty="0" spc="5"/>
              <a:t>e</a:t>
            </a:r>
            <a:r>
              <a:rPr dirty="0" spc="-95"/>
              <a:t> </a:t>
            </a:r>
            <a:r>
              <a:rPr dirty="0" spc="-100"/>
              <a:t>a</a:t>
            </a:r>
            <a:r>
              <a:rPr dirty="0" spc="90"/>
              <a:t>pp</a:t>
            </a:r>
            <a:r>
              <a:rPr dirty="0" spc="90"/>
              <a:t>l</a:t>
            </a:r>
            <a:r>
              <a:rPr dirty="0" spc="80"/>
              <a:t>i</a:t>
            </a:r>
            <a:r>
              <a:rPr dirty="0" spc="-90"/>
              <a:t>c</a:t>
            </a:r>
            <a:r>
              <a:rPr dirty="0" spc="-100"/>
              <a:t>a</a:t>
            </a:r>
            <a:r>
              <a:rPr dirty="0" spc="320"/>
              <a:t>t</a:t>
            </a:r>
            <a:r>
              <a:rPr dirty="0" spc="40"/>
              <a:t>i</a:t>
            </a:r>
            <a:r>
              <a:rPr dirty="0" spc="95"/>
              <a:t>o</a:t>
            </a:r>
            <a:r>
              <a:rPr dirty="0" spc="50"/>
              <a:t>n</a:t>
            </a:r>
            <a:r>
              <a:rPr dirty="0" spc="-145"/>
              <a:t>s</a:t>
            </a:r>
            <a:r>
              <a:rPr dirty="0" spc="-85"/>
              <a:t> </a:t>
            </a:r>
            <a:r>
              <a:rPr dirty="0" spc="-100"/>
              <a:t>a</a:t>
            </a:r>
            <a:r>
              <a:rPr dirty="0" spc="-145"/>
              <a:t>s</a:t>
            </a:r>
            <a:r>
              <a:rPr dirty="0" spc="-85"/>
              <a:t> </a:t>
            </a:r>
            <a:r>
              <a:rPr dirty="0" spc="80"/>
              <a:t>w</a:t>
            </a:r>
            <a:r>
              <a:rPr dirty="0" spc="70"/>
              <a:t>e</a:t>
            </a:r>
            <a:r>
              <a:rPr dirty="0" spc="100"/>
              <a:t>l</a:t>
            </a:r>
            <a:r>
              <a:rPr dirty="0" spc="114"/>
              <a:t>l</a:t>
            </a:r>
            <a:r>
              <a:rPr dirty="0" spc="-95"/>
              <a:t> </a:t>
            </a:r>
            <a:r>
              <a:rPr dirty="0" spc="-114"/>
              <a:t>as</a:t>
            </a:r>
            <a:r>
              <a:rPr dirty="0" spc="-95"/>
              <a:t> </a:t>
            </a:r>
            <a:r>
              <a:rPr dirty="0" spc="145"/>
              <a:t>w</a:t>
            </a:r>
            <a:r>
              <a:rPr dirty="0"/>
              <a:t>e</a:t>
            </a:r>
            <a:r>
              <a:rPr dirty="0" spc="85"/>
              <a:t>b</a:t>
            </a:r>
            <a:r>
              <a:rPr dirty="0" spc="-85"/>
              <a:t> </a:t>
            </a:r>
            <a:r>
              <a:rPr dirty="0" spc="-5"/>
              <a:t>a</a:t>
            </a:r>
            <a:r>
              <a:rPr dirty="0" spc="-10"/>
              <a:t>p</a:t>
            </a:r>
            <a:r>
              <a:rPr dirty="0" spc="90"/>
              <a:t>p</a:t>
            </a:r>
            <a:r>
              <a:rPr dirty="0" spc="100"/>
              <a:t>l</a:t>
            </a:r>
            <a:r>
              <a:rPr dirty="0" spc="-10"/>
              <a:t>i</a:t>
            </a:r>
            <a:r>
              <a:rPr dirty="0" spc="-15"/>
              <a:t>c</a:t>
            </a:r>
            <a:r>
              <a:rPr dirty="0" spc="-100"/>
              <a:t>a</a:t>
            </a:r>
            <a:r>
              <a:rPr dirty="0" spc="320"/>
              <a:t>t</a:t>
            </a:r>
            <a:r>
              <a:rPr dirty="0" spc="40"/>
              <a:t>i</a:t>
            </a:r>
            <a:r>
              <a:rPr dirty="0" spc="95"/>
              <a:t>o</a:t>
            </a:r>
            <a:r>
              <a:rPr dirty="0" spc="50"/>
              <a:t>n</a:t>
            </a:r>
            <a:r>
              <a:rPr dirty="0" spc="-140"/>
              <a:t>s</a:t>
            </a:r>
            <a:r>
              <a:rPr dirty="0" spc="-85"/>
              <a:t>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1821" y="5403999"/>
            <a:ext cx="3868420" cy="960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27800"/>
              </a:lnSpc>
              <a:spcBef>
                <a:spcPts val="95"/>
              </a:spcBef>
            </a:pPr>
            <a:r>
              <a:rPr dirty="0" sz="2400" b="1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contact@mitu.co.in </a:t>
            </a:r>
            <a:r>
              <a:rPr dirty="0" sz="2400" spc="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Courier New"/>
                <a:cs typeface="Courier New"/>
                <a:hlinkClick r:id="rId3"/>
              </a:rPr>
              <a:t>tushar@tusharkute.com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/>
          <a:solidFill>
            <a:srgbClr val="7E7E7E"/>
          </a:solidFill>
        </p:spPr>
        <p:txBody>
          <a:bodyPr wrap="square" lIns="0" tIns="347980" rIns="0" bIns="0" rtlCol="0" vert="horz">
            <a:spAutoFit/>
          </a:bodyPr>
          <a:lstStyle/>
          <a:p>
            <a:pPr algn="ctr" marR="402590">
              <a:lnSpc>
                <a:spcPct val="100000"/>
              </a:lnSpc>
              <a:spcBef>
                <a:spcPts val="2740"/>
              </a:spcBef>
            </a:pPr>
            <a:r>
              <a:rPr dirty="0" spc="-25"/>
              <a:t>Thank</a:t>
            </a:r>
            <a:r>
              <a:rPr dirty="0" spc="-150"/>
              <a:t> </a:t>
            </a:r>
            <a:r>
              <a:rPr dirty="0" spc="55"/>
              <a:t>you</a:t>
            </a:r>
          </a:p>
        </p:txBody>
      </p:sp>
      <p:sp>
        <p:nvSpPr>
          <p:cNvPr id="6" name="object 6"/>
          <p:cNvSpPr/>
          <p:nvPr/>
        </p:nvSpPr>
        <p:spPr>
          <a:xfrm>
            <a:off x="36360" y="1368005"/>
            <a:ext cx="9000490" cy="432434"/>
          </a:xfrm>
          <a:custGeom>
            <a:avLst/>
            <a:gdLst/>
            <a:ahLst/>
            <a:cxnLst/>
            <a:rect l="l" t="t" r="r" b="b"/>
            <a:pathLst>
              <a:path w="9000490" h="432435">
                <a:moveTo>
                  <a:pt x="8999994" y="0"/>
                </a:moveTo>
                <a:lnTo>
                  <a:pt x="0" y="0"/>
                </a:lnTo>
                <a:lnTo>
                  <a:pt x="0" y="431990"/>
                </a:lnTo>
                <a:lnTo>
                  <a:pt x="4500003" y="431990"/>
                </a:lnTo>
                <a:lnTo>
                  <a:pt x="8999994" y="431990"/>
                </a:lnTo>
                <a:lnTo>
                  <a:pt x="89999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360" y="1368005"/>
            <a:ext cx="9000490" cy="432434"/>
          </a:xfrm>
          <a:prstGeom prst="rect">
            <a:avLst/>
          </a:prstGeom>
          <a:ln w="3175">
            <a:solidFill>
              <a:srgbClr val="FFD21F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dirty="0" sz="1400" spc="-45" i="1">
                <a:latin typeface="Arial"/>
                <a:cs typeface="Arial"/>
              </a:rPr>
              <a:t>This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10" i="1">
                <a:latin typeface="Arial"/>
                <a:cs typeface="Arial"/>
              </a:rPr>
              <a:t>presentation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created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using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5" i="1">
                <a:latin typeface="Arial"/>
                <a:cs typeface="Arial"/>
              </a:rPr>
              <a:t>LibreOffice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Impress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5.1.6.2,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5" i="1">
                <a:latin typeface="Arial"/>
                <a:cs typeface="Arial"/>
              </a:rPr>
              <a:t>can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be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used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15" i="1">
                <a:latin typeface="Arial"/>
                <a:cs typeface="Arial"/>
              </a:rPr>
              <a:t>freely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70" i="1">
                <a:latin typeface="Arial"/>
                <a:cs typeface="Arial"/>
              </a:rPr>
              <a:t>as</a:t>
            </a:r>
            <a:r>
              <a:rPr dirty="0" sz="1400" spc="-75" i="1">
                <a:latin typeface="Arial"/>
                <a:cs typeface="Arial"/>
              </a:rPr>
              <a:t> </a:t>
            </a:r>
            <a:r>
              <a:rPr dirty="0" sz="1400" spc="-5" i="1">
                <a:latin typeface="Arial"/>
                <a:cs typeface="Arial"/>
              </a:rPr>
              <a:t>per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0" i="1">
                <a:latin typeface="Arial"/>
                <a:cs typeface="Arial"/>
              </a:rPr>
              <a:t>GNU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General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15" i="1">
                <a:latin typeface="Arial"/>
                <a:cs typeface="Arial"/>
              </a:rPr>
              <a:t>Public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License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8363" y="4176001"/>
            <a:ext cx="3384550" cy="1080135"/>
          </a:xfrm>
          <a:custGeom>
            <a:avLst/>
            <a:gdLst/>
            <a:ahLst/>
            <a:cxnLst/>
            <a:rect l="l" t="t" r="r" b="b"/>
            <a:pathLst>
              <a:path w="3384550" h="1080135">
                <a:moveTo>
                  <a:pt x="3383991" y="0"/>
                </a:moveTo>
                <a:lnTo>
                  <a:pt x="0" y="0"/>
                </a:lnTo>
                <a:lnTo>
                  <a:pt x="0" y="1079995"/>
                </a:lnTo>
                <a:lnTo>
                  <a:pt x="1691995" y="1079995"/>
                </a:lnTo>
                <a:lnTo>
                  <a:pt x="3383991" y="1079995"/>
                </a:lnTo>
                <a:lnTo>
                  <a:pt x="3383991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8363" y="4176001"/>
            <a:ext cx="3384550" cy="1080135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wrap="square" lIns="0" tIns="128270" rIns="0" bIns="0" rtlCol="0" vert="horz">
            <a:spAutoFit/>
          </a:bodyPr>
          <a:lstStyle/>
          <a:p>
            <a:pPr algn="ctr" marL="537845" marR="531495">
              <a:lnSpc>
                <a:spcPct val="100000"/>
              </a:lnSpc>
              <a:spcBef>
                <a:spcPts val="1010"/>
              </a:spcBef>
            </a:pPr>
            <a:r>
              <a:rPr dirty="0" sz="1800" spc="10" b="1">
                <a:latin typeface="Arial"/>
                <a:cs typeface="Arial"/>
              </a:rPr>
              <a:t>Web </a:t>
            </a:r>
            <a:r>
              <a:rPr dirty="0" sz="1800" spc="-40" b="1">
                <a:latin typeface="Arial"/>
                <a:cs typeface="Arial"/>
              </a:rPr>
              <a:t>Resources 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55">
                <a:latin typeface="Microsoft Sans Serif"/>
                <a:cs typeface="Microsoft Sans Serif"/>
              </a:rPr>
              <a:t>https://mitu.co.in </a:t>
            </a:r>
            <a:r>
              <a:rPr dirty="0" sz="1800" spc="60">
                <a:latin typeface="Microsoft Sans Serif"/>
                <a:cs typeface="Microsoft Sans Serif"/>
              </a:rPr>
              <a:t> </a:t>
            </a:r>
            <a:r>
              <a:rPr dirty="0" sz="1800" spc="165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7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40">
                <a:latin typeface="Microsoft Sans Serif"/>
                <a:cs typeface="Microsoft Sans Serif"/>
                <a:hlinkClick r:id="rId4"/>
              </a:rPr>
              <a:t>p</a:t>
            </a:r>
            <a:r>
              <a:rPr dirty="0" sz="1800" spc="-55">
                <a:latin typeface="Microsoft Sans Serif"/>
                <a:cs typeface="Microsoft Sans Serif"/>
                <a:hlinkClick r:id="rId4"/>
              </a:rPr>
              <a:t>:</a:t>
            </a:r>
            <a:r>
              <a:rPr dirty="0" sz="1800" spc="18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19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5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-95">
                <a:latin typeface="Microsoft Sans Serif"/>
                <a:cs typeface="Microsoft Sans Serif"/>
                <a:hlinkClick r:id="rId4"/>
              </a:rPr>
              <a:t>s</a:t>
            </a:r>
            <a:r>
              <a:rPr dirty="0" sz="1800" spc="-20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-30">
                <a:latin typeface="Microsoft Sans Serif"/>
                <a:cs typeface="Microsoft Sans Serif"/>
                <a:hlinkClick r:id="rId4"/>
              </a:rPr>
              <a:t>a</a:t>
            </a:r>
            <a:r>
              <a:rPr dirty="0" sz="1800" spc="95">
                <a:latin typeface="Microsoft Sans Serif"/>
                <a:cs typeface="Microsoft Sans Serif"/>
                <a:hlinkClick r:id="rId4"/>
              </a:rPr>
              <a:t>r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k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5">
                <a:latin typeface="Microsoft Sans Serif"/>
                <a:cs typeface="Microsoft Sans Serif"/>
                <a:hlinkClick r:id="rId4"/>
              </a:rPr>
              <a:t>e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.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c</a:t>
            </a:r>
            <a:r>
              <a:rPr dirty="0" sz="1800" spc="65">
                <a:latin typeface="Microsoft Sans Serif"/>
                <a:cs typeface="Microsoft Sans Serif"/>
                <a:hlinkClick r:id="rId4"/>
              </a:rPr>
              <a:t>o</a:t>
            </a:r>
            <a:r>
              <a:rPr dirty="0" sz="1800" spc="50">
                <a:latin typeface="Microsoft Sans Serif"/>
                <a:cs typeface="Microsoft Sans Serif"/>
                <a:hlinkClick r:id="rId4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633" y="3161157"/>
            <a:ext cx="1494713" cy="2584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033" y="2225878"/>
            <a:ext cx="706323" cy="7063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4361" y="2231644"/>
            <a:ext cx="959764" cy="7200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14537" y="3182657"/>
            <a:ext cx="1544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0">
                <a:solidFill>
                  <a:srgbClr val="3C5997"/>
                </a:solidFill>
                <a:latin typeface="Trebuchet MS"/>
                <a:cs typeface="Trebuchet MS"/>
              </a:rPr>
              <a:t>/</a:t>
            </a:r>
            <a:r>
              <a:rPr dirty="0" sz="1400" spc="204">
                <a:solidFill>
                  <a:srgbClr val="3C5997"/>
                </a:solidFill>
                <a:latin typeface="Trebuchet MS"/>
                <a:cs typeface="Trebuchet MS"/>
              </a:rPr>
              <a:t>m</a:t>
            </a:r>
            <a:r>
              <a:rPr dirty="0" sz="1400" spc="2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30">
                <a:solidFill>
                  <a:srgbClr val="3C5997"/>
                </a:solidFill>
                <a:latin typeface="Trebuchet MS"/>
                <a:cs typeface="Trebuchet MS"/>
              </a:rPr>
              <a:t>T</a:t>
            </a:r>
            <a:r>
              <a:rPr dirty="0" sz="1400" spc="120">
                <a:solidFill>
                  <a:srgbClr val="3C5997"/>
                </a:solidFill>
                <a:latin typeface="Trebuchet MS"/>
                <a:cs typeface="Trebuchet MS"/>
              </a:rPr>
              <a:t>u</a:t>
            </a:r>
            <a:r>
              <a:rPr dirty="0" sz="1400" spc="215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r>
              <a:rPr dirty="0" sz="1400" spc="105">
                <a:solidFill>
                  <a:srgbClr val="3C5997"/>
                </a:solidFill>
                <a:latin typeface="Trebuchet MS"/>
                <a:cs typeface="Trebuchet MS"/>
              </a:rPr>
              <a:t>k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175">
                <a:solidFill>
                  <a:srgbClr val="3C5997"/>
                </a:solidFill>
                <a:latin typeface="Trebuchet MS"/>
                <a:cs typeface="Trebuchet MS"/>
              </a:rPr>
              <a:t>g</a:t>
            </a:r>
            <a:r>
              <a:rPr dirty="0" sz="1400" spc="-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90">
                <a:solidFill>
                  <a:srgbClr val="3C5997"/>
                </a:solidFill>
                <a:latin typeface="Trebuchet MS"/>
                <a:cs typeface="Trebuchet MS"/>
              </a:rPr>
              <a:t>e</a:t>
            </a:r>
            <a:r>
              <a:rPr dirty="0" sz="1400" spc="160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84357" y="2188806"/>
            <a:ext cx="791997" cy="7930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23258" y="3129381"/>
            <a:ext cx="12592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5">
                <a:solidFill>
                  <a:srgbClr val="2CA9E0"/>
                </a:solidFill>
                <a:latin typeface="Microsoft Sans Serif"/>
                <a:cs typeface="Microsoft Sans Serif"/>
              </a:rPr>
              <a:t>@m</a:t>
            </a:r>
            <a:r>
              <a:rPr dirty="0" sz="1500" spc="5">
                <a:solidFill>
                  <a:srgbClr val="2CA9E0"/>
                </a:solidFill>
                <a:latin typeface="Microsoft Sans Serif"/>
                <a:cs typeface="Microsoft Sans Serif"/>
              </a:rPr>
              <a:t>i</a:t>
            </a:r>
            <a:r>
              <a:rPr dirty="0" sz="1500" spc="145">
                <a:solidFill>
                  <a:srgbClr val="2CA9E0"/>
                </a:solidFill>
                <a:latin typeface="Microsoft Sans Serif"/>
                <a:cs typeface="Microsoft Sans Serif"/>
              </a:rPr>
              <a:t>t</a:t>
            </a:r>
            <a:r>
              <a:rPr dirty="0" sz="1500" spc="30">
                <a:solidFill>
                  <a:srgbClr val="2CA9E0"/>
                </a:solidFill>
                <a:latin typeface="Microsoft Sans Serif"/>
                <a:cs typeface="Microsoft Sans Serif"/>
              </a:rPr>
              <a:t>u_</a:t>
            </a:r>
            <a:r>
              <a:rPr dirty="0" sz="1500" spc="25">
                <a:solidFill>
                  <a:srgbClr val="2CA9E0"/>
                </a:solidFill>
                <a:latin typeface="Microsoft Sans Serif"/>
                <a:cs typeface="Microsoft Sans Serif"/>
              </a:rPr>
              <a:t>g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r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o</a:t>
            </a: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up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84354" y="2294280"/>
            <a:ext cx="657364" cy="6573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51054" y="3357981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solidFill>
                  <a:srgbClr val="2CA9E0"/>
                </a:solidFill>
                <a:latin typeface="Microsoft Sans Serif"/>
                <a:cs typeface="Microsoft Sans Serif"/>
              </a:rPr>
              <a:t>skillologies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17425" y="3129381"/>
            <a:ext cx="32067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1960" algn="l"/>
              </a:tabLst>
            </a:pP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/company/mitu-	</a:t>
            </a:r>
            <a:r>
              <a:rPr dirty="0" baseline="3703" sz="2250" spc="37">
                <a:solidFill>
                  <a:srgbClr val="FF3333"/>
                </a:solidFill>
                <a:latin typeface="Microsoft Sans Serif"/>
                <a:cs typeface="Microsoft Sans Serif"/>
              </a:rPr>
              <a:t>MITUSkillologies</a:t>
            </a:r>
            <a:endParaRPr baseline="3703" sz="2250">
              <a:latin typeface="Microsoft Sans Serif"/>
              <a:cs typeface="Microsoft Sans Serif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40357" y="2268359"/>
            <a:ext cx="1120317" cy="6112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Presentation Magazine</dc:creator>
  <dc:title>Formal Powerpoint presentation</dc:title>
  <dcterms:created xsi:type="dcterms:W3CDTF">2024-08-19T17:19:02Z</dcterms:created>
  <dcterms:modified xsi:type="dcterms:W3CDTF">2024-08-19T17:19:02Z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2022-04-04T00:00:00Z</vt:filetime>
  </property>
  <property fmtid="{D5CDD505-2E9C-101B-9397-08002B2CF9AE}" pid="3" name="Creator">
    <vt:lpwstr>Impress</vt:lpwstr>
  </property>
  <property fmtid="{D5CDD505-2E9C-101B-9397-08002B2CF9AE}" pid="4" name="LastSaved">
    <vt:filetime>2022-04-04T00:00:00Z</vt:filetime>
  </property>
</Properties>
</file>