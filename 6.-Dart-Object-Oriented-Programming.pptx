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96" y="6192354"/>
            <a:ext cx="1799996" cy="503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17662"/>
            <a:ext cx="7927340" cy="363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://tusharkute.com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contact@mitu.co.in" TargetMode="External"/><Relationship Id="rId3" Type="http://schemas.openxmlformats.org/officeDocument/2006/relationships/hyperlink" Target="mailto:tushar@tusharkute.com" TargetMode="External"/><Relationship Id="rId4" Type="http://schemas.openxmlformats.org/officeDocument/2006/relationships/hyperlink" Target="http://tusharkute.com/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68465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Dart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Object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Oriented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Programming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03" y="6191643"/>
            <a:ext cx="1799996" cy="503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7458" y="5040629"/>
            <a:ext cx="257746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10">
                <a:latin typeface="Georgia"/>
                <a:cs typeface="Georgia"/>
              </a:rPr>
              <a:t>Tushar</a:t>
            </a:r>
            <a:r>
              <a:rPr dirty="0" sz="2400" spc="160">
                <a:latin typeface="Georgia"/>
                <a:cs typeface="Georgia"/>
              </a:rPr>
              <a:t> </a:t>
            </a:r>
            <a:r>
              <a:rPr dirty="0" sz="2400" spc="155">
                <a:latin typeface="Georgia"/>
                <a:cs typeface="Georgia"/>
              </a:rPr>
              <a:t>B. </a:t>
            </a:r>
            <a:r>
              <a:rPr dirty="0" sz="2400" spc="95">
                <a:latin typeface="Georgia"/>
                <a:cs typeface="Georgia"/>
              </a:rPr>
              <a:t>Kute,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95">
                <a:latin typeface="Georgia"/>
                <a:cs typeface="Georgia"/>
                <a:hlinkClick r:id="rId3"/>
              </a:rPr>
              <a:t>http://tusharkute.com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71994" y="4895634"/>
            <a:ext cx="1370520" cy="137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5"/>
              <a:t>Programming</a:t>
            </a:r>
            <a:r>
              <a:rPr dirty="0" spc="-175"/>
              <a:t> </a:t>
            </a:r>
            <a:r>
              <a:rPr dirty="0" spc="-35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241" y="70916"/>
            <a:ext cx="1184757" cy="6480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96602" y="1554480"/>
            <a:ext cx="2400935" cy="34353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360"/>
              </a:spcBef>
            </a:pPr>
            <a:r>
              <a:rPr dirty="0" sz="1400" spc="-5">
                <a:latin typeface="Arial MT"/>
                <a:cs typeface="Arial MT"/>
              </a:rPr>
              <a:t>Computer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Languages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9124" y="2354757"/>
            <a:ext cx="1372235" cy="34353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355"/>
              </a:spcBef>
            </a:pPr>
            <a:r>
              <a:rPr dirty="0" sz="1400" spc="-5">
                <a:latin typeface="Arial MT"/>
                <a:cs typeface="Arial MT"/>
              </a:rPr>
              <a:t>Imperative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0924" y="2354757"/>
            <a:ext cx="1486535" cy="34353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355"/>
              </a:spcBef>
            </a:pPr>
            <a:r>
              <a:rPr dirty="0" sz="1400" spc="-5">
                <a:latin typeface="Arial MT"/>
                <a:cs typeface="Arial MT"/>
              </a:rPr>
              <a:t>Declarative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7418" y="3073577"/>
            <a:ext cx="763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</a:t>
            </a:r>
            <a:r>
              <a:rPr dirty="0" u="sng" sz="120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cedural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7418" y="3987977"/>
            <a:ext cx="942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Object</a:t>
            </a:r>
            <a:r>
              <a:rPr dirty="0" u="sng" sz="1200" spc="-7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Based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7418" y="4902377"/>
            <a:ext cx="1094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bject </a:t>
            </a:r>
            <a:r>
              <a:rPr dirty="0" u="sng" sz="12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ien</a:t>
            </a:r>
            <a:r>
              <a:rPr dirty="0" u="sng" sz="12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C++,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JAVA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7418" y="5816777"/>
            <a:ext cx="1146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Block</a:t>
            </a:r>
            <a:r>
              <a:rPr dirty="0" u="sng" sz="1200" spc="-7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Structured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PASCAL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3696" y="3073577"/>
            <a:ext cx="976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Logical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PROLOG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3696" y="3987977"/>
            <a:ext cx="731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</a:t>
            </a:r>
            <a:r>
              <a:rPr dirty="0" u="sng" sz="120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nc</a:t>
            </a:r>
            <a:r>
              <a:rPr dirty="0" u="sng" sz="12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on</a:t>
            </a:r>
            <a:r>
              <a:rPr dirty="0" u="sng" sz="120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LISP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3696" y="4902377"/>
            <a:ext cx="679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Da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</a:t>
            </a:r>
            <a:r>
              <a:rPr dirty="0" u="sng" sz="120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base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SQL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24924" y="1891257"/>
            <a:ext cx="1492885" cy="478155"/>
            <a:chOff x="2824924" y="1891257"/>
            <a:chExt cx="1492885" cy="478155"/>
          </a:xfrm>
        </p:grpSpPr>
        <p:sp>
          <p:nvSpPr>
            <p:cNvPr id="15" name="object 15"/>
            <p:cNvSpPr/>
            <p:nvPr/>
          </p:nvSpPr>
          <p:spPr>
            <a:xfrm>
              <a:off x="2892958" y="1897557"/>
              <a:ext cx="1418590" cy="436880"/>
            </a:xfrm>
            <a:custGeom>
              <a:avLst/>
              <a:gdLst/>
              <a:ahLst/>
              <a:cxnLst/>
              <a:rect l="l" t="t" r="r" b="b"/>
              <a:pathLst>
                <a:path w="1418589" h="436880">
                  <a:moveTo>
                    <a:pt x="1418043" y="0"/>
                  </a:moveTo>
                  <a:lnTo>
                    <a:pt x="0" y="436321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24924" y="2295715"/>
              <a:ext cx="84455" cy="73660"/>
            </a:xfrm>
            <a:custGeom>
              <a:avLst/>
              <a:gdLst/>
              <a:ahLst/>
              <a:cxnLst/>
              <a:rect l="l" t="t" r="r" b="b"/>
              <a:pathLst>
                <a:path w="84455" h="73660">
                  <a:moveTo>
                    <a:pt x="61556" y="0"/>
                  </a:moveTo>
                  <a:lnTo>
                    <a:pt x="0" y="59042"/>
                  </a:lnTo>
                  <a:lnTo>
                    <a:pt x="84239" y="73088"/>
                  </a:lnTo>
                  <a:lnTo>
                    <a:pt x="61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4533302" y="1891257"/>
            <a:ext cx="1264285" cy="473709"/>
            <a:chOff x="4533302" y="1891257"/>
            <a:chExt cx="1264285" cy="473709"/>
          </a:xfrm>
        </p:grpSpPr>
        <p:sp>
          <p:nvSpPr>
            <p:cNvPr id="18" name="object 18"/>
            <p:cNvSpPr/>
            <p:nvPr/>
          </p:nvSpPr>
          <p:spPr>
            <a:xfrm>
              <a:off x="4539602" y="1897557"/>
              <a:ext cx="1190625" cy="433070"/>
            </a:xfrm>
            <a:custGeom>
              <a:avLst/>
              <a:gdLst/>
              <a:ahLst/>
              <a:cxnLst/>
              <a:rect l="l" t="t" r="r" b="b"/>
              <a:pathLst>
                <a:path w="1190625" h="433069">
                  <a:moveTo>
                    <a:pt x="0" y="0"/>
                  </a:moveTo>
                  <a:lnTo>
                    <a:pt x="1190523" y="43272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12485" y="2292845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89" h="71755">
                  <a:moveTo>
                    <a:pt x="25920" y="0"/>
                  </a:moveTo>
                  <a:lnTo>
                    <a:pt x="0" y="71640"/>
                  </a:lnTo>
                  <a:lnTo>
                    <a:pt x="84594" y="61912"/>
                  </a:lnTo>
                  <a:lnTo>
                    <a:pt x="259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2475902" y="2691180"/>
            <a:ext cx="463550" cy="3360420"/>
            <a:chOff x="2475902" y="2691180"/>
            <a:chExt cx="463550" cy="3360420"/>
          </a:xfrm>
        </p:grpSpPr>
        <p:sp>
          <p:nvSpPr>
            <p:cNvPr id="21" name="object 21"/>
            <p:cNvSpPr/>
            <p:nvPr/>
          </p:nvSpPr>
          <p:spPr>
            <a:xfrm>
              <a:off x="2482202" y="2697480"/>
              <a:ext cx="1270" cy="3315335"/>
            </a:xfrm>
            <a:custGeom>
              <a:avLst/>
              <a:gdLst/>
              <a:ahLst/>
              <a:cxnLst/>
              <a:rect l="l" t="t" r="r" b="b"/>
              <a:pathLst>
                <a:path w="1269" h="3315335">
                  <a:moveTo>
                    <a:pt x="0" y="0"/>
                  </a:moveTo>
                  <a:lnTo>
                    <a:pt x="723" y="331487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82202" y="3269157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80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63075" y="32317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26"/>
                  </a:lnTo>
                  <a:lnTo>
                    <a:pt x="76327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482202" y="4183557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80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63075" y="41461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26"/>
                  </a:lnTo>
                  <a:lnTo>
                    <a:pt x="76327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482202" y="5097957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80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863075" y="50605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26"/>
                  </a:lnTo>
                  <a:lnTo>
                    <a:pt x="76327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482202" y="6012357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80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863075" y="59749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26"/>
                  </a:lnTo>
                  <a:lnTo>
                    <a:pt x="76327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5561824" y="2691180"/>
            <a:ext cx="463550" cy="2560320"/>
            <a:chOff x="5561824" y="2691180"/>
            <a:chExt cx="463550" cy="2560320"/>
          </a:xfrm>
        </p:grpSpPr>
        <p:sp>
          <p:nvSpPr>
            <p:cNvPr id="31" name="object 31"/>
            <p:cNvSpPr/>
            <p:nvPr/>
          </p:nvSpPr>
          <p:spPr>
            <a:xfrm>
              <a:off x="5568124" y="2697480"/>
              <a:ext cx="1270" cy="2514600"/>
            </a:xfrm>
            <a:custGeom>
              <a:avLst/>
              <a:gdLst/>
              <a:ahLst/>
              <a:cxnLst/>
              <a:rect l="l" t="t" r="r" b="b"/>
              <a:pathLst>
                <a:path w="1270" h="2514600">
                  <a:moveTo>
                    <a:pt x="0" y="0"/>
                  </a:moveTo>
                  <a:lnTo>
                    <a:pt x="711" y="251460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568124" y="3269157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79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948997" y="32317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26"/>
                  </a:lnTo>
                  <a:lnTo>
                    <a:pt x="76326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568124" y="4183557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79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948997" y="414611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26"/>
                  </a:lnTo>
                  <a:lnTo>
                    <a:pt x="76326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568124" y="5212079"/>
              <a:ext cx="386080" cy="1270"/>
            </a:xfrm>
            <a:custGeom>
              <a:avLst/>
              <a:gdLst/>
              <a:ahLst/>
              <a:cxnLst/>
              <a:rect l="l" t="t" r="r" b="b"/>
              <a:pathLst>
                <a:path w="386079" h="1270">
                  <a:moveTo>
                    <a:pt x="0" y="0"/>
                  </a:moveTo>
                  <a:lnTo>
                    <a:pt x="385914" y="7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948997" y="5174640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314"/>
                  </a:lnTo>
                  <a:lnTo>
                    <a:pt x="76326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35"/>
              <a:t>Procedure</a:t>
            </a:r>
            <a:r>
              <a:rPr dirty="0" spc="-140"/>
              <a:t> </a:t>
            </a:r>
            <a:r>
              <a:rPr dirty="0" spc="114"/>
              <a:t>Oriented</a:t>
            </a:r>
            <a:r>
              <a:rPr dirty="0" spc="-130"/>
              <a:t> </a:t>
            </a:r>
            <a:r>
              <a:rPr dirty="0" spc="55"/>
              <a:t>Programming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241" y="70916"/>
            <a:ext cx="1184757" cy="6480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87916" y="1992960"/>
            <a:ext cx="2667635" cy="528955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824230">
              <a:lnSpc>
                <a:spcPct val="100000"/>
              </a:lnSpc>
              <a:spcBef>
                <a:spcPts val="355"/>
              </a:spcBef>
            </a:pPr>
            <a:r>
              <a:rPr dirty="0" sz="1200" b="1">
                <a:latin typeface="Arial"/>
                <a:cs typeface="Arial"/>
              </a:rPr>
              <a:t>Main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6157" y="3049193"/>
            <a:ext cx="1143000" cy="528320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520065" marR="271780" indent="-243204">
              <a:lnSpc>
                <a:spcPct val="100000"/>
              </a:lnSpc>
              <a:spcBef>
                <a:spcPts val="360"/>
              </a:spcBef>
            </a:pPr>
            <a:r>
              <a:rPr dirty="0" sz="1200" spc="-5">
                <a:latin typeface="Arial MT"/>
                <a:cs typeface="Arial MT"/>
              </a:rPr>
              <a:t>F</a:t>
            </a:r>
            <a:r>
              <a:rPr dirty="0" sz="1200" spc="10">
                <a:latin typeface="Arial MT"/>
                <a:cs typeface="Arial MT"/>
              </a:rPr>
              <a:t>u</a:t>
            </a:r>
            <a:r>
              <a:rPr dirty="0" sz="1200">
                <a:latin typeface="Arial MT"/>
                <a:cs typeface="Arial MT"/>
              </a:rPr>
              <a:t>nc</a:t>
            </a:r>
            <a:r>
              <a:rPr dirty="0" sz="1200" spc="5">
                <a:latin typeface="Arial MT"/>
                <a:cs typeface="Arial MT"/>
              </a:rPr>
              <a:t>t</a:t>
            </a:r>
            <a:r>
              <a:rPr dirty="0" sz="1200" spc="-10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on  </a:t>
            </a:r>
            <a:r>
              <a:rPr dirty="0" sz="120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0043" y="3049193"/>
            <a:ext cx="1143635" cy="528320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520065" marR="272415" indent="-243204">
              <a:lnSpc>
                <a:spcPct val="100000"/>
              </a:lnSpc>
              <a:spcBef>
                <a:spcPts val="360"/>
              </a:spcBef>
            </a:pPr>
            <a:r>
              <a:rPr dirty="0" sz="1200" spc="-5">
                <a:latin typeface="Arial MT"/>
                <a:cs typeface="Arial MT"/>
              </a:rPr>
              <a:t>F</a:t>
            </a:r>
            <a:r>
              <a:rPr dirty="0" sz="1200">
                <a:latin typeface="Arial MT"/>
                <a:cs typeface="Arial MT"/>
              </a:rPr>
              <a:t>u</a:t>
            </a:r>
            <a:r>
              <a:rPr dirty="0" sz="1200" spc="10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c</a:t>
            </a:r>
            <a:r>
              <a:rPr dirty="0" sz="1200" spc="-5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ion  </a:t>
            </a:r>
            <a:r>
              <a:rPr dirty="0" sz="1200"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4284" y="3049193"/>
            <a:ext cx="1143635" cy="528320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516255" marR="272415" indent="-238760">
              <a:lnSpc>
                <a:spcPct val="100000"/>
              </a:lnSpc>
              <a:spcBef>
                <a:spcPts val="360"/>
              </a:spcBef>
            </a:pPr>
            <a:r>
              <a:rPr dirty="0" sz="1200" spc="-5">
                <a:latin typeface="Arial MT"/>
                <a:cs typeface="Arial MT"/>
              </a:rPr>
              <a:t>F</a:t>
            </a:r>
            <a:r>
              <a:rPr dirty="0" sz="1200" spc="10">
                <a:latin typeface="Arial MT"/>
                <a:cs typeface="Arial MT"/>
              </a:rPr>
              <a:t>u</a:t>
            </a:r>
            <a:r>
              <a:rPr dirty="0" sz="1200">
                <a:latin typeface="Arial MT"/>
                <a:cs typeface="Arial MT"/>
              </a:rPr>
              <a:t>nc</a:t>
            </a:r>
            <a:r>
              <a:rPr dirty="0" sz="1200" spc="5">
                <a:latin typeface="Arial MT"/>
                <a:cs typeface="Arial MT"/>
              </a:rPr>
              <a:t>t</a:t>
            </a:r>
            <a:r>
              <a:rPr dirty="0" sz="1200" spc="-10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on  </a:t>
            </a:r>
            <a:r>
              <a:rPr dirty="0" sz="120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7916" y="4104360"/>
            <a:ext cx="1143635" cy="528320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516890" marR="271780" indent="-238760">
              <a:lnSpc>
                <a:spcPct val="100000"/>
              </a:lnSpc>
              <a:spcBef>
                <a:spcPts val="360"/>
              </a:spcBef>
            </a:pPr>
            <a:r>
              <a:rPr dirty="0" sz="1200" spc="-5">
                <a:latin typeface="Arial MT"/>
                <a:cs typeface="Arial MT"/>
              </a:rPr>
              <a:t>F</a:t>
            </a:r>
            <a:r>
              <a:rPr dirty="0" sz="1200">
                <a:latin typeface="Arial MT"/>
                <a:cs typeface="Arial MT"/>
              </a:rPr>
              <a:t>u</a:t>
            </a:r>
            <a:r>
              <a:rPr dirty="0" sz="1200" spc="10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c</a:t>
            </a:r>
            <a:r>
              <a:rPr dirty="0" sz="1200" spc="-5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ion  </a:t>
            </a:r>
            <a:r>
              <a:rPr dirty="0" sz="1200"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9234" y="4104360"/>
            <a:ext cx="1143635" cy="528320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520065" marR="272415" indent="-243204">
              <a:lnSpc>
                <a:spcPct val="100000"/>
              </a:lnSpc>
              <a:spcBef>
                <a:spcPts val="360"/>
              </a:spcBef>
            </a:pPr>
            <a:r>
              <a:rPr dirty="0" sz="1200" spc="-5">
                <a:latin typeface="Arial MT"/>
                <a:cs typeface="Arial MT"/>
              </a:rPr>
              <a:t>F</a:t>
            </a:r>
            <a:r>
              <a:rPr dirty="0" sz="1200" spc="10">
                <a:latin typeface="Arial MT"/>
                <a:cs typeface="Arial MT"/>
              </a:rPr>
              <a:t>u</a:t>
            </a:r>
            <a:r>
              <a:rPr dirty="0" sz="1200">
                <a:latin typeface="Arial MT"/>
                <a:cs typeface="Arial MT"/>
              </a:rPr>
              <a:t>nc</a:t>
            </a:r>
            <a:r>
              <a:rPr dirty="0" sz="1200" spc="5">
                <a:latin typeface="Arial MT"/>
                <a:cs typeface="Arial MT"/>
              </a:rPr>
              <a:t>t</a:t>
            </a:r>
            <a:r>
              <a:rPr dirty="0" sz="1200" spc="-10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on  </a:t>
            </a:r>
            <a:r>
              <a:rPr dirty="0" sz="1200">
                <a:latin typeface="Arial MT"/>
                <a:cs typeface="Arial MT"/>
              </a:rPr>
              <a:t>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7475" y="5028120"/>
            <a:ext cx="1143000" cy="528320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wrap="square" lIns="0" tIns="45719" rIns="0" bIns="0" rtlCol="0" vert="horz">
            <a:spAutoFit/>
          </a:bodyPr>
          <a:lstStyle/>
          <a:p>
            <a:pPr marL="525145" marR="271780" indent="-246379">
              <a:lnSpc>
                <a:spcPct val="100000"/>
              </a:lnSpc>
              <a:spcBef>
                <a:spcPts val="359"/>
              </a:spcBef>
            </a:pPr>
            <a:r>
              <a:rPr dirty="0" sz="1200" spc="-5">
                <a:latin typeface="Arial MT"/>
                <a:cs typeface="Arial MT"/>
              </a:rPr>
              <a:t>F</a:t>
            </a:r>
            <a:r>
              <a:rPr dirty="0" sz="1200">
                <a:latin typeface="Arial MT"/>
                <a:cs typeface="Arial MT"/>
              </a:rPr>
              <a:t>unc</a:t>
            </a:r>
            <a:r>
              <a:rPr dirty="0" sz="1200" spc="5">
                <a:latin typeface="Arial MT"/>
                <a:cs typeface="Arial MT"/>
              </a:rPr>
              <a:t>t</a:t>
            </a:r>
            <a:r>
              <a:rPr dirty="0" sz="1200" spc="-10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on  </a:t>
            </a:r>
            <a:r>
              <a:rPr dirty="0" sz="1200">
                <a:latin typeface="Arial MT"/>
                <a:cs typeface="Arial MT"/>
              </a:rPr>
              <a:t>F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61195" y="2516765"/>
            <a:ext cx="513080" cy="532765"/>
            <a:chOff x="2761195" y="2516765"/>
            <a:chExt cx="513080" cy="532765"/>
          </a:xfrm>
        </p:grpSpPr>
        <p:sp>
          <p:nvSpPr>
            <p:cNvPr id="12" name="object 12"/>
            <p:cNvSpPr/>
            <p:nvPr/>
          </p:nvSpPr>
          <p:spPr>
            <a:xfrm>
              <a:off x="2810522" y="2521445"/>
              <a:ext cx="459105" cy="476884"/>
            </a:xfrm>
            <a:custGeom>
              <a:avLst/>
              <a:gdLst/>
              <a:ahLst/>
              <a:cxnLst/>
              <a:rect l="l" t="t" r="r" b="b"/>
              <a:pathLst>
                <a:path w="459104" h="476885">
                  <a:moveTo>
                    <a:pt x="458635" y="0"/>
                  </a:moveTo>
                  <a:lnTo>
                    <a:pt x="0" y="47627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61195" y="2967837"/>
              <a:ext cx="80645" cy="81915"/>
            </a:xfrm>
            <a:custGeom>
              <a:avLst/>
              <a:gdLst/>
              <a:ahLst/>
              <a:cxnLst/>
              <a:rect l="l" t="t" r="r" b="b"/>
              <a:pathLst>
                <a:path w="80644" h="81914">
                  <a:moveTo>
                    <a:pt x="25565" y="0"/>
                  </a:moveTo>
                  <a:lnTo>
                    <a:pt x="0" y="81356"/>
                  </a:lnTo>
                  <a:lnTo>
                    <a:pt x="80289" y="52920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4247273" y="2516765"/>
            <a:ext cx="76835" cy="532765"/>
            <a:chOff x="4247273" y="2516765"/>
            <a:chExt cx="76835" cy="532765"/>
          </a:xfrm>
        </p:grpSpPr>
        <p:sp>
          <p:nvSpPr>
            <p:cNvPr id="15" name="object 15"/>
            <p:cNvSpPr/>
            <p:nvPr/>
          </p:nvSpPr>
          <p:spPr>
            <a:xfrm>
              <a:off x="4284725" y="2521445"/>
              <a:ext cx="1270" cy="456565"/>
            </a:xfrm>
            <a:custGeom>
              <a:avLst/>
              <a:gdLst/>
              <a:ahLst/>
              <a:cxnLst/>
              <a:rect l="l" t="t" r="r" b="b"/>
              <a:pathLst>
                <a:path w="1270" h="456564">
                  <a:moveTo>
                    <a:pt x="0" y="0"/>
                  </a:moveTo>
                  <a:lnTo>
                    <a:pt x="711" y="456476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247273" y="2972879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76326" y="0"/>
                  </a:moveTo>
                  <a:lnTo>
                    <a:pt x="0" y="0"/>
                  </a:lnTo>
                  <a:lnTo>
                    <a:pt x="38163" y="76314"/>
                  </a:lnTo>
                  <a:lnTo>
                    <a:pt x="76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296680" y="2516765"/>
            <a:ext cx="386080" cy="532765"/>
            <a:chOff x="5296680" y="2516765"/>
            <a:chExt cx="386080" cy="532765"/>
          </a:xfrm>
        </p:grpSpPr>
        <p:sp>
          <p:nvSpPr>
            <p:cNvPr id="18" name="object 18"/>
            <p:cNvSpPr/>
            <p:nvPr/>
          </p:nvSpPr>
          <p:spPr>
            <a:xfrm>
              <a:off x="5301360" y="2521445"/>
              <a:ext cx="339725" cy="470534"/>
            </a:xfrm>
            <a:custGeom>
              <a:avLst/>
              <a:gdLst/>
              <a:ahLst/>
              <a:cxnLst/>
              <a:rect l="l" t="t" r="r" b="b"/>
              <a:pathLst>
                <a:path w="339725" h="470535">
                  <a:moveTo>
                    <a:pt x="0" y="0"/>
                  </a:moveTo>
                  <a:lnTo>
                    <a:pt x="339483" y="47015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606999" y="2964954"/>
              <a:ext cx="76200" cy="84455"/>
            </a:xfrm>
            <a:custGeom>
              <a:avLst/>
              <a:gdLst/>
              <a:ahLst/>
              <a:cxnLst/>
              <a:rect l="l" t="t" r="r" b="b"/>
              <a:pathLst>
                <a:path w="76200" h="84455">
                  <a:moveTo>
                    <a:pt x="61925" y="0"/>
                  </a:moveTo>
                  <a:lnTo>
                    <a:pt x="0" y="44640"/>
                  </a:lnTo>
                  <a:lnTo>
                    <a:pt x="75603" y="84239"/>
                  </a:lnTo>
                  <a:lnTo>
                    <a:pt x="6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2756516" y="3571919"/>
            <a:ext cx="513080" cy="532765"/>
            <a:chOff x="2756516" y="3571919"/>
            <a:chExt cx="513080" cy="532765"/>
          </a:xfrm>
        </p:grpSpPr>
        <p:sp>
          <p:nvSpPr>
            <p:cNvPr id="21" name="object 21"/>
            <p:cNvSpPr/>
            <p:nvPr/>
          </p:nvSpPr>
          <p:spPr>
            <a:xfrm>
              <a:off x="2761195" y="3576599"/>
              <a:ext cx="459105" cy="476884"/>
            </a:xfrm>
            <a:custGeom>
              <a:avLst/>
              <a:gdLst/>
              <a:ahLst/>
              <a:cxnLst/>
              <a:rect l="l" t="t" r="r" b="b"/>
              <a:pathLst>
                <a:path w="459105" h="476885">
                  <a:moveTo>
                    <a:pt x="0" y="0"/>
                  </a:moveTo>
                  <a:lnTo>
                    <a:pt x="458647" y="47627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88881" y="4023004"/>
              <a:ext cx="80645" cy="81915"/>
            </a:xfrm>
            <a:custGeom>
              <a:avLst/>
              <a:gdLst/>
              <a:ahLst/>
              <a:cxnLst/>
              <a:rect l="l" t="t" r="r" b="b"/>
              <a:pathLst>
                <a:path w="80645" h="81914">
                  <a:moveTo>
                    <a:pt x="54724" y="0"/>
                  </a:moveTo>
                  <a:lnTo>
                    <a:pt x="0" y="52920"/>
                  </a:lnTo>
                  <a:lnTo>
                    <a:pt x="80276" y="81356"/>
                  </a:lnTo>
                  <a:lnTo>
                    <a:pt x="54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3523322" y="3571919"/>
            <a:ext cx="386080" cy="532765"/>
            <a:chOff x="3523322" y="3571919"/>
            <a:chExt cx="386080" cy="532765"/>
          </a:xfrm>
        </p:grpSpPr>
        <p:sp>
          <p:nvSpPr>
            <p:cNvPr id="24" name="object 24"/>
            <p:cNvSpPr/>
            <p:nvPr/>
          </p:nvSpPr>
          <p:spPr>
            <a:xfrm>
              <a:off x="3565080" y="3576599"/>
              <a:ext cx="339725" cy="470534"/>
            </a:xfrm>
            <a:custGeom>
              <a:avLst/>
              <a:gdLst/>
              <a:ahLst/>
              <a:cxnLst/>
              <a:rect l="l" t="t" r="r" b="b"/>
              <a:pathLst>
                <a:path w="339725" h="470535">
                  <a:moveTo>
                    <a:pt x="339483" y="0"/>
                  </a:moveTo>
                  <a:lnTo>
                    <a:pt x="0" y="470166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523322" y="4020121"/>
              <a:ext cx="76200" cy="84455"/>
            </a:xfrm>
            <a:custGeom>
              <a:avLst/>
              <a:gdLst/>
              <a:ahLst/>
              <a:cxnLst/>
              <a:rect l="l" t="t" r="r" b="b"/>
              <a:pathLst>
                <a:path w="76200" h="84454">
                  <a:moveTo>
                    <a:pt x="13677" y="0"/>
                  </a:moveTo>
                  <a:lnTo>
                    <a:pt x="0" y="84239"/>
                  </a:lnTo>
                  <a:lnTo>
                    <a:pt x="75603" y="44640"/>
                  </a:lnTo>
                  <a:lnTo>
                    <a:pt x="13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5301360" y="3571919"/>
            <a:ext cx="386080" cy="532765"/>
            <a:chOff x="5301360" y="3571919"/>
            <a:chExt cx="386080" cy="532765"/>
          </a:xfrm>
        </p:grpSpPr>
        <p:sp>
          <p:nvSpPr>
            <p:cNvPr id="27" name="object 27"/>
            <p:cNvSpPr/>
            <p:nvPr/>
          </p:nvSpPr>
          <p:spPr>
            <a:xfrm>
              <a:off x="5343118" y="3576599"/>
              <a:ext cx="339725" cy="470534"/>
            </a:xfrm>
            <a:custGeom>
              <a:avLst/>
              <a:gdLst/>
              <a:ahLst/>
              <a:cxnLst/>
              <a:rect l="l" t="t" r="r" b="b"/>
              <a:pathLst>
                <a:path w="339725" h="470535">
                  <a:moveTo>
                    <a:pt x="339483" y="0"/>
                  </a:moveTo>
                  <a:lnTo>
                    <a:pt x="0" y="470166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301360" y="4020121"/>
              <a:ext cx="76200" cy="84455"/>
            </a:xfrm>
            <a:custGeom>
              <a:avLst/>
              <a:gdLst/>
              <a:ahLst/>
              <a:cxnLst/>
              <a:rect l="l" t="t" r="r" b="b"/>
              <a:pathLst>
                <a:path w="76200" h="84454">
                  <a:moveTo>
                    <a:pt x="13677" y="0"/>
                  </a:moveTo>
                  <a:lnTo>
                    <a:pt x="0" y="84239"/>
                  </a:lnTo>
                  <a:lnTo>
                    <a:pt x="75603" y="44640"/>
                  </a:lnTo>
                  <a:lnTo>
                    <a:pt x="13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4247273" y="3576599"/>
            <a:ext cx="76835" cy="1451610"/>
            <a:chOff x="4247273" y="3576599"/>
            <a:chExt cx="76835" cy="1451610"/>
          </a:xfrm>
        </p:grpSpPr>
        <p:sp>
          <p:nvSpPr>
            <p:cNvPr id="30" name="object 30"/>
            <p:cNvSpPr/>
            <p:nvPr/>
          </p:nvSpPr>
          <p:spPr>
            <a:xfrm>
              <a:off x="4285437" y="3576599"/>
              <a:ext cx="0" cy="1380490"/>
            </a:xfrm>
            <a:custGeom>
              <a:avLst/>
              <a:gdLst/>
              <a:ahLst/>
              <a:cxnLst/>
              <a:rect l="l" t="t" r="r" b="b"/>
              <a:pathLst>
                <a:path w="0" h="1380489">
                  <a:moveTo>
                    <a:pt x="0" y="0"/>
                  </a:moveTo>
                  <a:lnTo>
                    <a:pt x="0" y="138023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47273" y="495180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76326" y="0"/>
                  </a:moveTo>
                  <a:lnTo>
                    <a:pt x="0" y="0"/>
                  </a:lnTo>
                  <a:lnTo>
                    <a:pt x="38163" y="76314"/>
                  </a:lnTo>
                  <a:lnTo>
                    <a:pt x="76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4661642" y="3571919"/>
            <a:ext cx="260350" cy="532765"/>
            <a:chOff x="4661642" y="3571919"/>
            <a:chExt cx="260350" cy="532765"/>
          </a:xfrm>
        </p:grpSpPr>
        <p:sp>
          <p:nvSpPr>
            <p:cNvPr id="33" name="object 33"/>
            <p:cNvSpPr/>
            <p:nvPr/>
          </p:nvSpPr>
          <p:spPr>
            <a:xfrm>
              <a:off x="4666322" y="3576599"/>
              <a:ext cx="223520" cy="464184"/>
            </a:xfrm>
            <a:custGeom>
              <a:avLst/>
              <a:gdLst/>
              <a:ahLst/>
              <a:cxnLst/>
              <a:rect l="l" t="t" r="r" b="b"/>
              <a:pathLst>
                <a:path w="223520" h="464185">
                  <a:moveTo>
                    <a:pt x="0" y="0"/>
                  </a:moveTo>
                  <a:lnTo>
                    <a:pt x="223202" y="463676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53165" y="4019042"/>
              <a:ext cx="69215" cy="85725"/>
            </a:xfrm>
            <a:custGeom>
              <a:avLst/>
              <a:gdLst/>
              <a:ahLst/>
              <a:cxnLst/>
              <a:rect l="l" t="t" r="r" b="b"/>
              <a:pathLst>
                <a:path w="69214" h="85725">
                  <a:moveTo>
                    <a:pt x="68757" y="0"/>
                  </a:moveTo>
                  <a:lnTo>
                    <a:pt x="0" y="33121"/>
                  </a:lnTo>
                  <a:lnTo>
                    <a:pt x="67310" y="85318"/>
                  </a:lnTo>
                  <a:lnTo>
                    <a:pt x="687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3137401" y="4627441"/>
            <a:ext cx="640080" cy="664845"/>
            <a:chOff x="3137401" y="4627441"/>
            <a:chExt cx="640080" cy="664845"/>
          </a:xfrm>
        </p:grpSpPr>
        <p:sp>
          <p:nvSpPr>
            <p:cNvPr id="36" name="object 36"/>
            <p:cNvSpPr/>
            <p:nvPr/>
          </p:nvSpPr>
          <p:spPr>
            <a:xfrm>
              <a:off x="3142081" y="4632121"/>
              <a:ext cx="586105" cy="608965"/>
            </a:xfrm>
            <a:custGeom>
              <a:avLst/>
              <a:gdLst/>
              <a:ahLst/>
              <a:cxnLst/>
              <a:rect l="l" t="t" r="r" b="b"/>
              <a:pathLst>
                <a:path w="586104" h="608964">
                  <a:moveTo>
                    <a:pt x="0" y="0"/>
                  </a:moveTo>
                  <a:lnTo>
                    <a:pt x="586079" y="60839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97198" y="5210644"/>
              <a:ext cx="80645" cy="81915"/>
            </a:xfrm>
            <a:custGeom>
              <a:avLst/>
              <a:gdLst/>
              <a:ahLst/>
              <a:cxnLst/>
              <a:rect l="l" t="t" r="r" b="b"/>
              <a:pathLst>
                <a:path w="80645" h="81914">
                  <a:moveTo>
                    <a:pt x="54724" y="0"/>
                  </a:moveTo>
                  <a:lnTo>
                    <a:pt x="0" y="52920"/>
                  </a:lnTo>
                  <a:lnTo>
                    <a:pt x="80276" y="81356"/>
                  </a:lnTo>
                  <a:lnTo>
                    <a:pt x="54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4920119" y="4627441"/>
            <a:ext cx="513080" cy="664845"/>
            <a:chOff x="4920119" y="4627441"/>
            <a:chExt cx="513080" cy="664845"/>
          </a:xfrm>
        </p:grpSpPr>
        <p:sp>
          <p:nvSpPr>
            <p:cNvPr id="39" name="object 39"/>
            <p:cNvSpPr/>
            <p:nvPr/>
          </p:nvSpPr>
          <p:spPr>
            <a:xfrm>
              <a:off x="4963680" y="4632121"/>
              <a:ext cx="464820" cy="603885"/>
            </a:xfrm>
            <a:custGeom>
              <a:avLst/>
              <a:gdLst/>
              <a:ahLst/>
              <a:cxnLst/>
              <a:rect l="l" t="t" r="r" b="b"/>
              <a:pathLst>
                <a:path w="464820" h="603885">
                  <a:moveTo>
                    <a:pt x="464400" y="0"/>
                  </a:moveTo>
                  <a:lnTo>
                    <a:pt x="0" y="60336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920119" y="5208117"/>
              <a:ext cx="76835" cy="84455"/>
            </a:xfrm>
            <a:custGeom>
              <a:avLst/>
              <a:gdLst/>
              <a:ahLst/>
              <a:cxnLst/>
              <a:rect l="l" t="t" r="r" b="b"/>
              <a:pathLst>
                <a:path w="76835" h="84454">
                  <a:moveTo>
                    <a:pt x="16205" y="0"/>
                  </a:moveTo>
                  <a:lnTo>
                    <a:pt x="0" y="83883"/>
                  </a:lnTo>
                  <a:lnTo>
                    <a:pt x="76682" y="46799"/>
                  </a:lnTo>
                  <a:lnTo>
                    <a:pt x="16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85"/>
              <a:t>Object</a:t>
            </a:r>
            <a:r>
              <a:rPr dirty="0" spc="-130"/>
              <a:t> </a:t>
            </a:r>
            <a:r>
              <a:rPr dirty="0" spc="110"/>
              <a:t>Oriented</a:t>
            </a:r>
            <a:r>
              <a:rPr dirty="0" spc="-125"/>
              <a:t> </a:t>
            </a:r>
            <a:r>
              <a:rPr dirty="0" spc="55"/>
              <a:t>Programming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241" y="70916"/>
            <a:ext cx="1184757" cy="64800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91644" y="2296801"/>
          <a:ext cx="3557904" cy="241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457200"/>
                <a:gridCol w="457835"/>
                <a:gridCol w="1257300"/>
              </a:tblGrid>
              <a:tr h="7999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48005">
                        <a:lnSpc>
                          <a:spcPts val="1435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Function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05205">
                        <a:lnSpc>
                          <a:spcPts val="1435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Function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30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295275" marR="203835" indent="-85725">
                        <a:lnSpc>
                          <a:spcPct val="100000"/>
                        </a:lnSpc>
                      </a:pPr>
                      <a:r>
                        <a:rPr dirty="0" sz="1200" spc="5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ha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Data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30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914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800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Function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0520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Function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253924" y="3211201"/>
            <a:ext cx="462280" cy="137795"/>
            <a:chOff x="6253924" y="3211201"/>
            <a:chExt cx="462280" cy="137795"/>
          </a:xfrm>
        </p:grpSpPr>
        <p:sp>
          <p:nvSpPr>
            <p:cNvPr id="6" name="object 6"/>
            <p:cNvSpPr/>
            <p:nvPr/>
          </p:nvSpPr>
          <p:spPr>
            <a:xfrm>
              <a:off x="6323037" y="3215881"/>
              <a:ext cx="388620" cy="97790"/>
            </a:xfrm>
            <a:custGeom>
              <a:avLst/>
              <a:gdLst/>
              <a:ahLst/>
              <a:cxnLst/>
              <a:rect l="l" t="t" r="r" b="b"/>
              <a:pathLst>
                <a:path w="388620" h="97789">
                  <a:moveTo>
                    <a:pt x="388086" y="0"/>
                  </a:moveTo>
                  <a:lnTo>
                    <a:pt x="0" y="9719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53924" y="3274923"/>
              <a:ext cx="83185" cy="74295"/>
            </a:xfrm>
            <a:custGeom>
              <a:avLst/>
              <a:gdLst/>
              <a:ahLst/>
              <a:cxnLst/>
              <a:rect l="l" t="t" r="r" b="b"/>
              <a:pathLst>
                <a:path w="83185" h="74295">
                  <a:moveTo>
                    <a:pt x="64795" y="0"/>
                  </a:moveTo>
                  <a:lnTo>
                    <a:pt x="0" y="55435"/>
                  </a:lnTo>
                  <a:lnTo>
                    <a:pt x="83159" y="73799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789496" y="2974568"/>
            <a:ext cx="4673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latin typeface="Arial MT"/>
                <a:cs typeface="Arial MT"/>
              </a:rPr>
              <a:t>O</a:t>
            </a:r>
            <a:r>
              <a:rPr dirty="0" sz="1200">
                <a:latin typeface="Arial MT"/>
                <a:cs typeface="Arial MT"/>
              </a:rPr>
              <a:t>b</a:t>
            </a:r>
            <a:r>
              <a:rPr dirty="0" sz="1200" spc="-10">
                <a:latin typeface="Arial MT"/>
                <a:cs typeface="Arial MT"/>
              </a:rPr>
              <a:t>j</a:t>
            </a:r>
            <a:r>
              <a:rPr dirty="0" sz="1200" spc="10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ct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719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970"/>
              </a:spcBef>
            </a:pPr>
            <a:r>
              <a:rPr dirty="0" sz="3200" spc="65"/>
              <a:t>What</a:t>
            </a:r>
            <a:r>
              <a:rPr dirty="0" sz="3200" spc="-120"/>
              <a:t> </a:t>
            </a:r>
            <a:r>
              <a:rPr dirty="0" sz="3200" spc="-50"/>
              <a:t>is</a:t>
            </a:r>
            <a:r>
              <a:rPr dirty="0" sz="3200" spc="-120"/>
              <a:t> </a:t>
            </a:r>
            <a:r>
              <a:rPr dirty="0" sz="3200" spc="80"/>
              <a:t>Object</a:t>
            </a:r>
            <a:r>
              <a:rPr dirty="0" sz="3200" spc="-125"/>
              <a:t> </a:t>
            </a:r>
            <a:r>
              <a:rPr dirty="0" sz="3200" spc="100"/>
              <a:t>Oriented</a:t>
            </a:r>
            <a:r>
              <a:rPr dirty="0" sz="3200" spc="-114"/>
              <a:t> </a:t>
            </a:r>
            <a:r>
              <a:rPr dirty="0" sz="3200" spc="5"/>
              <a:t>Programming?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16215"/>
            <a:ext cx="8110855" cy="4255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4805" marR="27305" indent="-332740">
              <a:lnSpc>
                <a:spcPct val="1004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44805" algn="l"/>
                <a:tab pos="345440" algn="l"/>
              </a:tabLst>
            </a:pPr>
            <a:r>
              <a:rPr dirty="0" sz="2700" spc="75">
                <a:latin typeface="Microsoft Sans Serif"/>
                <a:cs typeface="Microsoft Sans Serif"/>
              </a:rPr>
              <a:t>Object-oriented </a:t>
            </a:r>
            <a:r>
              <a:rPr dirty="0" sz="2700" spc="40">
                <a:latin typeface="Microsoft Sans Serif"/>
                <a:cs typeface="Microsoft Sans Serif"/>
              </a:rPr>
              <a:t>Programming, </a:t>
            </a:r>
            <a:r>
              <a:rPr dirty="0" sz="2700" spc="120">
                <a:latin typeface="Microsoft Sans Serif"/>
                <a:cs typeface="Microsoft Sans Serif"/>
              </a:rPr>
              <a:t>or </a:t>
            </a:r>
            <a:r>
              <a:rPr dirty="0" sz="2700" spc="-45">
                <a:latin typeface="Microsoft Sans Serif"/>
                <a:cs typeface="Microsoft Sans Serif"/>
              </a:rPr>
              <a:t>OOP </a:t>
            </a:r>
            <a:r>
              <a:rPr dirty="0" sz="2700" spc="180">
                <a:latin typeface="Microsoft Sans Serif"/>
                <a:cs typeface="Microsoft Sans Serif"/>
              </a:rPr>
              <a:t>for </a:t>
            </a:r>
            <a:r>
              <a:rPr dirty="0" sz="2700" spc="65">
                <a:latin typeface="Microsoft Sans Serif"/>
                <a:cs typeface="Microsoft Sans Serif"/>
              </a:rPr>
              <a:t>short, </a:t>
            </a:r>
            <a:r>
              <a:rPr dirty="0" sz="2700" spc="-705">
                <a:latin typeface="Microsoft Sans Serif"/>
                <a:cs typeface="Microsoft Sans Serif"/>
              </a:rPr>
              <a:t> </a:t>
            </a:r>
            <a:r>
              <a:rPr dirty="0" sz="2700" spc="60">
                <a:latin typeface="Microsoft Sans Serif"/>
                <a:cs typeface="Microsoft Sans Serif"/>
              </a:rPr>
              <a:t>i</a:t>
            </a:r>
            <a:r>
              <a:rPr dirty="0" sz="2700" spc="-140">
                <a:latin typeface="Microsoft Sans Serif"/>
                <a:cs typeface="Microsoft Sans Serif"/>
              </a:rPr>
              <a:t>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-85">
                <a:latin typeface="Microsoft Sans Serif"/>
                <a:cs typeface="Microsoft Sans Serif"/>
              </a:rPr>
              <a:t>a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85">
                <a:latin typeface="Microsoft Sans Serif"/>
                <a:cs typeface="Microsoft Sans Serif"/>
              </a:rPr>
              <a:t>p</a:t>
            </a:r>
            <a:r>
              <a:rPr dirty="0" sz="2700" spc="95">
                <a:latin typeface="Microsoft Sans Serif"/>
                <a:cs typeface="Microsoft Sans Serif"/>
              </a:rPr>
              <a:t>r</a:t>
            </a:r>
            <a:r>
              <a:rPr dirty="0" sz="2700" spc="140">
                <a:latin typeface="Microsoft Sans Serif"/>
                <a:cs typeface="Microsoft Sans Serif"/>
              </a:rPr>
              <a:t>o</a:t>
            </a:r>
            <a:r>
              <a:rPr dirty="0" sz="2700" spc="75">
                <a:latin typeface="Microsoft Sans Serif"/>
                <a:cs typeface="Microsoft Sans Serif"/>
              </a:rPr>
              <a:t>g</a:t>
            </a:r>
            <a:r>
              <a:rPr dirty="0" sz="2700" spc="135">
                <a:latin typeface="Microsoft Sans Serif"/>
                <a:cs typeface="Microsoft Sans Serif"/>
              </a:rPr>
              <a:t>r</a:t>
            </a:r>
            <a:r>
              <a:rPr dirty="0" sz="2700" spc="-100">
                <a:latin typeface="Microsoft Sans Serif"/>
                <a:cs typeface="Microsoft Sans Serif"/>
              </a:rPr>
              <a:t>a</a:t>
            </a:r>
            <a:r>
              <a:rPr dirty="0" sz="2700" spc="85">
                <a:latin typeface="Microsoft Sans Serif"/>
                <a:cs typeface="Microsoft Sans Serif"/>
              </a:rPr>
              <a:t>mm</a:t>
            </a:r>
            <a:r>
              <a:rPr dirty="0" sz="2700" spc="65">
                <a:latin typeface="Microsoft Sans Serif"/>
                <a:cs typeface="Microsoft Sans Serif"/>
              </a:rPr>
              <a:t>ing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85">
                <a:latin typeface="Microsoft Sans Serif"/>
                <a:cs typeface="Microsoft Sans Serif"/>
              </a:rPr>
              <a:t>p</a:t>
            </a:r>
            <a:r>
              <a:rPr dirty="0" sz="2700" spc="40">
                <a:latin typeface="Microsoft Sans Serif"/>
                <a:cs typeface="Microsoft Sans Serif"/>
              </a:rPr>
              <a:t>a</a:t>
            </a:r>
            <a:r>
              <a:rPr dirty="0" sz="2700" spc="10">
                <a:latin typeface="Microsoft Sans Serif"/>
                <a:cs typeface="Microsoft Sans Serif"/>
              </a:rPr>
              <a:t>r</a:t>
            </a:r>
            <a:r>
              <a:rPr dirty="0" sz="2700" spc="10">
                <a:latin typeface="Microsoft Sans Serif"/>
                <a:cs typeface="Microsoft Sans Serif"/>
              </a:rPr>
              <a:t>a</a:t>
            </a:r>
            <a:r>
              <a:rPr dirty="0" sz="2700" spc="-5">
                <a:latin typeface="Microsoft Sans Serif"/>
                <a:cs typeface="Microsoft Sans Serif"/>
              </a:rPr>
              <a:t>d</a:t>
            </a:r>
            <a:r>
              <a:rPr dirty="0" sz="2700" spc="40">
                <a:latin typeface="Microsoft Sans Serif"/>
                <a:cs typeface="Microsoft Sans Serif"/>
              </a:rPr>
              <a:t>i</a:t>
            </a:r>
            <a:r>
              <a:rPr dirty="0" sz="2700" spc="95">
                <a:latin typeface="Microsoft Sans Serif"/>
                <a:cs typeface="Microsoft Sans Serif"/>
              </a:rPr>
              <a:t>g</a:t>
            </a:r>
            <a:r>
              <a:rPr dirty="0" sz="2700" spc="90">
                <a:latin typeface="Microsoft Sans Serif"/>
                <a:cs typeface="Microsoft Sans Serif"/>
              </a:rPr>
              <a:t>m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60">
                <a:latin typeface="Microsoft Sans Serif"/>
                <a:cs typeface="Microsoft Sans Serif"/>
              </a:rPr>
              <a:t>w</a:t>
            </a:r>
            <a:r>
              <a:rPr dirty="0" sz="2700" spc="35">
                <a:latin typeface="Microsoft Sans Serif"/>
                <a:cs typeface="Microsoft Sans Serif"/>
              </a:rPr>
              <a:t>h</a:t>
            </a:r>
            <a:r>
              <a:rPr dirty="0" sz="2700" spc="-5">
                <a:latin typeface="Microsoft Sans Serif"/>
                <a:cs typeface="Microsoft Sans Serif"/>
              </a:rPr>
              <a:t>i</a:t>
            </a:r>
            <a:r>
              <a:rPr dirty="0" sz="2700" spc="-20">
                <a:latin typeface="Microsoft Sans Serif"/>
                <a:cs typeface="Microsoft Sans Serif"/>
              </a:rPr>
              <a:t>c</a:t>
            </a:r>
            <a:r>
              <a:rPr dirty="0" sz="2700" spc="50">
                <a:latin typeface="Microsoft Sans Serif"/>
                <a:cs typeface="Microsoft Sans Serif"/>
              </a:rPr>
              <a:t>h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85">
                <a:latin typeface="Microsoft Sans Serif"/>
                <a:cs typeface="Microsoft Sans Serif"/>
              </a:rPr>
              <a:t>p</a:t>
            </a:r>
            <a:r>
              <a:rPr dirty="0" sz="2700" spc="95">
                <a:latin typeface="Microsoft Sans Serif"/>
                <a:cs typeface="Microsoft Sans Serif"/>
              </a:rPr>
              <a:t>r</a:t>
            </a:r>
            <a:r>
              <a:rPr dirty="0" sz="2700" spc="140">
                <a:latin typeface="Microsoft Sans Serif"/>
                <a:cs typeface="Microsoft Sans Serif"/>
              </a:rPr>
              <a:t>o</a:t>
            </a:r>
            <a:r>
              <a:rPr dirty="0" sz="2700" spc="5">
                <a:latin typeface="Microsoft Sans Serif"/>
                <a:cs typeface="Microsoft Sans Serif"/>
              </a:rPr>
              <a:t>v</a:t>
            </a:r>
            <a:r>
              <a:rPr dirty="0" sz="2700" spc="60">
                <a:latin typeface="Microsoft Sans Serif"/>
                <a:cs typeface="Microsoft Sans Serif"/>
              </a:rPr>
              <a:t>i</a:t>
            </a:r>
            <a:r>
              <a:rPr dirty="0" sz="2700" spc="95">
                <a:latin typeface="Microsoft Sans Serif"/>
                <a:cs typeface="Microsoft Sans Serif"/>
              </a:rPr>
              <a:t>d</a:t>
            </a:r>
            <a:r>
              <a:rPr dirty="0" sz="2700">
                <a:latin typeface="Microsoft Sans Serif"/>
                <a:cs typeface="Microsoft Sans Serif"/>
              </a:rPr>
              <a:t>e</a:t>
            </a:r>
            <a:r>
              <a:rPr dirty="0" sz="2700" spc="-140">
                <a:latin typeface="Microsoft Sans Serif"/>
                <a:cs typeface="Microsoft Sans Serif"/>
              </a:rPr>
              <a:t>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-55">
                <a:latin typeface="Microsoft Sans Serif"/>
                <a:cs typeface="Microsoft Sans Serif"/>
              </a:rPr>
              <a:t>a  </a:t>
            </a:r>
            <a:r>
              <a:rPr dirty="0" sz="2700" spc="-15">
                <a:latin typeface="Microsoft Sans Serif"/>
                <a:cs typeface="Microsoft Sans Serif"/>
              </a:rPr>
              <a:t>means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195">
                <a:latin typeface="Microsoft Sans Serif"/>
                <a:cs typeface="Microsoft Sans Serif"/>
              </a:rPr>
              <a:t>of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95">
                <a:latin typeface="Microsoft Sans Serif"/>
                <a:cs typeface="Microsoft Sans Serif"/>
              </a:rPr>
              <a:t>structuring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50">
                <a:latin typeface="Microsoft Sans Serif"/>
                <a:cs typeface="Microsoft Sans Serif"/>
              </a:rPr>
              <a:t>programs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15">
                <a:latin typeface="Microsoft Sans Serif"/>
                <a:cs typeface="Microsoft Sans Serif"/>
              </a:rPr>
              <a:t>so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155">
                <a:latin typeface="Microsoft Sans Serif"/>
                <a:cs typeface="Microsoft Sans Serif"/>
              </a:rPr>
              <a:t>that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80">
                <a:latin typeface="Microsoft Sans Serif"/>
                <a:cs typeface="Microsoft Sans Serif"/>
              </a:rPr>
              <a:t>properties </a:t>
            </a:r>
            <a:r>
              <a:rPr dirty="0" sz="2700" spc="-705">
                <a:latin typeface="Microsoft Sans Serif"/>
                <a:cs typeface="Microsoft Sans Serif"/>
              </a:rPr>
              <a:t> </a:t>
            </a:r>
            <a:r>
              <a:rPr dirty="0" sz="2700" spc="20">
                <a:latin typeface="Microsoft Sans Serif"/>
                <a:cs typeface="Microsoft Sans Serif"/>
              </a:rPr>
              <a:t>and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20">
                <a:latin typeface="Microsoft Sans Serif"/>
                <a:cs typeface="Microsoft Sans Serif"/>
              </a:rPr>
              <a:t>behaviors</a:t>
            </a:r>
            <a:r>
              <a:rPr dirty="0" sz="2700" spc="-85">
                <a:latin typeface="Microsoft Sans Serif"/>
                <a:cs typeface="Microsoft Sans Serif"/>
              </a:rPr>
              <a:t> </a:t>
            </a:r>
            <a:r>
              <a:rPr dirty="0" sz="2700" spc="20">
                <a:latin typeface="Microsoft Sans Serif"/>
                <a:cs typeface="Microsoft Sans Serif"/>
              </a:rPr>
              <a:t>are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75">
                <a:latin typeface="Microsoft Sans Serif"/>
                <a:cs typeface="Microsoft Sans Serif"/>
              </a:rPr>
              <a:t>bundled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140">
                <a:latin typeface="Microsoft Sans Serif"/>
                <a:cs typeface="Microsoft Sans Serif"/>
              </a:rPr>
              <a:t>into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50">
                <a:latin typeface="Microsoft Sans Serif"/>
                <a:cs typeface="Microsoft Sans Serif"/>
              </a:rPr>
              <a:t>individual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35">
                <a:latin typeface="Microsoft Sans Serif"/>
                <a:cs typeface="Microsoft Sans Serif"/>
              </a:rPr>
              <a:t>objects.</a:t>
            </a:r>
            <a:endParaRPr sz="2700">
              <a:latin typeface="Microsoft Sans Serif"/>
              <a:cs typeface="Microsoft Sans Serif"/>
            </a:endParaRPr>
          </a:p>
          <a:p>
            <a:pPr marL="344805" marR="5080" indent="-332740">
              <a:lnSpc>
                <a:spcPct val="100400"/>
              </a:lnSpc>
              <a:spcBef>
                <a:spcPts val="770"/>
              </a:spcBef>
              <a:buClr>
                <a:srgbClr val="6697CC"/>
              </a:buClr>
              <a:buFont typeface="Arial MT"/>
              <a:buChar char="•"/>
              <a:tabLst>
                <a:tab pos="344805" algn="l"/>
                <a:tab pos="345440" algn="l"/>
              </a:tabLst>
            </a:pPr>
            <a:r>
              <a:rPr dirty="0" sz="2700" spc="10">
                <a:latin typeface="Microsoft Sans Serif"/>
                <a:cs typeface="Microsoft Sans Serif"/>
              </a:rPr>
              <a:t>For </a:t>
            </a:r>
            <a:r>
              <a:rPr dirty="0" sz="2700" spc="15">
                <a:latin typeface="Microsoft Sans Serif"/>
                <a:cs typeface="Microsoft Sans Serif"/>
              </a:rPr>
              <a:t>instance, </a:t>
            </a:r>
            <a:r>
              <a:rPr dirty="0" sz="2700" spc="-15">
                <a:latin typeface="Microsoft Sans Serif"/>
                <a:cs typeface="Microsoft Sans Serif"/>
              </a:rPr>
              <a:t>an </a:t>
            </a:r>
            <a:r>
              <a:rPr dirty="0" sz="2700" spc="80">
                <a:latin typeface="Microsoft Sans Serif"/>
                <a:cs typeface="Microsoft Sans Serif"/>
              </a:rPr>
              <a:t>object </a:t>
            </a:r>
            <a:r>
              <a:rPr dirty="0" sz="2700" spc="55">
                <a:latin typeface="Microsoft Sans Serif"/>
                <a:cs typeface="Microsoft Sans Serif"/>
              </a:rPr>
              <a:t>could </a:t>
            </a:r>
            <a:r>
              <a:rPr dirty="0" sz="2700" spc="70">
                <a:latin typeface="Microsoft Sans Serif"/>
                <a:cs typeface="Microsoft Sans Serif"/>
              </a:rPr>
              <a:t>represent </a:t>
            </a:r>
            <a:r>
              <a:rPr dirty="0" sz="2700" spc="-85">
                <a:latin typeface="Microsoft Sans Serif"/>
                <a:cs typeface="Microsoft Sans Serif"/>
              </a:rPr>
              <a:t>a </a:t>
            </a:r>
            <a:r>
              <a:rPr dirty="0" sz="2700" spc="40">
                <a:latin typeface="Microsoft Sans Serif"/>
                <a:cs typeface="Microsoft Sans Serif"/>
              </a:rPr>
              <a:t>person </a:t>
            </a:r>
            <a:r>
              <a:rPr dirty="0" sz="2700" spc="45">
                <a:latin typeface="Microsoft Sans Serif"/>
                <a:cs typeface="Microsoft Sans Serif"/>
              </a:rPr>
              <a:t> </a:t>
            </a:r>
            <a:r>
              <a:rPr dirty="0" sz="2700" spc="150">
                <a:latin typeface="Microsoft Sans Serif"/>
                <a:cs typeface="Microsoft Sans Serif"/>
              </a:rPr>
              <a:t>with </a:t>
            </a:r>
            <a:r>
              <a:rPr dirty="0" sz="2700" spc="-85">
                <a:latin typeface="Microsoft Sans Serif"/>
                <a:cs typeface="Microsoft Sans Serif"/>
              </a:rPr>
              <a:t>a </a:t>
            </a:r>
            <a:r>
              <a:rPr dirty="0" sz="2700" spc="15">
                <a:latin typeface="Microsoft Sans Serif"/>
                <a:cs typeface="Microsoft Sans Serif"/>
              </a:rPr>
              <a:t>name </a:t>
            </a:r>
            <a:r>
              <a:rPr dirty="0" sz="2700" spc="90">
                <a:latin typeface="Microsoft Sans Serif"/>
                <a:cs typeface="Microsoft Sans Serif"/>
              </a:rPr>
              <a:t>property, </a:t>
            </a:r>
            <a:r>
              <a:rPr dirty="0" sz="2700" spc="-25">
                <a:latin typeface="Microsoft Sans Serif"/>
                <a:cs typeface="Microsoft Sans Serif"/>
              </a:rPr>
              <a:t>age, </a:t>
            </a:r>
            <a:r>
              <a:rPr dirty="0" sz="2700" spc="-20">
                <a:latin typeface="Microsoft Sans Serif"/>
                <a:cs typeface="Microsoft Sans Serif"/>
              </a:rPr>
              <a:t>address, </a:t>
            </a:r>
            <a:r>
              <a:rPr dirty="0" sz="2700" spc="15">
                <a:latin typeface="Microsoft Sans Serif"/>
                <a:cs typeface="Microsoft Sans Serif"/>
              </a:rPr>
              <a:t>etc., </a:t>
            </a:r>
            <a:r>
              <a:rPr dirty="0" sz="2700" spc="155">
                <a:latin typeface="Microsoft Sans Serif"/>
                <a:cs typeface="Microsoft Sans Serif"/>
              </a:rPr>
              <a:t>with </a:t>
            </a:r>
            <a:r>
              <a:rPr dirty="0" sz="2700" spc="160">
                <a:latin typeface="Microsoft Sans Serif"/>
                <a:cs typeface="Microsoft Sans Serif"/>
              </a:rPr>
              <a:t> </a:t>
            </a:r>
            <a:r>
              <a:rPr dirty="0" sz="2700" spc="20">
                <a:latin typeface="Microsoft Sans Serif"/>
                <a:cs typeface="Microsoft Sans Serif"/>
              </a:rPr>
              <a:t>behaviors </a:t>
            </a:r>
            <a:r>
              <a:rPr dirty="0" sz="2700" spc="65">
                <a:latin typeface="Microsoft Sans Serif"/>
                <a:cs typeface="Microsoft Sans Serif"/>
              </a:rPr>
              <a:t>like </a:t>
            </a:r>
            <a:r>
              <a:rPr dirty="0" sz="2700" spc="45">
                <a:latin typeface="Microsoft Sans Serif"/>
                <a:cs typeface="Microsoft Sans Serif"/>
              </a:rPr>
              <a:t>walking, </a:t>
            </a:r>
            <a:r>
              <a:rPr dirty="0" sz="2700" spc="65">
                <a:latin typeface="Microsoft Sans Serif"/>
                <a:cs typeface="Microsoft Sans Serif"/>
              </a:rPr>
              <a:t>talking, breathing, </a:t>
            </a:r>
            <a:r>
              <a:rPr dirty="0" sz="2700" spc="20">
                <a:latin typeface="Microsoft Sans Serif"/>
                <a:cs typeface="Microsoft Sans Serif"/>
              </a:rPr>
              <a:t>and </a:t>
            </a:r>
            <a:r>
              <a:rPr dirty="0" sz="2700" spc="25">
                <a:latin typeface="Microsoft Sans Serif"/>
                <a:cs typeface="Microsoft Sans Serif"/>
              </a:rPr>
              <a:t> </a:t>
            </a:r>
            <a:r>
              <a:rPr dirty="0" sz="2700" spc="50">
                <a:latin typeface="Microsoft Sans Serif"/>
                <a:cs typeface="Microsoft Sans Serif"/>
              </a:rPr>
              <a:t>running.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80">
                <a:latin typeface="Microsoft Sans Serif"/>
                <a:cs typeface="Microsoft Sans Serif"/>
              </a:rPr>
              <a:t>Or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-15">
                <a:latin typeface="Microsoft Sans Serif"/>
                <a:cs typeface="Microsoft Sans Serif"/>
              </a:rPr>
              <a:t>an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40">
                <a:latin typeface="Microsoft Sans Serif"/>
                <a:cs typeface="Microsoft Sans Serif"/>
              </a:rPr>
              <a:t>email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150">
                <a:latin typeface="Microsoft Sans Serif"/>
                <a:cs typeface="Microsoft Sans Serif"/>
              </a:rPr>
              <a:t>with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80">
                <a:latin typeface="Microsoft Sans Serif"/>
                <a:cs typeface="Microsoft Sans Serif"/>
              </a:rPr>
              <a:t>properties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70">
                <a:latin typeface="Microsoft Sans Serif"/>
                <a:cs typeface="Microsoft Sans Serif"/>
              </a:rPr>
              <a:t>like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75">
                <a:latin typeface="Microsoft Sans Serif"/>
                <a:cs typeface="Microsoft Sans Serif"/>
              </a:rPr>
              <a:t>recipient </a:t>
            </a:r>
            <a:r>
              <a:rPr dirty="0" sz="2700" spc="-700">
                <a:latin typeface="Microsoft Sans Serif"/>
                <a:cs typeface="Microsoft Sans Serif"/>
              </a:rPr>
              <a:t> </a:t>
            </a:r>
            <a:r>
              <a:rPr dirty="0" sz="2700" spc="60">
                <a:latin typeface="Microsoft Sans Serif"/>
                <a:cs typeface="Microsoft Sans Serif"/>
              </a:rPr>
              <a:t>list, </a:t>
            </a:r>
            <a:r>
              <a:rPr dirty="0" sz="2700" spc="30">
                <a:latin typeface="Microsoft Sans Serif"/>
                <a:cs typeface="Microsoft Sans Serif"/>
              </a:rPr>
              <a:t>subject, </a:t>
            </a:r>
            <a:r>
              <a:rPr dirty="0" sz="2700" spc="35">
                <a:latin typeface="Microsoft Sans Serif"/>
                <a:cs typeface="Microsoft Sans Serif"/>
              </a:rPr>
              <a:t>body, </a:t>
            </a:r>
            <a:r>
              <a:rPr dirty="0" sz="2700" spc="15">
                <a:latin typeface="Microsoft Sans Serif"/>
                <a:cs typeface="Microsoft Sans Serif"/>
              </a:rPr>
              <a:t>etc., </a:t>
            </a:r>
            <a:r>
              <a:rPr dirty="0" sz="2700" spc="20">
                <a:latin typeface="Microsoft Sans Serif"/>
                <a:cs typeface="Microsoft Sans Serif"/>
              </a:rPr>
              <a:t>and behaviors </a:t>
            </a:r>
            <a:r>
              <a:rPr dirty="0" sz="2700" spc="65">
                <a:latin typeface="Microsoft Sans Serif"/>
                <a:cs typeface="Microsoft Sans Serif"/>
              </a:rPr>
              <a:t>like </a:t>
            </a:r>
            <a:r>
              <a:rPr dirty="0" sz="2700" spc="45">
                <a:latin typeface="Microsoft Sans Serif"/>
                <a:cs typeface="Microsoft Sans Serif"/>
              </a:rPr>
              <a:t>adding </a:t>
            </a:r>
            <a:r>
              <a:rPr dirty="0" sz="2700" spc="-705">
                <a:latin typeface="Microsoft Sans Serif"/>
                <a:cs typeface="Microsoft Sans Serif"/>
              </a:rPr>
              <a:t> </a:t>
            </a:r>
            <a:r>
              <a:rPr dirty="0" sz="2700" spc="70">
                <a:latin typeface="Microsoft Sans Serif"/>
                <a:cs typeface="Microsoft Sans Serif"/>
              </a:rPr>
              <a:t>attachments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25">
                <a:latin typeface="Microsoft Sans Serif"/>
                <a:cs typeface="Microsoft Sans Serif"/>
              </a:rPr>
              <a:t>and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5">
                <a:latin typeface="Microsoft Sans Serif"/>
                <a:cs typeface="Microsoft Sans Serif"/>
              </a:rPr>
              <a:t>sending.</a:t>
            </a:r>
            <a:endParaRPr sz="27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719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970"/>
              </a:spcBef>
            </a:pPr>
            <a:r>
              <a:rPr dirty="0" sz="3200" spc="65"/>
              <a:t>What</a:t>
            </a:r>
            <a:r>
              <a:rPr dirty="0" sz="3200" spc="-120"/>
              <a:t> </a:t>
            </a:r>
            <a:r>
              <a:rPr dirty="0" sz="3200" spc="-50"/>
              <a:t>is</a:t>
            </a:r>
            <a:r>
              <a:rPr dirty="0" sz="3200" spc="-120"/>
              <a:t> </a:t>
            </a:r>
            <a:r>
              <a:rPr dirty="0" sz="3200" spc="80"/>
              <a:t>Object</a:t>
            </a:r>
            <a:r>
              <a:rPr dirty="0" sz="3200" spc="-125"/>
              <a:t> </a:t>
            </a:r>
            <a:r>
              <a:rPr dirty="0" sz="3200" spc="100"/>
              <a:t>Oriented</a:t>
            </a:r>
            <a:r>
              <a:rPr dirty="0" sz="3200" spc="-114"/>
              <a:t> </a:t>
            </a:r>
            <a:r>
              <a:rPr dirty="0" sz="3200" spc="5"/>
              <a:t>Programming?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69884" cy="3535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75">
                <a:latin typeface="Microsoft Sans Serif"/>
                <a:cs typeface="Microsoft Sans Serif"/>
              </a:rPr>
              <a:t>Put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another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way,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object-oriented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programming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 </a:t>
            </a:r>
            <a:r>
              <a:rPr dirty="0" sz="2800" spc="-25">
                <a:latin typeface="Microsoft Sans Serif"/>
                <a:cs typeface="Microsoft Sans Serif"/>
              </a:rPr>
              <a:t>an </a:t>
            </a:r>
            <a:r>
              <a:rPr dirty="0" sz="2800" spc="15">
                <a:latin typeface="Microsoft Sans Serif"/>
                <a:cs typeface="Microsoft Sans Serif"/>
              </a:rPr>
              <a:t>approach </a:t>
            </a:r>
            <a:r>
              <a:rPr dirty="0" sz="2800" spc="180">
                <a:latin typeface="Microsoft Sans Serif"/>
                <a:cs typeface="Microsoft Sans Serif"/>
              </a:rPr>
              <a:t>for </a:t>
            </a:r>
            <a:r>
              <a:rPr dirty="0" sz="2800" spc="65">
                <a:latin typeface="Microsoft Sans Serif"/>
                <a:cs typeface="Microsoft Sans Serif"/>
              </a:rPr>
              <a:t>modeling </a:t>
            </a:r>
            <a:r>
              <a:rPr dirty="0" sz="2800" spc="35">
                <a:latin typeface="Microsoft Sans Serif"/>
                <a:cs typeface="Microsoft Sans Serif"/>
              </a:rPr>
              <a:t>concrete, </a:t>
            </a:r>
            <a:r>
              <a:rPr dirty="0" sz="2800" spc="15">
                <a:latin typeface="Microsoft Sans Serif"/>
                <a:cs typeface="Microsoft Sans Serif"/>
              </a:rPr>
              <a:t>real- </a:t>
            </a:r>
            <a:r>
              <a:rPr dirty="0" sz="2800" spc="20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35">
                <a:latin typeface="Microsoft Sans Serif"/>
                <a:cs typeface="Microsoft Sans Serif"/>
              </a:rPr>
              <a:t>rl</a:t>
            </a:r>
            <a:r>
              <a:rPr dirty="0" sz="2800" spc="90">
                <a:latin typeface="Microsoft Sans Serif"/>
                <a:cs typeface="Microsoft Sans Serif"/>
              </a:rPr>
              <a:t>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50">
                <a:latin typeface="Microsoft Sans Serif"/>
                <a:cs typeface="Microsoft Sans Serif"/>
              </a:rPr>
              <a:t>hin</a:t>
            </a:r>
            <a:r>
              <a:rPr dirty="0" sz="2800" spc="55">
                <a:latin typeface="Microsoft Sans Serif"/>
                <a:cs typeface="Microsoft Sans Serif"/>
              </a:rPr>
              <a:t>g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40">
                <a:latin typeface="Microsoft Sans Serif"/>
                <a:cs typeface="Microsoft Sans Serif"/>
              </a:rPr>
              <a:t>i</a:t>
            </a:r>
            <a:r>
              <a:rPr dirty="0" sz="2800" spc="85">
                <a:latin typeface="Microsoft Sans Serif"/>
                <a:cs typeface="Microsoft Sans Serif"/>
              </a:rPr>
              <a:t>k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14">
                <a:latin typeface="Microsoft Sans Serif"/>
                <a:cs typeface="Microsoft Sans Serif"/>
              </a:rPr>
              <a:t>c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5">
                <a:latin typeface="Microsoft Sans Serif"/>
                <a:cs typeface="Microsoft Sans Serif"/>
              </a:rPr>
              <a:t>rs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0">
                <a:latin typeface="Microsoft Sans Serif"/>
                <a:cs typeface="Microsoft Sans Serif"/>
              </a:rPr>
              <a:t>w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125">
                <a:latin typeface="Microsoft Sans Serif"/>
                <a:cs typeface="Microsoft Sans Serif"/>
              </a:rPr>
              <a:t>ll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r</a:t>
            </a:r>
            <a:r>
              <a:rPr dirty="0" sz="2800" spc="85">
                <a:latin typeface="Microsoft Sans Serif"/>
                <a:cs typeface="Microsoft Sans Serif"/>
              </a:rPr>
              <a:t>e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45">
                <a:latin typeface="Microsoft Sans Serif"/>
                <a:cs typeface="Microsoft Sans Serif"/>
              </a:rPr>
              <a:t>i</a:t>
            </a:r>
            <a:r>
              <a:rPr dirty="0" sz="2800" spc="100">
                <a:latin typeface="Microsoft Sans Serif"/>
                <a:cs typeface="Microsoft Sans Serif"/>
              </a:rPr>
              <a:t>o</a:t>
            </a:r>
            <a:r>
              <a:rPr dirty="0" sz="2800" spc="-40">
                <a:latin typeface="Microsoft Sans Serif"/>
                <a:cs typeface="Microsoft Sans Serif"/>
              </a:rPr>
              <a:t>ns  </a:t>
            </a:r>
            <a:r>
              <a:rPr dirty="0" sz="2800" spc="85">
                <a:latin typeface="Microsoft Sans Serif"/>
                <a:cs typeface="Microsoft Sans Serif"/>
              </a:rPr>
              <a:t>between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things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like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companies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and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employees,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students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teachers,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etc.</a:t>
            </a:r>
            <a:endParaRPr sz="2800">
              <a:latin typeface="Microsoft Sans Serif"/>
              <a:cs typeface="Microsoft Sans Serif"/>
            </a:endParaRPr>
          </a:p>
          <a:p>
            <a:pPr marL="355600" marR="145415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0">
                <a:latin typeface="Microsoft Sans Serif"/>
                <a:cs typeface="Microsoft Sans Serif"/>
              </a:rPr>
              <a:t>OO</a:t>
            </a:r>
            <a:r>
              <a:rPr dirty="0" sz="2800" spc="-170">
                <a:latin typeface="Microsoft Sans Serif"/>
                <a:cs typeface="Microsoft Sans Serif"/>
              </a:rPr>
              <a:t>P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m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80">
                <a:latin typeface="Microsoft Sans Serif"/>
                <a:cs typeface="Microsoft Sans Serif"/>
              </a:rPr>
              <a:t>d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r</a:t>
            </a:r>
            <a:r>
              <a:rPr dirty="0" sz="2800" spc="8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15">
                <a:latin typeface="Microsoft Sans Serif"/>
                <a:cs typeface="Microsoft Sans Serif"/>
              </a:rPr>
              <a:t>-</a:t>
            </a:r>
            <a:r>
              <a:rPr dirty="0" sz="2800" spc="25">
                <a:latin typeface="Microsoft Sans Serif"/>
                <a:cs typeface="Microsoft Sans Serif"/>
              </a:rPr>
              <a:t>w</a:t>
            </a:r>
            <a:r>
              <a:rPr dirty="0" sz="2800" spc="85">
                <a:latin typeface="Microsoft Sans Serif"/>
                <a:cs typeface="Microsoft Sans Serif"/>
              </a:rPr>
              <a:t>o</a:t>
            </a:r>
            <a:r>
              <a:rPr dirty="0" sz="2800" spc="160">
                <a:latin typeface="Microsoft Sans Serif"/>
                <a:cs typeface="Microsoft Sans Serif"/>
              </a:rPr>
              <a:t>r</a:t>
            </a:r>
            <a:r>
              <a:rPr dirty="0" sz="2800" spc="100">
                <a:latin typeface="Microsoft Sans Serif"/>
                <a:cs typeface="Microsoft Sans Serif"/>
              </a:rPr>
              <a:t>l</a:t>
            </a:r>
            <a:r>
              <a:rPr dirty="0" sz="2800" spc="90">
                <a:latin typeface="Microsoft Sans Serif"/>
                <a:cs typeface="Microsoft Sans Serif"/>
              </a:rPr>
              <a:t>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265">
                <a:latin typeface="Microsoft Sans Serif"/>
                <a:cs typeface="Microsoft Sans Serif"/>
              </a:rPr>
              <a:t>n</a:t>
            </a:r>
            <a:r>
              <a:rPr dirty="0" sz="2800" spc="120">
                <a:latin typeface="Microsoft Sans Serif"/>
                <a:cs typeface="Microsoft Sans Serif"/>
              </a:rPr>
              <a:t>t</a:t>
            </a:r>
            <a:r>
              <a:rPr dirty="0" sz="2800" spc="204">
                <a:latin typeface="Microsoft Sans Serif"/>
                <a:cs typeface="Microsoft Sans Serif"/>
              </a:rPr>
              <a:t>it</a:t>
            </a:r>
            <a:r>
              <a:rPr dirty="0" sz="2800" spc="20">
                <a:latin typeface="Microsoft Sans Serif"/>
                <a:cs typeface="Microsoft Sans Serif"/>
              </a:rPr>
              <a:t>i</a:t>
            </a:r>
            <a:r>
              <a:rPr dirty="0" sz="2800" spc="45">
                <a:latin typeface="Microsoft Sans Serif"/>
                <a:cs typeface="Microsoft Sans Serif"/>
              </a:rPr>
              <a:t>e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s</a:t>
            </a:r>
            <a:r>
              <a:rPr dirty="0" sz="2800" spc="-35">
                <a:latin typeface="Microsoft Sans Serif"/>
                <a:cs typeface="Microsoft Sans Serif"/>
              </a:rPr>
              <a:t>o</a:t>
            </a:r>
            <a:r>
              <a:rPr dirty="0" sz="2800" spc="325">
                <a:latin typeface="Microsoft Sans Serif"/>
                <a:cs typeface="Microsoft Sans Serif"/>
              </a:rPr>
              <a:t>f</a:t>
            </a:r>
            <a:r>
              <a:rPr dirty="0" sz="2800" spc="315">
                <a:latin typeface="Microsoft Sans Serif"/>
                <a:cs typeface="Microsoft Sans Serif"/>
              </a:rPr>
              <a:t>t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60">
                <a:latin typeface="Microsoft Sans Serif"/>
                <a:cs typeface="Microsoft Sans Serif"/>
              </a:rPr>
              <a:t>re  </a:t>
            </a:r>
            <a:r>
              <a:rPr dirty="0" sz="2800" spc="25">
                <a:latin typeface="Microsoft Sans Serif"/>
                <a:cs typeface="Microsoft Sans Serif"/>
              </a:rPr>
              <a:t>objects,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which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have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some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data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associated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0">
                <a:latin typeface="Microsoft Sans Serif"/>
                <a:cs typeface="Microsoft Sans Serif"/>
              </a:rPr>
              <a:t>with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110">
                <a:latin typeface="Microsoft Sans Serif"/>
                <a:cs typeface="Microsoft Sans Serif"/>
              </a:rPr>
              <a:t>them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and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20">
                <a:latin typeface="Microsoft Sans Serif"/>
                <a:cs typeface="Microsoft Sans Serif"/>
              </a:rPr>
              <a:t>perform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certain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functions.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0323" y="3356279"/>
            <a:ext cx="4373283" cy="31233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145"/>
              <a:t>Class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2090" marR="5080">
              <a:lnSpc>
                <a:spcPct val="99900"/>
              </a:lnSpc>
              <a:spcBef>
                <a:spcPts val="100"/>
              </a:spcBef>
            </a:pPr>
            <a:r>
              <a:rPr dirty="0" sz="2600" spc="-5"/>
              <a:t>Classes </a:t>
            </a:r>
            <a:r>
              <a:rPr dirty="0" sz="2600"/>
              <a:t>are </a:t>
            </a:r>
            <a:r>
              <a:rPr dirty="0" sz="2600" spc="-5"/>
              <a:t>used to </a:t>
            </a:r>
            <a:r>
              <a:rPr dirty="0" sz="2600"/>
              <a:t>create new </a:t>
            </a:r>
            <a:r>
              <a:rPr dirty="0" sz="2600" spc="-5"/>
              <a:t>user-defined </a:t>
            </a:r>
            <a:r>
              <a:rPr dirty="0" sz="2600"/>
              <a:t>data </a:t>
            </a:r>
            <a:r>
              <a:rPr dirty="0" sz="2600" spc="5"/>
              <a:t> </a:t>
            </a:r>
            <a:r>
              <a:rPr dirty="0" sz="2600" spc="-5"/>
              <a:t>structures that</a:t>
            </a:r>
            <a:r>
              <a:rPr dirty="0" sz="2600" spc="10"/>
              <a:t> </a:t>
            </a:r>
            <a:r>
              <a:rPr dirty="0" sz="2600" spc="-5"/>
              <a:t>contain</a:t>
            </a:r>
            <a:r>
              <a:rPr dirty="0" sz="2600" spc="5"/>
              <a:t> </a:t>
            </a:r>
            <a:r>
              <a:rPr dirty="0" sz="2600" spc="-5"/>
              <a:t>arbitrary</a:t>
            </a:r>
            <a:r>
              <a:rPr dirty="0" sz="2600" spc="5"/>
              <a:t> </a:t>
            </a:r>
            <a:r>
              <a:rPr dirty="0" sz="2600" spc="-10"/>
              <a:t>information</a:t>
            </a:r>
            <a:r>
              <a:rPr dirty="0" sz="2600" spc="5"/>
              <a:t> </a:t>
            </a:r>
            <a:r>
              <a:rPr dirty="0" sz="2600" spc="-5"/>
              <a:t>about </a:t>
            </a:r>
            <a:r>
              <a:rPr dirty="0" sz="2600"/>
              <a:t> </a:t>
            </a:r>
            <a:r>
              <a:rPr dirty="0" sz="2600" spc="-5"/>
              <a:t>something.</a:t>
            </a:r>
            <a:r>
              <a:rPr dirty="0" sz="2600" spc="-10"/>
              <a:t> </a:t>
            </a:r>
            <a:r>
              <a:rPr dirty="0" sz="2600"/>
              <a:t>In </a:t>
            </a:r>
            <a:r>
              <a:rPr dirty="0" sz="2600" spc="-5"/>
              <a:t>the</a:t>
            </a:r>
            <a:r>
              <a:rPr dirty="0" sz="2600" spc="5"/>
              <a:t> </a:t>
            </a:r>
            <a:r>
              <a:rPr dirty="0" sz="2600" spc="-5"/>
              <a:t>case of </a:t>
            </a:r>
            <a:r>
              <a:rPr dirty="0" sz="2600"/>
              <a:t>an</a:t>
            </a:r>
            <a:r>
              <a:rPr dirty="0" sz="2600" spc="5"/>
              <a:t> </a:t>
            </a:r>
            <a:r>
              <a:rPr dirty="0" sz="2600" spc="-5"/>
              <a:t>car, we</a:t>
            </a:r>
            <a:r>
              <a:rPr dirty="0" sz="2600" spc="-10"/>
              <a:t> </a:t>
            </a:r>
            <a:r>
              <a:rPr dirty="0" sz="2600" spc="-5"/>
              <a:t>could</a:t>
            </a:r>
            <a:r>
              <a:rPr dirty="0" sz="2600" spc="5"/>
              <a:t> </a:t>
            </a:r>
            <a:r>
              <a:rPr dirty="0" sz="2600" spc="-5"/>
              <a:t>create</a:t>
            </a:r>
            <a:r>
              <a:rPr dirty="0" sz="2600"/>
              <a:t> </a:t>
            </a:r>
            <a:r>
              <a:rPr dirty="0" sz="2600" spc="-5"/>
              <a:t>an</a:t>
            </a:r>
            <a:r>
              <a:rPr dirty="0" sz="2600"/>
              <a:t> </a:t>
            </a:r>
            <a:r>
              <a:rPr dirty="0" sz="2600" spc="-5"/>
              <a:t>Car() </a:t>
            </a:r>
            <a:r>
              <a:rPr dirty="0" sz="2600" spc="-570"/>
              <a:t> </a:t>
            </a:r>
            <a:r>
              <a:rPr dirty="0" sz="2600" spc="-5"/>
              <a:t>class </a:t>
            </a:r>
            <a:r>
              <a:rPr dirty="0" sz="2600"/>
              <a:t>to track </a:t>
            </a:r>
            <a:r>
              <a:rPr dirty="0" sz="2600" spc="-5"/>
              <a:t>properties about </a:t>
            </a:r>
            <a:r>
              <a:rPr dirty="0" sz="2600"/>
              <a:t>the </a:t>
            </a:r>
            <a:r>
              <a:rPr dirty="0" sz="2600" spc="-5"/>
              <a:t>Car </a:t>
            </a:r>
            <a:r>
              <a:rPr dirty="0" sz="2600"/>
              <a:t>like the </a:t>
            </a:r>
            <a:r>
              <a:rPr dirty="0" sz="2600" spc="-5"/>
              <a:t>fuel and </a:t>
            </a:r>
            <a:r>
              <a:rPr dirty="0" sz="2600"/>
              <a:t> </a:t>
            </a:r>
            <a:r>
              <a:rPr dirty="0" sz="2600" spc="-5"/>
              <a:t>maxspeed.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45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876308"/>
            <a:ext cx="1504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30307"/>
            <a:ext cx="1504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0"/>
              <a:t>While </a:t>
            </a:r>
            <a:r>
              <a:rPr dirty="0" sz="2800" spc="-5"/>
              <a:t>the class is the </a:t>
            </a:r>
            <a:r>
              <a:rPr dirty="0" sz="2800" spc="-10"/>
              <a:t>blueprint, </a:t>
            </a:r>
            <a:r>
              <a:rPr dirty="0" sz="2800"/>
              <a:t>an </a:t>
            </a:r>
            <a:r>
              <a:rPr dirty="0" sz="2800" spc="-10"/>
              <a:t>instance </a:t>
            </a:r>
            <a:r>
              <a:rPr dirty="0" sz="2800" spc="-5"/>
              <a:t>is </a:t>
            </a:r>
            <a:r>
              <a:rPr dirty="0" sz="2800"/>
              <a:t>a </a:t>
            </a:r>
            <a:r>
              <a:rPr dirty="0" sz="2800" spc="-5"/>
              <a:t>copy </a:t>
            </a:r>
            <a:r>
              <a:rPr dirty="0" sz="2800" spc="-620"/>
              <a:t> </a:t>
            </a:r>
            <a:r>
              <a:rPr dirty="0" sz="2800"/>
              <a:t>of </a:t>
            </a:r>
            <a:r>
              <a:rPr dirty="0" sz="2800" spc="-5"/>
              <a:t>the class with actual values, </a:t>
            </a:r>
            <a:r>
              <a:rPr dirty="0" sz="2800" spc="-10"/>
              <a:t>literally </a:t>
            </a:r>
            <a:r>
              <a:rPr dirty="0" sz="2800"/>
              <a:t>an </a:t>
            </a:r>
            <a:r>
              <a:rPr dirty="0" sz="2800" spc="-5"/>
              <a:t>object </a:t>
            </a:r>
            <a:r>
              <a:rPr dirty="0" sz="2800"/>
              <a:t> </a:t>
            </a:r>
            <a:r>
              <a:rPr dirty="0" sz="2800" spc="-10"/>
              <a:t>belonging</a:t>
            </a:r>
            <a:r>
              <a:rPr dirty="0" sz="2800" spc="-5"/>
              <a:t> to </a:t>
            </a:r>
            <a:r>
              <a:rPr dirty="0" sz="2800"/>
              <a:t>a </a:t>
            </a:r>
            <a:r>
              <a:rPr dirty="0" sz="2800" spc="-10"/>
              <a:t>specific</a:t>
            </a:r>
            <a:r>
              <a:rPr dirty="0" sz="2800" spc="5"/>
              <a:t> </a:t>
            </a:r>
            <a:r>
              <a:rPr dirty="0" sz="2800" spc="-5"/>
              <a:t>class.</a:t>
            </a:r>
            <a:endParaRPr sz="2800"/>
          </a:p>
          <a:p>
            <a:pPr marL="355600" marR="1776730">
              <a:lnSpc>
                <a:spcPct val="100000"/>
              </a:lnSpc>
              <a:spcBef>
                <a:spcPts val="800"/>
              </a:spcBef>
            </a:pPr>
            <a:r>
              <a:rPr dirty="0" spc="-10"/>
              <a:t>Put </a:t>
            </a:r>
            <a:r>
              <a:rPr dirty="0" spc="-5"/>
              <a:t>another way, </a:t>
            </a:r>
            <a:r>
              <a:rPr dirty="0"/>
              <a:t>a </a:t>
            </a:r>
            <a:r>
              <a:rPr dirty="0" spc="-5"/>
              <a:t>class </a:t>
            </a:r>
            <a:r>
              <a:rPr dirty="0" spc="-10"/>
              <a:t>is like </a:t>
            </a:r>
            <a:r>
              <a:rPr dirty="0"/>
              <a:t>a </a:t>
            </a:r>
            <a:r>
              <a:rPr dirty="0" spc="-5"/>
              <a:t>form </a:t>
            </a:r>
            <a:r>
              <a:rPr dirty="0"/>
              <a:t>or </a:t>
            </a:r>
            <a:r>
              <a:rPr dirty="0" spc="-620"/>
              <a:t> </a:t>
            </a:r>
            <a:r>
              <a:rPr dirty="0" spc="-10"/>
              <a:t>questionnaire.</a:t>
            </a:r>
          </a:p>
          <a:p>
            <a:pPr marL="355600" marR="97790">
              <a:lnSpc>
                <a:spcPct val="100000"/>
              </a:lnSpc>
              <a:spcBef>
                <a:spcPts val="780"/>
              </a:spcBef>
            </a:pPr>
            <a:r>
              <a:rPr dirty="0"/>
              <a:t>It</a:t>
            </a:r>
            <a:r>
              <a:rPr dirty="0" spc="-10"/>
              <a:t> defines the</a:t>
            </a:r>
            <a:r>
              <a:rPr dirty="0" spc="-5"/>
              <a:t> needed</a:t>
            </a:r>
            <a:r>
              <a:rPr dirty="0" spc="-10"/>
              <a:t> information.</a:t>
            </a:r>
            <a:r>
              <a:rPr dirty="0"/>
              <a:t> </a:t>
            </a:r>
            <a:r>
              <a:rPr dirty="0" spc="-20"/>
              <a:t>After</a:t>
            </a:r>
            <a:r>
              <a:rPr dirty="0" spc="-10"/>
              <a:t> </a:t>
            </a:r>
            <a:r>
              <a:rPr dirty="0" spc="-5"/>
              <a:t>you</a:t>
            </a:r>
            <a:r>
              <a:rPr dirty="0" spc="-15"/>
              <a:t> </a:t>
            </a:r>
            <a:r>
              <a:rPr dirty="0" spc="-10"/>
              <a:t>fill </a:t>
            </a:r>
            <a:r>
              <a:rPr dirty="0" spc="-5"/>
              <a:t>out </a:t>
            </a:r>
            <a:r>
              <a:rPr dirty="0"/>
              <a:t> </a:t>
            </a:r>
            <a:r>
              <a:rPr dirty="0" spc="-5"/>
              <a:t>the form, </a:t>
            </a:r>
            <a:r>
              <a:rPr dirty="0" spc="-10"/>
              <a:t>your specific </a:t>
            </a:r>
            <a:r>
              <a:rPr dirty="0" spc="-5"/>
              <a:t>copy is </a:t>
            </a:r>
            <a:r>
              <a:rPr dirty="0"/>
              <a:t>an </a:t>
            </a:r>
            <a:r>
              <a:rPr dirty="0" spc="-5"/>
              <a:t>instance </a:t>
            </a:r>
            <a:r>
              <a:rPr dirty="0"/>
              <a:t>of </a:t>
            </a:r>
            <a:r>
              <a:rPr dirty="0" spc="-10"/>
              <a:t>the </a:t>
            </a:r>
            <a:r>
              <a:rPr dirty="0" spc="-5"/>
              <a:t> class;</a:t>
            </a:r>
            <a:r>
              <a:rPr dirty="0" spc="-15"/>
              <a:t> </a:t>
            </a:r>
            <a:r>
              <a:rPr dirty="0" spc="-5"/>
              <a:t>it</a:t>
            </a:r>
            <a:r>
              <a:rPr dirty="0" spc="-10"/>
              <a:t> </a:t>
            </a:r>
            <a:r>
              <a:rPr dirty="0" spc="-5"/>
              <a:t>contains</a:t>
            </a:r>
            <a:r>
              <a:rPr dirty="0" spc="-10"/>
              <a:t> </a:t>
            </a:r>
            <a:r>
              <a:rPr dirty="0" spc="-5"/>
              <a:t>actual</a:t>
            </a:r>
            <a:r>
              <a:rPr dirty="0" spc="-15"/>
              <a:t> </a:t>
            </a:r>
            <a:r>
              <a:rPr dirty="0" spc="-10"/>
              <a:t>information </a:t>
            </a:r>
            <a:r>
              <a:rPr dirty="0" spc="-5"/>
              <a:t>relevant</a:t>
            </a:r>
            <a:r>
              <a:rPr dirty="0" spc="-10"/>
              <a:t> </a:t>
            </a:r>
            <a:r>
              <a:rPr dirty="0" spc="-5"/>
              <a:t>to </a:t>
            </a:r>
            <a:r>
              <a:rPr dirty="0" spc="-10"/>
              <a:t>you.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45"/>
              <a:t>Objects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0002" y="1655635"/>
            <a:ext cx="6081115" cy="42516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15"/>
              <a:t>O</a:t>
            </a:r>
            <a:r>
              <a:rPr dirty="0" spc="-110"/>
              <a:t>OP</a:t>
            </a:r>
            <a:r>
              <a:rPr dirty="0" spc="-140"/>
              <a:t> </a:t>
            </a:r>
            <a:r>
              <a:rPr dirty="0" spc="-270"/>
              <a:t>F</a:t>
            </a:r>
            <a:r>
              <a:rPr dirty="0" spc="5"/>
              <a:t>e</a:t>
            </a:r>
            <a:r>
              <a:rPr dirty="0" spc="-120"/>
              <a:t>a</a:t>
            </a:r>
            <a:r>
              <a:rPr dirty="0" spc="170"/>
              <a:t>t</a:t>
            </a:r>
            <a:r>
              <a:rPr dirty="0" spc="330"/>
              <a:t>u</a:t>
            </a:r>
            <a:r>
              <a:rPr dirty="0" spc="100"/>
              <a:t>re</a:t>
            </a:r>
            <a:r>
              <a:rPr dirty="0" spc="-19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5989320" cy="424434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30">
                <a:latin typeface="Microsoft Sans Serif"/>
                <a:cs typeface="Microsoft Sans Serif"/>
              </a:rPr>
              <a:t>Reduction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in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complexity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55">
                <a:latin typeface="Microsoft Sans Serif"/>
                <a:cs typeface="Microsoft Sans Serif"/>
              </a:rPr>
              <a:t>Importance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data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35">
                <a:latin typeface="Microsoft Sans Serif"/>
                <a:cs typeface="Microsoft Sans Serif"/>
              </a:rPr>
              <a:t>Creation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new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data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90">
                <a:latin typeface="Microsoft Sans Serif"/>
                <a:cs typeface="Microsoft Sans Serif"/>
              </a:rPr>
              <a:t>structure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25">
                <a:latin typeface="Microsoft Sans Serif"/>
                <a:cs typeface="Microsoft Sans Serif"/>
              </a:rPr>
              <a:t>Data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Hiding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30">
                <a:latin typeface="Microsoft Sans Serif"/>
                <a:cs typeface="Microsoft Sans Serif"/>
              </a:rPr>
              <a:t>Characterization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195">
                <a:latin typeface="Microsoft Sans Serif"/>
                <a:cs typeface="Microsoft Sans Serif"/>
              </a:rPr>
              <a:t>of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the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objects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30">
                <a:latin typeface="Microsoft Sans Serif"/>
                <a:cs typeface="Microsoft Sans Serif"/>
              </a:rPr>
              <a:t>Communication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among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objects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55">
                <a:latin typeface="Microsoft Sans Serif"/>
                <a:cs typeface="Microsoft Sans Serif"/>
              </a:rPr>
              <a:t>Extensibility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00">
                <a:latin typeface="Microsoft Sans Serif"/>
                <a:cs typeface="Microsoft Sans Serif"/>
              </a:rPr>
              <a:t>Bottom-up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programming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approach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241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15"/>
              <a:t>O</a:t>
            </a:r>
            <a:r>
              <a:rPr dirty="0" spc="-110"/>
              <a:t>OP</a:t>
            </a:r>
            <a:r>
              <a:rPr dirty="0" spc="-140"/>
              <a:t> </a:t>
            </a:r>
            <a:r>
              <a:rPr dirty="0" spc="-370"/>
              <a:t>C</a:t>
            </a:r>
            <a:r>
              <a:rPr dirty="0" spc="114"/>
              <a:t>o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10"/>
              <a:t>e</a:t>
            </a:r>
            <a:r>
              <a:rPr dirty="0" spc="375"/>
              <a:t>p</a:t>
            </a:r>
            <a:r>
              <a:rPr dirty="0" spc="195"/>
              <a:t>t</a:t>
            </a:r>
            <a:r>
              <a:rPr dirty="0" spc="-19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6947534" cy="318897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14">
                <a:latin typeface="Microsoft Sans Serif"/>
                <a:cs typeface="Microsoft Sans Serif"/>
              </a:rPr>
              <a:t>Class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60">
                <a:latin typeface="Microsoft Sans Serif"/>
                <a:cs typeface="Microsoft Sans Serif"/>
              </a:rPr>
              <a:t>Object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25">
                <a:latin typeface="Microsoft Sans Serif"/>
                <a:cs typeface="Microsoft Sans Serif"/>
              </a:rPr>
              <a:t>Data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Hiding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95">
                <a:latin typeface="Microsoft Sans Serif"/>
                <a:cs typeface="Microsoft Sans Serif"/>
              </a:rPr>
              <a:t>/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abstraction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95">
                <a:latin typeface="Microsoft Sans Serif"/>
                <a:cs typeface="Microsoft Sans Serif"/>
              </a:rPr>
              <a:t>/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encapsulation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40">
                <a:latin typeface="Microsoft Sans Serif"/>
                <a:cs typeface="Microsoft Sans Serif"/>
              </a:rPr>
              <a:t>Inheritance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35">
                <a:latin typeface="Microsoft Sans Serif"/>
                <a:cs typeface="Microsoft Sans Serif"/>
              </a:rPr>
              <a:t>Polymorphism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0">
                <a:latin typeface="Microsoft Sans Serif"/>
                <a:cs typeface="Microsoft Sans Serif"/>
              </a:rPr>
              <a:t>Dynamic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Binding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241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375"/>
              <a:t>C</a:t>
            </a:r>
            <a:r>
              <a:rPr dirty="0" spc="100"/>
              <a:t>re</a:t>
            </a:r>
            <a:r>
              <a:rPr dirty="0" spc="215"/>
              <a:t>a</a:t>
            </a:r>
            <a:r>
              <a:rPr dirty="0" spc="114"/>
              <a:t>t</a:t>
            </a:r>
            <a:r>
              <a:rPr dirty="0" spc="40"/>
              <a:t>i</a:t>
            </a:r>
            <a:r>
              <a:rPr dirty="0" spc="95"/>
              <a:t>n</a:t>
            </a:r>
            <a:r>
              <a:rPr dirty="0" spc="75"/>
              <a:t>g</a:t>
            </a:r>
            <a:r>
              <a:rPr dirty="0" spc="-125"/>
              <a:t> </a:t>
            </a:r>
            <a:r>
              <a:rPr dirty="0" spc="-125"/>
              <a:t>a</a:t>
            </a:r>
            <a:r>
              <a:rPr dirty="0" spc="-125"/>
              <a:t> </a:t>
            </a:r>
            <a:r>
              <a:rPr dirty="0" spc="-130"/>
              <a:t>c</a:t>
            </a:r>
            <a:r>
              <a:rPr dirty="0" spc="155"/>
              <a:t>l</a:t>
            </a:r>
            <a:r>
              <a:rPr dirty="0" spc="-120"/>
              <a:t>a</a:t>
            </a:r>
            <a:r>
              <a:rPr dirty="0" spc="-204"/>
              <a:t>s</a:t>
            </a:r>
            <a:r>
              <a:rPr dirty="0" spc="-19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2893695" cy="318897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-114">
                <a:latin typeface="Microsoft Sans Serif"/>
                <a:cs typeface="Microsoft Sans Serif"/>
              </a:rPr>
              <a:t>c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300">
                <a:latin typeface="Microsoft Sans Serif"/>
                <a:cs typeface="Microsoft Sans Serif"/>
              </a:rPr>
              <a:t>C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100">
                <a:latin typeface="Microsoft Sans Serif"/>
                <a:cs typeface="Microsoft Sans Serif"/>
              </a:rPr>
              <a:t>ssN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40">
                <a:latin typeface="Microsoft Sans Serif"/>
                <a:cs typeface="Microsoft Sans Serif"/>
              </a:rPr>
              <a:t>me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340995">
              <a:lnSpc>
                <a:spcPct val="100000"/>
              </a:lnSpc>
              <a:spcBef>
                <a:spcPts val="790"/>
              </a:spcBef>
            </a:pPr>
            <a:r>
              <a:rPr dirty="0" sz="2800" spc="35">
                <a:latin typeface="Microsoft Sans Serif"/>
                <a:cs typeface="Microsoft Sans Serif"/>
              </a:rPr>
              <a:t>&lt;fields&gt;</a:t>
            </a:r>
            <a:endParaRPr sz="2800">
              <a:latin typeface="Microsoft Sans Serif"/>
              <a:cs typeface="Microsoft Sans Serif"/>
            </a:endParaRPr>
          </a:p>
          <a:p>
            <a:pPr marL="340995">
              <a:lnSpc>
                <a:spcPct val="100000"/>
              </a:lnSpc>
              <a:spcBef>
                <a:spcPts val="790"/>
              </a:spcBef>
            </a:pPr>
            <a:r>
              <a:rPr dirty="0" sz="2800" spc="114">
                <a:latin typeface="Microsoft Sans Serif"/>
                <a:cs typeface="Microsoft Sans Serif"/>
              </a:rPr>
              <a:t>&lt;getter/setter&gt;</a:t>
            </a:r>
            <a:endParaRPr sz="2800">
              <a:latin typeface="Microsoft Sans Serif"/>
              <a:cs typeface="Microsoft Sans Serif"/>
            </a:endParaRPr>
          </a:p>
          <a:p>
            <a:pPr marL="340995">
              <a:lnSpc>
                <a:spcPct val="100000"/>
              </a:lnSpc>
              <a:spcBef>
                <a:spcPts val="795"/>
              </a:spcBef>
            </a:pPr>
            <a:r>
              <a:rPr dirty="0" sz="2800" spc="55">
                <a:latin typeface="Microsoft Sans Serif"/>
                <a:cs typeface="Microsoft Sans Serif"/>
              </a:rPr>
              <a:t>&lt;constructor&gt;</a:t>
            </a:r>
            <a:endParaRPr sz="2800">
              <a:latin typeface="Microsoft Sans Serif"/>
              <a:cs typeface="Microsoft Sans Serif"/>
            </a:endParaRPr>
          </a:p>
          <a:p>
            <a:pPr marL="340995">
              <a:lnSpc>
                <a:spcPct val="100000"/>
              </a:lnSpc>
              <a:spcBef>
                <a:spcPts val="790"/>
              </a:spcBef>
            </a:pPr>
            <a:r>
              <a:rPr dirty="0" sz="2800" spc="50">
                <a:latin typeface="Microsoft Sans Serif"/>
                <a:cs typeface="Microsoft Sans Serif"/>
              </a:rPr>
              <a:t>&lt;functions&gt;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85"/>
              <a:t>Constructor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6215"/>
            <a:ext cx="8134984" cy="4451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44805" marR="5080" indent="-332740">
              <a:lnSpc>
                <a:spcPct val="100299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44805" algn="l"/>
                <a:tab pos="345440" algn="l"/>
              </a:tabLst>
            </a:pPr>
            <a:r>
              <a:rPr dirty="0" sz="2700">
                <a:latin typeface="Microsoft Sans Serif"/>
                <a:cs typeface="Microsoft Sans Serif"/>
              </a:rPr>
              <a:t>A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95">
                <a:latin typeface="Microsoft Sans Serif"/>
                <a:cs typeface="Microsoft Sans Serif"/>
              </a:rPr>
              <a:t>c</a:t>
            </a:r>
            <a:r>
              <a:rPr dirty="0" sz="2700" spc="90">
                <a:latin typeface="Microsoft Sans Serif"/>
                <a:cs typeface="Microsoft Sans Serif"/>
              </a:rPr>
              <a:t>o</a:t>
            </a:r>
            <a:r>
              <a:rPr dirty="0" sz="2700" spc="-40">
                <a:latin typeface="Microsoft Sans Serif"/>
                <a:cs typeface="Microsoft Sans Serif"/>
              </a:rPr>
              <a:t>n</a:t>
            </a:r>
            <a:r>
              <a:rPr dirty="0" sz="2700" spc="-45">
                <a:latin typeface="Microsoft Sans Serif"/>
                <a:cs typeface="Microsoft Sans Serif"/>
              </a:rPr>
              <a:t>s</a:t>
            </a:r>
            <a:r>
              <a:rPr dirty="0" sz="2700" spc="335">
                <a:latin typeface="Microsoft Sans Serif"/>
                <a:cs typeface="Microsoft Sans Serif"/>
              </a:rPr>
              <a:t>t</a:t>
            </a:r>
            <a:r>
              <a:rPr dirty="0" sz="2700" spc="135">
                <a:latin typeface="Microsoft Sans Serif"/>
                <a:cs typeface="Microsoft Sans Serif"/>
              </a:rPr>
              <a:t>r</a:t>
            </a:r>
            <a:r>
              <a:rPr dirty="0" sz="2700" spc="-15">
                <a:latin typeface="Microsoft Sans Serif"/>
                <a:cs typeface="Microsoft Sans Serif"/>
              </a:rPr>
              <a:t>u</a:t>
            </a:r>
            <a:r>
              <a:rPr dirty="0" sz="2700" spc="-25">
                <a:latin typeface="Microsoft Sans Serif"/>
                <a:cs typeface="Microsoft Sans Serif"/>
              </a:rPr>
              <a:t>c</a:t>
            </a:r>
            <a:r>
              <a:rPr dirty="0" sz="2700" spc="340">
                <a:latin typeface="Microsoft Sans Serif"/>
                <a:cs typeface="Microsoft Sans Serif"/>
              </a:rPr>
              <a:t>t</a:t>
            </a:r>
            <a:r>
              <a:rPr dirty="0" sz="2700" spc="85">
                <a:latin typeface="Microsoft Sans Serif"/>
                <a:cs typeface="Microsoft Sans Serif"/>
              </a:rPr>
              <a:t>o</a:t>
            </a:r>
            <a:r>
              <a:rPr dirty="0" sz="2700" spc="150">
                <a:latin typeface="Microsoft Sans Serif"/>
                <a:cs typeface="Microsoft Sans Serif"/>
              </a:rPr>
              <a:t>r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60">
                <a:latin typeface="Microsoft Sans Serif"/>
                <a:cs typeface="Microsoft Sans Serif"/>
              </a:rPr>
              <a:t>i</a:t>
            </a:r>
            <a:r>
              <a:rPr dirty="0" sz="2700" spc="-140">
                <a:latin typeface="Microsoft Sans Serif"/>
                <a:cs typeface="Microsoft Sans Serif"/>
              </a:rPr>
              <a:t>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-85">
                <a:latin typeface="Microsoft Sans Serif"/>
                <a:cs typeface="Microsoft Sans Serif"/>
              </a:rPr>
              <a:t>a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95">
                <a:latin typeface="Microsoft Sans Serif"/>
                <a:cs typeface="Microsoft Sans Serif"/>
              </a:rPr>
              <a:t>d</a:t>
            </a:r>
            <a:r>
              <a:rPr dirty="0" sz="2700" spc="60">
                <a:latin typeface="Microsoft Sans Serif"/>
                <a:cs typeface="Microsoft Sans Serif"/>
              </a:rPr>
              <a:t>i</a:t>
            </a:r>
            <a:r>
              <a:rPr dirty="0" sz="2700" spc="305">
                <a:latin typeface="Microsoft Sans Serif"/>
                <a:cs typeface="Microsoft Sans Serif"/>
              </a:rPr>
              <a:t>f</a:t>
            </a:r>
            <a:r>
              <a:rPr dirty="0" sz="2700" spc="290">
                <a:latin typeface="Microsoft Sans Serif"/>
                <a:cs typeface="Microsoft Sans Serif"/>
              </a:rPr>
              <a:t>f</a:t>
            </a:r>
            <a:r>
              <a:rPr dirty="0" sz="2700">
                <a:latin typeface="Microsoft Sans Serif"/>
                <a:cs typeface="Microsoft Sans Serif"/>
              </a:rPr>
              <a:t>e</a:t>
            </a:r>
            <a:r>
              <a:rPr dirty="0" sz="2700" spc="60">
                <a:latin typeface="Microsoft Sans Serif"/>
                <a:cs typeface="Microsoft Sans Serif"/>
              </a:rPr>
              <a:t>r</a:t>
            </a:r>
            <a:r>
              <a:rPr dirty="0" sz="2700" spc="90">
                <a:latin typeface="Microsoft Sans Serif"/>
                <a:cs typeface="Microsoft Sans Serif"/>
              </a:rPr>
              <a:t>e</a:t>
            </a:r>
            <a:r>
              <a:rPr dirty="0" sz="2700" spc="200">
                <a:latin typeface="Microsoft Sans Serif"/>
                <a:cs typeface="Microsoft Sans Serif"/>
              </a:rPr>
              <a:t>nt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340">
                <a:latin typeface="Microsoft Sans Serif"/>
                <a:cs typeface="Microsoft Sans Serif"/>
              </a:rPr>
              <a:t>t</a:t>
            </a:r>
            <a:r>
              <a:rPr dirty="0" sz="2700" spc="-15">
                <a:latin typeface="Microsoft Sans Serif"/>
                <a:cs typeface="Microsoft Sans Serif"/>
              </a:rPr>
              <a:t>y</a:t>
            </a:r>
            <a:r>
              <a:rPr dirty="0" sz="2700" spc="95">
                <a:latin typeface="Microsoft Sans Serif"/>
                <a:cs typeface="Microsoft Sans Serif"/>
              </a:rPr>
              <a:t>p</a:t>
            </a:r>
            <a:r>
              <a:rPr dirty="0" sz="2700" spc="15">
                <a:latin typeface="Microsoft Sans Serif"/>
                <a:cs typeface="Microsoft Sans Serif"/>
              </a:rPr>
              <a:t>e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90">
                <a:latin typeface="Microsoft Sans Serif"/>
                <a:cs typeface="Microsoft Sans Serif"/>
              </a:rPr>
              <a:t>o</a:t>
            </a:r>
            <a:r>
              <a:rPr dirty="0" sz="2700" spc="300">
                <a:latin typeface="Microsoft Sans Serif"/>
                <a:cs typeface="Microsoft Sans Serif"/>
              </a:rPr>
              <a:t>f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285">
                <a:latin typeface="Microsoft Sans Serif"/>
                <a:cs typeface="Microsoft Sans Serif"/>
              </a:rPr>
              <a:t>f</a:t>
            </a:r>
            <a:r>
              <a:rPr dirty="0" sz="2700" spc="10">
                <a:latin typeface="Microsoft Sans Serif"/>
                <a:cs typeface="Microsoft Sans Serif"/>
              </a:rPr>
              <a:t>un</a:t>
            </a:r>
            <a:r>
              <a:rPr dirty="0" sz="2700">
                <a:latin typeface="Microsoft Sans Serif"/>
                <a:cs typeface="Microsoft Sans Serif"/>
              </a:rPr>
              <a:t>c</a:t>
            </a:r>
            <a:r>
              <a:rPr dirty="0" sz="2700" spc="335">
                <a:latin typeface="Microsoft Sans Serif"/>
                <a:cs typeface="Microsoft Sans Serif"/>
              </a:rPr>
              <a:t>t</a:t>
            </a:r>
            <a:r>
              <a:rPr dirty="0" sz="2700" spc="50">
                <a:latin typeface="Microsoft Sans Serif"/>
                <a:cs typeface="Microsoft Sans Serif"/>
              </a:rPr>
              <a:t>i</a:t>
            </a:r>
            <a:r>
              <a:rPr dirty="0" sz="2700" spc="110">
                <a:latin typeface="Microsoft Sans Serif"/>
                <a:cs typeface="Microsoft Sans Serif"/>
              </a:rPr>
              <a:t>o</a:t>
            </a:r>
            <a:r>
              <a:rPr dirty="0" sz="2700" spc="60">
                <a:latin typeface="Microsoft Sans Serif"/>
                <a:cs typeface="Microsoft Sans Serif"/>
              </a:rPr>
              <a:t>n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155">
                <a:latin typeface="Microsoft Sans Serif"/>
                <a:cs typeface="Microsoft Sans Serif"/>
              </a:rPr>
              <a:t>w</a:t>
            </a:r>
            <a:r>
              <a:rPr dirty="0" sz="2700" spc="45">
                <a:latin typeface="Microsoft Sans Serif"/>
                <a:cs typeface="Microsoft Sans Serif"/>
              </a:rPr>
              <a:t>h</a:t>
            </a:r>
            <a:r>
              <a:rPr dirty="0" sz="2700" spc="60">
                <a:latin typeface="Microsoft Sans Serif"/>
                <a:cs typeface="Microsoft Sans Serif"/>
              </a:rPr>
              <a:t>i</a:t>
            </a:r>
            <a:r>
              <a:rPr dirty="0" sz="2700" spc="-95">
                <a:latin typeface="Microsoft Sans Serif"/>
                <a:cs typeface="Microsoft Sans Serif"/>
              </a:rPr>
              <a:t>c</a:t>
            </a:r>
            <a:r>
              <a:rPr dirty="0" sz="2700" spc="30">
                <a:latin typeface="Microsoft Sans Serif"/>
                <a:cs typeface="Microsoft Sans Serif"/>
              </a:rPr>
              <a:t>h  </a:t>
            </a:r>
            <a:r>
              <a:rPr dirty="0" sz="2700" spc="-40">
                <a:latin typeface="Microsoft Sans Serif"/>
                <a:cs typeface="Microsoft Sans Serif"/>
              </a:rPr>
              <a:t>is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55">
                <a:latin typeface="Microsoft Sans Serif"/>
                <a:cs typeface="Microsoft Sans Serif"/>
              </a:rPr>
              <a:t>created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50">
                <a:latin typeface="Microsoft Sans Serif"/>
                <a:cs typeface="Microsoft Sans Serif"/>
              </a:rPr>
              <a:t>with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30">
                <a:latin typeface="Microsoft Sans Serif"/>
                <a:cs typeface="Microsoft Sans Serif"/>
              </a:rPr>
              <a:t>same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5">
                <a:latin typeface="Microsoft Sans Serif"/>
                <a:cs typeface="Microsoft Sans Serif"/>
              </a:rPr>
              <a:t>name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120">
                <a:latin typeface="Microsoft Sans Serif"/>
                <a:cs typeface="Microsoft Sans Serif"/>
              </a:rPr>
              <a:t>as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90">
                <a:latin typeface="Microsoft Sans Serif"/>
                <a:cs typeface="Microsoft Sans Serif"/>
              </a:rPr>
              <a:t>its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70">
                <a:latin typeface="Microsoft Sans Serif"/>
                <a:cs typeface="Microsoft Sans Serif"/>
              </a:rPr>
              <a:t>class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-5">
                <a:latin typeface="Microsoft Sans Serif"/>
                <a:cs typeface="Microsoft Sans Serif"/>
              </a:rPr>
              <a:t>name.</a:t>
            </a:r>
            <a:endParaRPr sz="2700">
              <a:latin typeface="Microsoft Sans Serif"/>
              <a:cs typeface="Microsoft Sans Serif"/>
            </a:endParaRPr>
          </a:p>
          <a:p>
            <a:pPr marL="344805" marR="254635" indent="-332740">
              <a:lnSpc>
                <a:spcPct val="100299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44805" algn="l"/>
                <a:tab pos="345440" algn="l"/>
              </a:tabLst>
            </a:pPr>
            <a:r>
              <a:rPr dirty="0" sz="2700" spc="-20">
                <a:latin typeface="Microsoft Sans Serif"/>
                <a:cs typeface="Microsoft Sans Serif"/>
              </a:rPr>
              <a:t>The </a:t>
            </a:r>
            <a:r>
              <a:rPr dirty="0" sz="2700" spc="85">
                <a:latin typeface="Microsoft Sans Serif"/>
                <a:cs typeface="Microsoft Sans Serif"/>
              </a:rPr>
              <a:t>constructor </a:t>
            </a:r>
            <a:r>
              <a:rPr dirty="0" sz="2700" spc="-40">
                <a:latin typeface="Microsoft Sans Serif"/>
                <a:cs typeface="Microsoft Sans Serif"/>
              </a:rPr>
              <a:t>is </a:t>
            </a:r>
            <a:r>
              <a:rPr dirty="0" sz="2700" spc="5">
                <a:latin typeface="Microsoft Sans Serif"/>
                <a:cs typeface="Microsoft Sans Serif"/>
              </a:rPr>
              <a:t>used </a:t>
            </a:r>
            <a:r>
              <a:rPr dirty="0" sz="2700" spc="220">
                <a:latin typeface="Microsoft Sans Serif"/>
                <a:cs typeface="Microsoft Sans Serif"/>
              </a:rPr>
              <a:t>to </a:t>
            </a:r>
            <a:r>
              <a:rPr dirty="0" sz="2700" spc="60">
                <a:latin typeface="Microsoft Sans Serif"/>
                <a:cs typeface="Microsoft Sans Serif"/>
              </a:rPr>
              <a:t>initialize </a:t>
            </a:r>
            <a:r>
              <a:rPr dirty="0" sz="2700" spc="-20">
                <a:latin typeface="Microsoft Sans Serif"/>
                <a:cs typeface="Microsoft Sans Serif"/>
              </a:rPr>
              <a:t>an </a:t>
            </a:r>
            <a:r>
              <a:rPr dirty="0" sz="2700" spc="85">
                <a:latin typeface="Microsoft Sans Serif"/>
                <a:cs typeface="Microsoft Sans Serif"/>
              </a:rPr>
              <a:t>object </a:t>
            </a:r>
            <a:r>
              <a:rPr dirty="0" sz="2700" spc="90">
                <a:latin typeface="Microsoft Sans Serif"/>
                <a:cs typeface="Microsoft Sans Serif"/>
              </a:rPr>
              <a:t> </a:t>
            </a:r>
            <a:r>
              <a:rPr dirty="0" sz="2700" spc="65">
                <a:latin typeface="Microsoft Sans Serif"/>
                <a:cs typeface="Microsoft Sans Serif"/>
              </a:rPr>
              <a:t>when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204">
                <a:latin typeface="Microsoft Sans Serif"/>
                <a:cs typeface="Microsoft Sans Serif"/>
              </a:rPr>
              <a:t>it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35">
                <a:latin typeface="Microsoft Sans Serif"/>
                <a:cs typeface="Microsoft Sans Serif"/>
              </a:rPr>
              <a:t>is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35">
                <a:latin typeface="Microsoft Sans Serif"/>
                <a:cs typeface="Microsoft Sans Serif"/>
              </a:rPr>
              <a:t>created.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20">
                <a:latin typeface="Microsoft Sans Serif"/>
                <a:cs typeface="Microsoft Sans Serif"/>
              </a:rPr>
              <a:t>When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90">
                <a:latin typeface="Microsoft Sans Serif"/>
                <a:cs typeface="Microsoft Sans Serif"/>
              </a:rPr>
              <a:t>we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55">
                <a:latin typeface="Microsoft Sans Serif"/>
                <a:cs typeface="Microsoft Sans Serif"/>
              </a:rPr>
              <a:t>create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130">
                <a:latin typeface="Microsoft Sans Serif"/>
                <a:cs typeface="Microsoft Sans Serif"/>
              </a:rPr>
              <a:t>the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85">
                <a:latin typeface="Microsoft Sans Serif"/>
                <a:cs typeface="Microsoft Sans Serif"/>
              </a:rPr>
              <a:t>object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95">
                <a:latin typeface="Microsoft Sans Serif"/>
                <a:cs typeface="Microsoft Sans Serif"/>
              </a:rPr>
              <a:t>of </a:t>
            </a:r>
            <a:r>
              <a:rPr dirty="0" sz="2700" spc="-705">
                <a:latin typeface="Microsoft Sans Serif"/>
                <a:cs typeface="Microsoft Sans Serif"/>
              </a:rPr>
              <a:t> </a:t>
            </a:r>
            <a:r>
              <a:rPr dirty="0" sz="2700" spc="-70">
                <a:latin typeface="Microsoft Sans Serif"/>
                <a:cs typeface="Microsoft Sans Serif"/>
              </a:rPr>
              <a:t>class,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110">
                <a:latin typeface="Microsoft Sans Serif"/>
                <a:cs typeface="Microsoft Sans Serif"/>
              </a:rPr>
              <a:t>then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85">
                <a:latin typeface="Microsoft Sans Serif"/>
                <a:cs typeface="Microsoft Sans Serif"/>
              </a:rPr>
              <a:t>constructor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35">
                <a:latin typeface="Microsoft Sans Serif"/>
                <a:cs typeface="Microsoft Sans Serif"/>
              </a:rPr>
              <a:t>is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65">
                <a:latin typeface="Microsoft Sans Serif"/>
                <a:cs typeface="Microsoft Sans Serif"/>
              </a:rPr>
              <a:t>automatically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0">
                <a:latin typeface="Microsoft Sans Serif"/>
                <a:cs typeface="Microsoft Sans Serif"/>
              </a:rPr>
              <a:t>called.</a:t>
            </a:r>
            <a:endParaRPr sz="2700">
              <a:latin typeface="Microsoft Sans Serif"/>
              <a:cs typeface="Microsoft Sans Serif"/>
            </a:endParaRPr>
          </a:p>
          <a:p>
            <a:pPr marL="344805" marR="568960" indent="-332740">
              <a:lnSpc>
                <a:spcPct val="100299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44805" algn="l"/>
                <a:tab pos="345440" algn="l"/>
              </a:tabLst>
            </a:pPr>
            <a:r>
              <a:rPr dirty="0" sz="2700" spc="160">
                <a:latin typeface="Microsoft Sans Serif"/>
                <a:cs typeface="Microsoft Sans Serif"/>
              </a:rPr>
              <a:t>It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-40">
                <a:latin typeface="Microsoft Sans Serif"/>
                <a:cs typeface="Microsoft Sans Serif"/>
              </a:rPr>
              <a:t>is</a:t>
            </a:r>
            <a:r>
              <a:rPr dirty="0" sz="2700" spc="-90">
                <a:latin typeface="Microsoft Sans Serif"/>
                <a:cs typeface="Microsoft Sans Serif"/>
              </a:rPr>
              <a:t> </a:t>
            </a:r>
            <a:r>
              <a:rPr dirty="0" sz="2700" spc="110">
                <a:latin typeface="Microsoft Sans Serif"/>
                <a:cs typeface="Microsoft Sans Serif"/>
              </a:rPr>
              <a:t>quite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35">
                <a:latin typeface="Microsoft Sans Serif"/>
                <a:cs typeface="Microsoft Sans Serif"/>
              </a:rPr>
              <a:t>similar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220">
                <a:latin typeface="Microsoft Sans Serif"/>
                <a:cs typeface="Microsoft Sans Serif"/>
              </a:rPr>
              <a:t>to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70">
                <a:latin typeface="Microsoft Sans Serif"/>
                <a:cs typeface="Microsoft Sans Serif"/>
              </a:rPr>
              <a:t>class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105">
                <a:latin typeface="Microsoft Sans Serif"/>
                <a:cs typeface="Microsoft Sans Serif"/>
              </a:rPr>
              <a:t>function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165">
                <a:latin typeface="Microsoft Sans Serif"/>
                <a:cs typeface="Microsoft Sans Serif"/>
              </a:rPr>
              <a:t>but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204">
                <a:latin typeface="Microsoft Sans Serif"/>
                <a:cs typeface="Microsoft Sans Serif"/>
              </a:rPr>
              <a:t>it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-60">
                <a:latin typeface="Microsoft Sans Serif"/>
                <a:cs typeface="Microsoft Sans Serif"/>
              </a:rPr>
              <a:t>has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80">
                <a:latin typeface="Microsoft Sans Serif"/>
                <a:cs typeface="Microsoft Sans Serif"/>
              </a:rPr>
              <a:t>no </a:t>
            </a:r>
            <a:r>
              <a:rPr dirty="0" sz="2700" spc="-705">
                <a:latin typeface="Microsoft Sans Serif"/>
                <a:cs typeface="Microsoft Sans Serif"/>
              </a:rPr>
              <a:t> </a:t>
            </a:r>
            <a:r>
              <a:rPr dirty="0" sz="2700" spc="75">
                <a:latin typeface="Microsoft Sans Serif"/>
                <a:cs typeface="Microsoft Sans Serif"/>
              </a:rPr>
              <a:t>explicit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125">
                <a:latin typeface="Microsoft Sans Serif"/>
                <a:cs typeface="Microsoft Sans Serif"/>
              </a:rPr>
              <a:t>return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65">
                <a:latin typeface="Microsoft Sans Serif"/>
                <a:cs typeface="Microsoft Sans Serif"/>
              </a:rPr>
              <a:t>type.</a:t>
            </a:r>
            <a:endParaRPr sz="2700">
              <a:latin typeface="Microsoft Sans Serif"/>
              <a:cs typeface="Microsoft Sans Serif"/>
            </a:endParaRPr>
          </a:p>
          <a:p>
            <a:pPr marL="344805" marR="121285" indent="-332740">
              <a:lnSpc>
                <a:spcPct val="100400"/>
              </a:lnSpc>
              <a:spcBef>
                <a:spcPts val="765"/>
              </a:spcBef>
              <a:buClr>
                <a:srgbClr val="6697CC"/>
              </a:buClr>
              <a:buFont typeface="Arial MT"/>
              <a:buChar char="•"/>
              <a:tabLst>
                <a:tab pos="344805" algn="l"/>
                <a:tab pos="345440" algn="l"/>
              </a:tabLst>
            </a:pPr>
            <a:r>
              <a:rPr dirty="0" sz="2700" spc="-20">
                <a:latin typeface="Microsoft Sans Serif"/>
                <a:cs typeface="Microsoft Sans Serif"/>
              </a:rPr>
              <a:t>The </a:t>
            </a:r>
            <a:r>
              <a:rPr dirty="0" sz="2700" spc="60">
                <a:latin typeface="Microsoft Sans Serif"/>
                <a:cs typeface="Microsoft Sans Serif"/>
              </a:rPr>
              <a:t>generative </a:t>
            </a:r>
            <a:r>
              <a:rPr dirty="0" sz="2700" spc="85">
                <a:latin typeface="Microsoft Sans Serif"/>
                <a:cs typeface="Microsoft Sans Serif"/>
              </a:rPr>
              <a:t>constructor </a:t>
            </a:r>
            <a:r>
              <a:rPr dirty="0" sz="2700" spc="-40">
                <a:latin typeface="Microsoft Sans Serif"/>
                <a:cs typeface="Microsoft Sans Serif"/>
              </a:rPr>
              <a:t>is </a:t>
            </a:r>
            <a:r>
              <a:rPr dirty="0" sz="2700" spc="135">
                <a:latin typeface="Microsoft Sans Serif"/>
                <a:cs typeface="Microsoft Sans Serif"/>
              </a:rPr>
              <a:t>the </a:t>
            </a:r>
            <a:r>
              <a:rPr dirty="0" sz="2700" spc="95">
                <a:latin typeface="Microsoft Sans Serif"/>
                <a:cs typeface="Microsoft Sans Serif"/>
              </a:rPr>
              <a:t>most </a:t>
            </a:r>
            <a:r>
              <a:rPr dirty="0" sz="2700" spc="45">
                <a:latin typeface="Microsoft Sans Serif"/>
                <a:cs typeface="Microsoft Sans Serif"/>
              </a:rPr>
              <a:t>general </a:t>
            </a:r>
            <a:r>
              <a:rPr dirty="0" sz="2700" spc="50">
                <a:latin typeface="Microsoft Sans Serif"/>
                <a:cs typeface="Microsoft Sans Serif"/>
              </a:rPr>
              <a:t> </a:t>
            </a:r>
            <a:r>
              <a:rPr dirty="0" sz="2700" spc="150">
                <a:latin typeface="Microsoft Sans Serif"/>
                <a:cs typeface="Microsoft Sans Serif"/>
              </a:rPr>
              <a:t>form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195">
                <a:latin typeface="Microsoft Sans Serif"/>
                <a:cs typeface="Microsoft Sans Serif"/>
              </a:rPr>
              <a:t>of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135">
                <a:latin typeface="Microsoft Sans Serif"/>
                <a:cs typeface="Microsoft Sans Serif"/>
              </a:rPr>
              <a:t>the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70">
                <a:latin typeface="Microsoft Sans Serif"/>
                <a:cs typeface="Microsoft Sans Serif"/>
              </a:rPr>
              <a:t>constructor,</a:t>
            </a:r>
            <a:r>
              <a:rPr dirty="0" sz="2700" spc="-95">
                <a:latin typeface="Microsoft Sans Serif"/>
                <a:cs typeface="Microsoft Sans Serif"/>
              </a:rPr>
              <a:t> </a:t>
            </a:r>
            <a:r>
              <a:rPr dirty="0" sz="2700" spc="45">
                <a:latin typeface="Microsoft Sans Serif"/>
                <a:cs typeface="Microsoft Sans Serif"/>
              </a:rPr>
              <a:t>which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-35">
                <a:latin typeface="Microsoft Sans Serif"/>
                <a:cs typeface="Microsoft Sans Serif"/>
              </a:rPr>
              <a:t>is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10">
                <a:latin typeface="Microsoft Sans Serif"/>
                <a:cs typeface="Microsoft Sans Serif"/>
              </a:rPr>
              <a:t>used</a:t>
            </a:r>
            <a:r>
              <a:rPr dirty="0" sz="2700" spc="-105">
                <a:latin typeface="Microsoft Sans Serif"/>
                <a:cs typeface="Microsoft Sans Serif"/>
              </a:rPr>
              <a:t> </a:t>
            </a:r>
            <a:r>
              <a:rPr dirty="0" sz="2700" spc="220">
                <a:latin typeface="Microsoft Sans Serif"/>
                <a:cs typeface="Microsoft Sans Serif"/>
              </a:rPr>
              <a:t>to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50">
                <a:latin typeface="Microsoft Sans Serif"/>
                <a:cs typeface="Microsoft Sans Serif"/>
              </a:rPr>
              <a:t>create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85">
                <a:latin typeface="Microsoft Sans Serif"/>
                <a:cs typeface="Microsoft Sans Serif"/>
              </a:rPr>
              <a:t>a </a:t>
            </a:r>
            <a:r>
              <a:rPr dirty="0" sz="2700" spc="-705">
                <a:latin typeface="Microsoft Sans Serif"/>
                <a:cs typeface="Microsoft Sans Serif"/>
              </a:rPr>
              <a:t> </a:t>
            </a:r>
            <a:r>
              <a:rPr dirty="0" sz="2700" spc="40">
                <a:latin typeface="Microsoft Sans Serif"/>
                <a:cs typeface="Microsoft Sans Serif"/>
              </a:rPr>
              <a:t>n</a:t>
            </a:r>
            <a:r>
              <a:rPr dirty="0" sz="2700" spc="25">
                <a:latin typeface="Microsoft Sans Serif"/>
                <a:cs typeface="Microsoft Sans Serif"/>
              </a:rPr>
              <a:t>e</a:t>
            </a:r>
            <a:r>
              <a:rPr dirty="0" sz="2700" spc="160">
                <a:latin typeface="Microsoft Sans Serif"/>
                <a:cs typeface="Microsoft Sans Serif"/>
              </a:rPr>
              <a:t>w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5">
                <a:latin typeface="Microsoft Sans Serif"/>
                <a:cs typeface="Microsoft Sans Serif"/>
              </a:rPr>
              <a:t>in</a:t>
            </a:r>
            <a:r>
              <a:rPr dirty="0" sz="2700" spc="-10">
                <a:latin typeface="Microsoft Sans Serif"/>
                <a:cs typeface="Microsoft Sans Serif"/>
              </a:rPr>
              <a:t>s</a:t>
            </a:r>
            <a:r>
              <a:rPr dirty="0" sz="2700" spc="335">
                <a:latin typeface="Microsoft Sans Serif"/>
                <a:cs typeface="Microsoft Sans Serif"/>
              </a:rPr>
              <a:t>t</a:t>
            </a:r>
            <a:r>
              <a:rPr dirty="0" sz="2700" spc="-40">
                <a:latin typeface="Microsoft Sans Serif"/>
                <a:cs typeface="Microsoft Sans Serif"/>
              </a:rPr>
              <a:t>an</a:t>
            </a:r>
            <a:r>
              <a:rPr dirty="0" sz="2700" spc="-45">
                <a:latin typeface="Microsoft Sans Serif"/>
                <a:cs typeface="Microsoft Sans Serif"/>
              </a:rPr>
              <a:t>c</a:t>
            </a:r>
            <a:r>
              <a:rPr dirty="0" sz="2700" spc="15">
                <a:latin typeface="Microsoft Sans Serif"/>
                <a:cs typeface="Microsoft Sans Serif"/>
              </a:rPr>
              <a:t>e</a:t>
            </a:r>
            <a:r>
              <a:rPr dirty="0" sz="2700" spc="-110">
                <a:latin typeface="Microsoft Sans Serif"/>
                <a:cs typeface="Microsoft Sans Serif"/>
              </a:rPr>
              <a:t> </a:t>
            </a:r>
            <a:r>
              <a:rPr dirty="0" sz="2700" spc="90">
                <a:latin typeface="Microsoft Sans Serif"/>
                <a:cs typeface="Microsoft Sans Serif"/>
              </a:rPr>
              <a:t>o</a:t>
            </a:r>
            <a:r>
              <a:rPr dirty="0" sz="2700" spc="300">
                <a:latin typeface="Microsoft Sans Serif"/>
                <a:cs typeface="Microsoft Sans Serif"/>
              </a:rPr>
              <a:t>f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85">
                <a:latin typeface="Microsoft Sans Serif"/>
                <a:cs typeface="Microsoft Sans Serif"/>
              </a:rPr>
              <a:t>a</a:t>
            </a:r>
            <a:r>
              <a:rPr dirty="0" sz="2700" spc="-100">
                <a:latin typeface="Microsoft Sans Serif"/>
                <a:cs typeface="Microsoft Sans Serif"/>
              </a:rPr>
              <a:t> </a:t>
            </a:r>
            <a:r>
              <a:rPr dirty="0" sz="2700" spc="-95">
                <a:latin typeface="Microsoft Sans Serif"/>
                <a:cs typeface="Microsoft Sans Serif"/>
              </a:rPr>
              <a:t>c</a:t>
            </a:r>
            <a:r>
              <a:rPr dirty="0" sz="2700" spc="120">
                <a:latin typeface="Microsoft Sans Serif"/>
                <a:cs typeface="Microsoft Sans Serif"/>
              </a:rPr>
              <a:t>l</a:t>
            </a:r>
            <a:r>
              <a:rPr dirty="0" sz="2700" spc="-114">
                <a:latin typeface="Microsoft Sans Serif"/>
                <a:cs typeface="Microsoft Sans Serif"/>
              </a:rPr>
              <a:t>a</a:t>
            </a:r>
            <a:r>
              <a:rPr dirty="0" sz="2700" spc="-110">
                <a:latin typeface="Microsoft Sans Serif"/>
                <a:cs typeface="Microsoft Sans Serif"/>
              </a:rPr>
              <a:t>s</a:t>
            </a:r>
            <a:r>
              <a:rPr dirty="0" sz="2700" spc="-145">
                <a:latin typeface="Microsoft Sans Serif"/>
                <a:cs typeface="Microsoft Sans Serif"/>
              </a:rPr>
              <a:t>s</a:t>
            </a:r>
            <a:r>
              <a:rPr dirty="0" sz="2700" spc="-85">
                <a:latin typeface="Microsoft Sans Serif"/>
                <a:cs typeface="Microsoft Sans Serif"/>
              </a:rPr>
              <a:t>.</a:t>
            </a:r>
            <a:endParaRPr sz="27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3243580" algn="l"/>
              </a:tabLst>
            </a:pPr>
            <a:r>
              <a:rPr dirty="0" spc="85"/>
              <a:t>Constructor	</a:t>
            </a:r>
            <a:r>
              <a:rPr dirty="0" spc="70"/>
              <a:t>No</a:t>
            </a:r>
            <a:r>
              <a:rPr dirty="0" spc="-185"/>
              <a:t> </a:t>
            </a:r>
            <a:r>
              <a:rPr dirty="0" spc="75"/>
              <a:t>Agruments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02575" cy="31095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5">
                <a:latin typeface="Microsoft Sans Serif"/>
                <a:cs typeface="Microsoft Sans Serif"/>
              </a:rPr>
              <a:t>A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Constructor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which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75">
                <a:latin typeface="Microsoft Sans Serif"/>
                <a:cs typeface="Microsoft Sans Serif"/>
              </a:rPr>
              <a:t>has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no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parameter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0">
                <a:latin typeface="Microsoft Sans Serif"/>
                <a:cs typeface="Microsoft Sans Serif"/>
              </a:rPr>
              <a:t>is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called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default </a:t>
            </a:r>
            <a:r>
              <a:rPr dirty="0" sz="2800" spc="80">
                <a:latin typeface="Microsoft Sans Serif"/>
                <a:cs typeface="Microsoft Sans Serif"/>
              </a:rPr>
              <a:t>constructor </a:t>
            </a:r>
            <a:r>
              <a:rPr dirty="0" sz="2800" spc="110">
                <a:latin typeface="Microsoft Sans Serif"/>
                <a:cs typeface="Microsoft Sans Serif"/>
              </a:rPr>
              <a:t>or </a:t>
            </a:r>
            <a:r>
              <a:rPr dirty="0" sz="2800" spc="25">
                <a:latin typeface="Microsoft Sans Serif"/>
                <a:cs typeface="Microsoft Sans Serif"/>
              </a:rPr>
              <a:t>no-arg </a:t>
            </a:r>
            <a:r>
              <a:rPr dirty="0" sz="2800" spc="65">
                <a:latin typeface="Microsoft Sans Serif"/>
                <a:cs typeface="Microsoft Sans Serif"/>
              </a:rPr>
              <a:t>constructor. </a:t>
            </a:r>
            <a:r>
              <a:rPr dirty="0" sz="2800" spc="155">
                <a:latin typeface="Microsoft Sans Serif"/>
                <a:cs typeface="Microsoft Sans Serif"/>
              </a:rPr>
              <a:t>It </a:t>
            </a:r>
            <a:r>
              <a:rPr dirty="0" sz="2800" spc="-45">
                <a:latin typeface="Microsoft Sans Serif"/>
                <a:cs typeface="Microsoft Sans Serif"/>
              </a:rPr>
              <a:t>is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automatically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created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10">
                <a:latin typeface="Microsoft Sans Serif"/>
                <a:cs typeface="Microsoft Sans Serif"/>
              </a:rPr>
              <a:t>(with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no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argument)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by</a:t>
            </a:r>
            <a:endParaRPr sz="2800">
              <a:latin typeface="Microsoft Sans Serif"/>
              <a:cs typeface="Microsoft Sans Serif"/>
            </a:endParaRPr>
          </a:p>
          <a:p>
            <a:pPr marL="355600" marR="321945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85">
                <a:latin typeface="Microsoft Sans Serif"/>
                <a:cs typeface="Microsoft Sans Serif"/>
              </a:rPr>
              <a:t>Dart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compiler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85">
                <a:latin typeface="Microsoft Sans Serif"/>
                <a:cs typeface="Microsoft Sans Serif"/>
              </a:rPr>
              <a:t>if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we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35">
                <a:latin typeface="Microsoft Sans Serif"/>
                <a:cs typeface="Microsoft Sans Serif"/>
              </a:rPr>
              <a:t>don't</a:t>
            </a:r>
            <a:r>
              <a:rPr dirty="0" sz="2800" spc="-90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declare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in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80">
                <a:latin typeface="Microsoft Sans Serif"/>
                <a:cs typeface="Microsoft Sans Serif"/>
              </a:rPr>
              <a:t>class.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The </a:t>
            </a:r>
            <a:r>
              <a:rPr dirty="0" sz="2800" spc="85">
                <a:latin typeface="Microsoft Sans Serif"/>
                <a:cs typeface="Microsoft Sans Serif"/>
              </a:rPr>
              <a:t>Dart </a:t>
            </a:r>
            <a:r>
              <a:rPr dirty="0" sz="2800" spc="55">
                <a:latin typeface="Microsoft Sans Serif"/>
                <a:cs typeface="Microsoft Sans Serif"/>
              </a:rPr>
              <a:t>compiler </a:t>
            </a:r>
            <a:r>
              <a:rPr dirty="0" sz="2800" spc="35">
                <a:latin typeface="Microsoft Sans Serif"/>
                <a:cs typeface="Microsoft Sans Serif"/>
              </a:rPr>
              <a:t>ignores </a:t>
            </a:r>
            <a:r>
              <a:rPr dirty="0" sz="2800" spc="130">
                <a:latin typeface="Microsoft Sans Serif"/>
                <a:cs typeface="Microsoft Sans Serif"/>
              </a:rPr>
              <a:t>the </a:t>
            </a:r>
            <a:r>
              <a:rPr dirty="0" sz="2800" spc="114">
                <a:latin typeface="Microsoft Sans Serif"/>
                <a:cs typeface="Microsoft Sans Serif"/>
              </a:rPr>
              <a:t>default </a:t>
            </a:r>
            <a:r>
              <a:rPr dirty="0" sz="2800" spc="120">
                <a:latin typeface="Microsoft Sans Serif"/>
                <a:cs typeface="Microsoft Sans Serif"/>
              </a:rPr>
              <a:t> </a:t>
            </a:r>
            <a:r>
              <a:rPr dirty="0" sz="2800" spc="-114">
                <a:latin typeface="Microsoft Sans Serif"/>
                <a:cs typeface="Microsoft Sans Serif"/>
              </a:rPr>
              <a:t>c</a:t>
            </a:r>
            <a:r>
              <a:rPr dirty="0" sz="2800" spc="85">
                <a:latin typeface="Microsoft Sans Serif"/>
                <a:cs typeface="Microsoft Sans Serif"/>
              </a:rPr>
              <a:t>o</a:t>
            </a:r>
            <a:r>
              <a:rPr dirty="0" sz="2800" spc="95">
                <a:latin typeface="Microsoft Sans Serif"/>
                <a:cs typeface="Microsoft Sans Serif"/>
              </a:rPr>
              <a:t>ns</a:t>
            </a:r>
            <a:r>
              <a:rPr dirty="0" sz="2800" spc="40">
                <a:latin typeface="Microsoft Sans Serif"/>
                <a:cs typeface="Microsoft Sans Serif"/>
              </a:rPr>
              <a:t>t</a:t>
            </a:r>
            <a:r>
              <a:rPr dirty="0" sz="2800" spc="30">
                <a:latin typeface="Microsoft Sans Serif"/>
                <a:cs typeface="Microsoft Sans Serif"/>
              </a:rPr>
              <a:t>ru</a:t>
            </a:r>
            <a:r>
              <a:rPr dirty="0" sz="2800" spc="30">
                <a:latin typeface="Microsoft Sans Serif"/>
                <a:cs typeface="Microsoft Sans Serif"/>
              </a:rPr>
              <a:t>c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85">
                <a:latin typeface="Microsoft Sans Serif"/>
                <a:cs typeface="Microsoft Sans Serif"/>
              </a:rPr>
              <a:t>o</a:t>
            </a:r>
            <a:r>
              <a:rPr dirty="0" sz="2800" spc="145">
                <a:latin typeface="Microsoft Sans Serif"/>
                <a:cs typeface="Microsoft Sans Serif"/>
              </a:rPr>
              <a:t>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i</a:t>
            </a:r>
            <a:r>
              <a:rPr dirty="0" sz="2800" spc="300">
                <a:latin typeface="Microsoft Sans Serif"/>
                <a:cs typeface="Microsoft Sans Serif"/>
              </a:rPr>
              <a:t>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55">
                <a:latin typeface="Microsoft Sans Serif"/>
                <a:cs typeface="Microsoft Sans Serif"/>
              </a:rPr>
              <a:t>r</a:t>
            </a:r>
            <a:r>
              <a:rPr dirty="0" sz="2800" spc="8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80">
                <a:latin typeface="Microsoft Sans Serif"/>
                <a:cs typeface="Microsoft Sans Serif"/>
              </a:rPr>
              <a:t>nst</a:t>
            </a:r>
            <a:r>
              <a:rPr dirty="0" sz="2800" spc="70">
                <a:latin typeface="Microsoft Sans Serif"/>
                <a:cs typeface="Microsoft Sans Serif"/>
              </a:rPr>
              <a:t>r</a:t>
            </a:r>
            <a:r>
              <a:rPr dirty="0" sz="2800" spc="110">
                <a:latin typeface="Microsoft Sans Serif"/>
                <a:cs typeface="Microsoft Sans Serif"/>
              </a:rPr>
              <a:t>u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45">
                <a:latin typeface="Microsoft Sans Serif"/>
                <a:cs typeface="Microsoft Sans Serif"/>
              </a:rPr>
              <a:t>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204">
                <a:latin typeface="Microsoft Sans Serif"/>
                <a:cs typeface="Microsoft Sans Serif"/>
              </a:rPr>
              <a:t>it</a:t>
            </a:r>
            <a:r>
              <a:rPr dirty="0" sz="2800" spc="25">
                <a:latin typeface="Microsoft Sans Serif"/>
                <a:cs typeface="Microsoft Sans Serif"/>
              </a:rPr>
              <a:t>h  </a:t>
            </a:r>
            <a:r>
              <a:rPr dirty="0" sz="2800" spc="75">
                <a:latin typeface="Microsoft Sans Serif"/>
                <a:cs typeface="Microsoft Sans Serif"/>
              </a:rPr>
              <a:t>argument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10">
                <a:latin typeface="Microsoft Sans Serif"/>
                <a:cs typeface="Microsoft Sans Serif"/>
              </a:rPr>
              <a:t>or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no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argument.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3243580" algn="l"/>
              </a:tabLst>
            </a:pPr>
            <a:r>
              <a:rPr dirty="0" spc="85"/>
              <a:t>Constructor	</a:t>
            </a:r>
            <a:r>
              <a:rPr dirty="0" spc="25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28634" cy="3636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765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60">
                <a:latin typeface="Microsoft Sans Serif"/>
                <a:cs typeface="Microsoft Sans Serif"/>
              </a:rPr>
              <a:t>W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50">
                <a:latin typeface="Microsoft Sans Serif"/>
                <a:cs typeface="Microsoft Sans Serif"/>
              </a:rPr>
              <a:t>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30">
                <a:latin typeface="Microsoft Sans Serif"/>
                <a:cs typeface="Microsoft Sans Serif"/>
              </a:rPr>
              <a:t>so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p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30">
                <a:latin typeface="Microsoft Sans Serif"/>
                <a:cs typeface="Microsoft Sans Serif"/>
              </a:rPr>
              <a:t>h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p</a:t>
            </a:r>
            <a:r>
              <a:rPr dirty="0" sz="2800" spc="-10">
                <a:latin typeface="Microsoft Sans Serif"/>
                <a:cs typeface="Microsoft Sans Serif"/>
              </a:rPr>
              <a:t>a</a:t>
            </a:r>
            <a:r>
              <a:rPr dirty="0" sz="2800" spc="15">
                <a:latin typeface="Microsoft Sans Serif"/>
                <a:cs typeface="Microsoft Sans Serif"/>
              </a:rPr>
              <a:t>r</a:t>
            </a:r>
            <a:r>
              <a:rPr dirty="0" sz="2800" spc="25">
                <a:latin typeface="Microsoft Sans Serif"/>
                <a:cs typeface="Microsoft Sans Serif"/>
              </a:rPr>
              <a:t>a</a:t>
            </a:r>
            <a:r>
              <a:rPr dirty="0" sz="2800" spc="40">
                <a:latin typeface="Microsoft Sans Serif"/>
                <a:cs typeface="Microsoft Sans Serif"/>
              </a:rPr>
              <a:t>me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-5">
                <a:latin typeface="Microsoft Sans Serif"/>
                <a:cs typeface="Microsoft Sans Serif"/>
              </a:rPr>
              <a:t>rs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90">
                <a:latin typeface="Microsoft Sans Serif"/>
                <a:cs typeface="Microsoft Sans Serif"/>
              </a:rPr>
              <a:t>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65">
                <a:latin typeface="Microsoft Sans Serif"/>
                <a:cs typeface="Microsoft Sans Serif"/>
              </a:rPr>
              <a:t>a  </a:t>
            </a:r>
            <a:r>
              <a:rPr dirty="0" sz="2800" spc="80">
                <a:latin typeface="Microsoft Sans Serif"/>
                <a:cs typeface="Microsoft Sans Serif"/>
              </a:rPr>
              <a:t>constructor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5">
                <a:latin typeface="Microsoft Sans Serif"/>
                <a:cs typeface="Microsoft Sans Serif"/>
              </a:rPr>
              <a:t>that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5">
                <a:latin typeface="Microsoft Sans Serif"/>
                <a:cs typeface="Microsoft Sans Serif"/>
              </a:rPr>
              <a:t>type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195">
                <a:latin typeface="Microsoft Sans Serif"/>
                <a:cs typeface="Microsoft Sans Serif"/>
              </a:rPr>
              <a:t>of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constructor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called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parameterized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constructor.</a:t>
            </a:r>
            <a:endParaRPr sz="2800">
              <a:latin typeface="Microsoft Sans Serif"/>
              <a:cs typeface="Microsoft Sans Serif"/>
            </a:endParaRPr>
          </a:p>
          <a:p>
            <a:pPr marL="355600" marR="119126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 </a:t>
            </a:r>
            <a:r>
              <a:rPr dirty="0" sz="2800" spc="-45">
                <a:latin typeface="Microsoft Sans Serif"/>
                <a:cs typeface="Microsoft Sans Serif"/>
              </a:rPr>
              <a:t>is </a:t>
            </a:r>
            <a:r>
              <a:rPr dirty="0" sz="2800" spc="-5">
                <a:latin typeface="Microsoft Sans Serif"/>
                <a:cs typeface="Microsoft Sans Serif"/>
              </a:rPr>
              <a:t>used </a:t>
            </a:r>
            <a:r>
              <a:rPr dirty="0" sz="2800" spc="220">
                <a:latin typeface="Microsoft Sans Serif"/>
                <a:cs typeface="Microsoft Sans Serif"/>
              </a:rPr>
              <a:t>to </a:t>
            </a:r>
            <a:r>
              <a:rPr dirty="0" sz="2800" spc="60">
                <a:latin typeface="Microsoft Sans Serif"/>
                <a:cs typeface="Microsoft Sans Serif"/>
              </a:rPr>
              <a:t>initialize </a:t>
            </a:r>
            <a:r>
              <a:rPr dirty="0" sz="2800" spc="20">
                <a:latin typeface="Microsoft Sans Serif"/>
                <a:cs typeface="Microsoft Sans Serif"/>
              </a:rPr>
              <a:t>instance </a:t>
            </a:r>
            <a:r>
              <a:rPr dirty="0" sz="2800" spc="-5">
                <a:latin typeface="Microsoft Sans Serif"/>
                <a:cs typeface="Microsoft Sans Serif"/>
              </a:rPr>
              <a:t>variables. </a:t>
            </a:r>
            <a:r>
              <a:rPr dirty="0" sz="2800">
                <a:latin typeface="Microsoft Sans Serif"/>
                <a:cs typeface="Microsoft Sans Serif"/>
              </a:rPr>
              <a:t> 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45">
                <a:latin typeface="Microsoft Sans Serif"/>
                <a:cs typeface="Microsoft Sans Serif"/>
              </a:rPr>
              <a:t>o</a:t>
            </a:r>
            <a:r>
              <a:rPr dirty="0" sz="2800" spc="50">
                <a:latin typeface="Microsoft Sans Serif"/>
                <a:cs typeface="Microsoft Sans Serif"/>
              </a:rPr>
              <a:t>m</a:t>
            </a:r>
            <a:r>
              <a:rPr dirty="0" sz="2800" spc="20">
                <a:latin typeface="Microsoft Sans Serif"/>
                <a:cs typeface="Microsoft Sans Serif"/>
              </a:rPr>
              <a:t>e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50">
                <a:latin typeface="Microsoft Sans Serif"/>
                <a:cs typeface="Microsoft Sans Serif"/>
              </a:rPr>
              <a:t>im</a:t>
            </a:r>
            <a:r>
              <a:rPr dirty="0" sz="2800" spc="40">
                <a:latin typeface="Microsoft Sans Serif"/>
                <a:cs typeface="Microsoft Sans Serif"/>
              </a:rPr>
              <a:t>e</a:t>
            </a:r>
            <a:r>
              <a:rPr dirty="0" sz="2800" spc="-125">
                <a:latin typeface="Microsoft Sans Serif"/>
                <a:cs typeface="Microsoft Sans Serif"/>
              </a:rPr>
              <a:t>s,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5">
                <a:latin typeface="Microsoft Sans Serif"/>
                <a:cs typeface="Microsoft Sans Serif"/>
              </a:rPr>
              <a:t>n</a:t>
            </a:r>
            <a:r>
              <a:rPr dirty="0" sz="2800" spc="15">
                <a:latin typeface="Microsoft Sans Serif"/>
                <a:cs typeface="Microsoft Sans Serif"/>
              </a:rPr>
              <a:t>e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90">
                <a:latin typeface="Microsoft Sans Serif"/>
                <a:cs typeface="Microsoft Sans Serif"/>
              </a:rPr>
              <a:t>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80">
                <a:latin typeface="Microsoft Sans Serif"/>
                <a:cs typeface="Microsoft Sans Serif"/>
              </a:rPr>
              <a:t>nst</a:t>
            </a:r>
            <a:r>
              <a:rPr dirty="0" sz="2800" spc="70">
                <a:latin typeface="Microsoft Sans Serif"/>
                <a:cs typeface="Microsoft Sans Serif"/>
              </a:rPr>
              <a:t>r</a:t>
            </a:r>
            <a:r>
              <a:rPr dirty="0" sz="2800" spc="110">
                <a:latin typeface="Microsoft Sans Serif"/>
                <a:cs typeface="Microsoft Sans Serif"/>
              </a:rPr>
              <a:t>u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45">
                <a:latin typeface="Microsoft Sans Serif"/>
                <a:cs typeface="Microsoft Sans Serif"/>
              </a:rPr>
              <a:t>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</a:t>
            </a:r>
            <a:r>
              <a:rPr dirty="0" sz="2800">
                <a:latin typeface="Microsoft Sans Serif"/>
                <a:cs typeface="Microsoft Sans Serif"/>
              </a:rPr>
              <a:t>hi</a:t>
            </a:r>
            <a:r>
              <a:rPr dirty="0" sz="2800" spc="-10">
                <a:latin typeface="Microsoft Sans Serif"/>
                <a:cs typeface="Microsoft Sans Serif"/>
              </a:rPr>
              <a:t>c</a:t>
            </a:r>
            <a:r>
              <a:rPr dirty="0" sz="2800" spc="25">
                <a:latin typeface="Microsoft Sans Serif"/>
                <a:cs typeface="Microsoft Sans Serif"/>
              </a:rPr>
              <a:t>h  </a:t>
            </a:r>
            <a:r>
              <a:rPr dirty="0" sz="2800" spc="-5">
                <a:latin typeface="Microsoft Sans Serif"/>
                <a:cs typeface="Microsoft Sans Serif"/>
              </a:rPr>
              <a:t>accepts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25">
                <a:latin typeface="Microsoft Sans Serif"/>
                <a:cs typeface="Microsoft Sans Serif"/>
              </a:rPr>
              <a:t>single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or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10">
                <a:latin typeface="Microsoft Sans Serif"/>
                <a:cs typeface="Microsoft Sans Serif"/>
              </a:rPr>
              <a:t>multiple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parameters.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30">
                <a:latin typeface="Microsoft Sans Serif"/>
                <a:cs typeface="Microsoft Sans Serif"/>
              </a:rPr>
              <a:t>The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parameterized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constructors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are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mainly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used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initialize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instance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variable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45">
                <a:latin typeface="Microsoft Sans Serif"/>
                <a:cs typeface="Microsoft Sans Serif"/>
              </a:rPr>
              <a:t>with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90">
                <a:latin typeface="Microsoft Sans Serif"/>
                <a:cs typeface="Microsoft Sans Serif"/>
              </a:rPr>
              <a:t>own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values.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3243580" algn="l"/>
              </a:tabLst>
            </a:pPr>
            <a:r>
              <a:rPr dirty="0" spc="85"/>
              <a:t>Constructor	</a:t>
            </a:r>
            <a:r>
              <a:rPr dirty="0" spc="20"/>
              <a:t>Named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56880" cy="34143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r>
              <a:rPr dirty="0" sz="2800" spc="-30">
                <a:latin typeface="Microsoft Sans Serif"/>
                <a:cs typeface="Microsoft Sans Serif"/>
              </a:rPr>
              <a:t>The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named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constructors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are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used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0">
                <a:latin typeface="Microsoft Sans Serif"/>
                <a:cs typeface="Microsoft Sans Serif"/>
              </a:rPr>
              <a:t>declare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 </a:t>
            </a:r>
            <a:r>
              <a:rPr dirty="0" sz="2800" spc="-73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mul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95">
                <a:latin typeface="Microsoft Sans Serif"/>
                <a:cs typeface="Microsoft Sans Serif"/>
              </a:rPr>
              <a:t>ipl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80">
                <a:latin typeface="Microsoft Sans Serif"/>
                <a:cs typeface="Microsoft Sans Serif"/>
              </a:rPr>
              <a:t>nst</a:t>
            </a:r>
            <a:r>
              <a:rPr dirty="0" sz="2800" spc="30">
                <a:latin typeface="Microsoft Sans Serif"/>
                <a:cs typeface="Microsoft Sans Serif"/>
              </a:rPr>
              <a:t>ru</a:t>
            </a:r>
            <a:r>
              <a:rPr dirty="0" sz="2800" spc="20">
                <a:latin typeface="Microsoft Sans Serif"/>
                <a:cs typeface="Microsoft Sans Serif"/>
              </a:rPr>
              <a:t>c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-5">
                <a:latin typeface="Microsoft Sans Serif"/>
                <a:cs typeface="Microsoft Sans Serif"/>
              </a:rPr>
              <a:t>rs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in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sing</a:t>
            </a:r>
            <a:r>
              <a:rPr dirty="0" sz="2800" spc="5">
                <a:latin typeface="Microsoft Sans Serif"/>
                <a:cs typeface="Microsoft Sans Serif"/>
              </a:rPr>
              <a:t>l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c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135">
                <a:latin typeface="Microsoft Sans Serif"/>
                <a:cs typeface="Microsoft Sans Serif"/>
              </a:rPr>
              <a:t>ss.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35">
                <a:latin typeface="Microsoft Sans Serif"/>
                <a:cs typeface="Microsoft Sans Serif"/>
              </a:rPr>
              <a:t>T</a:t>
            </a:r>
            <a:r>
              <a:rPr dirty="0" sz="2800" spc="20">
                <a:latin typeface="Microsoft Sans Serif"/>
                <a:cs typeface="Microsoft Sans Serif"/>
              </a:rPr>
              <a:t>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-5">
                <a:latin typeface="Microsoft Sans Serif"/>
                <a:cs typeface="Microsoft Sans Serif"/>
              </a:rPr>
              <a:t>y</a:t>
            </a:r>
            <a:r>
              <a:rPr dirty="0" sz="2800" spc="40">
                <a:latin typeface="Microsoft Sans Serif"/>
                <a:cs typeface="Microsoft Sans Serif"/>
              </a:rPr>
              <a:t>n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20">
                <a:latin typeface="Microsoft Sans Serif"/>
                <a:cs typeface="Microsoft Sans Serif"/>
              </a:rPr>
              <a:t>x 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given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below.</a:t>
            </a:r>
            <a:endParaRPr sz="2800">
              <a:latin typeface="Microsoft Sans Serif"/>
              <a:cs typeface="Microsoft Sans Serif"/>
            </a:endParaRPr>
          </a:p>
          <a:p>
            <a:pPr marL="355600" marR="1032510" indent="-343535">
              <a:lnSpc>
                <a:spcPts val="8310"/>
              </a:lnSpc>
              <a:spcBef>
                <a:spcPts val="9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5">
                <a:latin typeface="Microsoft Sans Serif"/>
                <a:cs typeface="Microsoft Sans Serif"/>
              </a:rPr>
              <a:t>Syntax: </a:t>
            </a:r>
            <a:r>
              <a:rPr dirty="0" sz="2800" spc="-2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className.constructor_name(param_list)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95"/>
              <a:t>this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73695" cy="4516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6545" marR="60325" indent="-284480">
              <a:lnSpc>
                <a:spcPct val="100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dirty="0" sz="2300" spc="-15">
                <a:latin typeface="Microsoft Sans Serif"/>
                <a:cs typeface="Microsoft Sans Serif"/>
              </a:rPr>
              <a:t>The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65">
                <a:latin typeface="Microsoft Sans Serif"/>
                <a:cs typeface="Microsoft Sans Serif"/>
              </a:rPr>
              <a:t>this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70">
                <a:latin typeface="Microsoft Sans Serif"/>
                <a:cs typeface="Microsoft Sans Serif"/>
              </a:rPr>
              <a:t>keyword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30">
                <a:latin typeface="Microsoft Sans Serif"/>
                <a:cs typeface="Microsoft Sans Serif"/>
              </a:rPr>
              <a:t>is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5">
                <a:latin typeface="Microsoft Sans Serif"/>
                <a:cs typeface="Microsoft Sans Serif"/>
              </a:rPr>
              <a:t>used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90">
                <a:latin typeface="Microsoft Sans Serif"/>
                <a:cs typeface="Microsoft Sans Serif"/>
              </a:rPr>
              <a:t>to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 spc="105">
                <a:latin typeface="Microsoft Sans Serif"/>
                <a:cs typeface="Microsoft Sans Serif"/>
              </a:rPr>
              <a:t>refer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80">
                <a:latin typeface="Microsoft Sans Serif"/>
                <a:cs typeface="Microsoft Sans Serif"/>
              </a:rPr>
              <a:t>current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-55">
                <a:latin typeface="Microsoft Sans Serif"/>
                <a:cs typeface="Microsoft Sans Serif"/>
              </a:rPr>
              <a:t>class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55">
                <a:latin typeface="Microsoft Sans Serif"/>
                <a:cs typeface="Microsoft Sans Serif"/>
              </a:rPr>
              <a:t>object. </a:t>
            </a:r>
            <a:r>
              <a:rPr dirty="0" sz="2300" spc="-600">
                <a:latin typeface="Microsoft Sans Serif"/>
                <a:cs typeface="Microsoft Sans Serif"/>
              </a:rPr>
              <a:t> </a:t>
            </a:r>
            <a:r>
              <a:rPr dirty="0" sz="2300" spc="135">
                <a:latin typeface="Microsoft Sans Serif"/>
                <a:cs typeface="Microsoft Sans Serif"/>
              </a:rPr>
              <a:t>It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30">
                <a:latin typeface="Microsoft Sans Serif"/>
                <a:cs typeface="Microsoft Sans Serif"/>
              </a:rPr>
              <a:t>indicates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80">
                <a:latin typeface="Microsoft Sans Serif"/>
                <a:cs typeface="Microsoft Sans Serif"/>
              </a:rPr>
              <a:t>current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25">
                <a:latin typeface="Microsoft Sans Serif"/>
                <a:cs typeface="Microsoft Sans Serif"/>
              </a:rPr>
              <a:t>instance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70">
                <a:latin typeface="Microsoft Sans Serif"/>
                <a:cs typeface="Microsoft Sans Serif"/>
              </a:rPr>
              <a:t>of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60">
                <a:latin typeface="Microsoft Sans Serif"/>
                <a:cs typeface="Microsoft Sans Serif"/>
              </a:rPr>
              <a:t>class,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50">
                <a:latin typeface="Microsoft Sans Serif"/>
                <a:cs typeface="Microsoft Sans Serif"/>
              </a:rPr>
              <a:t>methods,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 spc="105">
                <a:latin typeface="Microsoft Sans Serif"/>
                <a:cs typeface="Microsoft Sans Serif"/>
              </a:rPr>
              <a:t>or </a:t>
            </a:r>
            <a:r>
              <a:rPr dirty="0" sz="2300" spc="-600">
                <a:latin typeface="Microsoft Sans Serif"/>
                <a:cs typeface="Microsoft Sans Serif"/>
              </a:rPr>
              <a:t> </a:t>
            </a:r>
            <a:r>
              <a:rPr dirty="0" sz="2300" spc="60">
                <a:latin typeface="Microsoft Sans Serif"/>
                <a:cs typeface="Microsoft Sans Serif"/>
              </a:rPr>
              <a:t>constructor.</a:t>
            </a:r>
            <a:endParaRPr sz="2300">
              <a:latin typeface="Microsoft Sans Serif"/>
              <a:cs typeface="Microsoft Sans Serif"/>
            </a:endParaRPr>
          </a:p>
          <a:p>
            <a:pPr marL="296545" marR="124460" indent="-284480">
              <a:lnSpc>
                <a:spcPct val="100699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  <a:tab pos="297180" algn="l"/>
              </a:tabLst>
            </a:pPr>
            <a:r>
              <a:rPr dirty="0" sz="2300" spc="135">
                <a:latin typeface="Microsoft Sans Serif"/>
                <a:cs typeface="Microsoft Sans Serif"/>
              </a:rPr>
              <a:t>It </a:t>
            </a:r>
            <a:r>
              <a:rPr dirty="0" sz="2300" spc="-30">
                <a:latin typeface="Microsoft Sans Serif"/>
                <a:cs typeface="Microsoft Sans Serif"/>
              </a:rPr>
              <a:t>can </a:t>
            </a:r>
            <a:r>
              <a:rPr dirty="0" sz="2300" spc="50">
                <a:latin typeface="Microsoft Sans Serif"/>
                <a:cs typeface="Microsoft Sans Serif"/>
              </a:rPr>
              <a:t>be </a:t>
            </a:r>
            <a:r>
              <a:rPr dirty="0" sz="2300">
                <a:latin typeface="Microsoft Sans Serif"/>
                <a:cs typeface="Microsoft Sans Serif"/>
              </a:rPr>
              <a:t>also </a:t>
            </a:r>
            <a:r>
              <a:rPr dirty="0" sz="2300" spc="5">
                <a:latin typeface="Microsoft Sans Serif"/>
                <a:cs typeface="Microsoft Sans Serif"/>
              </a:rPr>
              <a:t>used </a:t>
            </a:r>
            <a:r>
              <a:rPr dirty="0" sz="2300" spc="190">
                <a:latin typeface="Microsoft Sans Serif"/>
                <a:cs typeface="Microsoft Sans Serif"/>
              </a:rPr>
              <a:t>to </a:t>
            </a:r>
            <a:r>
              <a:rPr dirty="0" sz="2300" spc="15">
                <a:latin typeface="Microsoft Sans Serif"/>
                <a:cs typeface="Microsoft Sans Serif"/>
              </a:rPr>
              <a:t>call </a:t>
            </a:r>
            <a:r>
              <a:rPr dirty="0" sz="2300" spc="114">
                <a:latin typeface="Microsoft Sans Serif"/>
                <a:cs typeface="Microsoft Sans Serif"/>
              </a:rPr>
              <a:t>the </a:t>
            </a:r>
            <a:r>
              <a:rPr dirty="0" sz="2300" spc="80">
                <a:latin typeface="Microsoft Sans Serif"/>
                <a:cs typeface="Microsoft Sans Serif"/>
              </a:rPr>
              <a:t>current </a:t>
            </a:r>
            <a:r>
              <a:rPr dirty="0" sz="2300" spc="-55">
                <a:latin typeface="Microsoft Sans Serif"/>
                <a:cs typeface="Microsoft Sans Serif"/>
              </a:rPr>
              <a:t>class </a:t>
            </a:r>
            <a:r>
              <a:rPr dirty="0" sz="2300" spc="65">
                <a:latin typeface="Microsoft Sans Serif"/>
                <a:cs typeface="Microsoft Sans Serif"/>
              </a:rPr>
              <a:t>methods </a:t>
            </a:r>
            <a:r>
              <a:rPr dirty="0" sz="2300" spc="105">
                <a:latin typeface="Microsoft Sans Serif"/>
                <a:cs typeface="Microsoft Sans Serif"/>
              </a:rPr>
              <a:t>or </a:t>
            </a:r>
            <a:r>
              <a:rPr dirty="0" sz="2300" spc="110">
                <a:latin typeface="Microsoft Sans Serif"/>
                <a:cs typeface="Microsoft Sans Serif"/>
              </a:rPr>
              <a:t> </a:t>
            </a:r>
            <a:r>
              <a:rPr dirty="0" sz="2300" spc="45">
                <a:latin typeface="Microsoft Sans Serif"/>
                <a:cs typeface="Microsoft Sans Serif"/>
              </a:rPr>
              <a:t>constructors.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35">
                <a:latin typeface="Microsoft Sans Serif"/>
                <a:cs typeface="Microsoft Sans Serif"/>
              </a:rPr>
              <a:t>It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45">
                <a:latin typeface="Microsoft Sans Serif"/>
                <a:cs typeface="Microsoft Sans Serif"/>
              </a:rPr>
              <a:t>eliminates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70">
                <a:latin typeface="Microsoft Sans Serif"/>
                <a:cs typeface="Microsoft Sans Serif"/>
              </a:rPr>
              <a:t>uncertainty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85">
                <a:latin typeface="Microsoft Sans Serif"/>
                <a:cs typeface="Microsoft Sans Serif"/>
              </a:rPr>
              <a:t>between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-55">
                <a:latin typeface="Microsoft Sans Serif"/>
                <a:cs typeface="Microsoft Sans Serif"/>
              </a:rPr>
              <a:t>class </a:t>
            </a:r>
            <a:r>
              <a:rPr dirty="0" sz="2300" spc="-595">
                <a:latin typeface="Microsoft Sans Serif"/>
                <a:cs typeface="Microsoft Sans Serif"/>
              </a:rPr>
              <a:t> </a:t>
            </a:r>
            <a:r>
              <a:rPr dirty="0" sz="2300" spc="100">
                <a:latin typeface="Microsoft Sans Serif"/>
                <a:cs typeface="Microsoft Sans Serif"/>
              </a:rPr>
              <a:t>attributes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 spc="20">
                <a:latin typeface="Microsoft Sans Serif"/>
                <a:cs typeface="Microsoft Sans Serif"/>
              </a:rPr>
              <a:t>and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65">
                <a:latin typeface="Microsoft Sans Serif"/>
                <a:cs typeface="Microsoft Sans Serif"/>
              </a:rPr>
              <a:t>parameter</a:t>
            </a:r>
            <a:r>
              <a:rPr dirty="0" sz="2300" spc="-9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names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20">
                <a:latin typeface="Microsoft Sans Serif"/>
                <a:cs typeface="Microsoft Sans Serif"/>
              </a:rPr>
              <a:t>are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-35">
                <a:latin typeface="Microsoft Sans Serif"/>
                <a:cs typeface="Microsoft Sans Serif"/>
              </a:rPr>
              <a:t>same.</a:t>
            </a:r>
            <a:endParaRPr sz="2300">
              <a:latin typeface="Microsoft Sans Serif"/>
              <a:cs typeface="Microsoft Sans Serif"/>
            </a:endParaRPr>
          </a:p>
          <a:p>
            <a:pPr marL="296545" marR="5080" indent="-284480">
              <a:lnSpc>
                <a:spcPct val="100899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  <a:tab pos="297180" algn="l"/>
              </a:tabLst>
            </a:pPr>
            <a:r>
              <a:rPr dirty="0" sz="2300" spc="-25">
                <a:latin typeface="Microsoft Sans Serif"/>
                <a:cs typeface="Microsoft Sans Serif"/>
              </a:rPr>
              <a:t>I</a:t>
            </a:r>
            <a:r>
              <a:rPr dirty="0" sz="2300" spc="254">
                <a:latin typeface="Microsoft Sans Serif"/>
                <a:cs typeface="Microsoft Sans Serif"/>
              </a:rPr>
              <a:t>f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35">
                <a:latin typeface="Microsoft Sans Serif"/>
                <a:cs typeface="Microsoft Sans Serif"/>
              </a:rPr>
              <a:t>w</a:t>
            </a:r>
            <a:r>
              <a:rPr dirty="0" sz="2300" spc="15">
                <a:latin typeface="Microsoft Sans Serif"/>
                <a:cs typeface="Microsoft Sans Serif"/>
              </a:rPr>
              <a:t>e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75">
                <a:latin typeface="Microsoft Sans Serif"/>
                <a:cs typeface="Microsoft Sans Serif"/>
              </a:rPr>
              <a:t>d</a:t>
            </a:r>
            <a:r>
              <a:rPr dirty="0" sz="2300" spc="15">
                <a:latin typeface="Microsoft Sans Serif"/>
                <a:cs typeface="Microsoft Sans Serif"/>
              </a:rPr>
              <a:t>ecl</a:t>
            </a:r>
            <a:r>
              <a:rPr dirty="0" sz="2300" spc="35">
                <a:latin typeface="Microsoft Sans Serif"/>
                <a:cs typeface="Microsoft Sans Serif"/>
              </a:rPr>
              <a:t>a</a:t>
            </a:r>
            <a:r>
              <a:rPr dirty="0" sz="2300" spc="15">
                <a:latin typeface="Microsoft Sans Serif"/>
                <a:cs typeface="Microsoft Sans Serif"/>
              </a:rPr>
              <a:t>r</a:t>
            </a:r>
            <a:r>
              <a:rPr dirty="0" sz="2300" spc="15">
                <a:latin typeface="Microsoft Sans Serif"/>
                <a:cs typeface="Microsoft Sans Serif"/>
              </a:rPr>
              <a:t>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290">
                <a:latin typeface="Microsoft Sans Serif"/>
                <a:cs typeface="Microsoft Sans Serif"/>
              </a:rPr>
              <a:t>t</a:t>
            </a:r>
            <a:r>
              <a:rPr dirty="0" sz="2300" spc="35">
                <a:latin typeface="Microsoft Sans Serif"/>
                <a:cs typeface="Microsoft Sans Serif"/>
              </a:rPr>
              <a:t>h</a:t>
            </a:r>
            <a:r>
              <a:rPr dirty="0" sz="2300" spc="15">
                <a:latin typeface="Microsoft Sans Serif"/>
                <a:cs typeface="Microsoft Sans Serif"/>
              </a:rPr>
              <a:t>e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25">
                <a:latin typeface="Microsoft Sans Serif"/>
                <a:cs typeface="Microsoft Sans Serif"/>
              </a:rPr>
              <a:t>c</a:t>
            </a:r>
            <a:r>
              <a:rPr dirty="0" sz="2300" spc="5">
                <a:latin typeface="Microsoft Sans Serif"/>
                <a:cs typeface="Microsoft Sans Serif"/>
              </a:rPr>
              <a:t>l</a:t>
            </a:r>
            <a:r>
              <a:rPr dirty="0" sz="2300" spc="-95">
                <a:latin typeface="Microsoft Sans Serif"/>
                <a:cs typeface="Microsoft Sans Serif"/>
              </a:rPr>
              <a:t>as</a:t>
            </a:r>
            <a:r>
              <a:rPr dirty="0" sz="2300" spc="-120">
                <a:latin typeface="Microsoft Sans Serif"/>
                <a:cs typeface="Microsoft Sans Serif"/>
              </a:rPr>
              <a:t>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45">
                <a:latin typeface="Microsoft Sans Serif"/>
                <a:cs typeface="Microsoft Sans Serif"/>
              </a:rPr>
              <a:t>a</a:t>
            </a:r>
            <a:r>
              <a:rPr dirty="0" sz="2300" spc="65">
                <a:latin typeface="Microsoft Sans Serif"/>
                <a:cs typeface="Microsoft Sans Serif"/>
              </a:rPr>
              <a:t>t</a:t>
            </a:r>
            <a:r>
              <a:rPr dirty="0" sz="2300" spc="290">
                <a:latin typeface="Microsoft Sans Serif"/>
                <a:cs typeface="Microsoft Sans Serif"/>
              </a:rPr>
              <a:t>t</a:t>
            </a:r>
            <a:r>
              <a:rPr dirty="0" sz="2300" spc="120">
                <a:latin typeface="Microsoft Sans Serif"/>
                <a:cs typeface="Microsoft Sans Serif"/>
              </a:rPr>
              <a:t>r</a:t>
            </a:r>
            <a:r>
              <a:rPr dirty="0" sz="2300" spc="70">
                <a:latin typeface="Microsoft Sans Serif"/>
                <a:cs typeface="Microsoft Sans Serif"/>
              </a:rPr>
              <a:t>ib</a:t>
            </a:r>
            <a:r>
              <a:rPr dirty="0" sz="2300" spc="45">
                <a:latin typeface="Microsoft Sans Serif"/>
                <a:cs typeface="Microsoft Sans Serif"/>
              </a:rPr>
              <a:t>u</a:t>
            </a:r>
            <a:r>
              <a:rPr dirty="0" sz="2300" spc="285">
                <a:latin typeface="Microsoft Sans Serif"/>
                <a:cs typeface="Microsoft Sans Serif"/>
              </a:rPr>
              <a:t>t</a:t>
            </a:r>
            <a:r>
              <a:rPr dirty="0" sz="2300" spc="-50">
                <a:latin typeface="Microsoft Sans Serif"/>
                <a:cs typeface="Microsoft Sans Serif"/>
              </a:rPr>
              <a:t>es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125">
                <a:latin typeface="Microsoft Sans Serif"/>
                <a:cs typeface="Microsoft Sans Serif"/>
              </a:rPr>
              <a:t>s</a:t>
            </a:r>
            <a:r>
              <a:rPr dirty="0" sz="2300" spc="5">
                <a:latin typeface="Microsoft Sans Serif"/>
                <a:cs typeface="Microsoft Sans Serif"/>
              </a:rPr>
              <a:t>ame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95">
                <a:latin typeface="Microsoft Sans Serif"/>
                <a:cs typeface="Microsoft Sans Serif"/>
              </a:rPr>
              <a:t>as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285">
                <a:latin typeface="Microsoft Sans Serif"/>
                <a:cs typeface="Microsoft Sans Serif"/>
              </a:rPr>
              <a:t>t</a:t>
            </a:r>
            <a:r>
              <a:rPr dirty="0" sz="2300" spc="35">
                <a:latin typeface="Microsoft Sans Serif"/>
                <a:cs typeface="Microsoft Sans Serif"/>
              </a:rPr>
              <a:t>h</a:t>
            </a:r>
            <a:r>
              <a:rPr dirty="0" sz="2300" spc="15">
                <a:latin typeface="Microsoft Sans Serif"/>
                <a:cs typeface="Microsoft Sans Serif"/>
              </a:rPr>
              <a:t>e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85">
                <a:latin typeface="Microsoft Sans Serif"/>
                <a:cs typeface="Microsoft Sans Serif"/>
              </a:rPr>
              <a:t>p</a:t>
            </a:r>
            <a:r>
              <a:rPr dirty="0" sz="2300" spc="35">
                <a:latin typeface="Microsoft Sans Serif"/>
                <a:cs typeface="Microsoft Sans Serif"/>
              </a:rPr>
              <a:t>a</a:t>
            </a:r>
            <a:r>
              <a:rPr dirty="0" sz="2300" spc="15">
                <a:latin typeface="Microsoft Sans Serif"/>
                <a:cs typeface="Microsoft Sans Serif"/>
              </a:rPr>
              <a:t>r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-5">
                <a:latin typeface="Microsoft Sans Serif"/>
                <a:cs typeface="Microsoft Sans Serif"/>
              </a:rPr>
              <a:t>m</a:t>
            </a:r>
            <a:r>
              <a:rPr dirty="0" sz="2300" spc="204">
                <a:latin typeface="Microsoft Sans Serif"/>
                <a:cs typeface="Microsoft Sans Serif"/>
              </a:rPr>
              <a:t>e</a:t>
            </a:r>
            <a:r>
              <a:rPr dirty="0" sz="2300" spc="95">
                <a:latin typeface="Microsoft Sans Serif"/>
                <a:cs typeface="Microsoft Sans Serif"/>
              </a:rPr>
              <a:t>t</a:t>
            </a:r>
            <a:r>
              <a:rPr dirty="0" sz="2300" spc="55">
                <a:latin typeface="Microsoft Sans Serif"/>
                <a:cs typeface="Microsoft Sans Serif"/>
              </a:rPr>
              <a:t>er  </a:t>
            </a:r>
            <a:r>
              <a:rPr dirty="0" sz="2300" spc="-5">
                <a:latin typeface="Microsoft Sans Serif"/>
                <a:cs typeface="Microsoft Sans Serif"/>
              </a:rPr>
              <a:t>name,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35">
                <a:latin typeface="Microsoft Sans Serif"/>
                <a:cs typeface="Microsoft Sans Serif"/>
              </a:rPr>
              <a:t>that</a:t>
            </a:r>
            <a:r>
              <a:rPr dirty="0" sz="2300" spc="-65">
                <a:latin typeface="Microsoft Sans Serif"/>
                <a:cs typeface="Microsoft Sans Serif"/>
              </a:rPr>
              <a:t> </a:t>
            </a:r>
            <a:r>
              <a:rPr dirty="0" sz="2300" spc="75">
                <a:latin typeface="Microsoft Sans Serif"/>
                <a:cs typeface="Microsoft Sans Serif"/>
              </a:rPr>
              <a:t>situation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00">
                <a:latin typeface="Microsoft Sans Serif"/>
                <a:cs typeface="Microsoft Sans Serif"/>
              </a:rPr>
              <a:t>will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50">
                <a:latin typeface="Microsoft Sans Serif"/>
                <a:cs typeface="Microsoft Sans Serif"/>
              </a:rPr>
              <a:t>create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65">
                <a:latin typeface="Microsoft Sans Serif"/>
                <a:cs typeface="Microsoft Sans Serif"/>
              </a:rPr>
              <a:t>ambiguity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55">
                <a:latin typeface="Microsoft Sans Serif"/>
                <a:cs typeface="Microsoft Sans Serif"/>
              </a:rPr>
              <a:t>in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50">
                <a:latin typeface="Microsoft Sans Serif"/>
                <a:cs typeface="Microsoft Sans Serif"/>
              </a:rPr>
              <a:t>program, </a:t>
            </a:r>
            <a:r>
              <a:rPr dirty="0" sz="2300" spc="-595">
                <a:latin typeface="Microsoft Sans Serif"/>
                <a:cs typeface="Microsoft Sans Serif"/>
              </a:rPr>
              <a:t> </a:t>
            </a:r>
            <a:r>
              <a:rPr dirty="0" sz="2300" spc="95">
                <a:latin typeface="Microsoft Sans Serif"/>
                <a:cs typeface="Microsoft Sans Serif"/>
              </a:rPr>
              <a:t>then </a:t>
            </a:r>
            <a:r>
              <a:rPr dirty="0" sz="2300" spc="114">
                <a:latin typeface="Microsoft Sans Serif"/>
                <a:cs typeface="Microsoft Sans Serif"/>
              </a:rPr>
              <a:t>the </a:t>
            </a:r>
            <a:r>
              <a:rPr dirty="0" sz="2300" spc="65">
                <a:latin typeface="Microsoft Sans Serif"/>
                <a:cs typeface="Microsoft Sans Serif"/>
              </a:rPr>
              <a:t>this </a:t>
            </a:r>
            <a:r>
              <a:rPr dirty="0" sz="2300" spc="70">
                <a:latin typeface="Microsoft Sans Serif"/>
                <a:cs typeface="Microsoft Sans Serif"/>
              </a:rPr>
              <a:t>keyword </a:t>
            </a:r>
            <a:r>
              <a:rPr dirty="0" sz="2300" spc="-30">
                <a:latin typeface="Microsoft Sans Serif"/>
                <a:cs typeface="Microsoft Sans Serif"/>
              </a:rPr>
              <a:t>can </a:t>
            </a:r>
            <a:r>
              <a:rPr dirty="0" sz="2300" spc="50">
                <a:latin typeface="Microsoft Sans Serif"/>
                <a:cs typeface="Microsoft Sans Serif"/>
              </a:rPr>
              <a:t>remove </a:t>
            </a:r>
            <a:r>
              <a:rPr dirty="0" sz="2300" spc="114">
                <a:latin typeface="Microsoft Sans Serif"/>
                <a:cs typeface="Microsoft Sans Serif"/>
              </a:rPr>
              <a:t>the </a:t>
            </a:r>
            <a:r>
              <a:rPr dirty="0" sz="2300" spc="65">
                <a:latin typeface="Microsoft Sans Serif"/>
                <a:cs typeface="Microsoft Sans Serif"/>
              </a:rPr>
              <a:t>ambiguity </a:t>
            </a:r>
            <a:r>
              <a:rPr dirty="0" sz="2300" spc="35">
                <a:latin typeface="Microsoft Sans Serif"/>
                <a:cs typeface="Microsoft Sans Serif"/>
              </a:rPr>
              <a:t>by </a:t>
            </a:r>
            <a:r>
              <a:rPr dirty="0" sz="2300" spc="40">
                <a:latin typeface="Microsoft Sans Serif"/>
                <a:cs typeface="Microsoft Sans Serif"/>
              </a:rPr>
              <a:t> </a:t>
            </a:r>
            <a:r>
              <a:rPr dirty="0" sz="2300" spc="80">
                <a:latin typeface="Microsoft Sans Serif"/>
                <a:cs typeface="Microsoft Sans Serif"/>
              </a:rPr>
              <a:t>prefixing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55">
                <a:latin typeface="Microsoft Sans Serif"/>
                <a:cs typeface="Microsoft Sans Serif"/>
              </a:rPr>
              <a:t>class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85">
                <a:latin typeface="Microsoft Sans Serif"/>
                <a:cs typeface="Microsoft Sans Serif"/>
              </a:rPr>
              <a:t>attributes.</a:t>
            </a:r>
            <a:endParaRPr sz="2300">
              <a:latin typeface="Microsoft Sans Serif"/>
              <a:cs typeface="Microsoft Sans Serif"/>
            </a:endParaRPr>
          </a:p>
          <a:p>
            <a:pPr marL="296545" marR="410845" indent="-284480">
              <a:lnSpc>
                <a:spcPct val="100800"/>
              </a:lnSpc>
              <a:spcBef>
                <a:spcPts val="660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  <a:tab pos="297180" algn="l"/>
              </a:tabLst>
            </a:pPr>
            <a:r>
              <a:rPr dirty="0" sz="2300" spc="135">
                <a:latin typeface="Microsoft Sans Serif"/>
                <a:cs typeface="Microsoft Sans Serif"/>
              </a:rPr>
              <a:t>It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-30">
                <a:latin typeface="Microsoft Sans Serif"/>
                <a:cs typeface="Microsoft Sans Serif"/>
              </a:rPr>
              <a:t>can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50">
                <a:latin typeface="Microsoft Sans Serif"/>
                <a:cs typeface="Microsoft Sans Serif"/>
              </a:rPr>
              <a:t>be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passed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-95">
                <a:latin typeface="Microsoft Sans Serif"/>
                <a:cs typeface="Microsoft Sans Serif"/>
              </a:rPr>
              <a:t>as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an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70">
                <a:latin typeface="Microsoft Sans Serif"/>
                <a:cs typeface="Microsoft Sans Serif"/>
              </a:rPr>
              <a:t>argument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55">
                <a:latin typeface="Microsoft Sans Serif"/>
                <a:cs typeface="Microsoft Sans Serif"/>
              </a:rPr>
              <a:t>in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114">
                <a:latin typeface="Microsoft Sans Serif"/>
                <a:cs typeface="Microsoft Sans Serif"/>
              </a:rPr>
              <a:t>the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-55">
                <a:latin typeface="Microsoft Sans Serif"/>
                <a:cs typeface="Microsoft Sans Serif"/>
              </a:rPr>
              <a:t>class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95">
                <a:latin typeface="Microsoft Sans Serif"/>
                <a:cs typeface="Microsoft Sans Serif"/>
              </a:rPr>
              <a:t>method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105">
                <a:latin typeface="Microsoft Sans Serif"/>
                <a:cs typeface="Microsoft Sans Serif"/>
              </a:rPr>
              <a:t>or </a:t>
            </a:r>
            <a:r>
              <a:rPr dirty="0" sz="2300" spc="-595">
                <a:latin typeface="Microsoft Sans Serif"/>
                <a:cs typeface="Microsoft Sans Serif"/>
              </a:rPr>
              <a:t> </a:t>
            </a:r>
            <a:r>
              <a:rPr dirty="0" sz="2300" spc="45">
                <a:latin typeface="Microsoft Sans Serif"/>
                <a:cs typeface="Microsoft Sans Serif"/>
              </a:rPr>
              <a:t>constructors.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85"/>
              <a:t>Constructor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297" y="1439544"/>
            <a:ext cx="5450205" cy="459867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200" spc="55">
                <a:latin typeface="Microsoft Sans Serif"/>
                <a:cs typeface="Microsoft Sans Serif"/>
              </a:rPr>
              <a:t>void</a:t>
            </a:r>
            <a:r>
              <a:rPr dirty="0" sz="2200" spc="-110">
                <a:latin typeface="Microsoft Sans Serif"/>
                <a:cs typeface="Microsoft Sans Serif"/>
              </a:rPr>
              <a:t> </a:t>
            </a:r>
            <a:r>
              <a:rPr dirty="0" sz="2200" spc="10">
                <a:latin typeface="Microsoft Sans Serif"/>
                <a:cs typeface="Microsoft Sans Serif"/>
              </a:rPr>
              <a:t>main()</a:t>
            </a:r>
            <a:r>
              <a:rPr dirty="0" sz="2200" spc="-9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{</a:t>
            </a:r>
            <a:endParaRPr sz="2200">
              <a:latin typeface="Microsoft Sans Serif"/>
              <a:cs typeface="Microsoft Sans Serif"/>
            </a:endParaRPr>
          </a:p>
          <a:p>
            <a:pPr marL="406400">
              <a:lnSpc>
                <a:spcPct val="100000"/>
              </a:lnSpc>
              <a:spcBef>
                <a:spcPts val="630"/>
              </a:spcBef>
            </a:pPr>
            <a:r>
              <a:rPr dirty="0" sz="2200" spc="235">
                <a:latin typeface="Microsoft Sans Serif"/>
                <a:cs typeface="Microsoft Sans Serif"/>
              </a:rPr>
              <a:t>//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 spc="30">
                <a:latin typeface="Microsoft Sans Serif"/>
                <a:cs typeface="Microsoft Sans Serif"/>
              </a:rPr>
              <a:t>Creating</a:t>
            </a:r>
            <a:r>
              <a:rPr dirty="0" sz="2200" spc="-90">
                <a:latin typeface="Microsoft Sans Serif"/>
                <a:cs typeface="Microsoft Sans Serif"/>
              </a:rPr>
              <a:t> </a:t>
            </a:r>
            <a:r>
              <a:rPr dirty="0" sz="2200" spc="-15">
                <a:latin typeface="Microsoft Sans Serif"/>
                <a:cs typeface="Microsoft Sans Serif"/>
              </a:rPr>
              <a:t>an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 spc="70">
                <a:latin typeface="Microsoft Sans Serif"/>
                <a:cs typeface="Microsoft Sans Serif"/>
              </a:rPr>
              <a:t>object</a:t>
            </a:r>
            <a:endParaRPr sz="2200">
              <a:latin typeface="Microsoft Sans Serif"/>
              <a:cs typeface="Microsoft Sans Serif"/>
            </a:endParaRPr>
          </a:p>
          <a:p>
            <a:pPr marL="406400">
              <a:lnSpc>
                <a:spcPct val="100000"/>
              </a:lnSpc>
              <a:spcBef>
                <a:spcPts val="640"/>
              </a:spcBef>
            </a:pPr>
            <a:r>
              <a:rPr dirty="0" sz="2200" spc="60">
                <a:latin typeface="Microsoft Sans Serif"/>
                <a:cs typeface="Microsoft Sans Serif"/>
              </a:rPr>
              <a:t>Student</a:t>
            </a:r>
            <a:r>
              <a:rPr dirty="0" sz="2200" spc="-90">
                <a:latin typeface="Microsoft Sans Serif"/>
                <a:cs typeface="Microsoft Sans Serif"/>
              </a:rPr>
              <a:t> </a:t>
            </a:r>
            <a:r>
              <a:rPr dirty="0" sz="2200" spc="75">
                <a:latin typeface="Microsoft Sans Serif"/>
                <a:cs typeface="Microsoft Sans Serif"/>
              </a:rPr>
              <a:t>std</a:t>
            </a:r>
            <a:r>
              <a:rPr dirty="0" sz="2200" spc="-80">
                <a:latin typeface="Microsoft Sans Serif"/>
                <a:cs typeface="Microsoft Sans Serif"/>
              </a:rPr>
              <a:t> </a:t>
            </a:r>
            <a:r>
              <a:rPr dirty="0" sz="2200" spc="-40">
                <a:latin typeface="Microsoft Sans Serif"/>
                <a:cs typeface="Microsoft Sans Serif"/>
              </a:rPr>
              <a:t>=</a:t>
            </a:r>
            <a:r>
              <a:rPr dirty="0" sz="2200" spc="-80">
                <a:latin typeface="Microsoft Sans Serif"/>
                <a:cs typeface="Microsoft Sans Serif"/>
              </a:rPr>
              <a:t> </a:t>
            </a:r>
            <a:r>
              <a:rPr dirty="0" sz="2200" spc="60">
                <a:latin typeface="Microsoft Sans Serif"/>
                <a:cs typeface="Microsoft Sans Serif"/>
              </a:rPr>
              <a:t>new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 spc="25">
                <a:latin typeface="Microsoft Sans Serif"/>
                <a:cs typeface="Microsoft Sans Serif"/>
              </a:rPr>
              <a:t>Student("Alisha",26);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200">
                <a:latin typeface="Microsoft Sans Serif"/>
                <a:cs typeface="Microsoft Sans Serif"/>
              </a:rPr>
              <a:t>}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200" spc="20">
                <a:latin typeface="Microsoft Sans Serif"/>
                <a:cs typeface="Microsoft Sans Serif"/>
              </a:rPr>
              <a:t>c</a:t>
            </a:r>
            <a:r>
              <a:rPr dirty="0" sz="2200">
                <a:latin typeface="Microsoft Sans Serif"/>
                <a:cs typeface="Microsoft Sans Serif"/>
              </a:rPr>
              <a:t>l</a:t>
            </a:r>
            <a:r>
              <a:rPr dirty="0" sz="2200" spc="-70">
                <a:latin typeface="Microsoft Sans Serif"/>
                <a:cs typeface="Microsoft Sans Serif"/>
              </a:rPr>
              <a:t>a</a:t>
            </a:r>
            <a:r>
              <a:rPr dirty="0" sz="2200" spc="-125">
                <a:latin typeface="Microsoft Sans Serif"/>
                <a:cs typeface="Microsoft Sans Serif"/>
              </a:rPr>
              <a:t>s</a:t>
            </a:r>
            <a:r>
              <a:rPr dirty="0" sz="2200" spc="-114">
                <a:latin typeface="Microsoft Sans Serif"/>
                <a:cs typeface="Microsoft Sans Serif"/>
              </a:rPr>
              <a:t>s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 spc="-305">
                <a:latin typeface="Microsoft Sans Serif"/>
                <a:cs typeface="Microsoft Sans Serif"/>
              </a:rPr>
              <a:t>S</a:t>
            </a:r>
            <a:r>
              <a:rPr dirty="0" sz="2200" spc="120">
                <a:latin typeface="Microsoft Sans Serif"/>
                <a:cs typeface="Microsoft Sans Serif"/>
              </a:rPr>
              <a:t>tu</a:t>
            </a:r>
            <a:r>
              <a:rPr dirty="0" sz="2200" spc="155">
                <a:latin typeface="Microsoft Sans Serif"/>
                <a:cs typeface="Microsoft Sans Serif"/>
              </a:rPr>
              <a:t>d</a:t>
            </a:r>
            <a:r>
              <a:rPr dirty="0" sz="2200" spc="10">
                <a:latin typeface="Microsoft Sans Serif"/>
                <a:cs typeface="Microsoft Sans Serif"/>
              </a:rPr>
              <a:t>e</a:t>
            </a:r>
            <a:r>
              <a:rPr dirty="0" sz="2200" spc="105">
                <a:latin typeface="Microsoft Sans Serif"/>
                <a:cs typeface="Microsoft Sans Serif"/>
              </a:rPr>
              <a:t>nt{</a:t>
            </a:r>
            <a:endParaRPr sz="2200">
              <a:latin typeface="Microsoft Sans Serif"/>
              <a:cs typeface="Microsoft Sans Serif"/>
            </a:endParaRPr>
          </a:p>
          <a:p>
            <a:pPr marL="340360" marR="1621790">
              <a:lnSpc>
                <a:spcPct val="123800"/>
              </a:lnSpc>
              <a:spcBef>
                <a:spcPts val="15"/>
              </a:spcBef>
            </a:pPr>
            <a:r>
              <a:rPr dirty="0" sz="2200" spc="235">
                <a:latin typeface="Microsoft Sans Serif"/>
                <a:cs typeface="Microsoft Sans Serif"/>
              </a:rPr>
              <a:t>//</a:t>
            </a:r>
            <a:r>
              <a:rPr dirty="0" sz="2200" spc="-7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D</a:t>
            </a:r>
            <a:r>
              <a:rPr dirty="0" sz="2200" spc="10">
                <a:latin typeface="Microsoft Sans Serif"/>
                <a:cs typeface="Microsoft Sans Serif"/>
              </a:rPr>
              <a:t>e</a:t>
            </a:r>
            <a:r>
              <a:rPr dirty="0" sz="2200" spc="20">
                <a:latin typeface="Microsoft Sans Serif"/>
                <a:cs typeface="Microsoft Sans Serif"/>
              </a:rPr>
              <a:t>c</a:t>
            </a:r>
            <a:r>
              <a:rPr dirty="0" sz="2200">
                <a:latin typeface="Microsoft Sans Serif"/>
                <a:cs typeface="Microsoft Sans Serif"/>
              </a:rPr>
              <a:t>l</a:t>
            </a:r>
            <a:r>
              <a:rPr dirty="0" sz="2200" spc="-75">
                <a:latin typeface="Microsoft Sans Serif"/>
                <a:cs typeface="Microsoft Sans Serif"/>
              </a:rPr>
              <a:t>a</a:t>
            </a:r>
            <a:r>
              <a:rPr dirty="0" sz="2200" spc="114">
                <a:latin typeface="Microsoft Sans Serif"/>
                <a:cs typeface="Microsoft Sans Serif"/>
              </a:rPr>
              <a:t>r</a:t>
            </a:r>
            <a:r>
              <a:rPr dirty="0" sz="2200" spc="60">
                <a:latin typeface="Microsoft Sans Serif"/>
                <a:cs typeface="Microsoft Sans Serif"/>
              </a:rPr>
              <a:t>i</a:t>
            </a:r>
            <a:r>
              <a:rPr dirty="0" sz="2200" spc="50">
                <a:latin typeface="Microsoft Sans Serif"/>
                <a:cs typeface="Microsoft Sans Serif"/>
              </a:rPr>
              <a:t>ng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 spc="-70">
                <a:latin typeface="Microsoft Sans Serif"/>
                <a:cs typeface="Microsoft Sans Serif"/>
              </a:rPr>
              <a:t>a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</a:t>
            </a:r>
            <a:r>
              <a:rPr dirty="0" sz="2200" spc="-40">
                <a:latin typeface="Microsoft Sans Serif"/>
                <a:cs typeface="Microsoft Sans Serif"/>
              </a:rPr>
              <a:t>n</a:t>
            </a:r>
            <a:r>
              <a:rPr dirty="0" sz="2200" spc="-45">
                <a:latin typeface="Microsoft Sans Serif"/>
                <a:cs typeface="Microsoft Sans Serif"/>
              </a:rPr>
              <a:t>s</a:t>
            </a:r>
            <a:r>
              <a:rPr dirty="0" sz="2200" spc="180">
                <a:latin typeface="Microsoft Sans Serif"/>
                <a:cs typeface="Microsoft Sans Serif"/>
              </a:rPr>
              <a:t>t</a:t>
            </a:r>
            <a:r>
              <a:rPr dirty="0" sz="2200" spc="210">
                <a:latin typeface="Microsoft Sans Serif"/>
                <a:cs typeface="Microsoft Sans Serif"/>
              </a:rPr>
              <a:t>r</a:t>
            </a:r>
            <a:r>
              <a:rPr dirty="0" sz="2200" spc="-35">
                <a:latin typeface="Microsoft Sans Serif"/>
                <a:cs typeface="Microsoft Sans Serif"/>
              </a:rPr>
              <a:t>us</a:t>
            </a:r>
            <a:r>
              <a:rPr dirty="0" sz="2200" spc="114">
                <a:latin typeface="Microsoft Sans Serif"/>
                <a:cs typeface="Microsoft Sans Serif"/>
              </a:rPr>
              <a:t>t</a:t>
            </a:r>
            <a:r>
              <a:rPr dirty="0" sz="2200" spc="229">
                <a:latin typeface="Microsoft Sans Serif"/>
                <a:cs typeface="Microsoft Sans Serif"/>
              </a:rPr>
              <a:t>o</a:t>
            </a:r>
            <a:r>
              <a:rPr dirty="0" sz="2200" spc="100">
                <a:latin typeface="Microsoft Sans Serif"/>
                <a:cs typeface="Microsoft Sans Serif"/>
              </a:rPr>
              <a:t>r  </a:t>
            </a:r>
            <a:r>
              <a:rPr dirty="0" sz="2200" spc="45">
                <a:latin typeface="Microsoft Sans Serif"/>
                <a:cs typeface="Microsoft Sans Serif"/>
              </a:rPr>
              <a:t>Student(String</a:t>
            </a:r>
            <a:r>
              <a:rPr dirty="0" sz="2200" spc="-90">
                <a:latin typeface="Microsoft Sans Serif"/>
                <a:cs typeface="Microsoft Sans Serif"/>
              </a:rPr>
              <a:t> </a:t>
            </a:r>
            <a:r>
              <a:rPr dirty="0" sz="2200" spc="50">
                <a:latin typeface="Microsoft Sans Serif"/>
                <a:cs typeface="Microsoft Sans Serif"/>
              </a:rPr>
              <a:t>str,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 spc="125">
                <a:latin typeface="Microsoft Sans Serif"/>
                <a:cs typeface="Microsoft Sans Serif"/>
              </a:rPr>
              <a:t>int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age){</a:t>
            </a:r>
            <a:endParaRPr sz="2200">
              <a:latin typeface="Microsoft Sans Serif"/>
              <a:cs typeface="Microsoft Sans Serif"/>
            </a:endParaRPr>
          </a:p>
          <a:p>
            <a:pPr marL="668020">
              <a:lnSpc>
                <a:spcPct val="100000"/>
              </a:lnSpc>
              <a:spcBef>
                <a:spcPts val="640"/>
              </a:spcBef>
            </a:pPr>
            <a:r>
              <a:rPr dirty="0" sz="2200" spc="60">
                <a:latin typeface="Microsoft Sans Serif"/>
                <a:cs typeface="Microsoft Sans Serif"/>
              </a:rPr>
              <a:t>print("The</a:t>
            </a:r>
            <a:r>
              <a:rPr dirty="0" sz="2200" spc="-70">
                <a:latin typeface="Microsoft Sans Serif"/>
                <a:cs typeface="Microsoft Sans Serif"/>
              </a:rPr>
              <a:t> </a:t>
            </a:r>
            <a:r>
              <a:rPr dirty="0" sz="2200" spc="10">
                <a:latin typeface="Microsoft Sans Serif"/>
                <a:cs typeface="Microsoft Sans Serif"/>
              </a:rPr>
              <a:t>name</a:t>
            </a:r>
            <a:r>
              <a:rPr dirty="0" sz="2200" spc="-80">
                <a:latin typeface="Microsoft Sans Serif"/>
                <a:cs typeface="Microsoft Sans Serif"/>
              </a:rPr>
              <a:t> </a:t>
            </a:r>
            <a:r>
              <a:rPr dirty="0" sz="2200" spc="-45">
                <a:latin typeface="Microsoft Sans Serif"/>
                <a:cs typeface="Microsoft Sans Serif"/>
              </a:rPr>
              <a:t>is:</a:t>
            </a:r>
            <a:r>
              <a:rPr dirty="0" sz="2200" spc="-85">
                <a:latin typeface="Microsoft Sans Serif"/>
                <a:cs typeface="Microsoft Sans Serif"/>
              </a:rPr>
              <a:t> </a:t>
            </a:r>
            <a:r>
              <a:rPr dirty="0" sz="2200" spc="35">
                <a:latin typeface="Microsoft Sans Serif"/>
                <a:cs typeface="Microsoft Sans Serif"/>
              </a:rPr>
              <a:t>${str}");</a:t>
            </a:r>
            <a:endParaRPr sz="2200">
              <a:latin typeface="Microsoft Sans Serif"/>
              <a:cs typeface="Microsoft Sans Serif"/>
            </a:endParaRPr>
          </a:p>
          <a:p>
            <a:pPr marL="668020">
              <a:lnSpc>
                <a:spcPct val="100000"/>
              </a:lnSpc>
              <a:spcBef>
                <a:spcPts val="630"/>
              </a:spcBef>
            </a:pPr>
            <a:r>
              <a:rPr dirty="0" sz="2200" spc="60">
                <a:latin typeface="Microsoft Sans Serif"/>
                <a:cs typeface="Microsoft Sans Serif"/>
              </a:rPr>
              <a:t>print("The</a:t>
            </a:r>
            <a:r>
              <a:rPr dirty="0" sz="2200" spc="-6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age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 spc="-45">
                <a:latin typeface="Microsoft Sans Serif"/>
                <a:cs typeface="Microsoft Sans Serif"/>
              </a:rPr>
              <a:t>is:</a:t>
            </a:r>
            <a:r>
              <a:rPr dirty="0" sz="2200" spc="-7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${age}");</a:t>
            </a:r>
            <a:endParaRPr sz="2200">
              <a:latin typeface="Microsoft Sans Serif"/>
              <a:cs typeface="Microsoft Sans Serif"/>
            </a:endParaRPr>
          </a:p>
          <a:p>
            <a:pPr marL="864869">
              <a:lnSpc>
                <a:spcPct val="100000"/>
              </a:lnSpc>
              <a:spcBef>
                <a:spcPts val="630"/>
              </a:spcBef>
            </a:pPr>
            <a:r>
              <a:rPr dirty="0" sz="2200">
                <a:latin typeface="Microsoft Sans Serif"/>
                <a:cs typeface="Microsoft Sans Serif"/>
              </a:rPr>
              <a:t>}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200">
                <a:latin typeface="Microsoft Sans Serif"/>
                <a:cs typeface="Microsoft Sans Serif"/>
              </a:rPr>
              <a:t>}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185"/>
              <a:t>w</a:t>
            </a:r>
            <a:r>
              <a:rPr dirty="0" spc="40"/>
              <a:t>h</a:t>
            </a:r>
            <a:r>
              <a:rPr dirty="0" spc="-280"/>
              <a:t>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682230" cy="394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increases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the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module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approach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15">
                <a:latin typeface="Microsoft Sans Serif"/>
                <a:cs typeface="Microsoft Sans Serif"/>
              </a:rPr>
              <a:t>to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solve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problems.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enhances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40">
                <a:latin typeface="Microsoft Sans Serif"/>
                <a:cs typeface="Microsoft Sans Serif"/>
              </a:rPr>
              <a:t>re-usability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program.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5">
                <a:latin typeface="Microsoft Sans Serif"/>
                <a:cs typeface="Microsoft Sans Serif"/>
              </a:rPr>
              <a:t>We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90">
                <a:latin typeface="Microsoft Sans Serif"/>
                <a:cs typeface="Microsoft Sans Serif"/>
              </a:rPr>
              <a:t>do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coupling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5">
                <a:latin typeface="Microsoft Sans Serif"/>
                <a:cs typeface="Microsoft Sans Serif"/>
              </a:rPr>
              <a:t>programs.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optimizes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code.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makes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debugging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20">
                <a:latin typeface="Microsoft Sans Serif"/>
                <a:cs typeface="Microsoft Sans Serif"/>
              </a:rPr>
              <a:t>easier.</a:t>
            </a:r>
            <a:endParaRPr sz="2800">
              <a:latin typeface="Microsoft Sans Serif"/>
              <a:cs typeface="Microsoft Sans Serif"/>
            </a:endParaRPr>
          </a:p>
          <a:p>
            <a:pPr marL="355600" marR="28829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makes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development</a:t>
            </a:r>
            <a:r>
              <a:rPr dirty="0" sz="2800" spc="-90">
                <a:latin typeface="Microsoft Sans Serif"/>
                <a:cs typeface="Microsoft Sans Serif"/>
              </a:rPr>
              <a:t> </a:t>
            </a:r>
            <a:r>
              <a:rPr dirty="0" sz="2800" spc="-70">
                <a:latin typeface="Microsoft Sans Serif"/>
                <a:cs typeface="Microsoft Sans Serif"/>
              </a:rPr>
              <a:t>easy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and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creates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50">
                <a:latin typeface="Microsoft Sans Serif"/>
                <a:cs typeface="Microsoft Sans Serif"/>
              </a:rPr>
              <a:t>less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complexity.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45"/>
              <a:t>D</a:t>
            </a:r>
            <a:r>
              <a:rPr dirty="0" spc="10"/>
              <a:t>e</a:t>
            </a:r>
            <a:r>
              <a:rPr dirty="0" spc="270"/>
              <a:t>f</a:t>
            </a:r>
            <a:r>
              <a:rPr dirty="0" spc="215"/>
              <a:t>i</a:t>
            </a:r>
            <a:r>
              <a:rPr dirty="0" spc="185"/>
              <a:t>nit</a:t>
            </a:r>
            <a:r>
              <a:rPr dirty="0" spc="125"/>
              <a:t>i</a:t>
            </a:r>
            <a:r>
              <a:rPr dirty="0" spc="114"/>
              <a:t>o</a:t>
            </a:r>
            <a:r>
              <a:rPr dirty="0" spc="6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22920" cy="4305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3055" marR="5080" indent="-300990">
              <a:lnSpc>
                <a:spcPct val="1002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dirty="0" sz="2450" spc="-5">
                <a:latin typeface="Microsoft Sans Serif"/>
                <a:cs typeface="Microsoft Sans Serif"/>
              </a:rPr>
              <a:t>A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function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40">
                <a:latin typeface="Microsoft Sans Serif"/>
                <a:cs typeface="Microsoft Sans Serif"/>
              </a:rPr>
              <a:t>can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45">
                <a:latin typeface="Microsoft Sans Serif"/>
                <a:cs typeface="Microsoft Sans Serif"/>
              </a:rPr>
              <a:t>be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defined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by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65">
                <a:latin typeface="Microsoft Sans Serif"/>
                <a:cs typeface="Microsoft Sans Serif"/>
              </a:rPr>
              <a:t>providing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114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name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75">
                <a:latin typeface="Microsoft Sans Serif"/>
                <a:cs typeface="Microsoft Sans Serif"/>
              </a:rPr>
              <a:t>of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114">
                <a:latin typeface="Microsoft Sans Serif"/>
                <a:cs typeface="Microsoft Sans Serif"/>
              </a:rPr>
              <a:t>the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function </a:t>
            </a:r>
            <a:r>
              <a:rPr dirty="0" sz="2450" spc="135">
                <a:latin typeface="Microsoft Sans Serif"/>
                <a:cs typeface="Microsoft Sans Serif"/>
              </a:rPr>
              <a:t>with </a:t>
            </a:r>
            <a:r>
              <a:rPr dirty="0" sz="2450" spc="114">
                <a:latin typeface="Microsoft Sans Serif"/>
                <a:cs typeface="Microsoft Sans Serif"/>
              </a:rPr>
              <a:t>the </a:t>
            </a:r>
            <a:r>
              <a:rPr dirty="0" sz="2450" spc="75">
                <a:latin typeface="Microsoft Sans Serif"/>
                <a:cs typeface="Microsoft Sans Serif"/>
              </a:rPr>
              <a:t>appropriate </a:t>
            </a:r>
            <a:r>
              <a:rPr dirty="0" sz="2450" spc="65">
                <a:latin typeface="Microsoft Sans Serif"/>
                <a:cs typeface="Microsoft Sans Serif"/>
              </a:rPr>
              <a:t>parameter </a:t>
            </a:r>
            <a:r>
              <a:rPr dirty="0" sz="2450" spc="15">
                <a:latin typeface="Microsoft Sans Serif"/>
                <a:cs typeface="Microsoft Sans Serif"/>
              </a:rPr>
              <a:t>and </a:t>
            </a:r>
            <a:r>
              <a:rPr dirty="0" sz="2450" spc="110">
                <a:latin typeface="Microsoft Sans Serif"/>
                <a:cs typeface="Microsoft Sans Serif"/>
              </a:rPr>
              <a:t>return </a:t>
            </a:r>
            <a:r>
              <a:rPr dirty="0" sz="2450" spc="114">
                <a:latin typeface="Microsoft Sans Serif"/>
                <a:cs typeface="Microsoft Sans Serif"/>
              </a:rPr>
              <a:t> </a:t>
            </a:r>
            <a:r>
              <a:rPr dirty="0" sz="2450" spc="105">
                <a:latin typeface="Microsoft Sans Serif"/>
                <a:cs typeface="Microsoft Sans Serif"/>
              </a:rPr>
              <a:t>t</a:t>
            </a:r>
            <a:r>
              <a:rPr dirty="0" sz="2450" spc="190">
                <a:latin typeface="Microsoft Sans Serif"/>
                <a:cs typeface="Microsoft Sans Serif"/>
              </a:rPr>
              <a:t>y</a:t>
            </a:r>
            <a:r>
              <a:rPr dirty="0" sz="2450" spc="45">
                <a:latin typeface="Microsoft Sans Serif"/>
                <a:cs typeface="Microsoft Sans Serif"/>
              </a:rPr>
              <a:t>pe</a:t>
            </a:r>
            <a:r>
              <a:rPr dirty="0" sz="2450" spc="-80">
                <a:latin typeface="Microsoft Sans Serif"/>
                <a:cs typeface="Microsoft Sans Serif"/>
              </a:rPr>
              <a:t>.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A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155">
                <a:latin typeface="Microsoft Sans Serif"/>
                <a:cs typeface="Microsoft Sans Serif"/>
              </a:rPr>
              <a:t>fu</a:t>
            </a:r>
            <a:r>
              <a:rPr dirty="0" sz="2450" spc="40">
                <a:latin typeface="Microsoft Sans Serif"/>
                <a:cs typeface="Microsoft Sans Serif"/>
              </a:rPr>
              <a:t>n</a:t>
            </a:r>
            <a:r>
              <a:rPr dirty="0" sz="2450" spc="-90">
                <a:latin typeface="Microsoft Sans Serif"/>
                <a:cs typeface="Microsoft Sans Serif"/>
              </a:rPr>
              <a:t>c</a:t>
            </a:r>
            <a:r>
              <a:rPr dirty="0" sz="2450" spc="200">
                <a:latin typeface="Microsoft Sans Serif"/>
                <a:cs typeface="Microsoft Sans Serif"/>
              </a:rPr>
              <a:t>t</a:t>
            </a:r>
            <a:r>
              <a:rPr dirty="0" sz="2450" spc="160">
                <a:latin typeface="Microsoft Sans Serif"/>
                <a:cs typeface="Microsoft Sans Serif"/>
              </a:rPr>
              <a:t>i</a:t>
            </a:r>
            <a:r>
              <a:rPr dirty="0" sz="2450" spc="80">
                <a:latin typeface="Microsoft Sans Serif"/>
                <a:cs typeface="Microsoft Sans Serif"/>
              </a:rPr>
              <a:t>o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90">
                <a:latin typeface="Microsoft Sans Serif"/>
                <a:cs typeface="Microsoft Sans Serif"/>
              </a:rPr>
              <a:t>c</a:t>
            </a:r>
            <a:r>
              <a:rPr dirty="0" sz="2450" spc="80">
                <a:latin typeface="Microsoft Sans Serif"/>
                <a:cs typeface="Microsoft Sans Serif"/>
              </a:rPr>
              <a:t>o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55">
                <a:latin typeface="Microsoft Sans Serif"/>
                <a:cs typeface="Microsoft Sans Serif"/>
              </a:rPr>
              <a:t>i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-130">
                <a:latin typeface="Microsoft Sans Serif"/>
                <a:cs typeface="Microsoft Sans Serif"/>
              </a:rPr>
              <a:t>s</a:t>
            </a:r>
            <a:r>
              <a:rPr dirty="0" sz="2450" spc="-100">
                <a:latin typeface="Microsoft Sans Serif"/>
                <a:cs typeface="Microsoft Sans Serif"/>
              </a:rPr>
              <a:t> 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140">
                <a:latin typeface="Microsoft Sans Serif"/>
                <a:cs typeface="Microsoft Sans Serif"/>
              </a:rPr>
              <a:t>s</a:t>
            </a:r>
            <a:r>
              <a:rPr dirty="0" sz="2450" spc="10">
                <a:latin typeface="Microsoft Sans Serif"/>
                <a:cs typeface="Microsoft Sans Serif"/>
              </a:rPr>
              <a:t>e</a:t>
            </a:r>
            <a:r>
              <a:rPr dirty="0" sz="2450" spc="305">
                <a:latin typeface="Microsoft Sans Serif"/>
                <a:cs typeface="Microsoft Sans Serif"/>
              </a:rPr>
              <a:t>t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o</a:t>
            </a:r>
            <a:r>
              <a:rPr dirty="0" sz="2450" spc="265">
                <a:latin typeface="Microsoft Sans Serif"/>
                <a:cs typeface="Microsoft Sans Serif"/>
              </a:rPr>
              <a:t>f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140">
                <a:latin typeface="Microsoft Sans Serif"/>
                <a:cs typeface="Microsoft Sans Serif"/>
              </a:rPr>
              <a:t>s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10">
                <a:latin typeface="Microsoft Sans Serif"/>
                <a:cs typeface="Microsoft Sans Serif"/>
              </a:rPr>
              <a:t>e</a:t>
            </a:r>
            <a:r>
              <a:rPr dirty="0" sz="2450" spc="45">
                <a:latin typeface="Microsoft Sans Serif"/>
                <a:cs typeface="Microsoft Sans Serif"/>
              </a:rPr>
              <a:t>me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90">
                <a:latin typeface="Microsoft Sans Serif"/>
                <a:cs typeface="Microsoft Sans Serif"/>
              </a:rPr>
              <a:t>ts</a:t>
            </a:r>
            <a:r>
              <a:rPr dirty="0" sz="2450" spc="-10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w</a:t>
            </a:r>
            <a:r>
              <a:rPr dirty="0" sz="2450" spc="35">
                <a:latin typeface="Microsoft Sans Serif"/>
                <a:cs typeface="Microsoft Sans Serif"/>
              </a:rPr>
              <a:t>h</a:t>
            </a:r>
            <a:r>
              <a:rPr dirty="0" sz="2450" spc="60">
                <a:latin typeface="Microsoft Sans Serif"/>
                <a:cs typeface="Microsoft Sans Serif"/>
              </a:rPr>
              <a:t>i</a:t>
            </a:r>
            <a:r>
              <a:rPr dirty="0" sz="2450" spc="-90">
                <a:latin typeface="Microsoft Sans Serif"/>
                <a:cs typeface="Microsoft Sans Serif"/>
              </a:rPr>
              <a:t>c</a:t>
            </a:r>
            <a:r>
              <a:rPr dirty="0" sz="2450" spc="40">
                <a:latin typeface="Microsoft Sans Serif"/>
                <a:cs typeface="Microsoft Sans Serif"/>
              </a:rPr>
              <a:t>h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-80">
                <a:latin typeface="Microsoft Sans Serif"/>
                <a:cs typeface="Microsoft Sans Serif"/>
              </a:rPr>
              <a:t>a</a:t>
            </a:r>
            <a:r>
              <a:rPr dirty="0" sz="2450" spc="55">
                <a:latin typeface="Microsoft Sans Serif"/>
                <a:cs typeface="Microsoft Sans Serif"/>
              </a:rPr>
              <a:t>re  </a:t>
            </a:r>
            <a:r>
              <a:rPr dirty="0" sz="2450" spc="25">
                <a:latin typeface="Microsoft Sans Serif"/>
                <a:cs typeface="Microsoft Sans Serif"/>
              </a:rPr>
              <a:t>called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function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body.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-20">
                <a:latin typeface="Microsoft Sans Serif"/>
                <a:cs typeface="Microsoft Sans Serif"/>
              </a:rPr>
              <a:t>The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syntax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is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given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below.</a:t>
            </a:r>
            <a:endParaRPr sz="2450">
              <a:latin typeface="Microsoft Sans Serif"/>
              <a:cs typeface="Microsoft Sans Serif"/>
            </a:endParaRPr>
          </a:p>
          <a:p>
            <a:pPr marL="313055" indent="-300990">
              <a:lnSpc>
                <a:spcPct val="100000"/>
              </a:lnSpc>
              <a:spcBef>
                <a:spcPts val="720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dirty="0" sz="2450" spc="-20">
                <a:latin typeface="Microsoft Sans Serif"/>
                <a:cs typeface="Microsoft Sans Serif"/>
              </a:rPr>
              <a:t>Syntax:</a:t>
            </a:r>
            <a:endParaRPr sz="2450">
              <a:latin typeface="Microsoft Sans Serif"/>
              <a:cs typeface="Microsoft Sans Serif"/>
            </a:endParaRPr>
          </a:p>
          <a:p>
            <a:pPr marL="313055">
              <a:lnSpc>
                <a:spcPct val="100000"/>
              </a:lnSpc>
              <a:spcBef>
                <a:spcPts val="710"/>
              </a:spcBef>
            </a:pPr>
            <a:r>
              <a:rPr dirty="0" sz="2450" spc="80">
                <a:latin typeface="Microsoft Sans Serif"/>
                <a:cs typeface="Microsoft Sans Serif"/>
              </a:rPr>
              <a:t>return_type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func_name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(parameter_list):</a:t>
            </a:r>
            <a:endParaRPr sz="2450">
              <a:latin typeface="Microsoft Sans Serif"/>
              <a:cs typeface="Microsoft Sans Serif"/>
            </a:endParaRPr>
          </a:p>
          <a:p>
            <a:pPr marL="313055">
              <a:lnSpc>
                <a:spcPct val="100000"/>
              </a:lnSpc>
              <a:spcBef>
                <a:spcPts val="710"/>
              </a:spcBef>
            </a:pPr>
            <a:r>
              <a:rPr dirty="0" sz="2450">
                <a:latin typeface="Microsoft Sans Serif"/>
                <a:cs typeface="Microsoft Sans Serif"/>
              </a:rPr>
              <a:t>{</a:t>
            </a:r>
            <a:endParaRPr sz="2450">
              <a:latin typeface="Microsoft Sans Serif"/>
              <a:cs typeface="Microsoft Sans Serif"/>
            </a:endParaRPr>
          </a:p>
          <a:p>
            <a:pPr marL="527685" marR="5458460" indent="71755">
              <a:lnSpc>
                <a:spcPts val="3650"/>
              </a:lnSpc>
              <a:spcBef>
                <a:spcPts val="240"/>
              </a:spcBef>
            </a:pPr>
            <a:r>
              <a:rPr dirty="0" sz="2450" spc="260">
                <a:latin typeface="Microsoft Sans Serif"/>
                <a:cs typeface="Microsoft Sans Serif"/>
              </a:rPr>
              <a:t>//</a:t>
            </a:r>
            <a:r>
              <a:rPr dirty="0" sz="2450" spc="-140">
                <a:latin typeface="Microsoft Sans Serif"/>
                <a:cs typeface="Microsoft Sans Serif"/>
              </a:rPr>
              <a:t>s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85">
                <a:latin typeface="Microsoft Sans Serif"/>
                <a:cs typeface="Microsoft Sans Serif"/>
              </a:rPr>
              <a:t>a</a:t>
            </a:r>
            <a:r>
              <a:rPr dirty="0" sz="2450" spc="160">
                <a:latin typeface="Microsoft Sans Serif"/>
                <a:cs typeface="Microsoft Sans Serif"/>
              </a:rPr>
              <a:t>te</a:t>
            </a:r>
            <a:r>
              <a:rPr dirty="0" sz="2450" spc="45">
                <a:latin typeface="Microsoft Sans Serif"/>
                <a:cs typeface="Microsoft Sans Serif"/>
              </a:rPr>
              <a:t>me</a:t>
            </a:r>
            <a:r>
              <a:rPr dirty="0" sz="2450" spc="45">
                <a:latin typeface="Microsoft Sans Serif"/>
                <a:cs typeface="Microsoft Sans Serif"/>
              </a:rPr>
              <a:t>n</a:t>
            </a:r>
            <a:r>
              <a:rPr dirty="0" sz="2450" spc="295">
                <a:latin typeface="Microsoft Sans Serif"/>
                <a:cs typeface="Microsoft Sans Serif"/>
              </a:rPr>
              <a:t>t</a:t>
            </a:r>
            <a:r>
              <a:rPr dirty="0" sz="2450" spc="-30">
                <a:latin typeface="Microsoft Sans Serif"/>
                <a:cs typeface="Microsoft Sans Serif"/>
              </a:rPr>
              <a:t>(</a:t>
            </a:r>
            <a:r>
              <a:rPr dirty="0" sz="2450" spc="-60">
                <a:latin typeface="Microsoft Sans Serif"/>
                <a:cs typeface="Microsoft Sans Serif"/>
              </a:rPr>
              <a:t>s)  </a:t>
            </a:r>
            <a:r>
              <a:rPr dirty="0" sz="2450" spc="110">
                <a:latin typeface="Microsoft Sans Serif"/>
                <a:cs typeface="Microsoft Sans Serif"/>
              </a:rPr>
              <a:t>return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value;</a:t>
            </a:r>
            <a:endParaRPr sz="2450">
              <a:latin typeface="Microsoft Sans Serif"/>
              <a:cs typeface="Microsoft Sans Serif"/>
            </a:endParaRPr>
          </a:p>
          <a:p>
            <a:pPr marL="313055">
              <a:lnSpc>
                <a:spcPct val="100000"/>
              </a:lnSpc>
              <a:spcBef>
                <a:spcPts val="470"/>
              </a:spcBef>
            </a:pPr>
            <a:r>
              <a:rPr dirty="0" sz="2450">
                <a:latin typeface="Microsoft Sans Serif"/>
                <a:cs typeface="Microsoft Sans Serif"/>
              </a:rPr>
              <a:t>}</a:t>
            </a:r>
            <a:endParaRPr sz="24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360"/>
              <a:t>E</a:t>
            </a:r>
            <a:r>
              <a:rPr dirty="0" spc="20"/>
              <a:t>x</a:t>
            </a:r>
            <a:r>
              <a:rPr dirty="0" spc="-120"/>
              <a:t>a</a:t>
            </a:r>
            <a:r>
              <a:rPr dirty="0" spc="160"/>
              <a:t>mp</a:t>
            </a:r>
            <a:r>
              <a:rPr dirty="0" spc="45"/>
              <a:t>l</a:t>
            </a:r>
            <a:r>
              <a:rPr dirty="0" spc="1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4203065" cy="266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180" marR="1109345" indent="-411480">
              <a:lnSpc>
                <a:spcPct val="123500"/>
              </a:lnSpc>
              <a:spcBef>
                <a:spcPts val="100"/>
              </a:spcBef>
            </a:pPr>
            <a:r>
              <a:rPr dirty="0" sz="2800" spc="30">
                <a:latin typeface="Microsoft Sans Serif"/>
                <a:cs typeface="Microsoft Sans Serif"/>
              </a:rPr>
              <a:t>i</a:t>
            </a:r>
            <a:r>
              <a:rPr dirty="0" sz="2800" spc="75">
                <a:latin typeface="Microsoft Sans Serif"/>
                <a:cs typeface="Microsoft Sans Serif"/>
              </a:rPr>
              <a:t>n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mul</a:t>
            </a:r>
            <a:r>
              <a:rPr dirty="0" sz="2800" spc="-40">
                <a:latin typeface="Microsoft Sans Serif"/>
                <a:cs typeface="Microsoft Sans Serif"/>
              </a:rPr>
              <a:t>(</a:t>
            </a:r>
            <a:r>
              <a:rPr dirty="0" sz="2800" spc="30">
                <a:latin typeface="Microsoft Sans Serif"/>
                <a:cs typeface="Microsoft Sans Serif"/>
              </a:rPr>
              <a:t>i</a:t>
            </a:r>
            <a:r>
              <a:rPr dirty="0" sz="2800" spc="75">
                <a:latin typeface="Microsoft Sans Serif"/>
                <a:cs typeface="Microsoft Sans Serif"/>
              </a:rPr>
              <a:t>n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90">
                <a:latin typeface="Microsoft Sans Serif"/>
                <a:cs typeface="Microsoft Sans Serif"/>
              </a:rPr>
              <a:t>,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i</a:t>
            </a:r>
            <a:r>
              <a:rPr dirty="0" sz="2800" spc="195">
                <a:latin typeface="Microsoft Sans Serif"/>
                <a:cs typeface="Microsoft Sans Serif"/>
              </a:rPr>
              <a:t>nt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b</a:t>
            </a:r>
            <a:r>
              <a:rPr dirty="0" sz="2800" spc="-40">
                <a:latin typeface="Microsoft Sans Serif"/>
                <a:cs typeface="Microsoft Sans Serif"/>
              </a:rPr>
              <a:t>)</a:t>
            </a:r>
            <a:r>
              <a:rPr dirty="0" sz="2800" spc="-5">
                <a:latin typeface="Microsoft Sans Serif"/>
                <a:cs typeface="Microsoft Sans Serif"/>
              </a:rPr>
              <a:t>{  </a:t>
            </a:r>
            <a:r>
              <a:rPr dirty="0" sz="2800" spc="150">
                <a:latin typeface="Microsoft Sans Serif"/>
                <a:cs typeface="Microsoft Sans Serif"/>
              </a:rPr>
              <a:t>int</a:t>
            </a:r>
            <a:r>
              <a:rPr dirty="0" sz="2800" spc="-100">
                <a:latin typeface="Microsoft Sans Serif"/>
                <a:cs typeface="Microsoft Sans Serif"/>
              </a:rPr>
              <a:t> c;</a:t>
            </a:r>
            <a:endParaRPr sz="2800">
              <a:latin typeface="Microsoft Sans Serif"/>
              <a:cs typeface="Microsoft Sans Serif"/>
            </a:endParaRPr>
          </a:p>
          <a:p>
            <a:pPr marL="424180">
              <a:lnSpc>
                <a:spcPct val="100000"/>
              </a:lnSpc>
              <a:spcBef>
                <a:spcPts val="790"/>
              </a:spcBef>
            </a:pPr>
            <a:r>
              <a:rPr dirty="0" sz="2800" spc="-100">
                <a:latin typeface="Microsoft Sans Serif"/>
                <a:cs typeface="Microsoft Sans Serif"/>
              </a:rPr>
              <a:t>c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60">
                <a:latin typeface="Microsoft Sans Serif"/>
                <a:cs typeface="Microsoft Sans Serif"/>
              </a:rPr>
              <a:t>=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-70">
                <a:latin typeface="Microsoft Sans Serif"/>
                <a:cs typeface="Microsoft Sans Serif"/>
              </a:rPr>
              <a:t>+</a:t>
            </a:r>
            <a:r>
              <a:rPr dirty="0" sz="2800" spc="80">
                <a:latin typeface="Microsoft Sans Serif"/>
                <a:cs typeface="Microsoft Sans Serif"/>
              </a:rPr>
              <a:t>b</a:t>
            </a:r>
            <a:r>
              <a:rPr dirty="0" sz="2800" spc="-90">
                <a:latin typeface="Microsoft Sans Serif"/>
                <a:cs typeface="Microsoft Sans Serif"/>
              </a:rPr>
              <a:t>;</a:t>
            </a:r>
            <a:endParaRPr sz="2800">
              <a:latin typeface="Microsoft Sans Serif"/>
              <a:cs typeface="Microsoft Sans Serif"/>
            </a:endParaRPr>
          </a:p>
          <a:p>
            <a:pPr marL="424180">
              <a:lnSpc>
                <a:spcPct val="100000"/>
              </a:lnSpc>
              <a:spcBef>
                <a:spcPts val="795"/>
              </a:spcBef>
            </a:pPr>
            <a:r>
              <a:rPr dirty="0" sz="2800" spc="70">
                <a:latin typeface="Microsoft Sans Serif"/>
                <a:cs typeface="Microsoft Sans Serif"/>
              </a:rPr>
              <a:t>print("The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sum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is:${c}");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225"/>
              <a:t>P</a:t>
            </a:r>
            <a:r>
              <a:rPr dirty="0" spc="-20"/>
              <a:t>ar</a:t>
            </a:r>
            <a:r>
              <a:rPr dirty="0" spc="-20"/>
              <a:t>a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455"/>
              <a:t>t</a:t>
            </a:r>
            <a:r>
              <a:rPr dirty="0" spc="5"/>
              <a:t>e</a:t>
            </a:r>
            <a:r>
              <a:rPr dirty="0" spc="-5"/>
              <a:t>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51800" cy="426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6860" marR="99695" indent="-264795">
              <a:lnSpc>
                <a:spcPct val="100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>
                <a:latin typeface="Microsoft Sans Serif"/>
                <a:cs typeface="Microsoft Sans Serif"/>
              </a:rPr>
              <a:t>When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called,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may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have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some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information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100">
                <a:latin typeface="Microsoft Sans Serif"/>
                <a:cs typeface="Microsoft Sans Serif"/>
              </a:rPr>
              <a:t>as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per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00">
                <a:latin typeface="Microsoft Sans Serif"/>
                <a:cs typeface="Microsoft Sans Serif"/>
              </a:rPr>
              <a:t>prototype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60">
                <a:latin typeface="Microsoft Sans Serif"/>
                <a:cs typeface="Microsoft Sans Serif"/>
              </a:rPr>
              <a:t>known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-105">
                <a:latin typeface="Microsoft Sans Serif"/>
                <a:cs typeface="Microsoft Sans Serif"/>
              </a:rPr>
              <a:t>as</a:t>
            </a:r>
            <a:r>
              <a:rPr dirty="0" sz="2150" spc="-75">
                <a:latin typeface="Microsoft Sans Serif"/>
                <a:cs typeface="Microsoft Sans Serif"/>
              </a:rPr>
              <a:t> 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(argument).</a:t>
            </a:r>
            <a:endParaRPr sz="2150">
              <a:latin typeface="Microsoft Sans Serif"/>
              <a:cs typeface="Microsoft Sans Serif"/>
            </a:endParaRPr>
          </a:p>
          <a:p>
            <a:pPr marL="276860" marR="116205" indent="-264795">
              <a:lnSpc>
                <a:spcPct val="100000"/>
              </a:lnSpc>
              <a:spcBef>
                <a:spcPts val="62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-30">
                <a:latin typeface="Microsoft Sans Serif"/>
                <a:cs typeface="Microsoft Sans Serif"/>
              </a:rPr>
              <a:t>The </a:t>
            </a:r>
            <a:r>
              <a:rPr dirty="0" sz="2150" spc="45">
                <a:latin typeface="Microsoft Sans Serif"/>
                <a:cs typeface="Microsoft Sans Serif"/>
              </a:rPr>
              <a:t>number </a:t>
            </a:r>
            <a:r>
              <a:rPr dirty="0" sz="2150" spc="150">
                <a:latin typeface="Microsoft Sans Serif"/>
                <a:cs typeface="Microsoft Sans Serif"/>
              </a:rPr>
              <a:t>of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35">
                <a:latin typeface="Microsoft Sans Serif"/>
                <a:cs typeface="Microsoft Sans Serif"/>
              </a:rPr>
              <a:t>passed </a:t>
            </a:r>
            <a:r>
              <a:rPr dirty="0" sz="2150" spc="5">
                <a:latin typeface="Microsoft Sans Serif"/>
                <a:cs typeface="Microsoft Sans Serif"/>
              </a:rPr>
              <a:t>and </a:t>
            </a:r>
            <a:r>
              <a:rPr dirty="0" sz="2150" spc="40">
                <a:latin typeface="Microsoft Sans Serif"/>
                <a:cs typeface="Microsoft Sans Serif"/>
              </a:rPr>
              <a:t>data </a:t>
            </a:r>
            <a:r>
              <a:rPr dirty="0" sz="2150" spc="75">
                <a:latin typeface="Microsoft Sans Serif"/>
                <a:cs typeface="Microsoft Sans Serif"/>
              </a:rPr>
              <a:t>type </a:t>
            </a:r>
            <a:r>
              <a:rPr dirty="0" sz="2150" spc="55">
                <a:latin typeface="Microsoft Sans Serif"/>
                <a:cs typeface="Microsoft Sans Serif"/>
              </a:rPr>
              <a:t>while </a:t>
            </a:r>
            <a:r>
              <a:rPr dirty="0" sz="2150" spc="95">
                <a:latin typeface="Microsoft Sans Serif"/>
                <a:cs typeface="Microsoft Sans Serif"/>
              </a:rPr>
              <a:t>the </a:t>
            </a:r>
            <a:r>
              <a:rPr dirty="0" sz="2150" spc="10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must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matched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10">
                <a:latin typeface="Microsoft Sans Serif"/>
                <a:cs typeface="Microsoft Sans Serif"/>
              </a:rPr>
              <a:t>with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number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of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Otherwise,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will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14">
                <a:latin typeface="Microsoft Sans Serif"/>
                <a:cs typeface="Microsoft Sans Serif"/>
              </a:rPr>
              <a:t>throw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25">
                <a:latin typeface="Microsoft Sans Serif"/>
                <a:cs typeface="Microsoft Sans Serif"/>
              </a:rPr>
              <a:t>an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error.</a:t>
            </a:r>
            <a:endParaRPr sz="2150">
              <a:latin typeface="Microsoft Sans Serif"/>
              <a:cs typeface="Microsoft Sans Serif"/>
            </a:endParaRPr>
          </a:p>
          <a:p>
            <a:pPr marL="276860" marR="5080" indent="-264795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25">
                <a:latin typeface="Microsoft Sans Serif"/>
                <a:cs typeface="Microsoft Sans Serif"/>
              </a:rPr>
              <a:t>Parameter </a:t>
            </a:r>
            <a:r>
              <a:rPr dirty="0" sz="2150" spc="-20">
                <a:latin typeface="Microsoft Sans Serif"/>
                <a:cs typeface="Microsoft Sans Serif"/>
              </a:rPr>
              <a:t>passing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-10">
                <a:latin typeface="Microsoft Sans Serif"/>
                <a:cs typeface="Microsoft Sans Serif"/>
              </a:rPr>
              <a:t>also </a:t>
            </a:r>
            <a:r>
              <a:rPr dirty="0" sz="2150" spc="55">
                <a:latin typeface="Microsoft Sans Serif"/>
                <a:cs typeface="Microsoft Sans Serif"/>
              </a:rPr>
              <a:t>optional, </a:t>
            </a:r>
            <a:r>
              <a:rPr dirty="0" sz="2150" spc="20">
                <a:latin typeface="Microsoft Sans Serif"/>
                <a:cs typeface="Microsoft Sans Serif"/>
              </a:rPr>
              <a:t>which </a:t>
            </a:r>
            <a:r>
              <a:rPr dirty="0" sz="2150" spc="-25">
                <a:latin typeface="Microsoft Sans Serif"/>
                <a:cs typeface="Microsoft Sans Serif"/>
              </a:rPr>
              <a:t>means </a:t>
            </a:r>
            <a:r>
              <a:rPr dirty="0" sz="2150" spc="155">
                <a:latin typeface="Microsoft Sans Serif"/>
                <a:cs typeface="Microsoft Sans Serif"/>
              </a:rPr>
              <a:t>it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125">
                <a:latin typeface="Microsoft Sans Serif"/>
                <a:cs typeface="Microsoft Sans Serif"/>
              </a:rPr>
              <a:t>not </a:t>
            </a:r>
            <a:r>
              <a:rPr dirty="0" sz="2150" spc="13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compulsory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65">
                <a:latin typeface="Microsoft Sans Serif"/>
                <a:cs typeface="Microsoft Sans Serif"/>
              </a:rPr>
              <a:t>to</a:t>
            </a:r>
            <a:r>
              <a:rPr dirty="0" sz="2150" spc="-70">
                <a:latin typeface="Microsoft Sans Serif"/>
                <a:cs typeface="Microsoft Sans Serif"/>
              </a:rPr>
              <a:t> pass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0">
                <a:latin typeface="Microsoft Sans Serif"/>
                <a:cs typeface="Microsoft Sans Serif"/>
              </a:rPr>
              <a:t>The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-45">
                <a:latin typeface="Microsoft Sans Serif"/>
                <a:cs typeface="Microsoft Sans Serif"/>
              </a:rPr>
              <a:t>can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two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types.</a:t>
            </a:r>
            <a:endParaRPr sz="2150">
              <a:latin typeface="Microsoft Sans Serif"/>
              <a:cs typeface="Microsoft Sans Serif"/>
            </a:endParaRPr>
          </a:p>
          <a:p>
            <a:pPr marL="276860" marR="833119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35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which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definition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  <a:p>
            <a:pPr marL="276860" marR="758825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10">
                <a:latin typeface="Microsoft Sans Serif"/>
                <a:cs typeface="Microsoft Sans Serif"/>
              </a:rPr>
              <a:t>Formal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which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formal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225"/>
              <a:t>P</a:t>
            </a:r>
            <a:r>
              <a:rPr dirty="0" spc="-20"/>
              <a:t>ar</a:t>
            </a:r>
            <a:r>
              <a:rPr dirty="0" spc="-20"/>
              <a:t>a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455"/>
              <a:t>t</a:t>
            </a:r>
            <a:r>
              <a:rPr dirty="0" spc="5"/>
              <a:t>e</a:t>
            </a:r>
            <a:r>
              <a:rPr dirty="0" spc="-5"/>
              <a:t>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51800" cy="426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6860" marR="99695" indent="-264795">
              <a:lnSpc>
                <a:spcPct val="100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>
                <a:latin typeface="Microsoft Sans Serif"/>
                <a:cs typeface="Microsoft Sans Serif"/>
              </a:rPr>
              <a:t>When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called,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may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15">
                <a:latin typeface="Microsoft Sans Serif"/>
                <a:cs typeface="Microsoft Sans Serif"/>
              </a:rPr>
              <a:t>have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>
                <a:latin typeface="Microsoft Sans Serif"/>
                <a:cs typeface="Microsoft Sans Serif"/>
              </a:rPr>
              <a:t>some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information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100">
                <a:latin typeface="Microsoft Sans Serif"/>
                <a:cs typeface="Microsoft Sans Serif"/>
              </a:rPr>
              <a:t>as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per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00">
                <a:latin typeface="Microsoft Sans Serif"/>
                <a:cs typeface="Microsoft Sans Serif"/>
              </a:rPr>
              <a:t>prototype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60">
                <a:latin typeface="Microsoft Sans Serif"/>
                <a:cs typeface="Microsoft Sans Serif"/>
              </a:rPr>
              <a:t>known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-105">
                <a:latin typeface="Microsoft Sans Serif"/>
                <a:cs typeface="Microsoft Sans Serif"/>
              </a:rPr>
              <a:t>as</a:t>
            </a:r>
            <a:r>
              <a:rPr dirty="0" sz="2150" spc="-75">
                <a:latin typeface="Microsoft Sans Serif"/>
                <a:cs typeface="Microsoft Sans Serif"/>
              </a:rPr>
              <a:t> a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(argument).</a:t>
            </a:r>
            <a:endParaRPr sz="2150">
              <a:latin typeface="Microsoft Sans Serif"/>
              <a:cs typeface="Microsoft Sans Serif"/>
            </a:endParaRPr>
          </a:p>
          <a:p>
            <a:pPr marL="276860" marR="116205" indent="-264795">
              <a:lnSpc>
                <a:spcPct val="100000"/>
              </a:lnSpc>
              <a:spcBef>
                <a:spcPts val="62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-30">
                <a:latin typeface="Microsoft Sans Serif"/>
                <a:cs typeface="Microsoft Sans Serif"/>
              </a:rPr>
              <a:t>The </a:t>
            </a:r>
            <a:r>
              <a:rPr dirty="0" sz="2150" spc="45">
                <a:latin typeface="Microsoft Sans Serif"/>
                <a:cs typeface="Microsoft Sans Serif"/>
              </a:rPr>
              <a:t>number </a:t>
            </a:r>
            <a:r>
              <a:rPr dirty="0" sz="2150" spc="150">
                <a:latin typeface="Microsoft Sans Serif"/>
                <a:cs typeface="Microsoft Sans Serif"/>
              </a:rPr>
              <a:t>of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35">
                <a:latin typeface="Microsoft Sans Serif"/>
                <a:cs typeface="Microsoft Sans Serif"/>
              </a:rPr>
              <a:t>passed </a:t>
            </a:r>
            <a:r>
              <a:rPr dirty="0" sz="2150" spc="5">
                <a:latin typeface="Microsoft Sans Serif"/>
                <a:cs typeface="Microsoft Sans Serif"/>
              </a:rPr>
              <a:t>and </a:t>
            </a:r>
            <a:r>
              <a:rPr dirty="0" sz="2150" spc="40">
                <a:latin typeface="Microsoft Sans Serif"/>
                <a:cs typeface="Microsoft Sans Serif"/>
              </a:rPr>
              <a:t>data </a:t>
            </a:r>
            <a:r>
              <a:rPr dirty="0" sz="2150" spc="75">
                <a:latin typeface="Microsoft Sans Serif"/>
                <a:cs typeface="Microsoft Sans Serif"/>
              </a:rPr>
              <a:t>type </a:t>
            </a:r>
            <a:r>
              <a:rPr dirty="0" sz="2150" spc="55">
                <a:latin typeface="Microsoft Sans Serif"/>
                <a:cs typeface="Microsoft Sans Serif"/>
              </a:rPr>
              <a:t>while </a:t>
            </a:r>
            <a:r>
              <a:rPr dirty="0" sz="2150" spc="95">
                <a:latin typeface="Microsoft Sans Serif"/>
                <a:cs typeface="Microsoft Sans Serif"/>
              </a:rPr>
              <a:t>the </a:t>
            </a:r>
            <a:r>
              <a:rPr dirty="0" sz="2150" spc="10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must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matched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10">
                <a:latin typeface="Microsoft Sans Serif"/>
                <a:cs typeface="Microsoft Sans Serif"/>
              </a:rPr>
              <a:t>with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number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of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parameters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Otherwise,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155">
                <a:latin typeface="Microsoft Sans Serif"/>
                <a:cs typeface="Microsoft Sans Serif"/>
              </a:rPr>
              <a:t>it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will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14">
                <a:latin typeface="Microsoft Sans Serif"/>
                <a:cs typeface="Microsoft Sans Serif"/>
              </a:rPr>
              <a:t>throw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25">
                <a:latin typeface="Microsoft Sans Serif"/>
                <a:cs typeface="Microsoft Sans Serif"/>
              </a:rPr>
              <a:t>an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error.</a:t>
            </a:r>
            <a:endParaRPr sz="2150">
              <a:latin typeface="Microsoft Sans Serif"/>
              <a:cs typeface="Microsoft Sans Serif"/>
            </a:endParaRPr>
          </a:p>
          <a:p>
            <a:pPr marL="276860" marR="5080" indent="-264795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25">
                <a:latin typeface="Microsoft Sans Serif"/>
                <a:cs typeface="Microsoft Sans Serif"/>
              </a:rPr>
              <a:t>Parameter </a:t>
            </a:r>
            <a:r>
              <a:rPr dirty="0" sz="2150" spc="-20">
                <a:latin typeface="Microsoft Sans Serif"/>
                <a:cs typeface="Microsoft Sans Serif"/>
              </a:rPr>
              <a:t>passing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-10">
                <a:latin typeface="Microsoft Sans Serif"/>
                <a:cs typeface="Microsoft Sans Serif"/>
              </a:rPr>
              <a:t>also </a:t>
            </a:r>
            <a:r>
              <a:rPr dirty="0" sz="2150" spc="55">
                <a:latin typeface="Microsoft Sans Serif"/>
                <a:cs typeface="Microsoft Sans Serif"/>
              </a:rPr>
              <a:t>optional, </a:t>
            </a:r>
            <a:r>
              <a:rPr dirty="0" sz="2150" spc="20">
                <a:latin typeface="Microsoft Sans Serif"/>
                <a:cs typeface="Microsoft Sans Serif"/>
              </a:rPr>
              <a:t>which </a:t>
            </a:r>
            <a:r>
              <a:rPr dirty="0" sz="2150" spc="-25">
                <a:latin typeface="Microsoft Sans Serif"/>
                <a:cs typeface="Microsoft Sans Serif"/>
              </a:rPr>
              <a:t>means </a:t>
            </a:r>
            <a:r>
              <a:rPr dirty="0" sz="2150" spc="155">
                <a:latin typeface="Microsoft Sans Serif"/>
                <a:cs typeface="Microsoft Sans Serif"/>
              </a:rPr>
              <a:t>it </a:t>
            </a:r>
            <a:r>
              <a:rPr dirty="0" sz="2150" spc="-35">
                <a:latin typeface="Microsoft Sans Serif"/>
                <a:cs typeface="Microsoft Sans Serif"/>
              </a:rPr>
              <a:t>is </a:t>
            </a:r>
            <a:r>
              <a:rPr dirty="0" sz="2150" spc="125">
                <a:latin typeface="Microsoft Sans Serif"/>
                <a:cs typeface="Microsoft Sans Serif"/>
              </a:rPr>
              <a:t>not </a:t>
            </a:r>
            <a:r>
              <a:rPr dirty="0" sz="2150" spc="13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compulsory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165">
                <a:latin typeface="Microsoft Sans Serif"/>
                <a:cs typeface="Microsoft Sans Serif"/>
              </a:rPr>
              <a:t>to</a:t>
            </a:r>
            <a:r>
              <a:rPr dirty="0" sz="2150" spc="-70">
                <a:latin typeface="Microsoft Sans Serif"/>
                <a:cs typeface="Microsoft Sans Serif"/>
              </a:rPr>
              <a:t> pass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declaration.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0">
                <a:latin typeface="Microsoft Sans Serif"/>
                <a:cs typeface="Microsoft Sans Serif"/>
              </a:rPr>
              <a:t>The</a:t>
            </a:r>
            <a:r>
              <a:rPr dirty="0" sz="2150" spc="-7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 </a:t>
            </a:r>
            <a:r>
              <a:rPr dirty="0" sz="2150" spc="-555">
                <a:latin typeface="Microsoft Sans Serif"/>
                <a:cs typeface="Microsoft Sans Serif"/>
              </a:rPr>
              <a:t> </a:t>
            </a:r>
            <a:r>
              <a:rPr dirty="0" sz="2150" spc="-45">
                <a:latin typeface="Microsoft Sans Serif"/>
                <a:cs typeface="Microsoft Sans Serif"/>
              </a:rPr>
              <a:t>can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be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0">
                <a:latin typeface="Microsoft Sans Serif"/>
                <a:cs typeface="Microsoft Sans Serif"/>
              </a:rPr>
              <a:t>two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types.</a:t>
            </a:r>
            <a:endParaRPr sz="2150">
              <a:latin typeface="Microsoft Sans Serif"/>
              <a:cs typeface="Microsoft Sans Serif"/>
            </a:endParaRPr>
          </a:p>
          <a:p>
            <a:pPr marL="276860" marR="833119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35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which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55">
                <a:latin typeface="Microsoft Sans Serif"/>
                <a:cs typeface="Microsoft Sans Serif"/>
              </a:rPr>
              <a:t>during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85">
                <a:latin typeface="Microsoft Sans Serif"/>
                <a:cs typeface="Microsoft Sans Serif"/>
              </a:rPr>
              <a:t>definition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5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20">
                <a:latin typeface="Microsoft Sans Serif"/>
                <a:cs typeface="Microsoft Sans Serif"/>
              </a:rPr>
              <a:t>actual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  <a:p>
            <a:pPr marL="276860" marR="758825" indent="-264795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dirty="0" sz="2150" spc="10">
                <a:latin typeface="Microsoft Sans Serif"/>
                <a:cs typeface="Microsoft Sans Serif"/>
              </a:rPr>
              <a:t>Formal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25">
                <a:latin typeface="Microsoft Sans Serif"/>
                <a:cs typeface="Microsoft Sans Serif"/>
              </a:rPr>
              <a:t>Parameter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- </a:t>
            </a:r>
            <a:r>
              <a:rPr dirty="0" sz="2150" spc="-10">
                <a:latin typeface="Microsoft Sans Serif"/>
                <a:cs typeface="Microsoft Sans Serif"/>
              </a:rPr>
              <a:t>A</a:t>
            </a:r>
            <a:r>
              <a:rPr dirty="0" sz="2150" spc="-75">
                <a:latin typeface="Microsoft Sans Serif"/>
                <a:cs typeface="Microsoft Sans Serif"/>
              </a:rPr>
              <a:t> </a:t>
            </a:r>
            <a:r>
              <a:rPr dirty="0" sz="2150" spc="45">
                <a:latin typeface="Microsoft Sans Serif"/>
                <a:cs typeface="Microsoft Sans Serif"/>
              </a:rPr>
              <a:t>parameter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30">
                <a:latin typeface="Microsoft Sans Serif"/>
                <a:cs typeface="Microsoft Sans Serif"/>
              </a:rPr>
              <a:t>which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passed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0">
                <a:latin typeface="Microsoft Sans Serif"/>
                <a:cs typeface="Microsoft Sans Serif"/>
              </a:rPr>
              <a:t>during</a:t>
            </a:r>
            <a:r>
              <a:rPr dirty="0" sz="2150" spc="-80">
                <a:latin typeface="Microsoft Sans Serif"/>
                <a:cs typeface="Microsoft Sans Serif"/>
              </a:rPr>
              <a:t> </a:t>
            </a:r>
            <a:r>
              <a:rPr dirty="0" sz="2150" spc="-75">
                <a:latin typeface="Microsoft Sans Serif"/>
                <a:cs typeface="Microsoft Sans Serif"/>
              </a:rPr>
              <a:t>a </a:t>
            </a:r>
            <a:r>
              <a:rPr dirty="0" sz="2150" spc="-560">
                <a:latin typeface="Microsoft Sans Serif"/>
                <a:cs typeface="Microsoft Sans Serif"/>
              </a:rPr>
              <a:t> </a:t>
            </a:r>
            <a:r>
              <a:rPr dirty="0" sz="2150" spc="80">
                <a:latin typeface="Microsoft Sans Serif"/>
                <a:cs typeface="Microsoft Sans Serif"/>
              </a:rPr>
              <a:t>function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5">
                <a:latin typeface="Microsoft Sans Serif"/>
                <a:cs typeface="Microsoft Sans Serif"/>
              </a:rPr>
              <a:t>call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-35">
                <a:latin typeface="Microsoft Sans Serif"/>
                <a:cs typeface="Microsoft Sans Serif"/>
              </a:rPr>
              <a:t>is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15">
                <a:latin typeface="Microsoft Sans Serif"/>
                <a:cs typeface="Microsoft Sans Serif"/>
              </a:rPr>
              <a:t>called</a:t>
            </a:r>
            <a:r>
              <a:rPr dirty="0" sz="2150" spc="-90">
                <a:latin typeface="Microsoft Sans Serif"/>
                <a:cs typeface="Microsoft Sans Serif"/>
              </a:rPr>
              <a:t> </a:t>
            </a:r>
            <a:r>
              <a:rPr dirty="0" sz="2150" spc="95">
                <a:latin typeface="Microsoft Sans Serif"/>
                <a:cs typeface="Microsoft Sans Serif"/>
              </a:rPr>
              <a:t>the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75">
                <a:latin typeface="Microsoft Sans Serif"/>
                <a:cs typeface="Microsoft Sans Serif"/>
              </a:rPr>
              <a:t>formal</a:t>
            </a:r>
            <a:r>
              <a:rPr dirty="0" sz="2150" spc="-85">
                <a:latin typeface="Microsoft Sans Serif"/>
                <a:cs typeface="Microsoft Sans Serif"/>
              </a:rPr>
              <a:t> </a:t>
            </a:r>
            <a:r>
              <a:rPr dirty="0" sz="2150" spc="35">
                <a:latin typeface="Microsoft Sans Serif"/>
                <a:cs typeface="Microsoft Sans Serif"/>
              </a:rPr>
              <a:t>parameter.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-225"/>
              <a:t>P</a:t>
            </a:r>
            <a:r>
              <a:rPr dirty="0" spc="-20"/>
              <a:t>ar</a:t>
            </a:r>
            <a:r>
              <a:rPr dirty="0" spc="-20"/>
              <a:t>a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455"/>
              <a:t>t</a:t>
            </a:r>
            <a:r>
              <a:rPr dirty="0" spc="5"/>
              <a:t>e</a:t>
            </a:r>
            <a:r>
              <a:rPr dirty="0" spc="-5"/>
              <a:t>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17662"/>
            <a:ext cx="8079740" cy="2682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15">
                <a:latin typeface="Microsoft Sans Serif"/>
                <a:cs typeface="Microsoft Sans Serif"/>
              </a:rPr>
              <a:t>A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function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always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returns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some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value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25">
                <a:latin typeface="Microsoft Sans Serif"/>
                <a:cs typeface="Microsoft Sans Serif"/>
              </a:rPr>
              <a:t>as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85">
                <a:latin typeface="Microsoft Sans Serif"/>
                <a:cs typeface="Microsoft Sans Serif"/>
              </a:rPr>
              <a:t>result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 </a:t>
            </a:r>
            <a:r>
              <a:rPr dirty="0" sz="2800" spc="125">
                <a:latin typeface="Microsoft Sans Serif"/>
                <a:cs typeface="Microsoft Sans Serif"/>
              </a:rPr>
              <a:t>the point </a:t>
            </a:r>
            <a:r>
              <a:rPr dirty="0" sz="2800" spc="65">
                <a:latin typeface="Microsoft Sans Serif"/>
                <a:cs typeface="Microsoft Sans Serif"/>
              </a:rPr>
              <a:t>where </a:t>
            </a:r>
            <a:r>
              <a:rPr dirty="0" sz="2800" spc="200">
                <a:latin typeface="Microsoft Sans Serif"/>
                <a:cs typeface="Microsoft Sans Serif"/>
              </a:rPr>
              <a:t>it </a:t>
            </a:r>
            <a:r>
              <a:rPr dirty="0" sz="2800" spc="-45">
                <a:latin typeface="Microsoft Sans Serif"/>
                <a:cs typeface="Microsoft Sans Serif"/>
              </a:rPr>
              <a:t>is </a:t>
            </a:r>
            <a:r>
              <a:rPr dirty="0" sz="2800" spc="5">
                <a:latin typeface="Microsoft Sans Serif"/>
                <a:cs typeface="Microsoft Sans Serif"/>
              </a:rPr>
              <a:t>called. </a:t>
            </a:r>
            <a:r>
              <a:rPr dirty="0" sz="2800" spc="-30">
                <a:latin typeface="Microsoft Sans Serif"/>
                <a:cs typeface="Microsoft Sans Serif"/>
              </a:rPr>
              <a:t>The </a:t>
            </a:r>
            <a:r>
              <a:rPr dirty="0" sz="2800" spc="120">
                <a:latin typeface="Microsoft Sans Serif"/>
                <a:cs typeface="Microsoft Sans Serif"/>
              </a:rPr>
              <a:t>return </a:t>
            </a:r>
            <a:r>
              <a:rPr dirty="0" sz="2800" spc="1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k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-15">
                <a:latin typeface="Microsoft Sans Serif"/>
                <a:cs typeface="Microsoft Sans Serif"/>
              </a:rPr>
              <a:t>y</a:t>
            </a:r>
            <a:r>
              <a:rPr dirty="0" sz="2800" spc="150">
                <a:latin typeface="Microsoft Sans Serif"/>
                <a:cs typeface="Microsoft Sans Serif"/>
              </a:rPr>
              <a:t>w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20">
                <a:latin typeface="Microsoft Sans Serif"/>
                <a:cs typeface="Microsoft Sans Serif"/>
              </a:rPr>
              <a:t>rd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u</a:t>
            </a:r>
            <a:r>
              <a:rPr dirty="0" sz="2800" spc="-60">
                <a:latin typeface="Microsoft Sans Serif"/>
                <a:cs typeface="Microsoft Sans Serif"/>
              </a:rPr>
              <a:t>s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90">
                <a:latin typeface="Microsoft Sans Serif"/>
                <a:cs typeface="Microsoft Sans Serif"/>
              </a:rPr>
              <a:t>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90">
                <a:latin typeface="Microsoft Sans Serif"/>
                <a:cs typeface="Microsoft Sans Serif"/>
              </a:rPr>
              <a:t>o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re</a:t>
            </a:r>
            <a:r>
              <a:rPr dirty="0" sz="2800" spc="335">
                <a:latin typeface="Microsoft Sans Serif"/>
                <a:cs typeface="Microsoft Sans Serif"/>
              </a:rPr>
              <a:t>t</a:t>
            </a:r>
            <a:r>
              <a:rPr dirty="0" sz="2800" spc="80">
                <a:latin typeface="Microsoft Sans Serif"/>
                <a:cs typeface="Microsoft Sans Serif"/>
              </a:rPr>
              <a:t>urn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v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114">
                <a:latin typeface="Microsoft Sans Serif"/>
                <a:cs typeface="Microsoft Sans Serif"/>
              </a:rPr>
              <a:t>l</a:t>
            </a:r>
            <a:r>
              <a:rPr dirty="0" sz="2800" spc="25">
                <a:latin typeface="Microsoft Sans Serif"/>
                <a:cs typeface="Microsoft Sans Serif"/>
              </a:rPr>
              <a:t>u</a:t>
            </a:r>
            <a:r>
              <a:rPr dirty="0" sz="2800" spc="15">
                <a:latin typeface="Microsoft Sans Serif"/>
                <a:cs typeface="Microsoft Sans Serif"/>
              </a:rPr>
              <a:t>e</a:t>
            </a:r>
            <a:r>
              <a:rPr dirty="0" sz="2800" spc="-9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marR="1016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30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20">
                <a:latin typeface="Microsoft Sans Serif"/>
                <a:cs typeface="Microsoft Sans Serif"/>
              </a:rPr>
              <a:t>return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statement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optional.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A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function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have </a:t>
            </a:r>
            <a:r>
              <a:rPr dirty="0" sz="2800" spc="60">
                <a:latin typeface="Microsoft Sans Serif"/>
                <a:cs typeface="Microsoft Sans Serif"/>
              </a:rPr>
              <a:t>only </a:t>
            </a:r>
            <a:r>
              <a:rPr dirty="0" sz="2800" spc="45">
                <a:latin typeface="Microsoft Sans Serif"/>
                <a:cs typeface="Microsoft Sans Serif"/>
              </a:rPr>
              <a:t>one </a:t>
            </a:r>
            <a:r>
              <a:rPr dirty="0" sz="2800" spc="120">
                <a:latin typeface="Microsoft Sans Serif"/>
                <a:cs typeface="Microsoft Sans Serif"/>
              </a:rPr>
              <a:t>return </a:t>
            </a:r>
            <a:r>
              <a:rPr dirty="0" sz="2800" spc="80">
                <a:latin typeface="Microsoft Sans Serif"/>
                <a:cs typeface="Microsoft Sans Serif"/>
              </a:rPr>
              <a:t>statement. </a:t>
            </a:r>
            <a:r>
              <a:rPr dirty="0" sz="2800" spc="-30">
                <a:latin typeface="Microsoft Sans Serif"/>
                <a:cs typeface="Microsoft Sans Serif"/>
              </a:rPr>
              <a:t>The </a:t>
            </a:r>
            <a:r>
              <a:rPr dirty="0" sz="2800" spc="25">
                <a:latin typeface="Microsoft Sans Serif"/>
                <a:cs typeface="Microsoft Sans Serif"/>
              </a:rPr>
              <a:t>syntax </a:t>
            </a:r>
            <a:r>
              <a:rPr dirty="0" sz="2800" spc="-50">
                <a:latin typeface="Microsoft Sans Serif"/>
                <a:cs typeface="Microsoft Sans Serif"/>
              </a:rPr>
              <a:t>is </a:t>
            </a:r>
            <a:r>
              <a:rPr dirty="0" sz="2800" spc="-4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given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below.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996" y="3989171"/>
            <a:ext cx="7066280" cy="2707640"/>
            <a:chOff x="71996" y="3989171"/>
            <a:chExt cx="7066280" cy="27076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6" y="6192354"/>
              <a:ext cx="1799996" cy="503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3998" y="3989171"/>
              <a:ext cx="3393719" cy="249047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25"/>
              <a:t>A</a:t>
            </a:r>
            <a:r>
              <a:rPr dirty="0" spc="10"/>
              <a:t>n</a:t>
            </a:r>
            <a:r>
              <a:rPr dirty="0" spc="114"/>
              <a:t>o</a:t>
            </a:r>
            <a:r>
              <a:rPr dirty="0" spc="25"/>
              <a:t>n</a:t>
            </a:r>
            <a:r>
              <a:rPr dirty="0" spc="10"/>
              <a:t>y</a:t>
            </a:r>
            <a:r>
              <a:rPr dirty="0" spc="130"/>
              <a:t>m</a:t>
            </a:r>
            <a:r>
              <a:rPr dirty="0" spc="80"/>
              <a:t>o</a:t>
            </a:r>
            <a:r>
              <a:rPr dirty="0" spc="-70"/>
              <a:t>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98155" cy="4520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7660" marR="218440" indent="-315595">
              <a:lnSpc>
                <a:spcPct val="100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27025" algn="l"/>
                <a:tab pos="328295" algn="l"/>
              </a:tabLst>
            </a:pPr>
            <a:r>
              <a:rPr dirty="0" sz="2550" spc="95">
                <a:latin typeface="Microsoft Sans Serif"/>
                <a:cs typeface="Microsoft Sans Serif"/>
              </a:rPr>
              <a:t>Dart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5">
                <a:latin typeface="Microsoft Sans Serif"/>
                <a:cs typeface="Microsoft Sans Serif"/>
              </a:rPr>
              <a:t>also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45">
                <a:latin typeface="Microsoft Sans Serif"/>
                <a:cs typeface="Microsoft Sans Serif"/>
              </a:rPr>
              <a:t>provides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125">
                <a:latin typeface="Microsoft Sans Serif"/>
                <a:cs typeface="Microsoft Sans Serif"/>
              </a:rPr>
              <a:t>the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85">
                <a:latin typeface="Microsoft Sans Serif"/>
                <a:cs typeface="Microsoft Sans Serif"/>
              </a:rPr>
              <a:t>facility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204">
                <a:latin typeface="Microsoft Sans Serif"/>
                <a:cs typeface="Microsoft Sans Serif"/>
              </a:rPr>
              <a:t>to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35">
                <a:latin typeface="Microsoft Sans Serif"/>
                <a:cs typeface="Microsoft Sans Serif"/>
              </a:rPr>
              <a:t>specify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-80">
                <a:latin typeface="Microsoft Sans Serif"/>
                <a:cs typeface="Microsoft Sans Serif"/>
              </a:rPr>
              <a:t>a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10">
                <a:latin typeface="Microsoft Sans Serif"/>
                <a:cs typeface="Microsoft Sans Serif"/>
              </a:rPr>
              <a:t>nameless </a:t>
            </a:r>
            <a:r>
              <a:rPr dirty="0" sz="2550" spc="-660">
                <a:latin typeface="Microsoft Sans Serif"/>
                <a:cs typeface="Microsoft Sans Serif"/>
              </a:rPr>
              <a:t> </a:t>
            </a:r>
            <a:r>
              <a:rPr dirty="0" sz="2550" spc="285">
                <a:latin typeface="Microsoft Sans Serif"/>
                <a:cs typeface="Microsoft Sans Serif"/>
              </a:rPr>
              <a:t>f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45">
                <a:latin typeface="Microsoft Sans Serif"/>
                <a:cs typeface="Microsoft Sans Serif"/>
              </a:rPr>
              <a:t>i</a:t>
            </a:r>
            <a:r>
              <a:rPr dirty="0" sz="2550" spc="10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20">
                <a:latin typeface="Microsoft Sans Serif"/>
                <a:cs typeface="Microsoft Sans Serif"/>
              </a:rPr>
              <a:t>or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285">
                <a:latin typeface="Microsoft Sans Serif"/>
                <a:cs typeface="Microsoft Sans Serif"/>
              </a:rPr>
              <a:t>f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45">
                <a:latin typeface="Microsoft Sans Serif"/>
                <a:cs typeface="Microsoft Sans Serif"/>
              </a:rPr>
              <a:t>i</a:t>
            </a:r>
            <a:r>
              <a:rPr dirty="0" sz="2550" spc="10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70">
                <a:latin typeface="Microsoft Sans Serif"/>
                <a:cs typeface="Microsoft Sans Serif"/>
              </a:rPr>
              <a:t>w</a:t>
            </a:r>
            <a:r>
              <a:rPr dirty="0" sz="2550" spc="35">
                <a:latin typeface="Microsoft Sans Serif"/>
                <a:cs typeface="Microsoft Sans Serif"/>
              </a:rPr>
              <a:t>i</a:t>
            </a:r>
            <a:r>
              <a:rPr dirty="0" sz="2550" spc="330">
                <a:latin typeface="Microsoft Sans Serif"/>
                <a:cs typeface="Microsoft Sans Serif"/>
              </a:rPr>
              <a:t>t</a:t>
            </a:r>
            <a:r>
              <a:rPr dirty="0" sz="2550" spc="35">
                <a:latin typeface="Microsoft Sans Serif"/>
                <a:cs typeface="Microsoft Sans Serif"/>
              </a:rPr>
              <a:t>h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u</a:t>
            </a:r>
            <a:r>
              <a:rPr dirty="0" sz="2550" spc="325">
                <a:latin typeface="Microsoft Sans Serif"/>
                <a:cs typeface="Microsoft Sans Serif"/>
              </a:rPr>
              <a:t>t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80">
                <a:latin typeface="Microsoft Sans Serif"/>
                <a:cs typeface="Microsoft Sans Serif"/>
              </a:rPr>
              <a:t>a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80">
                <a:latin typeface="Microsoft Sans Serif"/>
                <a:cs typeface="Microsoft Sans Serif"/>
              </a:rPr>
              <a:t>m</a:t>
            </a:r>
            <a:r>
              <a:rPr dirty="0" sz="2550" spc="-30">
                <a:latin typeface="Microsoft Sans Serif"/>
                <a:cs typeface="Microsoft Sans Serif"/>
              </a:rPr>
              <a:t>e.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100">
                <a:latin typeface="Microsoft Sans Serif"/>
                <a:cs typeface="Microsoft Sans Serif"/>
              </a:rPr>
              <a:t>T</a:t>
            </a:r>
            <a:r>
              <a:rPr dirty="0" sz="2550" spc="35">
                <a:latin typeface="Microsoft Sans Serif"/>
                <a:cs typeface="Microsoft Sans Serif"/>
              </a:rPr>
              <a:t>h</a:t>
            </a:r>
            <a:r>
              <a:rPr dirty="0" sz="2550" spc="-30">
                <a:latin typeface="Microsoft Sans Serif"/>
                <a:cs typeface="Microsoft Sans Serif"/>
              </a:rPr>
              <a:t>is</a:t>
            </a:r>
            <a:r>
              <a:rPr dirty="0" sz="2550" spc="-105">
                <a:latin typeface="Microsoft Sans Serif"/>
                <a:cs typeface="Microsoft Sans Serif"/>
              </a:rPr>
              <a:t> </a:t>
            </a:r>
            <a:r>
              <a:rPr dirty="0" sz="2550" spc="330">
                <a:latin typeface="Microsoft Sans Serif"/>
                <a:cs typeface="Microsoft Sans Serif"/>
              </a:rPr>
              <a:t>t</a:t>
            </a:r>
            <a:r>
              <a:rPr dirty="0" sz="2550" spc="-10">
                <a:latin typeface="Microsoft Sans Serif"/>
                <a:cs typeface="Microsoft Sans Serif"/>
              </a:rPr>
              <a:t>y</a:t>
            </a:r>
            <a:r>
              <a:rPr dirty="0" sz="2550" spc="90">
                <a:latin typeface="Microsoft Sans Serif"/>
                <a:cs typeface="Microsoft Sans Serif"/>
              </a:rPr>
              <a:t>p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275">
                <a:latin typeface="Microsoft Sans Serif"/>
                <a:cs typeface="Microsoft Sans Serif"/>
              </a:rPr>
              <a:t>f  </a:t>
            </a:r>
            <a:r>
              <a:rPr dirty="0" sz="2550" spc="285">
                <a:latin typeface="Microsoft Sans Serif"/>
                <a:cs typeface="Microsoft Sans Serif"/>
              </a:rPr>
              <a:t>f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45">
                <a:latin typeface="Microsoft Sans Serif"/>
                <a:cs typeface="Microsoft Sans Serif"/>
              </a:rPr>
              <a:t>i</a:t>
            </a:r>
            <a:r>
              <a:rPr dirty="0" sz="2550" spc="10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-30">
                <a:latin typeface="Microsoft Sans Serif"/>
                <a:cs typeface="Microsoft Sans Serif"/>
              </a:rPr>
              <a:t>is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70">
                <a:latin typeface="Microsoft Sans Serif"/>
                <a:cs typeface="Microsoft Sans Serif"/>
              </a:rPr>
              <a:t>k</a:t>
            </a:r>
            <a:r>
              <a:rPr dirty="0" sz="2550" spc="45">
                <a:latin typeface="Microsoft Sans Serif"/>
                <a:cs typeface="Microsoft Sans Serif"/>
              </a:rPr>
              <a:t>n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145">
                <a:latin typeface="Microsoft Sans Serif"/>
                <a:cs typeface="Microsoft Sans Serif"/>
              </a:rPr>
              <a:t>w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-130">
                <a:latin typeface="Microsoft Sans Serif"/>
                <a:cs typeface="Microsoft Sans Serif"/>
              </a:rPr>
              <a:t>s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10">
                <a:latin typeface="Microsoft Sans Serif"/>
                <a:cs typeface="Microsoft Sans Serif"/>
              </a:rPr>
              <a:t>y</a:t>
            </a:r>
            <a:r>
              <a:rPr dirty="0" sz="2550" spc="80">
                <a:latin typeface="Microsoft Sans Serif"/>
                <a:cs typeface="Microsoft Sans Serif"/>
              </a:rPr>
              <a:t>m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-130">
                <a:latin typeface="Microsoft Sans Serif"/>
                <a:cs typeface="Microsoft Sans Serif"/>
              </a:rPr>
              <a:t>s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285">
                <a:latin typeface="Microsoft Sans Serif"/>
                <a:cs typeface="Microsoft Sans Serif"/>
              </a:rPr>
              <a:t>f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45">
                <a:latin typeface="Microsoft Sans Serif"/>
                <a:cs typeface="Microsoft Sans Serif"/>
              </a:rPr>
              <a:t>i</a:t>
            </a:r>
            <a:r>
              <a:rPr dirty="0" sz="2550" spc="10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75">
                <a:latin typeface="Microsoft Sans Serif"/>
                <a:cs typeface="Microsoft Sans Serif"/>
              </a:rPr>
              <a:t>,  </a:t>
            </a:r>
            <a:r>
              <a:rPr dirty="0" sz="2550" spc="20">
                <a:latin typeface="Microsoft Sans Serif"/>
                <a:cs typeface="Microsoft Sans Serif"/>
              </a:rPr>
              <a:t>lambda,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14">
                <a:latin typeface="Microsoft Sans Serif"/>
                <a:cs typeface="Microsoft Sans Serif"/>
              </a:rPr>
              <a:t>or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15">
                <a:latin typeface="Microsoft Sans Serif"/>
                <a:cs typeface="Microsoft Sans Serif"/>
              </a:rPr>
              <a:t>closure.</a:t>
            </a:r>
            <a:endParaRPr sz="2550">
              <a:latin typeface="Microsoft Sans Serif"/>
              <a:cs typeface="Microsoft Sans Serif"/>
            </a:endParaRPr>
          </a:p>
          <a:p>
            <a:pPr marL="327660" marR="5080" indent="-315595">
              <a:lnSpc>
                <a:spcPct val="100899"/>
              </a:lnSpc>
              <a:spcBef>
                <a:spcPts val="720"/>
              </a:spcBef>
              <a:buClr>
                <a:srgbClr val="6697CC"/>
              </a:buClr>
              <a:buFont typeface="Arial MT"/>
              <a:buChar char="•"/>
              <a:tabLst>
                <a:tab pos="327025" algn="l"/>
                <a:tab pos="328295" algn="l"/>
              </a:tabLst>
            </a:pPr>
            <a:r>
              <a:rPr dirty="0" sz="2550" spc="-10">
                <a:latin typeface="Microsoft Sans Serif"/>
                <a:cs typeface="Microsoft Sans Serif"/>
              </a:rPr>
              <a:t>A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10">
                <a:latin typeface="Microsoft Sans Serif"/>
                <a:cs typeface="Microsoft Sans Serif"/>
              </a:rPr>
              <a:t>y</a:t>
            </a:r>
            <a:r>
              <a:rPr dirty="0" sz="2550" spc="80">
                <a:latin typeface="Microsoft Sans Serif"/>
                <a:cs typeface="Microsoft Sans Serif"/>
              </a:rPr>
              <a:t>m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-130">
                <a:latin typeface="Microsoft Sans Serif"/>
                <a:cs typeface="Microsoft Sans Serif"/>
              </a:rPr>
              <a:t>s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285">
                <a:latin typeface="Microsoft Sans Serif"/>
                <a:cs typeface="Microsoft Sans Serif"/>
              </a:rPr>
              <a:t>f</a:t>
            </a:r>
            <a:r>
              <a:rPr dirty="0" sz="2550" spc="55">
                <a:latin typeface="Microsoft Sans Serif"/>
                <a:cs typeface="Microsoft Sans Serif"/>
              </a:rPr>
              <a:t>u</a:t>
            </a:r>
            <a:r>
              <a:rPr dirty="0" sz="2550" spc="4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45">
                <a:latin typeface="Microsoft Sans Serif"/>
                <a:cs typeface="Microsoft Sans Serif"/>
              </a:rPr>
              <a:t>i</a:t>
            </a:r>
            <a:r>
              <a:rPr dirty="0" sz="2550" spc="105">
                <a:latin typeface="Microsoft Sans Serif"/>
                <a:cs typeface="Microsoft Sans Serif"/>
              </a:rPr>
              <a:t>o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90">
                <a:latin typeface="Microsoft Sans Serif"/>
                <a:cs typeface="Microsoft Sans Serif"/>
              </a:rPr>
              <a:t>b</a:t>
            </a:r>
            <a:r>
              <a:rPr dirty="0" sz="2550" spc="30">
                <a:latin typeface="Microsoft Sans Serif"/>
                <a:cs typeface="Microsoft Sans Serif"/>
              </a:rPr>
              <a:t>e</a:t>
            </a:r>
            <a:r>
              <a:rPr dirty="0" sz="2550" spc="20">
                <a:latin typeface="Microsoft Sans Serif"/>
                <a:cs typeface="Microsoft Sans Serif"/>
              </a:rPr>
              <a:t>h</a:t>
            </a:r>
            <a:r>
              <a:rPr dirty="0" sz="2550" spc="-75">
                <a:latin typeface="Microsoft Sans Serif"/>
                <a:cs typeface="Microsoft Sans Serif"/>
              </a:rPr>
              <a:t>a</a:t>
            </a:r>
            <a:r>
              <a:rPr dirty="0" sz="2550">
                <a:latin typeface="Microsoft Sans Serif"/>
                <a:cs typeface="Microsoft Sans Serif"/>
              </a:rPr>
              <a:t>v</a:t>
            </a:r>
            <a:r>
              <a:rPr dirty="0" sz="2550" spc="-55">
                <a:latin typeface="Microsoft Sans Serif"/>
                <a:cs typeface="Microsoft Sans Serif"/>
              </a:rPr>
              <a:t>es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35">
                <a:latin typeface="Microsoft Sans Serif"/>
                <a:cs typeface="Microsoft Sans Serif"/>
              </a:rPr>
              <a:t>h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140">
                <a:latin typeface="Microsoft Sans Serif"/>
                <a:cs typeface="Microsoft Sans Serif"/>
              </a:rPr>
              <a:t>s</a:t>
            </a:r>
            <a:r>
              <a:rPr dirty="0" sz="2550" spc="-75">
                <a:latin typeface="Microsoft Sans Serif"/>
                <a:cs typeface="Microsoft Sans Serif"/>
              </a:rPr>
              <a:t>a</a:t>
            </a:r>
            <a:r>
              <a:rPr dirty="0" sz="2550" spc="80">
                <a:latin typeface="Microsoft Sans Serif"/>
                <a:cs typeface="Microsoft Sans Serif"/>
              </a:rPr>
              <a:t>m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-75">
                <a:latin typeface="Microsoft Sans Serif"/>
                <a:cs typeface="Microsoft Sans Serif"/>
              </a:rPr>
              <a:t>a</a:t>
            </a:r>
            <a:r>
              <a:rPr dirty="0" sz="2550" spc="-130">
                <a:latin typeface="Microsoft Sans Serif"/>
                <a:cs typeface="Microsoft Sans Serif"/>
              </a:rPr>
              <a:t>s</a:t>
            </a:r>
            <a:r>
              <a:rPr dirty="0" sz="2550" spc="-105">
                <a:latin typeface="Microsoft Sans Serif"/>
                <a:cs typeface="Microsoft Sans Serif"/>
              </a:rPr>
              <a:t> </a:t>
            </a:r>
            <a:r>
              <a:rPr dirty="0" sz="2550" spc="-50">
                <a:latin typeface="Microsoft Sans Serif"/>
                <a:cs typeface="Microsoft Sans Serif"/>
              </a:rPr>
              <a:t>a  </a:t>
            </a:r>
            <a:r>
              <a:rPr dirty="0" sz="2550" spc="145">
                <a:latin typeface="Microsoft Sans Serif"/>
                <a:cs typeface="Microsoft Sans Serif"/>
              </a:rPr>
              <a:t>r</a:t>
            </a:r>
            <a:r>
              <a:rPr dirty="0" sz="2550" spc="40">
                <a:latin typeface="Microsoft Sans Serif"/>
                <a:cs typeface="Microsoft Sans Serif"/>
              </a:rPr>
              <a:t>e</a:t>
            </a:r>
            <a:r>
              <a:rPr dirty="0" sz="2550" spc="30">
                <a:latin typeface="Microsoft Sans Serif"/>
                <a:cs typeface="Microsoft Sans Serif"/>
              </a:rPr>
              <a:t>g</a:t>
            </a:r>
            <a:r>
              <a:rPr dirty="0" sz="2550" spc="55">
                <a:latin typeface="Microsoft Sans Serif"/>
                <a:cs typeface="Microsoft Sans Serif"/>
              </a:rPr>
              <a:t>u</a:t>
            </a:r>
            <a:r>
              <a:rPr dirty="0" sz="2550" spc="114">
                <a:latin typeface="Microsoft Sans Serif"/>
                <a:cs typeface="Microsoft Sans Serif"/>
              </a:rPr>
              <a:t>l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140">
                <a:latin typeface="Microsoft Sans Serif"/>
                <a:cs typeface="Microsoft Sans Serif"/>
              </a:rPr>
              <a:t>r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285">
                <a:latin typeface="Microsoft Sans Serif"/>
                <a:cs typeface="Microsoft Sans Serif"/>
              </a:rPr>
              <a:t>f</a:t>
            </a:r>
            <a:r>
              <a:rPr dirty="0" sz="2550" spc="55">
                <a:latin typeface="Microsoft Sans Serif"/>
                <a:cs typeface="Microsoft Sans Serif"/>
              </a:rPr>
              <a:t>u</a:t>
            </a:r>
            <a:r>
              <a:rPr dirty="0" sz="2550" spc="4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330">
                <a:latin typeface="Microsoft Sans Serif"/>
                <a:cs typeface="Microsoft Sans Serif"/>
              </a:rPr>
              <a:t>t</a:t>
            </a:r>
            <a:r>
              <a:rPr dirty="0" sz="2550" spc="50">
                <a:latin typeface="Microsoft Sans Serif"/>
                <a:cs typeface="Microsoft Sans Serif"/>
              </a:rPr>
              <a:t>i</a:t>
            </a:r>
            <a:r>
              <a:rPr dirty="0" sz="2550" spc="75">
                <a:latin typeface="Microsoft Sans Serif"/>
                <a:cs typeface="Microsoft Sans Serif"/>
              </a:rPr>
              <a:t>o</a:t>
            </a:r>
            <a:r>
              <a:rPr dirty="0" sz="2550" spc="65">
                <a:latin typeface="Microsoft Sans Serif"/>
                <a:cs typeface="Microsoft Sans Serif"/>
              </a:rPr>
              <a:t>n</a:t>
            </a:r>
            <a:r>
              <a:rPr dirty="0" sz="2550" spc="-80">
                <a:latin typeface="Microsoft Sans Serif"/>
                <a:cs typeface="Microsoft Sans Serif"/>
              </a:rPr>
              <a:t>,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95">
                <a:latin typeface="Microsoft Sans Serif"/>
                <a:cs typeface="Microsoft Sans Serif"/>
              </a:rPr>
              <a:t>b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325">
                <a:latin typeface="Microsoft Sans Serif"/>
                <a:cs typeface="Microsoft Sans Serif"/>
              </a:rPr>
              <a:t>t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195">
                <a:latin typeface="Microsoft Sans Serif"/>
                <a:cs typeface="Microsoft Sans Serif"/>
              </a:rPr>
              <a:t>it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90">
                <a:latin typeface="Microsoft Sans Serif"/>
                <a:cs typeface="Microsoft Sans Serif"/>
              </a:rPr>
              <a:t>d</a:t>
            </a:r>
            <a:r>
              <a:rPr dirty="0" sz="2550" spc="-5">
                <a:latin typeface="Microsoft Sans Serif"/>
                <a:cs typeface="Microsoft Sans Serif"/>
              </a:rPr>
              <a:t>oes</a:t>
            </a:r>
            <a:r>
              <a:rPr dirty="0" sz="2550" spc="-105">
                <a:latin typeface="Microsoft Sans Serif"/>
                <a:cs typeface="Microsoft Sans Serif"/>
              </a:rPr>
              <a:t> 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325">
                <a:latin typeface="Microsoft Sans Serif"/>
                <a:cs typeface="Microsoft Sans Serif"/>
              </a:rPr>
              <a:t>t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35">
                <a:latin typeface="Microsoft Sans Serif"/>
                <a:cs typeface="Microsoft Sans Serif"/>
              </a:rPr>
              <a:t>h</a:t>
            </a:r>
            <a:r>
              <a:rPr dirty="0" sz="2550" spc="-75">
                <a:latin typeface="Microsoft Sans Serif"/>
                <a:cs typeface="Microsoft Sans Serif"/>
              </a:rPr>
              <a:t>a</a:t>
            </a:r>
            <a:r>
              <a:rPr dirty="0" sz="2550">
                <a:latin typeface="Microsoft Sans Serif"/>
                <a:cs typeface="Microsoft Sans Serif"/>
              </a:rPr>
              <a:t>v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80">
                <a:latin typeface="Microsoft Sans Serif"/>
                <a:cs typeface="Microsoft Sans Serif"/>
              </a:rPr>
              <a:t>a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80">
                <a:latin typeface="Microsoft Sans Serif"/>
                <a:cs typeface="Microsoft Sans Serif"/>
              </a:rPr>
              <a:t>m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145">
                <a:latin typeface="Microsoft Sans Serif"/>
                <a:cs typeface="Microsoft Sans Serif"/>
              </a:rPr>
              <a:t>w</a:t>
            </a:r>
            <a:r>
              <a:rPr dirty="0" sz="2550" spc="175">
                <a:latin typeface="Microsoft Sans Serif"/>
                <a:cs typeface="Microsoft Sans Serif"/>
              </a:rPr>
              <a:t>i</a:t>
            </a:r>
            <a:r>
              <a:rPr dirty="0" sz="2550" spc="210">
                <a:latin typeface="Microsoft Sans Serif"/>
                <a:cs typeface="Microsoft Sans Serif"/>
              </a:rPr>
              <a:t>t</a:t>
            </a:r>
            <a:r>
              <a:rPr dirty="0" sz="2550" spc="45">
                <a:latin typeface="Microsoft Sans Serif"/>
                <a:cs typeface="Microsoft Sans Serif"/>
              </a:rPr>
              <a:t>h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75">
                <a:latin typeface="Microsoft Sans Serif"/>
                <a:cs typeface="Microsoft Sans Serif"/>
              </a:rPr>
              <a:t>i</a:t>
            </a:r>
            <a:r>
              <a:rPr dirty="0" sz="2550" spc="210">
                <a:latin typeface="Microsoft Sans Serif"/>
                <a:cs typeface="Microsoft Sans Serif"/>
              </a:rPr>
              <a:t>t</a:t>
            </a:r>
            <a:r>
              <a:rPr dirty="0" sz="2550" spc="-75">
                <a:latin typeface="Microsoft Sans Serif"/>
                <a:cs typeface="Microsoft Sans Serif"/>
              </a:rPr>
              <a:t>.  </a:t>
            </a:r>
            <a:r>
              <a:rPr dirty="0" sz="2550" spc="155">
                <a:latin typeface="Microsoft Sans Serif"/>
                <a:cs typeface="Microsoft Sans Serif"/>
              </a:rPr>
              <a:t>It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35">
                <a:latin typeface="Microsoft Sans Serif"/>
                <a:cs typeface="Microsoft Sans Serif"/>
              </a:rPr>
              <a:t>can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5">
                <a:latin typeface="Microsoft Sans Serif"/>
                <a:cs typeface="Microsoft Sans Serif"/>
              </a:rPr>
              <a:t>have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45">
                <a:latin typeface="Microsoft Sans Serif"/>
                <a:cs typeface="Microsoft Sans Serif"/>
              </a:rPr>
              <a:t>zero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14">
                <a:latin typeface="Microsoft Sans Serif"/>
                <a:cs typeface="Microsoft Sans Serif"/>
              </a:rPr>
              <a:t>or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10">
                <a:latin typeface="Microsoft Sans Serif"/>
                <a:cs typeface="Microsoft Sans Serif"/>
              </a:rPr>
              <a:t>any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70">
                <a:latin typeface="Microsoft Sans Serif"/>
                <a:cs typeface="Microsoft Sans Serif"/>
              </a:rPr>
              <a:t>number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90">
                <a:latin typeface="Microsoft Sans Serif"/>
                <a:cs typeface="Microsoft Sans Serif"/>
              </a:rPr>
              <a:t>of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55">
                <a:latin typeface="Microsoft Sans Serif"/>
                <a:cs typeface="Microsoft Sans Serif"/>
              </a:rPr>
              <a:t>arguments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145">
                <a:latin typeface="Microsoft Sans Serif"/>
                <a:cs typeface="Microsoft Sans Serif"/>
              </a:rPr>
              <a:t>with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-10">
                <a:latin typeface="Microsoft Sans Serif"/>
                <a:cs typeface="Microsoft Sans Serif"/>
              </a:rPr>
              <a:t>an </a:t>
            </a:r>
            <a:r>
              <a:rPr dirty="0" sz="2550" spc="-660">
                <a:latin typeface="Microsoft Sans Serif"/>
                <a:cs typeface="Microsoft Sans Serif"/>
              </a:rPr>
              <a:t> </a:t>
            </a:r>
            <a:r>
              <a:rPr dirty="0" sz="2550" spc="90">
                <a:latin typeface="Microsoft Sans Serif"/>
                <a:cs typeface="Microsoft Sans Serif"/>
              </a:rPr>
              <a:t>optional</a:t>
            </a:r>
            <a:r>
              <a:rPr dirty="0" sz="2550" spc="-105">
                <a:latin typeface="Microsoft Sans Serif"/>
                <a:cs typeface="Microsoft Sans Serif"/>
              </a:rPr>
              <a:t> </a:t>
            </a:r>
            <a:r>
              <a:rPr dirty="0" sz="2550" spc="105">
                <a:latin typeface="Microsoft Sans Serif"/>
                <a:cs typeface="Microsoft Sans Serif"/>
              </a:rPr>
              <a:t>type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75">
                <a:latin typeface="Microsoft Sans Serif"/>
                <a:cs typeface="Microsoft Sans Serif"/>
              </a:rPr>
              <a:t>annotation.</a:t>
            </a:r>
            <a:endParaRPr sz="2550">
              <a:latin typeface="Microsoft Sans Serif"/>
              <a:cs typeface="Microsoft Sans Serif"/>
            </a:endParaRPr>
          </a:p>
          <a:p>
            <a:pPr marL="327660" marR="48895" indent="-315595">
              <a:lnSpc>
                <a:spcPct val="100600"/>
              </a:lnSpc>
              <a:spcBef>
                <a:spcPts val="745"/>
              </a:spcBef>
              <a:buClr>
                <a:srgbClr val="6697CC"/>
              </a:buClr>
              <a:buFont typeface="Arial MT"/>
              <a:buChar char="•"/>
              <a:tabLst>
                <a:tab pos="327025" algn="l"/>
                <a:tab pos="328295" algn="l"/>
              </a:tabLst>
            </a:pPr>
            <a:r>
              <a:rPr dirty="0" sz="2550">
                <a:latin typeface="Microsoft Sans Serif"/>
                <a:cs typeface="Microsoft Sans Serif"/>
              </a:rPr>
              <a:t>We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35">
                <a:latin typeface="Microsoft Sans Serif"/>
                <a:cs typeface="Microsoft Sans Serif"/>
              </a:rPr>
              <a:t>can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-30">
                <a:latin typeface="Microsoft Sans Serif"/>
                <a:cs typeface="Microsoft Sans Serif"/>
              </a:rPr>
              <a:t>assign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125">
                <a:latin typeface="Microsoft Sans Serif"/>
                <a:cs typeface="Microsoft Sans Serif"/>
              </a:rPr>
              <a:t>the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20">
                <a:latin typeface="Microsoft Sans Serif"/>
                <a:cs typeface="Microsoft Sans Serif"/>
              </a:rPr>
              <a:t>anonymous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105">
                <a:latin typeface="Microsoft Sans Serif"/>
                <a:cs typeface="Microsoft Sans Serif"/>
              </a:rPr>
              <a:t>function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204">
                <a:latin typeface="Microsoft Sans Serif"/>
                <a:cs typeface="Microsoft Sans Serif"/>
              </a:rPr>
              <a:t>to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-80">
                <a:latin typeface="Microsoft Sans Serif"/>
                <a:cs typeface="Microsoft Sans Serif"/>
              </a:rPr>
              <a:t>a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20">
                <a:latin typeface="Microsoft Sans Serif"/>
                <a:cs typeface="Microsoft Sans Serif"/>
              </a:rPr>
              <a:t>variable, </a:t>
            </a:r>
            <a:r>
              <a:rPr dirty="0" sz="2550" spc="-660">
                <a:latin typeface="Microsoft Sans Serif"/>
                <a:cs typeface="Microsoft Sans Serif"/>
              </a:rPr>
              <a:t> 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95">
                <a:latin typeface="Microsoft Sans Serif"/>
                <a:cs typeface="Microsoft Sans Serif"/>
              </a:rPr>
              <a:t>d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40">
                <a:latin typeface="Microsoft Sans Serif"/>
                <a:cs typeface="Microsoft Sans Serif"/>
              </a:rPr>
              <a:t>hen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145">
                <a:latin typeface="Microsoft Sans Serif"/>
                <a:cs typeface="Microsoft Sans Serif"/>
              </a:rPr>
              <a:t>w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80">
                <a:latin typeface="Microsoft Sans Serif"/>
                <a:cs typeface="Microsoft Sans Serif"/>
              </a:rPr>
              <a:t>c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55">
                <a:latin typeface="Microsoft Sans Serif"/>
                <a:cs typeface="Microsoft Sans Serif"/>
              </a:rPr>
              <a:t>n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135">
                <a:latin typeface="Microsoft Sans Serif"/>
                <a:cs typeface="Microsoft Sans Serif"/>
              </a:rPr>
              <a:t>r</a:t>
            </a:r>
            <a:r>
              <a:rPr dirty="0" sz="2550" spc="225">
                <a:latin typeface="Microsoft Sans Serif"/>
                <a:cs typeface="Microsoft Sans Serif"/>
              </a:rPr>
              <a:t>e</a:t>
            </a:r>
            <a:r>
              <a:rPr dirty="0" sz="2550" spc="114">
                <a:latin typeface="Microsoft Sans Serif"/>
                <a:cs typeface="Microsoft Sans Serif"/>
              </a:rPr>
              <a:t>t</a:t>
            </a:r>
            <a:r>
              <a:rPr dirty="0" sz="2550" spc="135">
                <a:latin typeface="Microsoft Sans Serif"/>
                <a:cs typeface="Microsoft Sans Serif"/>
              </a:rPr>
              <a:t>r</a:t>
            </a:r>
            <a:r>
              <a:rPr dirty="0" sz="2550" spc="30">
                <a:latin typeface="Microsoft Sans Serif"/>
                <a:cs typeface="Microsoft Sans Serif"/>
              </a:rPr>
              <a:t>ie</a:t>
            </a:r>
            <a:r>
              <a:rPr dirty="0" sz="2550" spc="25">
                <a:latin typeface="Microsoft Sans Serif"/>
                <a:cs typeface="Microsoft Sans Serif"/>
              </a:rPr>
              <a:t>v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140">
                <a:latin typeface="Microsoft Sans Serif"/>
                <a:cs typeface="Microsoft Sans Serif"/>
              </a:rPr>
              <a:t>r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-80">
                <a:latin typeface="Microsoft Sans Serif"/>
                <a:cs typeface="Microsoft Sans Serif"/>
              </a:rPr>
              <a:t>cc</a:t>
            </a:r>
            <a:r>
              <a:rPr dirty="0" sz="2550" spc="-60">
                <a:latin typeface="Microsoft Sans Serif"/>
                <a:cs typeface="Microsoft Sans Serif"/>
              </a:rPr>
              <a:t>e</a:t>
            </a:r>
            <a:r>
              <a:rPr dirty="0" sz="2550" spc="-65">
                <a:latin typeface="Microsoft Sans Serif"/>
                <a:cs typeface="Microsoft Sans Serif"/>
              </a:rPr>
              <a:t>s</a:t>
            </a:r>
            <a:r>
              <a:rPr dirty="0" sz="2550" spc="-130">
                <a:latin typeface="Microsoft Sans Serif"/>
                <a:cs typeface="Microsoft Sans Serif"/>
              </a:rPr>
              <a:t>s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30">
                <a:latin typeface="Microsoft Sans Serif"/>
                <a:cs typeface="Microsoft Sans Serif"/>
              </a:rPr>
              <a:t>he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>
                <a:latin typeface="Microsoft Sans Serif"/>
                <a:cs typeface="Microsoft Sans Serif"/>
              </a:rPr>
              <a:t>v</a:t>
            </a:r>
            <a:r>
              <a:rPr dirty="0" sz="2550" spc="-85">
                <a:latin typeface="Microsoft Sans Serif"/>
                <a:cs typeface="Microsoft Sans Serif"/>
              </a:rPr>
              <a:t>a</a:t>
            </a:r>
            <a:r>
              <a:rPr dirty="0" sz="2550" spc="114">
                <a:latin typeface="Microsoft Sans Serif"/>
                <a:cs typeface="Microsoft Sans Serif"/>
              </a:rPr>
              <a:t>l</a:t>
            </a:r>
            <a:r>
              <a:rPr dirty="0" sz="2550" spc="45">
                <a:latin typeface="Microsoft Sans Serif"/>
                <a:cs typeface="Microsoft Sans Serif"/>
              </a:rPr>
              <a:t>u</a:t>
            </a:r>
            <a:r>
              <a:rPr dirty="0" sz="2550" spc="15">
                <a:latin typeface="Microsoft Sans Serif"/>
                <a:cs typeface="Microsoft Sans Serif"/>
              </a:rPr>
              <a:t>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85">
                <a:latin typeface="Microsoft Sans Serif"/>
                <a:cs typeface="Microsoft Sans Serif"/>
              </a:rPr>
              <a:t>o</a:t>
            </a:r>
            <a:r>
              <a:rPr dirty="0" sz="2550" spc="280">
                <a:latin typeface="Microsoft Sans Serif"/>
                <a:cs typeface="Microsoft Sans Serif"/>
              </a:rPr>
              <a:t>f</a:t>
            </a:r>
            <a:r>
              <a:rPr dirty="0" sz="2550" spc="-85">
                <a:latin typeface="Microsoft Sans Serif"/>
                <a:cs typeface="Microsoft Sans Serif"/>
              </a:rPr>
              <a:t> </a:t>
            </a:r>
            <a:r>
              <a:rPr dirty="0" sz="2550" spc="320">
                <a:latin typeface="Microsoft Sans Serif"/>
                <a:cs typeface="Microsoft Sans Serif"/>
              </a:rPr>
              <a:t>t</a:t>
            </a:r>
            <a:r>
              <a:rPr dirty="0" sz="2550" spc="35">
                <a:latin typeface="Microsoft Sans Serif"/>
                <a:cs typeface="Microsoft Sans Serif"/>
              </a:rPr>
              <a:t>h</a:t>
            </a:r>
            <a:r>
              <a:rPr dirty="0" sz="2550" spc="10">
                <a:latin typeface="Microsoft Sans Serif"/>
                <a:cs typeface="Microsoft Sans Serif"/>
              </a:rPr>
              <a:t>e  </a:t>
            </a:r>
            <a:r>
              <a:rPr dirty="0" sz="2550" spc="25">
                <a:latin typeface="Microsoft Sans Serif"/>
                <a:cs typeface="Microsoft Sans Serif"/>
              </a:rPr>
              <a:t>closure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-5">
                <a:latin typeface="Microsoft Sans Serif"/>
                <a:cs typeface="Microsoft Sans Serif"/>
              </a:rPr>
              <a:t>based</a:t>
            </a:r>
            <a:r>
              <a:rPr dirty="0" sz="2550" spc="-100">
                <a:latin typeface="Microsoft Sans Serif"/>
                <a:cs typeface="Microsoft Sans Serif"/>
              </a:rPr>
              <a:t> </a:t>
            </a:r>
            <a:r>
              <a:rPr dirty="0" sz="2550" spc="75">
                <a:latin typeface="Microsoft Sans Serif"/>
                <a:cs typeface="Microsoft Sans Serif"/>
              </a:rPr>
              <a:t>on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550" spc="95">
                <a:latin typeface="Microsoft Sans Serif"/>
                <a:cs typeface="Microsoft Sans Serif"/>
              </a:rPr>
              <a:t>our</a:t>
            </a:r>
            <a:r>
              <a:rPr dirty="0" sz="2550" spc="-90">
                <a:latin typeface="Microsoft Sans Serif"/>
                <a:cs typeface="Microsoft Sans Serif"/>
              </a:rPr>
              <a:t> </a:t>
            </a:r>
            <a:r>
              <a:rPr dirty="0" sz="2550" spc="75">
                <a:latin typeface="Microsoft Sans Serif"/>
                <a:cs typeface="Microsoft Sans Serif"/>
              </a:rPr>
              <a:t>requirement.</a:t>
            </a:r>
            <a:endParaRPr sz="25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25"/>
              <a:t>A</a:t>
            </a:r>
            <a:r>
              <a:rPr dirty="0" spc="10"/>
              <a:t>n</a:t>
            </a:r>
            <a:r>
              <a:rPr dirty="0" spc="114"/>
              <a:t>o</a:t>
            </a:r>
            <a:r>
              <a:rPr dirty="0" spc="25"/>
              <a:t>n</a:t>
            </a:r>
            <a:r>
              <a:rPr dirty="0" spc="10"/>
              <a:t>y</a:t>
            </a:r>
            <a:r>
              <a:rPr dirty="0" spc="130"/>
              <a:t>m</a:t>
            </a:r>
            <a:r>
              <a:rPr dirty="0" spc="80"/>
              <a:t>o</a:t>
            </a:r>
            <a:r>
              <a:rPr dirty="0" spc="-70"/>
              <a:t>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47659" cy="383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10">
                <a:latin typeface="Microsoft Sans Serif"/>
                <a:cs typeface="Microsoft Sans Serif"/>
              </a:rPr>
              <a:t>An </a:t>
            </a:r>
            <a:r>
              <a:rPr dirty="0" sz="2800" spc="20">
                <a:latin typeface="Microsoft Sans Serif"/>
                <a:cs typeface="Microsoft Sans Serif"/>
              </a:rPr>
              <a:t>Anonymous </a:t>
            </a:r>
            <a:r>
              <a:rPr dirty="0" sz="2800" spc="105">
                <a:latin typeface="Microsoft Sans Serif"/>
                <a:cs typeface="Microsoft Sans Serif"/>
              </a:rPr>
              <a:t>function </a:t>
            </a:r>
            <a:r>
              <a:rPr dirty="0" sz="2800" spc="30">
                <a:latin typeface="Microsoft Sans Serif"/>
                <a:cs typeface="Microsoft Sans Serif"/>
              </a:rPr>
              <a:t>contains </a:t>
            </a:r>
            <a:r>
              <a:rPr dirty="0" sz="2800" spc="-25">
                <a:latin typeface="Microsoft Sans Serif"/>
                <a:cs typeface="Microsoft Sans Serif"/>
              </a:rPr>
              <a:t>an </a:t>
            </a:r>
            <a:r>
              <a:rPr dirty="0" sz="2800" spc="-20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independent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block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195">
                <a:latin typeface="Microsoft Sans Serif"/>
                <a:cs typeface="Microsoft Sans Serif"/>
              </a:rPr>
              <a:t>of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code,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and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5">
                <a:latin typeface="Microsoft Sans Serif"/>
                <a:cs typeface="Microsoft Sans Serif"/>
              </a:rPr>
              <a:t>that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be </a:t>
            </a:r>
            <a:r>
              <a:rPr dirty="0" sz="2800" spc="-725">
                <a:latin typeface="Microsoft Sans Serif"/>
                <a:cs typeface="Microsoft Sans Serif"/>
              </a:rPr>
              <a:t> </a:t>
            </a:r>
            <a:r>
              <a:rPr dirty="0" sz="2800" spc="-40">
                <a:latin typeface="Microsoft Sans Serif"/>
                <a:cs typeface="Microsoft Sans Serif"/>
              </a:rPr>
              <a:t>passed </a:t>
            </a:r>
            <a:r>
              <a:rPr dirty="0" sz="2800" spc="50">
                <a:latin typeface="Microsoft Sans Serif"/>
                <a:cs typeface="Microsoft Sans Serif"/>
              </a:rPr>
              <a:t>around </a:t>
            </a:r>
            <a:r>
              <a:rPr dirty="0" sz="2800" spc="60">
                <a:latin typeface="Microsoft Sans Serif"/>
                <a:cs typeface="Microsoft Sans Serif"/>
              </a:rPr>
              <a:t>in </a:t>
            </a:r>
            <a:r>
              <a:rPr dirty="0" sz="2800" spc="95">
                <a:latin typeface="Microsoft Sans Serif"/>
                <a:cs typeface="Microsoft Sans Serif"/>
              </a:rPr>
              <a:t>our </a:t>
            </a:r>
            <a:r>
              <a:rPr dirty="0" sz="2800" spc="15">
                <a:latin typeface="Microsoft Sans Serif"/>
                <a:cs typeface="Microsoft Sans Serif"/>
              </a:rPr>
              <a:t>code </a:t>
            </a:r>
            <a:r>
              <a:rPr dirty="0" sz="2800" spc="-130">
                <a:latin typeface="Microsoft Sans Serif"/>
                <a:cs typeface="Microsoft Sans Serif"/>
              </a:rPr>
              <a:t>as </a:t>
            </a:r>
            <a:r>
              <a:rPr dirty="0" sz="2800" spc="100">
                <a:latin typeface="Microsoft Sans Serif"/>
                <a:cs typeface="Microsoft Sans Serif"/>
              </a:rPr>
              <a:t>function </a:t>
            </a:r>
            <a:r>
              <a:rPr dirty="0" sz="2800" spc="105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p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15">
                <a:latin typeface="Microsoft Sans Serif"/>
                <a:cs typeface="Microsoft Sans Serif"/>
              </a:rPr>
              <a:t>r</a:t>
            </a:r>
            <a:r>
              <a:rPr dirty="0" sz="2800" spc="25">
                <a:latin typeface="Microsoft Sans Serif"/>
                <a:cs typeface="Microsoft Sans Serif"/>
              </a:rPr>
              <a:t>a</a:t>
            </a:r>
            <a:r>
              <a:rPr dirty="0" sz="2800" spc="50">
                <a:latin typeface="Microsoft Sans Serif"/>
                <a:cs typeface="Microsoft Sans Serif"/>
              </a:rPr>
              <a:t>m</a:t>
            </a:r>
            <a:r>
              <a:rPr dirty="0" sz="2800" spc="20">
                <a:latin typeface="Microsoft Sans Serif"/>
                <a:cs typeface="Microsoft Sans Serif"/>
              </a:rPr>
              <a:t>e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-35">
                <a:latin typeface="Microsoft Sans Serif"/>
                <a:cs typeface="Microsoft Sans Serif"/>
              </a:rPr>
              <a:t>rs.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35">
                <a:latin typeface="Microsoft Sans Serif"/>
                <a:cs typeface="Microsoft Sans Serif"/>
              </a:rPr>
              <a:t>T</a:t>
            </a:r>
            <a:r>
              <a:rPr dirty="0" sz="2800" spc="20">
                <a:latin typeface="Microsoft Sans Serif"/>
                <a:cs typeface="Microsoft Sans Serif"/>
              </a:rPr>
              <a:t>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80">
                <a:latin typeface="Microsoft Sans Serif"/>
                <a:cs typeface="Microsoft Sans Serif"/>
              </a:rPr>
              <a:t>s</a:t>
            </a:r>
            <a:r>
              <a:rPr dirty="0" sz="2800" spc="-85">
                <a:latin typeface="Microsoft Sans Serif"/>
                <a:cs typeface="Microsoft Sans Serif"/>
              </a:rPr>
              <a:t>y</a:t>
            </a:r>
            <a:r>
              <a:rPr dirty="0" sz="2800" spc="265">
                <a:latin typeface="Microsoft Sans Serif"/>
                <a:cs typeface="Microsoft Sans Serif"/>
              </a:rPr>
              <a:t>n</a:t>
            </a:r>
            <a:r>
              <a:rPr dirty="0" sz="2800" spc="120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30">
                <a:latin typeface="Microsoft Sans Serif"/>
                <a:cs typeface="Microsoft Sans Serif"/>
              </a:rPr>
              <a:t>x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i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-155">
                <a:latin typeface="Microsoft Sans Serif"/>
                <a:cs typeface="Microsoft Sans Serif"/>
              </a:rPr>
              <a:t>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30">
                <a:latin typeface="Microsoft Sans Serif"/>
                <a:cs typeface="Microsoft Sans Serif"/>
              </a:rPr>
              <a:t>f</a:t>
            </a:r>
            <a:r>
              <a:rPr dirty="0" sz="2800" spc="250">
                <a:latin typeface="Microsoft Sans Serif"/>
                <a:cs typeface="Microsoft Sans Serif"/>
              </a:rPr>
              <a:t>o</a:t>
            </a:r>
            <a:r>
              <a:rPr dirty="0" sz="2800" spc="125">
                <a:latin typeface="Microsoft Sans Serif"/>
                <a:cs typeface="Microsoft Sans Serif"/>
              </a:rPr>
              <a:t>ll</a:t>
            </a:r>
            <a:r>
              <a:rPr dirty="0" sz="2800" spc="75">
                <a:latin typeface="Microsoft Sans Serif"/>
                <a:cs typeface="Microsoft Sans Serif"/>
              </a:rPr>
              <a:t>o</a:t>
            </a:r>
            <a:r>
              <a:rPr dirty="0" sz="2800" spc="150">
                <a:latin typeface="Microsoft Sans Serif"/>
                <a:cs typeface="Microsoft Sans Serif"/>
              </a:rPr>
              <a:t>w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-9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marR="4791075">
              <a:lnSpc>
                <a:spcPct val="123500"/>
              </a:lnSpc>
            </a:pPr>
            <a:r>
              <a:rPr dirty="0" sz="2800" spc="-25">
                <a:latin typeface="Microsoft Sans Serif"/>
                <a:cs typeface="Microsoft Sans Serif"/>
              </a:rPr>
              <a:t>Syntax: </a:t>
            </a:r>
            <a:r>
              <a:rPr dirty="0" sz="2800" spc="-20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(parameter_list)</a:t>
            </a:r>
            <a:r>
              <a:rPr dirty="0" sz="2800" spc="-16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601980">
              <a:lnSpc>
                <a:spcPct val="100000"/>
              </a:lnSpc>
              <a:spcBef>
                <a:spcPts val="800"/>
              </a:spcBef>
            </a:pPr>
            <a:r>
              <a:rPr dirty="0" sz="2800" spc="55">
                <a:latin typeface="Microsoft Sans Serif"/>
                <a:cs typeface="Microsoft Sans Serif"/>
              </a:rPr>
              <a:t>statement(s)</a:t>
            </a:r>
            <a:endParaRPr sz="2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2573020" algn="l"/>
              </a:tabLst>
            </a:pPr>
            <a:r>
              <a:rPr dirty="0" spc="-275"/>
              <a:t>F</a:t>
            </a:r>
            <a:r>
              <a:rPr dirty="0" spc="60"/>
              <a:t>u</a:t>
            </a:r>
            <a:r>
              <a:rPr dirty="0" spc="50"/>
              <a:t>n</a:t>
            </a:r>
            <a:r>
              <a:rPr dirty="0" spc="-130"/>
              <a:t>c</a:t>
            </a:r>
            <a:r>
              <a:rPr dirty="0" spc="215"/>
              <a:t>tio</a:t>
            </a:r>
            <a:r>
              <a:rPr dirty="0" spc="60"/>
              <a:t>n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25"/>
              <a:t>A</a:t>
            </a:r>
            <a:r>
              <a:rPr dirty="0" spc="10"/>
              <a:t>n</a:t>
            </a:r>
            <a:r>
              <a:rPr dirty="0" spc="114"/>
              <a:t>o</a:t>
            </a:r>
            <a:r>
              <a:rPr dirty="0" spc="25"/>
              <a:t>n</a:t>
            </a:r>
            <a:r>
              <a:rPr dirty="0" spc="10"/>
              <a:t>y</a:t>
            </a:r>
            <a:r>
              <a:rPr dirty="0" spc="130"/>
              <a:t>m</a:t>
            </a:r>
            <a:r>
              <a:rPr dirty="0" spc="80"/>
              <a:t>o</a:t>
            </a:r>
            <a:r>
              <a:rPr dirty="0" spc="-70"/>
              <a:t>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6769734" cy="371602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55">
                <a:latin typeface="Microsoft Sans Serif"/>
                <a:cs typeface="Microsoft Sans Serif"/>
              </a:rPr>
              <a:t>void</a:t>
            </a:r>
            <a:r>
              <a:rPr dirty="0" sz="2800" spc="-125">
                <a:latin typeface="Microsoft Sans Serif"/>
                <a:cs typeface="Microsoft Sans Serif"/>
              </a:rPr>
              <a:t> </a:t>
            </a:r>
            <a:r>
              <a:rPr dirty="0" sz="2800" spc="5">
                <a:latin typeface="Microsoft Sans Serif"/>
                <a:cs typeface="Microsoft Sans Serif"/>
              </a:rPr>
              <a:t>main()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175895" marR="5080">
              <a:lnSpc>
                <a:spcPct val="123500"/>
              </a:lnSpc>
            </a:pPr>
            <a:r>
              <a:rPr dirty="0" sz="2800" spc="15">
                <a:latin typeface="Microsoft Sans Serif"/>
                <a:cs typeface="Microsoft Sans Serif"/>
              </a:rPr>
              <a:t>var </a:t>
            </a:r>
            <a:r>
              <a:rPr dirty="0" sz="2800" spc="95">
                <a:latin typeface="Microsoft Sans Serif"/>
                <a:cs typeface="Microsoft Sans Serif"/>
              </a:rPr>
              <a:t>list </a:t>
            </a:r>
            <a:r>
              <a:rPr dirty="0" sz="2800" spc="-60">
                <a:latin typeface="Microsoft Sans Serif"/>
                <a:cs typeface="Microsoft Sans Serif"/>
              </a:rPr>
              <a:t>= </a:t>
            </a:r>
            <a:r>
              <a:rPr dirty="0" sz="2800" spc="20">
                <a:latin typeface="Microsoft Sans Serif"/>
                <a:cs typeface="Microsoft Sans Serif"/>
              </a:rPr>
              <a:t>["Ram","Raj","Rani","Ritu"]; </a:t>
            </a:r>
            <a:r>
              <a:rPr dirty="0" sz="2800" spc="2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print("Example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90">
                <a:latin typeface="Microsoft Sans Serif"/>
                <a:cs typeface="Microsoft Sans Serif"/>
              </a:rPr>
              <a:t>of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anonymous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function");</a:t>
            </a:r>
            <a:endParaRPr sz="2800">
              <a:latin typeface="Microsoft Sans Serif"/>
              <a:cs typeface="Microsoft Sans Serif"/>
            </a:endParaRPr>
          </a:p>
          <a:p>
            <a:pPr marL="506095" marR="606425" indent="-330200">
              <a:lnSpc>
                <a:spcPct val="123500"/>
              </a:lnSpc>
              <a:spcBef>
                <a:spcPts val="5"/>
              </a:spcBef>
            </a:pPr>
            <a:r>
              <a:rPr dirty="0" sz="2800" spc="40">
                <a:latin typeface="Microsoft Sans Serif"/>
                <a:cs typeface="Microsoft Sans Serif"/>
              </a:rPr>
              <a:t>list.forEach((item) </a:t>
            </a:r>
            <a:r>
              <a:rPr dirty="0" sz="2800" spc="-5">
                <a:latin typeface="Microsoft Sans Serif"/>
                <a:cs typeface="Microsoft Sans Serif"/>
              </a:rPr>
              <a:t>{ </a:t>
            </a:r>
            <a:r>
              <a:rPr dirty="0" sz="280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print('${list.indexOf(item)}: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$item');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45">
                <a:latin typeface="Microsoft Sans Serif"/>
                <a:cs typeface="Microsoft Sans Serif"/>
              </a:rPr>
              <a:t>});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1821" y="5403999"/>
            <a:ext cx="3868420" cy="960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27800"/>
              </a:lnSpc>
              <a:spcBef>
                <a:spcPts val="95"/>
              </a:spcBef>
            </a:pPr>
            <a:r>
              <a:rPr dirty="0" sz="2400" b="1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contact@mitu.co.in </a:t>
            </a:r>
            <a:r>
              <a:rPr dirty="0" sz="2400" spc="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Courier New"/>
                <a:cs typeface="Courier New"/>
                <a:hlinkClick r:id="rId3"/>
              </a:rPr>
              <a:t>tushar@tusharkute.com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/>
          <a:solidFill>
            <a:srgbClr val="7E7E7E"/>
          </a:solidFill>
        </p:spPr>
        <p:txBody>
          <a:bodyPr wrap="square" lIns="0" tIns="347980" rIns="0" bIns="0" rtlCol="0" vert="horz">
            <a:spAutoFit/>
          </a:bodyPr>
          <a:lstStyle/>
          <a:p>
            <a:pPr algn="ctr" marR="402590">
              <a:lnSpc>
                <a:spcPct val="100000"/>
              </a:lnSpc>
              <a:spcBef>
                <a:spcPts val="2740"/>
              </a:spcBef>
            </a:pPr>
            <a:r>
              <a:rPr dirty="0" spc="-25"/>
              <a:t>Thank</a:t>
            </a:r>
            <a:r>
              <a:rPr dirty="0" spc="-150"/>
              <a:t> </a:t>
            </a:r>
            <a:r>
              <a:rPr dirty="0" spc="55"/>
              <a:t>you</a:t>
            </a:r>
          </a:p>
        </p:txBody>
      </p:sp>
      <p:sp>
        <p:nvSpPr>
          <p:cNvPr id="6" name="object 6"/>
          <p:cNvSpPr/>
          <p:nvPr/>
        </p:nvSpPr>
        <p:spPr>
          <a:xfrm>
            <a:off x="36360" y="1368005"/>
            <a:ext cx="9000490" cy="432434"/>
          </a:xfrm>
          <a:custGeom>
            <a:avLst/>
            <a:gdLst/>
            <a:ahLst/>
            <a:cxnLst/>
            <a:rect l="l" t="t" r="r" b="b"/>
            <a:pathLst>
              <a:path w="9000490" h="432435">
                <a:moveTo>
                  <a:pt x="8999994" y="0"/>
                </a:moveTo>
                <a:lnTo>
                  <a:pt x="0" y="0"/>
                </a:lnTo>
                <a:lnTo>
                  <a:pt x="0" y="431990"/>
                </a:lnTo>
                <a:lnTo>
                  <a:pt x="4500003" y="431990"/>
                </a:lnTo>
                <a:lnTo>
                  <a:pt x="8999994" y="431990"/>
                </a:lnTo>
                <a:lnTo>
                  <a:pt x="89999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360" y="1368005"/>
            <a:ext cx="9000490" cy="432434"/>
          </a:xfrm>
          <a:prstGeom prst="rect">
            <a:avLst/>
          </a:prstGeom>
          <a:ln w="3175">
            <a:solidFill>
              <a:srgbClr val="FFD21F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dirty="0" sz="1400" spc="-45" i="1">
                <a:latin typeface="Arial"/>
                <a:cs typeface="Arial"/>
              </a:rPr>
              <a:t>This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10" i="1">
                <a:latin typeface="Arial"/>
                <a:cs typeface="Arial"/>
              </a:rPr>
              <a:t>presentation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created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using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5" i="1">
                <a:latin typeface="Arial"/>
                <a:cs typeface="Arial"/>
              </a:rPr>
              <a:t>LibreOffice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Impress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5.1.6.2,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5" i="1">
                <a:latin typeface="Arial"/>
                <a:cs typeface="Arial"/>
              </a:rPr>
              <a:t>can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be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used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15" i="1">
                <a:latin typeface="Arial"/>
                <a:cs typeface="Arial"/>
              </a:rPr>
              <a:t>freely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70" i="1">
                <a:latin typeface="Arial"/>
                <a:cs typeface="Arial"/>
              </a:rPr>
              <a:t>as</a:t>
            </a:r>
            <a:r>
              <a:rPr dirty="0" sz="1400" spc="-75" i="1">
                <a:latin typeface="Arial"/>
                <a:cs typeface="Arial"/>
              </a:rPr>
              <a:t> </a:t>
            </a:r>
            <a:r>
              <a:rPr dirty="0" sz="1400" spc="-5" i="1">
                <a:latin typeface="Arial"/>
                <a:cs typeface="Arial"/>
              </a:rPr>
              <a:t>per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0" i="1">
                <a:latin typeface="Arial"/>
                <a:cs typeface="Arial"/>
              </a:rPr>
              <a:t>GNU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General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15" i="1">
                <a:latin typeface="Arial"/>
                <a:cs typeface="Arial"/>
              </a:rPr>
              <a:t>Public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License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8363" y="4176001"/>
            <a:ext cx="3384550" cy="1080135"/>
          </a:xfrm>
          <a:custGeom>
            <a:avLst/>
            <a:gdLst/>
            <a:ahLst/>
            <a:cxnLst/>
            <a:rect l="l" t="t" r="r" b="b"/>
            <a:pathLst>
              <a:path w="3384550" h="1080135">
                <a:moveTo>
                  <a:pt x="3383991" y="0"/>
                </a:moveTo>
                <a:lnTo>
                  <a:pt x="0" y="0"/>
                </a:lnTo>
                <a:lnTo>
                  <a:pt x="0" y="1079995"/>
                </a:lnTo>
                <a:lnTo>
                  <a:pt x="1691995" y="1079995"/>
                </a:lnTo>
                <a:lnTo>
                  <a:pt x="3383991" y="1079995"/>
                </a:lnTo>
                <a:lnTo>
                  <a:pt x="3383991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8363" y="4176001"/>
            <a:ext cx="3384550" cy="1080135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wrap="square" lIns="0" tIns="128270" rIns="0" bIns="0" rtlCol="0" vert="horz">
            <a:spAutoFit/>
          </a:bodyPr>
          <a:lstStyle/>
          <a:p>
            <a:pPr algn="ctr" marL="537845" marR="531495">
              <a:lnSpc>
                <a:spcPct val="100000"/>
              </a:lnSpc>
              <a:spcBef>
                <a:spcPts val="1010"/>
              </a:spcBef>
            </a:pPr>
            <a:r>
              <a:rPr dirty="0" sz="1800" spc="10" b="1">
                <a:latin typeface="Arial"/>
                <a:cs typeface="Arial"/>
              </a:rPr>
              <a:t>Web </a:t>
            </a:r>
            <a:r>
              <a:rPr dirty="0" sz="1800" spc="-40" b="1">
                <a:latin typeface="Arial"/>
                <a:cs typeface="Arial"/>
              </a:rPr>
              <a:t>Resources 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55">
                <a:latin typeface="Microsoft Sans Serif"/>
                <a:cs typeface="Microsoft Sans Serif"/>
              </a:rPr>
              <a:t>https://mitu.co.in </a:t>
            </a:r>
            <a:r>
              <a:rPr dirty="0" sz="1800" spc="60">
                <a:latin typeface="Microsoft Sans Serif"/>
                <a:cs typeface="Microsoft Sans Serif"/>
              </a:rPr>
              <a:t> </a:t>
            </a:r>
            <a:r>
              <a:rPr dirty="0" sz="1800" spc="165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7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40">
                <a:latin typeface="Microsoft Sans Serif"/>
                <a:cs typeface="Microsoft Sans Serif"/>
                <a:hlinkClick r:id="rId4"/>
              </a:rPr>
              <a:t>p</a:t>
            </a:r>
            <a:r>
              <a:rPr dirty="0" sz="1800" spc="-55">
                <a:latin typeface="Microsoft Sans Serif"/>
                <a:cs typeface="Microsoft Sans Serif"/>
                <a:hlinkClick r:id="rId4"/>
              </a:rPr>
              <a:t>:</a:t>
            </a:r>
            <a:r>
              <a:rPr dirty="0" sz="1800" spc="18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19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5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-95">
                <a:latin typeface="Microsoft Sans Serif"/>
                <a:cs typeface="Microsoft Sans Serif"/>
                <a:hlinkClick r:id="rId4"/>
              </a:rPr>
              <a:t>s</a:t>
            </a:r>
            <a:r>
              <a:rPr dirty="0" sz="1800" spc="-20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-30">
                <a:latin typeface="Microsoft Sans Serif"/>
                <a:cs typeface="Microsoft Sans Serif"/>
                <a:hlinkClick r:id="rId4"/>
              </a:rPr>
              <a:t>a</a:t>
            </a:r>
            <a:r>
              <a:rPr dirty="0" sz="1800" spc="95">
                <a:latin typeface="Microsoft Sans Serif"/>
                <a:cs typeface="Microsoft Sans Serif"/>
                <a:hlinkClick r:id="rId4"/>
              </a:rPr>
              <a:t>r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k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5">
                <a:latin typeface="Microsoft Sans Serif"/>
                <a:cs typeface="Microsoft Sans Serif"/>
                <a:hlinkClick r:id="rId4"/>
              </a:rPr>
              <a:t>e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.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c</a:t>
            </a:r>
            <a:r>
              <a:rPr dirty="0" sz="1800" spc="65">
                <a:latin typeface="Microsoft Sans Serif"/>
                <a:cs typeface="Microsoft Sans Serif"/>
                <a:hlinkClick r:id="rId4"/>
              </a:rPr>
              <a:t>o</a:t>
            </a:r>
            <a:r>
              <a:rPr dirty="0" sz="1800" spc="50">
                <a:latin typeface="Microsoft Sans Serif"/>
                <a:cs typeface="Microsoft Sans Serif"/>
                <a:hlinkClick r:id="rId4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633" y="3161157"/>
            <a:ext cx="1494713" cy="2584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033" y="2225878"/>
            <a:ext cx="706323" cy="7063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4361" y="2231644"/>
            <a:ext cx="959764" cy="7200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14537" y="3182657"/>
            <a:ext cx="1544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0">
                <a:solidFill>
                  <a:srgbClr val="3C5997"/>
                </a:solidFill>
                <a:latin typeface="Trebuchet MS"/>
                <a:cs typeface="Trebuchet MS"/>
              </a:rPr>
              <a:t>/</a:t>
            </a:r>
            <a:r>
              <a:rPr dirty="0" sz="1400" spc="204">
                <a:solidFill>
                  <a:srgbClr val="3C5997"/>
                </a:solidFill>
                <a:latin typeface="Trebuchet MS"/>
                <a:cs typeface="Trebuchet MS"/>
              </a:rPr>
              <a:t>m</a:t>
            </a:r>
            <a:r>
              <a:rPr dirty="0" sz="1400" spc="2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30">
                <a:solidFill>
                  <a:srgbClr val="3C5997"/>
                </a:solidFill>
                <a:latin typeface="Trebuchet MS"/>
                <a:cs typeface="Trebuchet MS"/>
              </a:rPr>
              <a:t>T</a:t>
            </a:r>
            <a:r>
              <a:rPr dirty="0" sz="1400" spc="120">
                <a:solidFill>
                  <a:srgbClr val="3C5997"/>
                </a:solidFill>
                <a:latin typeface="Trebuchet MS"/>
                <a:cs typeface="Trebuchet MS"/>
              </a:rPr>
              <a:t>u</a:t>
            </a:r>
            <a:r>
              <a:rPr dirty="0" sz="1400" spc="215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r>
              <a:rPr dirty="0" sz="1400" spc="105">
                <a:solidFill>
                  <a:srgbClr val="3C5997"/>
                </a:solidFill>
                <a:latin typeface="Trebuchet MS"/>
                <a:cs typeface="Trebuchet MS"/>
              </a:rPr>
              <a:t>k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175">
                <a:solidFill>
                  <a:srgbClr val="3C5997"/>
                </a:solidFill>
                <a:latin typeface="Trebuchet MS"/>
                <a:cs typeface="Trebuchet MS"/>
              </a:rPr>
              <a:t>g</a:t>
            </a:r>
            <a:r>
              <a:rPr dirty="0" sz="1400" spc="-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90">
                <a:solidFill>
                  <a:srgbClr val="3C5997"/>
                </a:solidFill>
                <a:latin typeface="Trebuchet MS"/>
                <a:cs typeface="Trebuchet MS"/>
              </a:rPr>
              <a:t>e</a:t>
            </a:r>
            <a:r>
              <a:rPr dirty="0" sz="1400" spc="160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84357" y="2188806"/>
            <a:ext cx="791997" cy="7930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23258" y="3129381"/>
            <a:ext cx="12592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5">
                <a:solidFill>
                  <a:srgbClr val="2CA9E0"/>
                </a:solidFill>
                <a:latin typeface="Microsoft Sans Serif"/>
                <a:cs typeface="Microsoft Sans Serif"/>
              </a:rPr>
              <a:t>@m</a:t>
            </a:r>
            <a:r>
              <a:rPr dirty="0" sz="1500" spc="5">
                <a:solidFill>
                  <a:srgbClr val="2CA9E0"/>
                </a:solidFill>
                <a:latin typeface="Microsoft Sans Serif"/>
                <a:cs typeface="Microsoft Sans Serif"/>
              </a:rPr>
              <a:t>i</a:t>
            </a:r>
            <a:r>
              <a:rPr dirty="0" sz="1500" spc="145">
                <a:solidFill>
                  <a:srgbClr val="2CA9E0"/>
                </a:solidFill>
                <a:latin typeface="Microsoft Sans Serif"/>
                <a:cs typeface="Microsoft Sans Serif"/>
              </a:rPr>
              <a:t>t</a:t>
            </a:r>
            <a:r>
              <a:rPr dirty="0" sz="1500" spc="30">
                <a:solidFill>
                  <a:srgbClr val="2CA9E0"/>
                </a:solidFill>
                <a:latin typeface="Microsoft Sans Serif"/>
                <a:cs typeface="Microsoft Sans Serif"/>
              </a:rPr>
              <a:t>u_</a:t>
            </a:r>
            <a:r>
              <a:rPr dirty="0" sz="1500" spc="25">
                <a:solidFill>
                  <a:srgbClr val="2CA9E0"/>
                </a:solidFill>
                <a:latin typeface="Microsoft Sans Serif"/>
                <a:cs typeface="Microsoft Sans Serif"/>
              </a:rPr>
              <a:t>g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r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o</a:t>
            </a: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up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84354" y="2294280"/>
            <a:ext cx="657364" cy="6573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51054" y="3357981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solidFill>
                  <a:srgbClr val="2CA9E0"/>
                </a:solidFill>
                <a:latin typeface="Microsoft Sans Serif"/>
                <a:cs typeface="Microsoft Sans Serif"/>
              </a:rPr>
              <a:t>skillologies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17425" y="3129381"/>
            <a:ext cx="32067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1960" algn="l"/>
              </a:tabLst>
            </a:pP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/company/mitu-	</a:t>
            </a:r>
            <a:r>
              <a:rPr dirty="0" baseline="3703" sz="2250" spc="37">
                <a:solidFill>
                  <a:srgbClr val="FF3333"/>
                </a:solidFill>
                <a:latin typeface="Microsoft Sans Serif"/>
                <a:cs typeface="Microsoft Sans Serif"/>
              </a:rPr>
              <a:t>MITUSkillologies</a:t>
            </a:r>
            <a:endParaRPr baseline="3703" sz="2250">
              <a:latin typeface="Microsoft Sans Serif"/>
              <a:cs typeface="Microsoft Sans Serif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40357" y="2268359"/>
            <a:ext cx="1120317" cy="6112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Presentation Magazine</dc:creator>
  <dc:title>Formal Powerpoint presentation</dc:title>
  <dcterms:created xsi:type="dcterms:W3CDTF">2024-08-27T01:56:40Z</dcterms:created>
  <dcterms:modified xsi:type="dcterms:W3CDTF">2024-08-27T01:56:40Z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2022-04-05T00:00:00Z</vt:filetime>
  </property>
  <property fmtid="{D5CDD505-2E9C-101B-9397-08002B2CF9AE}" pid="3" name="Creator">
    <vt:lpwstr>Impress</vt:lpwstr>
  </property>
  <property fmtid="{D5CDD505-2E9C-101B-9397-08002B2CF9AE}" pid="4" name="LastSaved">
    <vt:filetime>2022-04-05T00:00:00Z</vt:filetime>
  </property>
</Properties>
</file>