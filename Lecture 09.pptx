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2" d="100"/>
          <a:sy n="42" d="100"/>
        </p:scale>
        <p:origin x="756" y="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900" b="1" i="0">
                <a:solidFill>
                  <a:srgbClr val="0070C0"/>
                </a:solidFill>
                <a:latin typeface="Roboto Cn"/>
                <a:cs typeface="Roboto C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2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900" b="1" i="0">
                <a:solidFill>
                  <a:srgbClr val="0070C0"/>
                </a:solidFill>
                <a:latin typeface="Roboto Cn"/>
                <a:cs typeface="Roboto C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52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900" b="1" i="0">
                <a:solidFill>
                  <a:srgbClr val="0070C0"/>
                </a:solidFill>
                <a:latin typeface="Roboto Cn"/>
                <a:cs typeface="Roboto C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900" b="1" i="0">
                <a:solidFill>
                  <a:srgbClr val="0070C0"/>
                </a:solidFill>
                <a:latin typeface="Roboto Cn"/>
                <a:cs typeface="Roboto C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20104098" cy="1130855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197286" y="45099"/>
            <a:ext cx="7709526" cy="9302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900" b="1" i="0">
                <a:solidFill>
                  <a:srgbClr val="0070C0"/>
                </a:solidFill>
                <a:latin typeface="Roboto Cn"/>
                <a:cs typeface="Roboto C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640615" y="4134608"/>
            <a:ext cx="16822869" cy="69970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2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76142" y="934705"/>
            <a:ext cx="16262985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900" b="0" dirty="0">
                <a:solidFill>
                  <a:srgbClr val="000000"/>
                </a:solidFill>
                <a:latin typeface="Arial MT"/>
                <a:cs typeface="Arial MT"/>
              </a:rPr>
              <a:t>Mobile</a:t>
            </a:r>
            <a:r>
              <a:rPr sz="6900" b="0" spc="-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6900" b="0" dirty="0">
                <a:solidFill>
                  <a:srgbClr val="000000"/>
                </a:solidFill>
                <a:latin typeface="Arial MT"/>
                <a:cs typeface="Arial MT"/>
              </a:rPr>
              <a:t>Learning</a:t>
            </a:r>
            <a:r>
              <a:rPr sz="6900" b="0" spc="-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6900" b="0" dirty="0">
                <a:solidFill>
                  <a:srgbClr val="000000"/>
                </a:solidFill>
                <a:latin typeface="Arial MT"/>
                <a:cs typeface="Arial MT"/>
              </a:rPr>
              <a:t>Application </a:t>
            </a:r>
            <a:r>
              <a:rPr sz="6900" b="0" spc="-10" dirty="0">
                <a:solidFill>
                  <a:srgbClr val="000000"/>
                </a:solidFill>
                <a:latin typeface="Arial MT"/>
                <a:cs typeface="Arial MT"/>
              </a:rPr>
              <a:t>Development</a:t>
            </a:r>
            <a:endParaRPr sz="69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15558" y="2656254"/>
            <a:ext cx="4385206" cy="1271584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="" xmlns:a16="http://schemas.microsoft.com/office/drawing/2014/main" id="{751CAEAF-FE33-118E-43C0-622BE178A7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4800" dirty="0">
                <a:solidFill>
                  <a:schemeClr val="tx1"/>
                </a:solidFill>
                <a:latin typeface="Georgia" panose="02040502050405020303" pitchFamily="18" charset="0"/>
              </a:rPr>
              <a:t>Presented By: </a:t>
            </a:r>
          </a:p>
          <a:p>
            <a:pPr marL="0" indent="0" algn="ctr">
              <a:spcBef>
                <a:spcPts val="0"/>
              </a:spcBef>
              <a:buNone/>
            </a:pPr>
            <a:endParaRPr lang="en-US" sz="4800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en-US" sz="5400" b="1" dirty="0">
                <a:solidFill>
                  <a:schemeClr val="tx1"/>
                </a:solidFill>
                <a:latin typeface="Georgia" panose="02040502050405020303" pitchFamily="18" charset="0"/>
              </a:rPr>
              <a:t>Rakib Hossen 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US" sz="4800" dirty="0">
                <a:solidFill>
                  <a:schemeClr val="tx1"/>
                </a:solidFill>
                <a:latin typeface="Georgia" panose="02040502050405020303" pitchFamily="18" charset="0"/>
              </a:rPr>
              <a:t>Assistant Professor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US" sz="4800" dirty="0">
                <a:solidFill>
                  <a:schemeClr val="tx1"/>
                </a:solidFill>
                <a:latin typeface="Georgia" panose="02040502050405020303" pitchFamily="18" charset="0"/>
              </a:rPr>
              <a:t>Dept. of Cyber Security Engineering (</a:t>
            </a:r>
            <a:r>
              <a:rPr lang="en-US" sz="4800" dirty="0" err="1">
                <a:solidFill>
                  <a:schemeClr val="tx1"/>
                </a:solidFill>
                <a:latin typeface="Georgia" panose="02040502050405020303" pitchFamily="18" charset="0"/>
              </a:rPr>
              <a:t>CySE</a:t>
            </a:r>
            <a:r>
              <a:rPr lang="en-US" sz="4800" dirty="0">
                <a:solidFill>
                  <a:schemeClr val="tx1"/>
                </a:solidFill>
                <a:latin typeface="Georgia" panose="02040502050405020303" pitchFamily="18" charset="0"/>
              </a:rPr>
              <a:t>), </a:t>
            </a:r>
            <a:r>
              <a:rPr lang="en-US" sz="4800" dirty="0" smtClean="0">
                <a:solidFill>
                  <a:schemeClr val="tx1"/>
                </a:solidFill>
                <a:latin typeface="Georgia" panose="02040502050405020303" pitchFamily="18" charset="0"/>
              </a:rPr>
              <a:t>UFTB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098" cy="134288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17850" y="45099"/>
            <a:ext cx="12877800" cy="84253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74015">
              <a:lnSpc>
                <a:spcPct val="100000"/>
              </a:lnSpc>
              <a:spcBef>
                <a:spcPts val="90"/>
              </a:spcBef>
            </a:pPr>
            <a:r>
              <a:rPr lang="en-US" sz="5400" dirty="0"/>
              <a:t>Floating Action Button</a:t>
            </a:r>
            <a:endParaRPr sz="5450" dirty="0"/>
          </a:p>
        </p:txBody>
      </p:sp>
      <p:sp>
        <p:nvSpPr>
          <p:cNvPr id="4" name="object 4"/>
          <p:cNvSpPr txBox="1"/>
          <p:nvPr/>
        </p:nvSpPr>
        <p:spPr>
          <a:xfrm>
            <a:off x="679965" y="1532384"/>
            <a:ext cx="13280390" cy="5692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7985" marR="565150" indent="-375920">
              <a:lnSpc>
                <a:spcPct val="149100"/>
              </a:lnSpc>
              <a:spcBef>
                <a:spcPts val="100"/>
              </a:spcBef>
              <a:buChar char="●"/>
              <a:tabLst>
                <a:tab pos="389255" algn="l"/>
              </a:tabLst>
            </a:pPr>
            <a:r>
              <a:rPr sz="3550" dirty="0">
                <a:latin typeface="Calibri"/>
                <a:cs typeface="Calibri"/>
              </a:rPr>
              <a:t>Floating</a:t>
            </a:r>
            <a:r>
              <a:rPr sz="3550" spc="-40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Action</a:t>
            </a:r>
            <a:r>
              <a:rPr sz="3550" spc="-35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Button</a:t>
            </a:r>
            <a:r>
              <a:rPr sz="3550" spc="-35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is</a:t>
            </a:r>
            <a:r>
              <a:rPr sz="3550" spc="-35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a</a:t>
            </a:r>
            <a:r>
              <a:rPr sz="3550" spc="-35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button</a:t>
            </a:r>
            <a:r>
              <a:rPr sz="3550" spc="-35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that</a:t>
            </a:r>
            <a:r>
              <a:rPr sz="3550" spc="-40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is</a:t>
            </a:r>
            <a:r>
              <a:rPr sz="3550" spc="-35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placed</a:t>
            </a:r>
            <a:r>
              <a:rPr sz="3550" spc="-35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at</a:t>
            </a:r>
            <a:r>
              <a:rPr sz="3550" spc="-45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the</a:t>
            </a:r>
            <a:r>
              <a:rPr sz="3550" spc="-40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right</a:t>
            </a:r>
            <a:r>
              <a:rPr sz="3550" spc="-40" dirty="0">
                <a:latin typeface="Calibri"/>
                <a:cs typeface="Calibri"/>
              </a:rPr>
              <a:t> </a:t>
            </a:r>
            <a:r>
              <a:rPr sz="3550" spc="-10" dirty="0">
                <a:latin typeface="Calibri"/>
                <a:cs typeface="Calibri"/>
              </a:rPr>
              <a:t>bottom 	</a:t>
            </a:r>
            <a:r>
              <a:rPr sz="3550" dirty="0">
                <a:latin typeface="Calibri"/>
                <a:cs typeface="Calibri"/>
              </a:rPr>
              <a:t>corner</a:t>
            </a:r>
            <a:r>
              <a:rPr sz="3550" spc="-50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by</a:t>
            </a:r>
            <a:r>
              <a:rPr sz="3550" spc="-50" dirty="0">
                <a:latin typeface="Calibri"/>
                <a:cs typeface="Calibri"/>
              </a:rPr>
              <a:t> </a:t>
            </a:r>
            <a:r>
              <a:rPr sz="3550" spc="-10" dirty="0">
                <a:latin typeface="Calibri"/>
                <a:cs typeface="Calibri"/>
              </a:rPr>
              <a:t>default.</a:t>
            </a:r>
            <a:endParaRPr sz="3550">
              <a:latin typeface="Calibri"/>
              <a:cs typeface="Calibri"/>
            </a:endParaRPr>
          </a:p>
          <a:p>
            <a:pPr marL="387985" marR="5080" indent="-375920">
              <a:lnSpc>
                <a:spcPct val="149100"/>
              </a:lnSpc>
              <a:spcBef>
                <a:spcPts val="80"/>
              </a:spcBef>
              <a:buChar char="●"/>
              <a:tabLst>
                <a:tab pos="389255" algn="l"/>
              </a:tabLst>
            </a:pPr>
            <a:r>
              <a:rPr sz="3550" dirty="0">
                <a:latin typeface="Calibri"/>
                <a:cs typeface="Calibri"/>
              </a:rPr>
              <a:t>Floating</a:t>
            </a:r>
            <a:r>
              <a:rPr sz="3550" spc="-45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Action</a:t>
            </a:r>
            <a:r>
              <a:rPr sz="3550" spc="-45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Button</a:t>
            </a:r>
            <a:r>
              <a:rPr sz="3550" spc="-45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is</a:t>
            </a:r>
            <a:r>
              <a:rPr sz="3550" spc="-45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an</a:t>
            </a:r>
            <a:r>
              <a:rPr sz="3550" spc="-45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icon</a:t>
            </a:r>
            <a:r>
              <a:rPr sz="3550" spc="-45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button</a:t>
            </a:r>
            <a:r>
              <a:rPr sz="3550" spc="-45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that</a:t>
            </a:r>
            <a:r>
              <a:rPr sz="3550" spc="-50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floats</a:t>
            </a:r>
            <a:r>
              <a:rPr sz="3550" spc="-45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over</a:t>
            </a:r>
            <a:r>
              <a:rPr sz="3550" spc="-50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the</a:t>
            </a:r>
            <a:r>
              <a:rPr sz="3550" spc="-45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content</a:t>
            </a:r>
            <a:r>
              <a:rPr sz="3550" spc="-50" dirty="0">
                <a:latin typeface="Calibri"/>
                <a:cs typeface="Calibri"/>
              </a:rPr>
              <a:t> </a:t>
            </a:r>
            <a:r>
              <a:rPr sz="3550" spc="-25" dirty="0">
                <a:latin typeface="Calibri"/>
                <a:cs typeface="Calibri"/>
              </a:rPr>
              <a:t>of 	</a:t>
            </a:r>
            <a:r>
              <a:rPr sz="3550" dirty="0">
                <a:latin typeface="Calibri"/>
                <a:cs typeface="Calibri"/>
              </a:rPr>
              <a:t>the</a:t>
            </a:r>
            <a:r>
              <a:rPr sz="3550" spc="-35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screen</a:t>
            </a:r>
            <a:r>
              <a:rPr sz="3550" spc="-25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at</a:t>
            </a:r>
            <a:r>
              <a:rPr sz="3550" spc="-30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a</a:t>
            </a:r>
            <a:r>
              <a:rPr sz="3550" spc="-25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fixed</a:t>
            </a:r>
            <a:r>
              <a:rPr sz="3550" spc="-25" dirty="0">
                <a:latin typeface="Calibri"/>
                <a:cs typeface="Calibri"/>
              </a:rPr>
              <a:t> </a:t>
            </a:r>
            <a:r>
              <a:rPr sz="3550" spc="-10" dirty="0">
                <a:latin typeface="Calibri"/>
                <a:cs typeface="Calibri"/>
              </a:rPr>
              <a:t>place.</a:t>
            </a:r>
            <a:endParaRPr sz="3550">
              <a:latin typeface="Calibri"/>
              <a:cs typeface="Calibri"/>
            </a:endParaRPr>
          </a:p>
          <a:p>
            <a:pPr marL="387985" marR="1605280" indent="-375920">
              <a:lnSpc>
                <a:spcPct val="149100"/>
              </a:lnSpc>
              <a:spcBef>
                <a:spcPts val="80"/>
              </a:spcBef>
              <a:buChar char="●"/>
              <a:tabLst>
                <a:tab pos="389255" algn="l"/>
              </a:tabLst>
            </a:pPr>
            <a:r>
              <a:rPr sz="3550" dirty="0">
                <a:latin typeface="Calibri"/>
                <a:cs typeface="Calibri"/>
              </a:rPr>
              <a:t>Official</a:t>
            </a:r>
            <a:r>
              <a:rPr sz="3550" spc="-65" dirty="0">
                <a:latin typeface="Calibri"/>
                <a:cs typeface="Calibri"/>
              </a:rPr>
              <a:t> </a:t>
            </a:r>
            <a:r>
              <a:rPr sz="3550" spc="-10" dirty="0">
                <a:latin typeface="Calibri"/>
                <a:cs typeface="Calibri"/>
              </a:rPr>
              <a:t>documentation: 	</a:t>
            </a:r>
            <a:r>
              <a:rPr sz="355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https://api.flutter.dev/flutter/material/FloatingActionButton-</a:t>
            </a:r>
            <a:r>
              <a:rPr sz="3550" spc="-10" dirty="0">
                <a:solidFill>
                  <a:srgbClr val="0000FF"/>
                </a:solidFill>
                <a:latin typeface="Calibri"/>
                <a:cs typeface="Calibri"/>
              </a:rPr>
              <a:t> 	</a:t>
            </a:r>
            <a:r>
              <a:rPr sz="355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class.html</a:t>
            </a:r>
            <a:endParaRPr sz="355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646015" y="2990484"/>
            <a:ext cx="3588581" cy="63780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098" cy="15546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17850" y="45099"/>
            <a:ext cx="10788962" cy="930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dirty="0"/>
              <a:t>Bottom Navigation Bar</a:t>
            </a:r>
            <a:endParaRPr spc="505" dirty="0"/>
          </a:p>
        </p:txBody>
      </p:sp>
      <p:sp>
        <p:nvSpPr>
          <p:cNvPr id="4" name="object 4"/>
          <p:cNvSpPr txBox="1"/>
          <p:nvPr/>
        </p:nvSpPr>
        <p:spPr>
          <a:xfrm>
            <a:off x="679965" y="1532384"/>
            <a:ext cx="13129260" cy="7313295"/>
          </a:xfrm>
          <a:prstGeom prst="rect">
            <a:avLst/>
          </a:prstGeom>
        </p:spPr>
        <p:txBody>
          <a:bodyPr vert="horz" wrap="square" lIns="0" tIns="278130" rIns="0" bIns="0" rtlCol="0">
            <a:spAutoFit/>
          </a:bodyPr>
          <a:lstStyle/>
          <a:p>
            <a:pPr marL="388620" indent="-375920">
              <a:lnSpc>
                <a:spcPct val="100000"/>
              </a:lnSpc>
              <a:spcBef>
                <a:spcPts val="2190"/>
              </a:spcBef>
              <a:buChar char="●"/>
              <a:tabLst>
                <a:tab pos="388620" algn="l"/>
              </a:tabLst>
            </a:pPr>
            <a:r>
              <a:rPr sz="3550" dirty="0">
                <a:latin typeface="Calibri"/>
                <a:cs typeface="Calibri"/>
              </a:rPr>
              <a:t>Material</a:t>
            </a:r>
            <a:r>
              <a:rPr sz="3550" spc="-114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Design</a:t>
            </a:r>
            <a:r>
              <a:rPr sz="3550" spc="-95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Navigation</a:t>
            </a:r>
            <a:r>
              <a:rPr sz="3550" spc="-95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Drawer</a:t>
            </a:r>
            <a:r>
              <a:rPr sz="3550" spc="-100" dirty="0">
                <a:latin typeface="Calibri"/>
                <a:cs typeface="Calibri"/>
              </a:rPr>
              <a:t> </a:t>
            </a:r>
            <a:r>
              <a:rPr sz="3550" spc="-10" dirty="0">
                <a:latin typeface="Calibri"/>
                <a:cs typeface="Calibri"/>
              </a:rPr>
              <a:t>component.</a:t>
            </a:r>
            <a:endParaRPr sz="3550">
              <a:latin typeface="Calibri"/>
              <a:cs typeface="Calibri"/>
            </a:endParaRPr>
          </a:p>
          <a:p>
            <a:pPr marL="388620" indent="-375920">
              <a:lnSpc>
                <a:spcPct val="100000"/>
              </a:lnSpc>
              <a:spcBef>
                <a:spcPts val="2095"/>
              </a:spcBef>
              <a:buChar char="●"/>
              <a:tabLst>
                <a:tab pos="388620" algn="l"/>
              </a:tabLst>
            </a:pPr>
            <a:r>
              <a:rPr sz="3550" dirty="0">
                <a:latin typeface="Calibri"/>
                <a:cs typeface="Calibri"/>
              </a:rPr>
              <a:t>Consist</a:t>
            </a:r>
            <a:r>
              <a:rPr sz="3550" spc="-40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of</a:t>
            </a:r>
            <a:r>
              <a:rPr sz="3550" spc="-30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header</a:t>
            </a:r>
            <a:r>
              <a:rPr sz="3550" spc="-35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and</a:t>
            </a:r>
            <a:r>
              <a:rPr sz="3550" spc="-30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list</a:t>
            </a:r>
            <a:r>
              <a:rPr sz="3550" spc="-40" dirty="0">
                <a:latin typeface="Calibri"/>
                <a:cs typeface="Calibri"/>
              </a:rPr>
              <a:t> </a:t>
            </a:r>
            <a:r>
              <a:rPr sz="3550" spc="-10" dirty="0">
                <a:latin typeface="Calibri"/>
                <a:cs typeface="Calibri"/>
              </a:rPr>
              <a:t>items</a:t>
            </a:r>
            <a:endParaRPr sz="3550">
              <a:latin typeface="Calibri"/>
              <a:cs typeface="Calibri"/>
            </a:endParaRPr>
          </a:p>
          <a:p>
            <a:pPr marL="387985" marR="562610" indent="-375920">
              <a:lnSpc>
                <a:spcPct val="149100"/>
              </a:lnSpc>
              <a:spcBef>
                <a:spcPts val="75"/>
              </a:spcBef>
              <a:buChar char="●"/>
              <a:tabLst>
                <a:tab pos="389255" algn="l"/>
              </a:tabLst>
            </a:pPr>
            <a:r>
              <a:rPr sz="3550" dirty="0">
                <a:latin typeface="Calibri"/>
                <a:cs typeface="Calibri"/>
              </a:rPr>
              <a:t>On</a:t>
            </a:r>
            <a:r>
              <a:rPr sz="3550" spc="-60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top</a:t>
            </a:r>
            <a:r>
              <a:rPr sz="3550" spc="-55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of</a:t>
            </a:r>
            <a:r>
              <a:rPr sz="3550" spc="-60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Drawers,</a:t>
            </a:r>
            <a:r>
              <a:rPr sz="3550" spc="-55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Navigation</a:t>
            </a:r>
            <a:r>
              <a:rPr sz="3550" spc="-60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drawers</a:t>
            </a:r>
            <a:r>
              <a:rPr sz="3550" spc="-50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offer</a:t>
            </a:r>
            <a:r>
              <a:rPr sz="3550" spc="-60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a</a:t>
            </a:r>
            <a:r>
              <a:rPr sz="3550" spc="-55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persistent</a:t>
            </a:r>
            <a:r>
              <a:rPr sz="3550" spc="-60" dirty="0">
                <a:latin typeface="Calibri"/>
                <a:cs typeface="Calibri"/>
              </a:rPr>
              <a:t> </a:t>
            </a:r>
            <a:r>
              <a:rPr sz="3550" spc="-25" dirty="0">
                <a:latin typeface="Calibri"/>
                <a:cs typeface="Calibri"/>
              </a:rPr>
              <a:t>and 	</a:t>
            </a:r>
            <a:r>
              <a:rPr sz="3550" dirty="0">
                <a:latin typeface="Calibri"/>
                <a:cs typeface="Calibri"/>
              </a:rPr>
              <a:t>convenient</a:t>
            </a:r>
            <a:r>
              <a:rPr sz="3550" spc="-60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way</a:t>
            </a:r>
            <a:r>
              <a:rPr sz="3550" spc="-55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to</a:t>
            </a:r>
            <a:r>
              <a:rPr sz="3550" spc="-55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switch</a:t>
            </a:r>
            <a:r>
              <a:rPr sz="3550" spc="-55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between</a:t>
            </a:r>
            <a:r>
              <a:rPr sz="3550" spc="-50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primary</a:t>
            </a:r>
            <a:r>
              <a:rPr sz="3550" spc="-55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destinations</a:t>
            </a:r>
            <a:r>
              <a:rPr sz="3550" spc="-50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in</a:t>
            </a:r>
            <a:r>
              <a:rPr sz="3550" spc="-50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an</a:t>
            </a:r>
            <a:r>
              <a:rPr sz="3550" spc="-55" dirty="0">
                <a:latin typeface="Calibri"/>
                <a:cs typeface="Calibri"/>
              </a:rPr>
              <a:t> </a:t>
            </a:r>
            <a:r>
              <a:rPr sz="3550" spc="-20" dirty="0">
                <a:latin typeface="Calibri"/>
                <a:cs typeface="Calibri"/>
              </a:rPr>
              <a:t>app.</a:t>
            </a:r>
            <a:endParaRPr sz="3550">
              <a:latin typeface="Calibri"/>
              <a:cs typeface="Calibri"/>
            </a:endParaRPr>
          </a:p>
          <a:p>
            <a:pPr marL="387985" marR="5080" indent="-375920">
              <a:lnSpc>
                <a:spcPct val="149100"/>
              </a:lnSpc>
              <a:spcBef>
                <a:spcPts val="80"/>
              </a:spcBef>
              <a:buChar char="●"/>
              <a:tabLst>
                <a:tab pos="389255" algn="l"/>
              </a:tabLst>
            </a:pPr>
            <a:r>
              <a:rPr sz="3550" dirty="0">
                <a:latin typeface="Calibri"/>
                <a:cs typeface="Calibri"/>
              </a:rPr>
              <a:t>The</a:t>
            </a:r>
            <a:r>
              <a:rPr sz="3550" spc="-45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style</a:t>
            </a:r>
            <a:r>
              <a:rPr sz="3550" spc="-40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for</a:t>
            </a:r>
            <a:r>
              <a:rPr sz="3550" spc="-40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the</a:t>
            </a:r>
            <a:r>
              <a:rPr sz="3550" spc="-40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icons</a:t>
            </a:r>
            <a:r>
              <a:rPr sz="3550" spc="-40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and</a:t>
            </a:r>
            <a:r>
              <a:rPr sz="3550" spc="-35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text</a:t>
            </a:r>
            <a:r>
              <a:rPr sz="3550" spc="-40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are</a:t>
            </a:r>
            <a:r>
              <a:rPr sz="3550" spc="-40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not</a:t>
            </a:r>
            <a:r>
              <a:rPr sz="3550" spc="-45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affected</a:t>
            </a:r>
            <a:r>
              <a:rPr sz="3550" spc="-35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by</a:t>
            </a:r>
            <a:r>
              <a:rPr sz="3550" spc="-35" dirty="0">
                <a:latin typeface="Calibri"/>
                <a:cs typeface="Calibri"/>
              </a:rPr>
              <a:t> </a:t>
            </a:r>
            <a:r>
              <a:rPr sz="3550" spc="-10" dirty="0">
                <a:latin typeface="Calibri"/>
                <a:cs typeface="Calibri"/>
              </a:rPr>
              <a:t>parent 	</a:t>
            </a:r>
            <a:r>
              <a:rPr sz="3550" dirty="0">
                <a:latin typeface="Calibri"/>
                <a:cs typeface="Calibri"/>
              </a:rPr>
              <a:t>DefaultTextStyles</a:t>
            </a:r>
            <a:r>
              <a:rPr sz="3550" spc="-70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or</a:t>
            </a:r>
            <a:r>
              <a:rPr sz="3550" spc="-75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IconThemes</a:t>
            </a:r>
            <a:r>
              <a:rPr sz="3550" spc="-65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but</a:t>
            </a:r>
            <a:r>
              <a:rPr sz="3550" spc="-75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rather</a:t>
            </a:r>
            <a:r>
              <a:rPr sz="3550" spc="-65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controlled</a:t>
            </a:r>
            <a:r>
              <a:rPr sz="3550" spc="-70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by</a:t>
            </a:r>
            <a:r>
              <a:rPr sz="3550" spc="-70" dirty="0">
                <a:latin typeface="Calibri"/>
                <a:cs typeface="Calibri"/>
              </a:rPr>
              <a:t> </a:t>
            </a:r>
            <a:r>
              <a:rPr sz="3550" spc="-10" dirty="0">
                <a:latin typeface="Calibri"/>
                <a:cs typeface="Calibri"/>
              </a:rPr>
              <a:t>parameters 	</a:t>
            </a:r>
            <a:r>
              <a:rPr sz="3550" dirty="0">
                <a:latin typeface="Calibri"/>
                <a:cs typeface="Calibri"/>
              </a:rPr>
              <a:t>or</a:t>
            </a:r>
            <a:r>
              <a:rPr sz="3550" spc="-25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the</a:t>
            </a:r>
            <a:r>
              <a:rPr sz="3550" spc="-25" dirty="0">
                <a:latin typeface="Calibri"/>
                <a:cs typeface="Calibri"/>
              </a:rPr>
              <a:t> </a:t>
            </a:r>
            <a:r>
              <a:rPr sz="3550" spc="-10" dirty="0">
                <a:latin typeface="Calibri"/>
                <a:cs typeface="Calibri"/>
              </a:rPr>
              <a:t>NavigationDrawerThemeData.</a:t>
            </a:r>
            <a:endParaRPr sz="3550">
              <a:latin typeface="Calibri"/>
              <a:cs typeface="Calibri"/>
            </a:endParaRPr>
          </a:p>
          <a:p>
            <a:pPr marL="387985" marR="206375" indent="-375920">
              <a:lnSpc>
                <a:spcPct val="148600"/>
              </a:lnSpc>
              <a:spcBef>
                <a:spcPts val="100"/>
              </a:spcBef>
              <a:buChar char="●"/>
              <a:tabLst>
                <a:tab pos="389255" algn="l"/>
              </a:tabLst>
            </a:pPr>
            <a:r>
              <a:rPr sz="3550" dirty="0">
                <a:latin typeface="Calibri"/>
                <a:cs typeface="Calibri"/>
              </a:rPr>
              <a:t>Official</a:t>
            </a:r>
            <a:r>
              <a:rPr sz="3550" spc="-65" dirty="0">
                <a:latin typeface="Calibri"/>
                <a:cs typeface="Calibri"/>
              </a:rPr>
              <a:t> </a:t>
            </a:r>
            <a:r>
              <a:rPr sz="3550" spc="-10" dirty="0">
                <a:latin typeface="Calibri"/>
                <a:cs typeface="Calibri"/>
              </a:rPr>
              <a:t>documentation: 	</a:t>
            </a:r>
            <a:r>
              <a:rPr sz="3550" u="heavy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https://api.flutter.dev/flutter/material/NavigationDrawer-</a:t>
            </a:r>
            <a:r>
              <a:rPr sz="355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class.html</a:t>
            </a:r>
            <a:endParaRPr sz="355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173569" y="1837012"/>
            <a:ext cx="4297251" cy="763453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098" cy="15546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956050" y="45099"/>
            <a:ext cx="9950762" cy="930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dirty="0"/>
              <a:t>Bottom Navigation Bar</a:t>
            </a:r>
            <a:endParaRPr spc="505" dirty="0"/>
          </a:p>
        </p:txBody>
      </p:sp>
      <p:sp>
        <p:nvSpPr>
          <p:cNvPr id="4" name="object 4"/>
          <p:cNvSpPr txBox="1"/>
          <p:nvPr/>
        </p:nvSpPr>
        <p:spPr>
          <a:xfrm>
            <a:off x="679965" y="1532384"/>
            <a:ext cx="11777345" cy="4885690"/>
          </a:xfrm>
          <a:prstGeom prst="rect">
            <a:avLst/>
          </a:prstGeom>
        </p:spPr>
        <p:txBody>
          <a:bodyPr vert="horz" wrap="square" lIns="0" tIns="278130" rIns="0" bIns="0" rtlCol="0">
            <a:spAutoFit/>
          </a:bodyPr>
          <a:lstStyle/>
          <a:p>
            <a:pPr marL="388620" indent="-375920">
              <a:lnSpc>
                <a:spcPct val="100000"/>
              </a:lnSpc>
              <a:spcBef>
                <a:spcPts val="2190"/>
              </a:spcBef>
              <a:buChar char="●"/>
              <a:tabLst>
                <a:tab pos="388620" algn="l"/>
              </a:tabLst>
            </a:pPr>
            <a:r>
              <a:rPr sz="3550" dirty="0">
                <a:latin typeface="Calibri"/>
                <a:cs typeface="Calibri"/>
              </a:rPr>
              <a:t>Menu</a:t>
            </a:r>
            <a:r>
              <a:rPr sz="3550" spc="-40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at</a:t>
            </a:r>
            <a:r>
              <a:rPr sz="3550" spc="-40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the</a:t>
            </a:r>
            <a:r>
              <a:rPr sz="3550" spc="-40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bottom</a:t>
            </a:r>
            <a:r>
              <a:rPr sz="3550" spc="-40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of</a:t>
            </a:r>
            <a:r>
              <a:rPr sz="3550" spc="-40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the</a:t>
            </a:r>
            <a:r>
              <a:rPr sz="3550" spc="-45" dirty="0">
                <a:latin typeface="Calibri"/>
                <a:cs typeface="Calibri"/>
              </a:rPr>
              <a:t> </a:t>
            </a:r>
            <a:r>
              <a:rPr sz="3550" spc="-10" dirty="0">
                <a:latin typeface="Calibri"/>
                <a:cs typeface="Calibri"/>
              </a:rPr>
              <a:t>Scaffold.</a:t>
            </a:r>
            <a:endParaRPr sz="3550">
              <a:latin typeface="Calibri"/>
              <a:cs typeface="Calibri"/>
            </a:endParaRPr>
          </a:p>
          <a:p>
            <a:pPr marL="388620" indent="-375920">
              <a:lnSpc>
                <a:spcPct val="100000"/>
              </a:lnSpc>
              <a:spcBef>
                <a:spcPts val="2095"/>
              </a:spcBef>
              <a:buChar char="●"/>
              <a:tabLst>
                <a:tab pos="388620" algn="l"/>
              </a:tabLst>
            </a:pPr>
            <a:r>
              <a:rPr sz="3550" dirty="0">
                <a:latin typeface="Calibri"/>
                <a:cs typeface="Calibri"/>
              </a:rPr>
              <a:t>We</a:t>
            </a:r>
            <a:r>
              <a:rPr sz="3550" spc="-50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have</a:t>
            </a:r>
            <a:r>
              <a:rPr sz="3550" spc="-40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seen</a:t>
            </a:r>
            <a:r>
              <a:rPr sz="3550" spc="-40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this</a:t>
            </a:r>
            <a:r>
              <a:rPr sz="3550" spc="-35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Navigation</a:t>
            </a:r>
            <a:r>
              <a:rPr sz="3550" spc="-40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bar</a:t>
            </a:r>
            <a:r>
              <a:rPr sz="3550" spc="-35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in</a:t>
            </a:r>
            <a:r>
              <a:rPr sz="3550" spc="-40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most</a:t>
            </a:r>
            <a:r>
              <a:rPr sz="3550" spc="-45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of</a:t>
            </a:r>
            <a:r>
              <a:rPr sz="3550" spc="-40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the</a:t>
            </a:r>
            <a:r>
              <a:rPr sz="3550" spc="-35" dirty="0">
                <a:latin typeface="Calibri"/>
                <a:cs typeface="Calibri"/>
              </a:rPr>
              <a:t> </a:t>
            </a:r>
            <a:r>
              <a:rPr sz="3550" spc="-10" dirty="0">
                <a:latin typeface="Calibri"/>
                <a:cs typeface="Calibri"/>
              </a:rPr>
              <a:t>applications.</a:t>
            </a:r>
            <a:endParaRPr sz="3550">
              <a:latin typeface="Calibri"/>
              <a:cs typeface="Calibri"/>
            </a:endParaRPr>
          </a:p>
          <a:p>
            <a:pPr marL="388620" indent="-375920">
              <a:lnSpc>
                <a:spcPct val="100000"/>
              </a:lnSpc>
              <a:spcBef>
                <a:spcPts val="2170"/>
              </a:spcBef>
              <a:buChar char="●"/>
              <a:tabLst>
                <a:tab pos="388620" algn="l"/>
              </a:tabLst>
            </a:pPr>
            <a:r>
              <a:rPr sz="3550" dirty="0">
                <a:latin typeface="Calibri"/>
                <a:cs typeface="Calibri"/>
              </a:rPr>
              <a:t>We</a:t>
            </a:r>
            <a:r>
              <a:rPr sz="3550" spc="-40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can</a:t>
            </a:r>
            <a:r>
              <a:rPr sz="3550" spc="-40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add</a:t>
            </a:r>
            <a:r>
              <a:rPr sz="3550" spc="-40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multiple</a:t>
            </a:r>
            <a:r>
              <a:rPr sz="3550" spc="-35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icons</a:t>
            </a:r>
            <a:r>
              <a:rPr sz="3550" spc="-35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or</a:t>
            </a:r>
            <a:r>
              <a:rPr sz="3550" spc="-40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texts</a:t>
            </a:r>
            <a:r>
              <a:rPr sz="3550" spc="-30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or</a:t>
            </a:r>
            <a:r>
              <a:rPr sz="3550" spc="-40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both</a:t>
            </a:r>
            <a:r>
              <a:rPr sz="3550" spc="-40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in</a:t>
            </a:r>
            <a:r>
              <a:rPr sz="3550" spc="-35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the</a:t>
            </a:r>
            <a:r>
              <a:rPr sz="3550" spc="-40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bar</a:t>
            </a:r>
            <a:r>
              <a:rPr sz="3550" spc="-40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as</a:t>
            </a:r>
            <a:r>
              <a:rPr sz="3550" spc="-35" dirty="0">
                <a:latin typeface="Calibri"/>
                <a:cs typeface="Calibri"/>
              </a:rPr>
              <a:t> </a:t>
            </a:r>
            <a:r>
              <a:rPr sz="3550" spc="-10" dirty="0">
                <a:latin typeface="Calibri"/>
                <a:cs typeface="Calibri"/>
              </a:rPr>
              <a:t>items.</a:t>
            </a:r>
            <a:endParaRPr sz="3550">
              <a:latin typeface="Calibri"/>
              <a:cs typeface="Calibri"/>
            </a:endParaRPr>
          </a:p>
          <a:p>
            <a:pPr marL="388620" indent="-375920">
              <a:lnSpc>
                <a:spcPct val="100000"/>
              </a:lnSpc>
              <a:spcBef>
                <a:spcPts val="2090"/>
              </a:spcBef>
              <a:buChar char="●"/>
              <a:tabLst>
                <a:tab pos="388620" algn="l"/>
              </a:tabLst>
            </a:pPr>
            <a:r>
              <a:rPr sz="3550" dirty="0">
                <a:latin typeface="Calibri"/>
                <a:cs typeface="Calibri"/>
              </a:rPr>
              <a:t>Official</a:t>
            </a:r>
            <a:r>
              <a:rPr sz="3550" spc="-65" dirty="0">
                <a:latin typeface="Calibri"/>
                <a:cs typeface="Calibri"/>
              </a:rPr>
              <a:t> </a:t>
            </a:r>
            <a:r>
              <a:rPr sz="3550" spc="-10" dirty="0">
                <a:latin typeface="Calibri"/>
                <a:cs typeface="Calibri"/>
              </a:rPr>
              <a:t>documentation:</a:t>
            </a:r>
            <a:endParaRPr sz="3550">
              <a:latin typeface="Calibri"/>
              <a:cs typeface="Calibri"/>
            </a:endParaRPr>
          </a:p>
          <a:p>
            <a:pPr marL="389255" marR="36830">
              <a:lnSpc>
                <a:spcPct val="149100"/>
              </a:lnSpc>
              <a:spcBef>
                <a:spcPts val="80"/>
              </a:spcBef>
            </a:pPr>
            <a:r>
              <a:rPr sz="355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https://api.flutter.dev/flutter/material/BottomNavigationBar-</a:t>
            </a:r>
            <a:r>
              <a:rPr sz="3550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55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class.html</a:t>
            </a:r>
            <a:endParaRPr sz="355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371918" y="2090826"/>
            <a:ext cx="5051155" cy="418919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108</Words>
  <Application>Microsoft Office PowerPoint</Application>
  <PresentationFormat>Custom</PresentationFormat>
  <Paragraphs>22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 MT</vt:lpstr>
      <vt:lpstr>Calibri</vt:lpstr>
      <vt:lpstr>Georgia</vt:lpstr>
      <vt:lpstr>Roboto Cn</vt:lpstr>
      <vt:lpstr>Office Theme</vt:lpstr>
      <vt:lpstr>Mobile Learning Application Development</vt:lpstr>
      <vt:lpstr>Floating Action Button</vt:lpstr>
      <vt:lpstr>Bottom Navigation Bar</vt:lpstr>
      <vt:lpstr>Bottom Navigation Bar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Flutter 4</dc:title>
  <cp:lastModifiedBy>User</cp:lastModifiedBy>
  <cp:revision>3</cp:revision>
  <dcterms:created xsi:type="dcterms:W3CDTF">2025-09-26T07:01:40Z</dcterms:created>
  <dcterms:modified xsi:type="dcterms:W3CDTF">2025-09-26T07:15:12Z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2024-11-25T00:00:00Z</vt:filetime>
  </property>
  <property fmtid="{D5CDD505-2E9C-101B-9397-08002B2CF9AE}" pid="3" name="Creator">
    <vt:lpwstr>PowerPoint</vt:lpwstr>
  </property>
  <property fmtid="{D5CDD505-2E9C-101B-9397-08002B2CF9AE}" pid="4" name="LastSaved">
    <vt:filetime>2025-09-26T00:00:00Z</vt:filetime>
  </property>
  <property fmtid="{D5CDD505-2E9C-101B-9397-08002B2CF9AE}" pid="5" name="Producer">
    <vt:lpwstr>macOS Version 15.1 (Build 24B83) Quartz PDFContext</vt:lpwstr>
  </property>
</Properties>
</file>