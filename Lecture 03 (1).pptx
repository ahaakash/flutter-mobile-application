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5" autoAdjust="0"/>
    <p:restoredTop sz="94660"/>
  </p:normalViewPr>
  <p:slideViewPr>
    <p:cSldViewPr>
      <p:cViewPr varScale="1">
        <p:scale>
          <a:sx n="43" d="100"/>
          <a:sy n="43" d="100"/>
        </p:scale>
        <p:origin x="5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86742" y="2491936"/>
            <a:ext cx="8843645" cy="7218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724920" y="2450052"/>
            <a:ext cx="8690610" cy="7145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20101586" cy="23521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354199"/>
            <a:ext cx="16262985" cy="166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6742" y="2499475"/>
            <a:ext cx="8843645" cy="251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24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6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dirty="0">
                <a:solidFill>
                  <a:srgbClr val="000000"/>
                </a:solidFill>
              </a:rPr>
              <a:t>Mobile</a:t>
            </a:r>
            <a:r>
              <a:rPr sz="6900" spc="-5" dirty="0">
                <a:solidFill>
                  <a:srgbClr val="000000"/>
                </a:solidFill>
              </a:rPr>
              <a:t> </a:t>
            </a:r>
            <a:r>
              <a:rPr sz="6900" dirty="0">
                <a:solidFill>
                  <a:srgbClr val="000000"/>
                </a:solidFill>
              </a:rPr>
              <a:t>Learning</a:t>
            </a:r>
            <a:r>
              <a:rPr sz="6900" spc="-5" dirty="0">
                <a:solidFill>
                  <a:srgbClr val="000000"/>
                </a:solidFill>
              </a:rPr>
              <a:t> </a:t>
            </a:r>
            <a:r>
              <a:rPr sz="6900" dirty="0">
                <a:solidFill>
                  <a:srgbClr val="000000"/>
                </a:solidFill>
              </a:rPr>
              <a:t>Application </a:t>
            </a:r>
            <a:r>
              <a:rPr sz="6900" spc="-10" dirty="0">
                <a:solidFill>
                  <a:srgbClr val="000000"/>
                </a:solidFill>
              </a:rPr>
              <a:t>Development</a:t>
            </a:r>
            <a:endParaRPr sz="69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6678" y="3214142"/>
            <a:ext cx="1482677" cy="1482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51CAEAF-FE33-118E-43C0-622BE178A760}"/>
              </a:ext>
            </a:extLst>
          </p:cNvPr>
          <p:cNvSpPr txBox="1"/>
          <p:nvPr/>
        </p:nvSpPr>
        <p:spPr>
          <a:xfrm>
            <a:off x="2018665" y="5510490"/>
            <a:ext cx="1626298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6E9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7176" y="0"/>
              <a:ext cx="12791233" cy="22893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25"/>
              </a:spcBef>
            </a:pPr>
            <a:r>
              <a:rPr sz="6900" dirty="0">
                <a:solidFill>
                  <a:srgbClr val="000000"/>
                </a:solidFill>
              </a:rPr>
              <a:t>Dart</a:t>
            </a:r>
            <a:r>
              <a:rPr sz="6900" spc="-5" dirty="0">
                <a:solidFill>
                  <a:srgbClr val="000000"/>
                </a:solidFill>
              </a:rPr>
              <a:t> </a:t>
            </a:r>
            <a:r>
              <a:rPr sz="6900" dirty="0">
                <a:solidFill>
                  <a:srgbClr val="000000"/>
                </a:solidFill>
              </a:rPr>
              <a:t>Control Flow </a:t>
            </a:r>
            <a:r>
              <a:rPr sz="6900" spc="-10" dirty="0">
                <a:solidFill>
                  <a:srgbClr val="000000"/>
                </a:solidFill>
              </a:rPr>
              <a:t>Statement</a:t>
            </a:r>
            <a:endParaRPr sz="690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088" y="2806897"/>
            <a:ext cx="18009837" cy="766394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76272" y="2814439"/>
            <a:ext cx="17734280" cy="4252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60"/>
              </a:spcBef>
            </a:pPr>
            <a:r>
              <a:rPr sz="3950" dirty="0">
                <a:latin typeface="Times New Roman"/>
                <a:cs typeface="Times New Roman"/>
              </a:rPr>
              <a:t>The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control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statements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or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flow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control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statements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are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used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to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control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the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flow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of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Dart </a:t>
            </a:r>
            <a:r>
              <a:rPr sz="3950" dirty="0">
                <a:latin typeface="Times New Roman"/>
                <a:cs typeface="Times New Roman"/>
              </a:rPr>
              <a:t>program.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Dart,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Control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flow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statement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can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be</a:t>
            </a:r>
            <a:r>
              <a:rPr sz="3950" spc="-2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categorized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mainly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in</a:t>
            </a:r>
            <a:r>
              <a:rPr sz="3950" spc="-15" dirty="0"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three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following ways.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3950">
              <a:latin typeface="Times New Roman"/>
              <a:cs typeface="Times New Roman"/>
            </a:endParaRPr>
          </a:p>
          <a:p>
            <a:pPr marL="850265" indent="-461009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850265" algn="l"/>
              </a:tabLst>
            </a:pP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Decision-</a:t>
            </a: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making</a:t>
            </a:r>
            <a:r>
              <a:rPr sz="3950" b="1" spc="3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statements</a:t>
            </a:r>
            <a:endParaRPr sz="3950">
              <a:latin typeface="Times New Roman"/>
              <a:cs typeface="Times New Roman"/>
            </a:endParaRPr>
          </a:p>
          <a:p>
            <a:pPr marL="850265" indent="-461009">
              <a:lnSpc>
                <a:spcPts val="4715"/>
              </a:lnSpc>
              <a:buClr>
                <a:srgbClr val="245796"/>
              </a:buClr>
              <a:buFont typeface="Georgia"/>
              <a:buChar char="•"/>
              <a:tabLst>
                <a:tab pos="850265" algn="l"/>
              </a:tabLst>
            </a:pP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Looping</a:t>
            </a:r>
            <a:r>
              <a:rPr sz="3950" b="1" spc="-3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statements</a:t>
            </a:r>
            <a:endParaRPr sz="3950">
              <a:latin typeface="Times New Roman"/>
              <a:cs typeface="Times New Roman"/>
            </a:endParaRPr>
          </a:p>
          <a:p>
            <a:pPr marL="850265" indent="-461009">
              <a:lnSpc>
                <a:spcPct val="100000"/>
              </a:lnSpc>
              <a:spcBef>
                <a:spcPts val="50"/>
              </a:spcBef>
              <a:buClr>
                <a:srgbClr val="245796"/>
              </a:buClr>
              <a:buFont typeface="Georgia"/>
              <a:buChar char="•"/>
              <a:tabLst>
                <a:tab pos="850265" algn="l"/>
              </a:tabLst>
            </a:pP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Jump </a:t>
            </a:r>
            <a:r>
              <a:rPr sz="3950" b="1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statements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13565" y="4186678"/>
            <a:ext cx="9760540" cy="5830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225675"/>
            <a:chOff x="0" y="0"/>
            <a:chExt cx="20058380" cy="228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176" y="0"/>
              <a:ext cx="14794104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25"/>
              </a:spcBef>
            </a:pPr>
            <a:r>
              <a:rPr sz="6900" dirty="0"/>
              <a:t>Dart</a:t>
            </a:r>
            <a:r>
              <a:rPr sz="6900" spc="35" dirty="0"/>
              <a:t> </a:t>
            </a:r>
            <a:r>
              <a:rPr sz="6900" spc="-10" dirty="0"/>
              <a:t>Decision-</a:t>
            </a:r>
            <a:r>
              <a:rPr sz="6900" dirty="0"/>
              <a:t>Making</a:t>
            </a:r>
            <a:r>
              <a:rPr sz="6900" spc="40" dirty="0"/>
              <a:t> </a:t>
            </a:r>
            <a:r>
              <a:rPr sz="6900" spc="-10" dirty="0"/>
              <a:t>Statements</a:t>
            </a:r>
            <a:endParaRPr sz="6900"/>
          </a:p>
        </p:txBody>
      </p:sp>
      <p:sp>
        <p:nvSpPr>
          <p:cNvPr id="6" name="object 6"/>
          <p:cNvSpPr txBox="1"/>
          <p:nvPr/>
        </p:nvSpPr>
        <p:spPr>
          <a:xfrm>
            <a:off x="1076272" y="2487747"/>
            <a:ext cx="17951450" cy="63531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50500"/>
              </a:lnSpc>
              <a:spcBef>
                <a:spcPts val="65"/>
              </a:spcBef>
            </a:pP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950" spc="9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Decision-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making</a:t>
            </a:r>
            <a:r>
              <a:rPr sz="3950" spc="9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statements</a:t>
            </a:r>
            <a:r>
              <a:rPr sz="3950" spc="9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allow</a:t>
            </a:r>
            <a:r>
              <a:rPr sz="3950" spc="9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us</a:t>
            </a:r>
            <a:r>
              <a:rPr sz="3950" spc="9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950" spc="9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determine</a:t>
            </a:r>
            <a:r>
              <a:rPr sz="3950" spc="9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which</a:t>
            </a:r>
            <a:r>
              <a:rPr sz="3950" spc="9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statement</a:t>
            </a:r>
            <a:r>
              <a:rPr sz="3950" spc="9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execute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based</a:t>
            </a:r>
            <a:r>
              <a:rPr sz="395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on</a:t>
            </a:r>
            <a:r>
              <a:rPr sz="395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950" spc="7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test</a:t>
            </a:r>
            <a:r>
              <a:rPr sz="3950" spc="80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expression</a:t>
            </a:r>
            <a:r>
              <a:rPr sz="3950" spc="80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at</a:t>
            </a:r>
            <a:r>
              <a:rPr sz="3950" spc="80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runtime.</a:t>
            </a:r>
            <a:r>
              <a:rPr sz="395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950" spc="80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provides</a:t>
            </a:r>
            <a:r>
              <a:rPr sz="3950" spc="7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following</a:t>
            </a:r>
            <a:r>
              <a:rPr sz="3950" spc="80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types</a:t>
            </a:r>
            <a:r>
              <a:rPr sz="3950" spc="7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95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Decision-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making</a:t>
            </a:r>
            <a:r>
              <a:rPr sz="395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statement.</a:t>
            </a:r>
            <a:endParaRPr sz="3950">
              <a:latin typeface="Times New Roman"/>
              <a:cs typeface="Times New Roman"/>
            </a:endParaRPr>
          </a:p>
          <a:p>
            <a:pPr marL="1226185" indent="-449580" algn="just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Font typeface="Georgia"/>
              <a:buChar char="●"/>
              <a:tabLst>
                <a:tab pos="1226185" algn="l"/>
              </a:tabLst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If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</a:t>
            </a:r>
            <a:endParaRPr sz="3950">
              <a:latin typeface="Times New Roman"/>
              <a:cs typeface="Times New Roman"/>
            </a:endParaRPr>
          </a:p>
          <a:p>
            <a:pPr marL="1226185" indent="-449580" algn="just">
              <a:lnSpc>
                <a:spcPct val="100000"/>
              </a:lnSpc>
              <a:spcBef>
                <a:spcPts val="2365"/>
              </a:spcBef>
              <a:buClr>
                <a:srgbClr val="245796"/>
              </a:buClr>
              <a:buFont typeface="Georgia"/>
              <a:buChar char="●"/>
              <a:tabLst>
                <a:tab pos="1226185" algn="l"/>
              </a:tabLst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If-else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Statements</a:t>
            </a:r>
            <a:endParaRPr sz="3950">
              <a:latin typeface="Times New Roman"/>
              <a:cs typeface="Times New Roman"/>
            </a:endParaRPr>
          </a:p>
          <a:p>
            <a:pPr marL="1226185" indent="-449580">
              <a:lnSpc>
                <a:spcPct val="100000"/>
              </a:lnSpc>
              <a:spcBef>
                <a:spcPts val="2425"/>
              </a:spcBef>
              <a:buClr>
                <a:srgbClr val="245796"/>
              </a:buClr>
              <a:buFont typeface="Georgia"/>
              <a:buChar char="●"/>
              <a:tabLst>
                <a:tab pos="1226185" algn="l"/>
              </a:tabLst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If</a:t>
            </a:r>
            <a:r>
              <a:rPr sz="395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if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</a:t>
            </a:r>
            <a:endParaRPr sz="3950">
              <a:latin typeface="Times New Roman"/>
              <a:cs typeface="Times New Roman"/>
            </a:endParaRPr>
          </a:p>
          <a:p>
            <a:pPr marL="1226185" indent="-449580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Font typeface="Georgia"/>
              <a:buChar char="●"/>
              <a:tabLst>
                <a:tab pos="1226185" algn="l"/>
              </a:tabLst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Switch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Case</a:t>
            </a:r>
            <a:r>
              <a:rPr sz="3950" spc="-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Statement</a:t>
            </a:r>
            <a:endParaRPr sz="39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289810"/>
            <a:chOff x="0" y="0"/>
            <a:chExt cx="20058380" cy="228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7176" y="0"/>
              <a:ext cx="6435825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87195">
              <a:lnSpc>
                <a:spcPct val="100000"/>
              </a:lnSpc>
              <a:spcBef>
                <a:spcPts val="125"/>
              </a:spcBef>
            </a:pPr>
            <a:r>
              <a:rPr sz="6900" dirty="0"/>
              <a:t>If</a:t>
            </a:r>
            <a:r>
              <a:rPr sz="6900" spc="10" dirty="0"/>
              <a:t> </a:t>
            </a:r>
            <a:r>
              <a:rPr sz="6900" spc="-10" dirty="0"/>
              <a:t>Statement</a:t>
            </a:r>
            <a:endParaRPr sz="6900"/>
          </a:p>
        </p:txBody>
      </p:sp>
      <p:sp>
        <p:nvSpPr>
          <p:cNvPr id="6" name="object 6"/>
          <p:cNvSpPr txBox="1"/>
          <p:nvPr/>
        </p:nvSpPr>
        <p:spPr>
          <a:xfrm>
            <a:off x="7357180" y="3802052"/>
            <a:ext cx="257302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3020" algn="l"/>
              </a:tabLst>
            </a:pPr>
            <a:r>
              <a:rPr sz="4450" spc="-25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4450" spc="-10" dirty="0">
                <a:solidFill>
                  <a:srgbClr val="245796"/>
                </a:solidFill>
                <a:latin typeface="Times New Roman"/>
                <a:cs typeface="Times New Roman"/>
              </a:rPr>
              <a:t>given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742" y="2450052"/>
            <a:ext cx="8843010" cy="714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 marR="5080" indent="-449580">
              <a:lnSpc>
                <a:spcPct val="149700"/>
              </a:lnSpc>
              <a:spcBef>
                <a:spcPts val="100"/>
              </a:spcBef>
              <a:buSzPct val="88764"/>
              <a:buFont typeface="Georgia"/>
              <a:buChar char="●"/>
              <a:tabLst>
                <a:tab pos="462915" algn="l"/>
                <a:tab pos="2130425" algn="l"/>
                <a:tab pos="4457700" algn="l"/>
              </a:tabLst>
            </a:pP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If</a:t>
            </a:r>
            <a:r>
              <a:rPr sz="4450" spc="459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statement</a:t>
            </a:r>
            <a:r>
              <a:rPr sz="4450" spc="459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allows</a:t>
            </a:r>
            <a:r>
              <a:rPr sz="4450" spc="4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us</a:t>
            </a:r>
            <a:r>
              <a:rPr sz="4450" spc="459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4450" spc="459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4450" spc="459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block</a:t>
            </a:r>
            <a:r>
              <a:rPr sz="4450" spc="4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spc="-25" dirty="0">
                <a:solidFill>
                  <a:srgbClr val="245796"/>
                </a:solidFill>
                <a:latin typeface="Times New Roman"/>
                <a:cs typeface="Times New Roman"/>
              </a:rPr>
              <a:t>of 	</a:t>
            </a:r>
            <a:r>
              <a:rPr sz="4450" spc="-20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4450" spc="-10" dirty="0">
                <a:solidFill>
                  <a:srgbClr val="245796"/>
                </a:solidFill>
                <a:latin typeface="Times New Roman"/>
                <a:cs typeface="Times New Roman"/>
              </a:rPr>
              <a:t>execute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4450" spc="-20" dirty="0">
                <a:solidFill>
                  <a:srgbClr val="245796"/>
                </a:solidFill>
                <a:latin typeface="Times New Roman"/>
                <a:cs typeface="Times New Roman"/>
              </a:rPr>
              <a:t>when</a:t>
            </a:r>
            <a:endParaRPr sz="4450">
              <a:latin typeface="Times New Roman"/>
              <a:cs typeface="Times New Roman"/>
            </a:endParaRPr>
          </a:p>
          <a:p>
            <a:pPr marL="462915">
              <a:lnSpc>
                <a:spcPct val="100000"/>
              </a:lnSpc>
              <a:spcBef>
                <a:spcPts val="2650"/>
              </a:spcBef>
            </a:pP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condition</a:t>
            </a:r>
            <a:r>
              <a:rPr sz="4450" spc="-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returns</a:t>
            </a:r>
            <a:r>
              <a:rPr sz="4450" spc="-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spc="-10" dirty="0">
                <a:solidFill>
                  <a:srgbClr val="245796"/>
                </a:solidFill>
                <a:latin typeface="Times New Roman"/>
                <a:cs typeface="Times New Roman"/>
              </a:rPr>
              <a:t>true.</a:t>
            </a:r>
            <a:endParaRPr sz="4450">
              <a:latin typeface="Times New Roman"/>
              <a:cs typeface="Times New Roman"/>
            </a:endParaRPr>
          </a:p>
          <a:p>
            <a:pPr marL="462280" indent="-449580">
              <a:lnSpc>
                <a:spcPct val="100000"/>
              </a:lnSpc>
              <a:spcBef>
                <a:spcPts val="2735"/>
              </a:spcBef>
              <a:buSzPct val="88764"/>
              <a:buFont typeface="Georgia"/>
              <a:buChar char="●"/>
              <a:tabLst>
                <a:tab pos="462280" algn="l"/>
              </a:tabLst>
            </a:pP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445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spc="-50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endParaRPr sz="4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If</a:t>
            </a:r>
            <a:r>
              <a:rPr sz="4450" spc="-7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(condition)</a:t>
            </a:r>
            <a:r>
              <a:rPr sz="4450" spc="-7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45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4450">
              <a:latin typeface="Times New Roman"/>
              <a:cs typeface="Times New Roman"/>
            </a:endParaRPr>
          </a:p>
          <a:p>
            <a:pPr marL="719455">
              <a:lnSpc>
                <a:spcPct val="100000"/>
              </a:lnSpc>
              <a:spcBef>
                <a:spcPts val="2675"/>
              </a:spcBef>
            </a:pPr>
            <a:r>
              <a:rPr sz="4450" spc="-10" dirty="0">
                <a:solidFill>
                  <a:srgbClr val="EE220D"/>
                </a:solidFill>
                <a:latin typeface="Times New Roman"/>
                <a:cs typeface="Times New Roman"/>
              </a:rPr>
              <a:t>//statement(s)</a:t>
            </a:r>
            <a:endParaRPr sz="4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445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44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marR="5461000" indent="-283210">
              <a:lnSpc>
                <a:spcPct val="149700"/>
              </a:lnSpc>
              <a:spcBef>
                <a:spcPts val="100"/>
              </a:spcBef>
            </a:pPr>
            <a:r>
              <a:rPr dirty="0"/>
              <a:t>void</a:t>
            </a:r>
            <a:r>
              <a:rPr spc="-20" dirty="0"/>
              <a:t> </a:t>
            </a:r>
            <a:r>
              <a:rPr dirty="0"/>
              <a:t>main</a:t>
            </a:r>
            <a:r>
              <a:rPr spc="-20" dirty="0"/>
              <a:t> </a:t>
            </a:r>
            <a:r>
              <a:rPr dirty="0"/>
              <a:t>()</a:t>
            </a:r>
            <a:r>
              <a:rPr spc="-15" dirty="0"/>
              <a:t> </a:t>
            </a:r>
            <a:r>
              <a:rPr spc="-50" dirty="0"/>
              <a:t>{ </a:t>
            </a:r>
            <a:r>
              <a:rPr dirty="0"/>
              <a:t>var</a:t>
            </a:r>
            <a:r>
              <a:rPr spc="-15" dirty="0"/>
              <a:t> </a:t>
            </a:r>
            <a:r>
              <a:rPr dirty="0"/>
              <a:t>n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25" dirty="0"/>
              <a:t>35;</a:t>
            </a:r>
            <a:r>
              <a:rPr spc="1110" dirty="0"/>
              <a:t> </a:t>
            </a:r>
            <a:r>
              <a:rPr dirty="0">
                <a:solidFill>
                  <a:srgbClr val="EE220D"/>
                </a:solidFill>
              </a:rPr>
              <a:t>if</a:t>
            </a:r>
            <a:r>
              <a:rPr spc="-35" dirty="0">
                <a:solidFill>
                  <a:srgbClr val="EE220D"/>
                </a:solidFill>
              </a:rPr>
              <a:t> </a:t>
            </a:r>
            <a:r>
              <a:rPr spc="-10" dirty="0">
                <a:solidFill>
                  <a:srgbClr val="EE220D"/>
                </a:solidFill>
              </a:rPr>
              <a:t>(n&lt;40){</a:t>
            </a:r>
          </a:p>
          <a:p>
            <a:pPr marL="12700" marR="5080" indent="565150">
              <a:lnSpc>
                <a:spcPct val="149700"/>
              </a:lnSpc>
              <a:spcBef>
                <a:spcPts val="80"/>
              </a:spcBef>
              <a:tabLst>
                <a:tab pos="4954270" algn="l"/>
                <a:tab pos="8394065" algn="l"/>
              </a:tabLst>
            </a:pPr>
            <a:r>
              <a:rPr dirty="0">
                <a:solidFill>
                  <a:srgbClr val="EE220D"/>
                </a:solidFill>
              </a:rPr>
              <a:t>print("The</a:t>
            </a:r>
            <a:r>
              <a:rPr spc="-80" dirty="0">
                <a:solidFill>
                  <a:srgbClr val="EE220D"/>
                </a:solidFill>
              </a:rPr>
              <a:t> </a:t>
            </a:r>
            <a:r>
              <a:rPr spc="-10" dirty="0">
                <a:solidFill>
                  <a:srgbClr val="EE220D"/>
                </a:solidFill>
              </a:rPr>
              <a:t>number</a:t>
            </a:r>
            <a:r>
              <a:rPr dirty="0">
                <a:solidFill>
                  <a:srgbClr val="EE220D"/>
                </a:solidFill>
              </a:rPr>
              <a:t>	is</a:t>
            </a:r>
            <a:r>
              <a:rPr spc="-65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smaller</a:t>
            </a:r>
            <a:r>
              <a:rPr spc="-65" dirty="0">
                <a:solidFill>
                  <a:srgbClr val="EE220D"/>
                </a:solidFill>
              </a:rPr>
              <a:t> </a:t>
            </a:r>
            <a:r>
              <a:rPr spc="-20" dirty="0">
                <a:solidFill>
                  <a:srgbClr val="EE220D"/>
                </a:solidFill>
              </a:rPr>
              <a:t>than</a:t>
            </a:r>
            <a:r>
              <a:rPr dirty="0">
                <a:solidFill>
                  <a:srgbClr val="EE220D"/>
                </a:solidFill>
              </a:rPr>
              <a:t>	</a:t>
            </a:r>
            <a:r>
              <a:rPr spc="-50" dirty="0">
                <a:solidFill>
                  <a:srgbClr val="EE220D"/>
                </a:solidFill>
              </a:rPr>
              <a:t>4 </a:t>
            </a:r>
            <a:r>
              <a:rPr spc="-25" dirty="0">
                <a:solidFill>
                  <a:srgbClr val="EE220D"/>
                </a:solidFill>
              </a:rPr>
              <a:t>0")</a:t>
            </a:r>
          </a:p>
          <a:p>
            <a:pPr marL="153670">
              <a:lnSpc>
                <a:spcPct val="100000"/>
              </a:lnSpc>
              <a:spcBef>
                <a:spcPts val="2670"/>
              </a:spcBef>
            </a:pPr>
            <a:r>
              <a:rPr spc="-25" dirty="0">
                <a:solidFill>
                  <a:srgbClr val="EE220D"/>
                </a:solidFill>
              </a:rPr>
              <a:t>};</a:t>
            </a: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289810"/>
            <a:chOff x="0" y="0"/>
            <a:chExt cx="20058380" cy="228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740" y="0"/>
              <a:ext cx="9760540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71599" y="450216"/>
            <a:ext cx="78295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0"/>
              </a:lnSpc>
            </a:pPr>
            <a:r>
              <a:rPr sz="6900" spc="-25" dirty="0">
                <a:solidFill>
                  <a:srgbClr val="245796"/>
                </a:solidFill>
                <a:latin typeface="Arial MT"/>
                <a:cs typeface="Arial MT"/>
              </a:rPr>
              <a:t>If-</a:t>
            </a:r>
            <a:endParaRPr sz="69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25"/>
              </a:spcBef>
            </a:pPr>
            <a:r>
              <a:rPr sz="6900" dirty="0"/>
              <a:t>else </a:t>
            </a:r>
            <a:r>
              <a:rPr sz="6900" spc="-10" dirty="0"/>
              <a:t>Statements</a:t>
            </a:r>
            <a:endParaRPr sz="6900"/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61645" marR="5080" indent="-449580" algn="just">
              <a:lnSpc>
                <a:spcPct val="131000"/>
              </a:lnSpc>
              <a:spcBef>
                <a:spcPts val="115"/>
              </a:spcBef>
              <a:buSzPct val="109722"/>
              <a:buFont typeface="Georgia"/>
              <a:buChar char="●"/>
              <a:tabLst>
                <a:tab pos="462915" algn="l"/>
              </a:tabLst>
            </a:pPr>
            <a:r>
              <a:rPr sz="3600" dirty="0"/>
              <a:t>In</a:t>
            </a:r>
            <a:r>
              <a:rPr sz="3600" spc="280" dirty="0"/>
              <a:t> </a:t>
            </a:r>
            <a:r>
              <a:rPr sz="3600" dirty="0"/>
              <a:t>Dart,</a:t>
            </a:r>
            <a:r>
              <a:rPr sz="3600" spc="285" dirty="0"/>
              <a:t> </a:t>
            </a:r>
            <a:r>
              <a:rPr sz="3600" spc="-10" dirty="0"/>
              <a:t>if-</a:t>
            </a:r>
            <a:r>
              <a:rPr sz="3600" dirty="0"/>
              <a:t>block</a:t>
            </a:r>
            <a:r>
              <a:rPr sz="3600" spc="290" dirty="0"/>
              <a:t> </a:t>
            </a:r>
            <a:r>
              <a:rPr sz="3600" dirty="0"/>
              <a:t>is</a:t>
            </a:r>
            <a:r>
              <a:rPr sz="3600" spc="290" dirty="0"/>
              <a:t> </a:t>
            </a:r>
            <a:r>
              <a:rPr sz="3600" dirty="0"/>
              <a:t>executed</a:t>
            </a:r>
            <a:r>
              <a:rPr sz="3600" spc="290" dirty="0"/>
              <a:t> </a:t>
            </a:r>
            <a:r>
              <a:rPr sz="3600" dirty="0"/>
              <a:t>when</a:t>
            </a:r>
            <a:r>
              <a:rPr sz="3600" spc="290" dirty="0"/>
              <a:t> </a:t>
            </a:r>
            <a:r>
              <a:rPr sz="3600" dirty="0"/>
              <a:t>the</a:t>
            </a:r>
            <a:r>
              <a:rPr sz="3600" spc="290" dirty="0"/>
              <a:t> </a:t>
            </a:r>
            <a:r>
              <a:rPr sz="3600" spc="-10" dirty="0"/>
              <a:t>given 	</a:t>
            </a:r>
            <a:r>
              <a:rPr sz="3600" dirty="0"/>
              <a:t>condition</a:t>
            </a:r>
            <a:r>
              <a:rPr sz="3600" spc="819" dirty="0"/>
              <a:t> </a:t>
            </a:r>
            <a:r>
              <a:rPr sz="3600" dirty="0"/>
              <a:t>is</a:t>
            </a:r>
            <a:r>
              <a:rPr sz="3600" spc="835" dirty="0"/>
              <a:t> </a:t>
            </a:r>
            <a:r>
              <a:rPr sz="3600" dirty="0"/>
              <a:t>true.</a:t>
            </a:r>
            <a:r>
              <a:rPr sz="3600" spc="835" dirty="0"/>
              <a:t> </a:t>
            </a:r>
            <a:r>
              <a:rPr sz="3600" dirty="0"/>
              <a:t>If</a:t>
            </a:r>
            <a:r>
              <a:rPr sz="3600" spc="830" dirty="0"/>
              <a:t> </a:t>
            </a:r>
            <a:r>
              <a:rPr sz="3600" dirty="0"/>
              <a:t>the</a:t>
            </a:r>
            <a:r>
              <a:rPr sz="3600" spc="830" dirty="0"/>
              <a:t> </a:t>
            </a:r>
            <a:r>
              <a:rPr sz="3600" dirty="0"/>
              <a:t>given</a:t>
            </a:r>
            <a:r>
              <a:rPr sz="3600" spc="830" dirty="0"/>
              <a:t> </a:t>
            </a:r>
            <a:r>
              <a:rPr sz="3600" dirty="0"/>
              <a:t>condition</a:t>
            </a:r>
            <a:r>
              <a:rPr sz="3600" spc="835" dirty="0"/>
              <a:t> </a:t>
            </a:r>
            <a:r>
              <a:rPr sz="3600" spc="-25" dirty="0"/>
              <a:t>is 	</a:t>
            </a:r>
            <a:r>
              <a:rPr sz="3600" dirty="0"/>
              <a:t>false,</a:t>
            </a:r>
            <a:r>
              <a:rPr sz="3600" spc="360" dirty="0"/>
              <a:t> </a:t>
            </a:r>
            <a:r>
              <a:rPr sz="3600" spc="-10" dirty="0"/>
              <a:t>else-</a:t>
            </a:r>
            <a:r>
              <a:rPr sz="3600" dirty="0"/>
              <a:t>block</a:t>
            </a:r>
            <a:r>
              <a:rPr sz="3600" spc="375" dirty="0"/>
              <a:t> </a:t>
            </a:r>
            <a:r>
              <a:rPr sz="3600" dirty="0"/>
              <a:t>is</a:t>
            </a:r>
            <a:r>
              <a:rPr sz="3600" spc="380" dirty="0"/>
              <a:t> </a:t>
            </a:r>
            <a:r>
              <a:rPr sz="3600" dirty="0"/>
              <a:t>executed.</a:t>
            </a:r>
            <a:r>
              <a:rPr sz="3600" spc="375" dirty="0"/>
              <a:t> </a:t>
            </a:r>
            <a:r>
              <a:rPr sz="3600" dirty="0"/>
              <a:t>The</a:t>
            </a:r>
            <a:r>
              <a:rPr sz="3600" spc="370" dirty="0"/>
              <a:t> </a:t>
            </a:r>
            <a:r>
              <a:rPr sz="3600" dirty="0"/>
              <a:t>else</a:t>
            </a:r>
            <a:r>
              <a:rPr sz="3600" spc="375" dirty="0"/>
              <a:t> </a:t>
            </a:r>
            <a:r>
              <a:rPr sz="3600" spc="-10" dirty="0"/>
              <a:t>block 	</a:t>
            </a:r>
            <a:r>
              <a:rPr sz="3600" dirty="0"/>
              <a:t>is</a:t>
            </a:r>
            <a:r>
              <a:rPr sz="3600" spc="-10" dirty="0"/>
              <a:t> </a:t>
            </a:r>
            <a:r>
              <a:rPr sz="3600" dirty="0"/>
              <a:t>associated</a:t>
            </a:r>
            <a:r>
              <a:rPr sz="3600" spc="5" dirty="0"/>
              <a:t> </a:t>
            </a:r>
            <a:r>
              <a:rPr sz="3600" dirty="0"/>
              <a:t>with the </a:t>
            </a:r>
            <a:r>
              <a:rPr sz="3600" spc="-10" dirty="0"/>
              <a:t>if-block.</a:t>
            </a:r>
            <a:endParaRPr sz="3600"/>
          </a:p>
          <a:p>
            <a:pPr marL="12700" marR="6158230" indent="449580" algn="just">
              <a:lnSpc>
                <a:spcPct val="131500"/>
              </a:lnSpc>
              <a:spcBef>
                <a:spcPts val="15"/>
              </a:spcBef>
              <a:buSzPct val="109722"/>
              <a:buFont typeface="Georgia"/>
              <a:buChar char="●"/>
              <a:tabLst>
                <a:tab pos="462280" algn="l"/>
              </a:tabLst>
            </a:pPr>
            <a:r>
              <a:rPr sz="3600" dirty="0"/>
              <a:t>Syntax </a:t>
            </a:r>
            <a:r>
              <a:rPr sz="3600" spc="-50" dirty="0"/>
              <a:t>- </a:t>
            </a:r>
            <a:r>
              <a:rPr sz="3600" dirty="0">
                <a:solidFill>
                  <a:srgbClr val="EE220D"/>
                </a:solidFill>
              </a:rPr>
              <a:t>if(condition)</a:t>
            </a:r>
            <a:r>
              <a:rPr sz="3600" spc="-15" dirty="0">
                <a:solidFill>
                  <a:srgbClr val="EE220D"/>
                </a:solidFill>
              </a:rPr>
              <a:t> </a:t>
            </a:r>
            <a:r>
              <a:rPr sz="3600" spc="-50" dirty="0">
                <a:solidFill>
                  <a:srgbClr val="EE220D"/>
                </a:solidFill>
              </a:rPr>
              <a:t>{</a:t>
            </a:r>
            <a:endParaRPr sz="3600"/>
          </a:p>
          <a:p>
            <a:pPr marL="703580" algn="just">
              <a:lnSpc>
                <a:spcPct val="100000"/>
              </a:lnSpc>
              <a:spcBef>
                <a:spcPts val="1300"/>
              </a:spcBef>
            </a:pPr>
            <a:r>
              <a:rPr sz="3600" dirty="0">
                <a:solidFill>
                  <a:srgbClr val="EE220D"/>
                </a:solidFill>
              </a:rPr>
              <a:t>//</a:t>
            </a:r>
            <a:r>
              <a:rPr sz="3600" spc="5" dirty="0">
                <a:solidFill>
                  <a:srgbClr val="EE220D"/>
                </a:solidFill>
              </a:rPr>
              <a:t> </a:t>
            </a:r>
            <a:r>
              <a:rPr sz="3600" spc="-10" dirty="0">
                <a:solidFill>
                  <a:srgbClr val="EE220D"/>
                </a:solidFill>
              </a:rPr>
              <a:t>statement(s);</a:t>
            </a:r>
            <a:endParaRPr sz="3600"/>
          </a:p>
          <a:p>
            <a:pPr marL="12700" algn="just">
              <a:lnSpc>
                <a:spcPct val="100000"/>
              </a:lnSpc>
              <a:spcBef>
                <a:spcPts val="1360"/>
              </a:spcBef>
            </a:pPr>
            <a:r>
              <a:rPr sz="3600" dirty="0">
                <a:solidFill>
                  <a:srgbClr val="EE220D"/>
                </a:solidFill>
              </a:rPr>
              <a:t>} else</a:t>
            </a:r>
            <a:r>
              <a:rPr sz="3600" spc="5" dirty="0">
                <a:solidFill>
                  <a:srgbClr val="EE220D"/>
                </a:solidFill>
              </a:rPr>
              <a:t> </a:t>
            </a:r>
            <a:r>
              <a:rPr sz="3600" spc="-50" dirty="0">
                <a:solidFill>
                  <a:srgbClr val="EE220D"/>
                </a:solidFill>
              </a:rPr>
              <a:t>{</a:t>
            </a:r>
            <a:endParaRPr sz="3600"/>
          </a:p>
          <a:p>
            <a:pPr marL="473075" algn="just">
              <a:lnSpc>
                <a:spcPct val="100000"/>
              </a:lnSpc>
              <a:spcBef>
                <a:spcPts val="1380"/>
              </a:spcBef>
            </a:pPr>
            <a:r>
              <a:rPr sz="3600" dirty="0">
                <a:solidFill>
                  <a:srgbClr val="EE220D"/>
                </a:solidFill>
              </a:rPr>
              <a:t>//</a:t>
            </a:r>
            <a:r>
              <a:rPr sz="3600" spc="5" dirty="0">
                <a:solidFill>
                  <a:srgbClr val="EE220D"/>
                </a:solidFill>
              </a:rPr>
              <a:t> </a:t>
            </a:r>
            <a:r>
              <a:rPr sz="3600" spc="-10" dirty="0">
                <a:solidFill>
                  <a:srgbClr val="EE220D"/>
                </a:solidFill>
              </a:rPr>
              <a:t>statement(s);</a:t>
            </a:r>
            <a:endParaRPr sz="3600"/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3600" spc="-50" dirty="0">
                <a:solidFill>
                  <a:srgbClr val="EE220D"/>
                </a:solidFill>
              </a:rPr>
              <a:t>}</a:t>
            </a:r>
            <a:endParaRPr sz="36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413" y="0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724920" y="2490260"/>
            <a:ext cx="7497445" cy="78663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0715" marR="4652645" indent="-628650" algn="just">
              <a:lnSpc>
                <a:spcPct val="130500"/>
              </a:lnSpc>
              <a:spcBef>
                <a:spcPts val="85"/>
              </a:spcBef>
            </a:pP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main()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50" dirty="0">
                <a:solidFill>
                  <a:srgbClr val="245796"/>
                </a:solidFill>
                <a:latin typeface="Times New Roman"/>
                <a:cs typeface="Times New Roman"/>
              </a:rPr>
              <a:t>{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x =</a:t>
            </a:r>
            <a:r>
              <a:rPr sz="3950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245796"/>
                </a:solidFill>
                <a:latin typeface="Times New Roman"/>
                <a:cs typeface="Times New Roman"/>
              </a:rPr>
              <a:t>20;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395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y =</a:t>
            </a:r>
            <a:r>
              <a:rPr sz="3950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245796"/>
                </a:solidFill>
                <a:latin typeface="Times New Roman"/>
                <a:cs typeface="Times New Roman"/>
              </a:rPr>
              <a:t>30;</a:t>
            </a:r>
            <a:endParaRPr sz="3950">
              <a:latin typeface="Times New Roman"/>
              <a:cs typeface="Times New Roman"/>
            </a:endParaRPr>
          </a:p>
          <a:p>
            <a:pPr marL="514984" marR="5080" algn="just">
              <a:lnSpc>
                <a:spcPts val="6190"/>
              </a:lnSpc>
              <a:spcBef>
                <a:spcPts val="430"/>
              </a:spcBef>
            </a:pP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print("if-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else</a:t>
            </a:r>
            <a:r>
              <a:rPr sz="3950" spc="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245796"/>
                </a:solidFill>
                <a:latin typeface="Times New Roman"/>
                <a:cs typeface="Times New Roman"/>
              </a:rPr>
              <a:t>statement</a:t>
            </a:r>
            <a:r>
              <a:rPr sz="3950" spc="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245796"/>
                </a:solidFill>
                <a:latin typeface="Times New Roman"/>
                <a:cs typeface="Times New Roman"/>
              </a:rPr>
              <a:t>example");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if(x &gt;</a:t>
            </a:r>
            <a:r>
              <a:rPr sz="3950" spc="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y){</a:t>
            </a:r>
            <a:endParaRPr sz="3950">
              <a:latin typeface="Times New Roman"/>
              <a:cs typeface="Times New Roman"/>
            </a:endParaRPr>
          </a:p>
          <a:p>
            <a:pPr marL="1143000" algn="just">
              <a:lnSpc>
                <a:spcPct val="100000"/>
              </a:lnSpc>
              <a:spcBef>
                <a:spcPts val="990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print("x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is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greater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than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y");</a:t>
            </a:r>
            <a:endParaRPr sz="39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75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950">
              <a:latin typeface="Times New Roman"/>
              <a:cs typeface="Times New Roman"/>
            </a:endParaRPr>
          </a:p>
          <a:p>
            <a:pPr marL="1143000" algn="just">
              <a:lnSpc>
                <a:spcPct val="100000"/>
              </a:lnSpc>
              <a:spcBef>
                <a:spcPts val="1435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print("y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is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greater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than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x");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3950" spc="-25" dirty="0">
                <a:solidFill>
                  <a:srgbClr val="245796"/>
                </a:solidFill>
                <a:latin typeface="Times New Roman"/>
                <a:cs typeface="Times New Roman"/>
              </a:rPr>
              <a:t>};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395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193925"/>
            <a:chOff x="0" y="0"/>
            <a:chExt cx="2005838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1071" y="0"/>
              <a:ext cx="8172316" cy="2193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937260">
              <a:lnSpc>
                <a:spcPct val="100000"/>
              </a:lnSpc>
              <a:spcBef>
                <a:spcPts val="114"/>
              </a:spcBef>
            </a:pPr>
            <a:r>
              <a:rPr dirty="0"/>
              <a:t>if</a:t>
            </a:r>
            <a:r>
              <a:rPr spc="-5" dirty="0"/>
              <a:t> </a:t>
            </a:r>
            <a:r>
              <a:rPr spc="-10" dirty="0"/>
              <a:t>else-</a:t>
            </a:r>
            <a:r>
              <a:rPr dirty="0"/>
              <a:t>if</a:t>
            </a:r>
            <a:r>
              <a:rPr spc="1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461645" marR="5080" indent="-449580" algn="just">
              <a:lnSpc>
                <a:spcPct val="131400"/>
              </a:lnSpc>
              <a:spcBef>
                <a:spcPts val="150"/>
              </a:spcBef>
              <a:buSzPct val="127419"/>
              <a:buFont typeface="Georgia"/>
              <a:buChar char="●"/>
              <a:tabLst>
                <a:tab pos="462915" algn="l"/>
              </a:tabLst>
            </a:pPr>
            <a:r>
              <a:rPr dirty="0"/>
              <a:t>Dart</a:t>
            </a:r>
            <a:r>
              <a:rPr spc="140" dirty="0"/>
              <a:t>  </a:t>
            </a:r>
            <a:r>
              <a:rPr dirty="0"/>
              <a:t>if</a:t>
            </a:r>
            <a:r>
              <a:rPr spc="145" dirty="0"/>
              <a:t>  </a:t>
            </a:r>
            <a:r>
              <a:rPr dirty="0"/>
              <a:t>else-if</a:t>
            </a:r>
            <a:r>
              <a:rPr spc="145" dirty="0"/>
              <a:t>  </a:t>
            </a:r>
            <a:r>
              <a:rPr dirty="0"/>
              <a:t>statement</a:t>
            </a:r>
            <a:r>
              <a:rPr spc="140" dirty="0"/>
              <a:t>  </a:t>
            </a:r>
            <a:r>
              <a:rPr dirty="0"/>
              <a:t>provides</a:t>
            </a:r>
            <a:r>
              <a:rPr spc="145" dirty="0"/>
              <a:t>  </a:t>
            </a:r>
            <a:r>
              <a:rPr dirty="0"/>
              <a:t>the</a:t>
            </a:r>
            <a:r>
              <a:rPr spc="145" dirty="0"/>
              <a:t>  </a:t>
            </a:r>
            <a:r>
              <a:rPr dirty="0"/>
              <a:t>facility</a:t>
            </a:r>
            <a:r>
              <a:rPr spc="140" dirty="0"/>
              <a:t>  </a:t>
            </a:r>
            <a:r>
              <a:rPr spc="-25" dirty="0"/>
              <a:t>to 	</a:t>
            </a:r>
            <a:r>
              <a:rPr dirty="0"/>
              <a:t>check</a:t>
            </a:r>
            <a:r>
              <a:rPr spc="125" dirty="0"/>
              <a:t>  </a:t>
            </a:r>
            <a:r>
              <a:rPr dirty="0"/>
              <a:t>a</a:t>
            </a:r>
            <a:r>
              <a:rPr spc="130" dirty="0"/>
              <a:t>  </a:t>
            </a:r>
            <a:r>
              <a:rPr dirty="0"/>
              <a:t>set</a:t>
            </a:r>
            <a:r>
              <a:rPr spc="125" dirty="0"/>
              <a:t>  </a:t>
            </a:r>
            <a:r>
              <a:rPr dirty="0"/>
              <a:t>of</a:t>
            </a:r>
            <a:r>
              <a:rPr spc="130" dirty="0"/>
              <a:t>  </a:t>
            </a:r>
            <a:r>
              <a:rPr dirty="0"/>
              <a:t>test</a:t>
            </a:r>
            <a:r>
              <a:rPr spc="125" dirty="0"/>
              <a:t>  </a:t>
            </a:r>
            <a:r>
              <a:rPr dirty="0"/>
              <a:t>expressions</a:t>
            </a:r>
            <a:r>
              <a:rPr spc="125" dirty="0"/>
              <a:t>  </a:t>
            </a:r>
            <a:r>
              <a:rPr dirty="0"/>
              <a:t>and</a:t>
            </a:r>
            <a:r>
              <a:rPr spc="130" dirty="0"/>
              <a:t>  </a:t>
            </a:r>
            <a:r>
              <a:rPr dirty="0"/>
              <a:t>execute</a:t>
            </a:r>
            <a:r>
              <a:rPr spc="130" dirty="0"/>
              <a:t>  </a:t>
            </a:r>
            <a:r>
              <a:rPr spc="-25" dirty="0"/>
              <a:t>the 	</a:t>
            </a:r>
            <a:r>
              <a:rPr dirty="0"/>
              <a:t>different</a:t>
            </a:r>
            <a:r>
              <a:rPr spc="25" dirty="0"/>
              <a:t>  </a:t>
            </a:r>
            <a:r>
              <a:rPr dirty="0"/>
              <a:t>statements.</a:t>
            </a:r>
            <a:r>
              <a:rPr spc="30" dirty="0"/>
              <a:t>  </a:t>
            </a:r>
            <a:r>
              <a:rPr dirty="0"/>
              <a:t>It</a:t>
            </a:r>
            <a:r>
              <a:rPr spc="30" dirty="0"/>
              <a:t>  </a:t>
            </a:r>
            <a:r>
              <a:rPr dirty="0"/>
              <a:t>is</a:t>
            </a:r>
            <a:r>
              <a:rPr spc="30" dirty="0"/>
              <a:t>  </a:t>
            </a:r>
            <a:r>
              <a:rPr dirty="0"/>
              <a:t>used</a:t>
            </a:r>
            <a:r>
              <a:rPr spc="30" dirty="0"/>
              <a:t>  </a:t>
            </a:r>
            <a:r>
              <a:rPr dirty="0"/>
              <a:t>when</a:t>
            </a:r>
            <a:r>
              <a:rPr spc="30" dirty="0"/>
              <a:t>  </a:t>
            </a:r>
            <a:r>
              <a:rPr dirty="0"/>
              <a:t>we</a:t>
            </a:r>
            <a:r>
              <a:rPr spc="30" dirty="0"/>
              <a:t>  </a:t>
            </a:r>
            <a:r>
              <a:rPr dirty="0"/>
              <a:t>have</a:t>
            </a:r>
            <a:r>
              <a:rPr spc="30" dirty="0"/>
              <a:t>  </a:t>
            </a:r>
            <a:r>
              <a:rPr spc="-25" dirty="0"/>
              <a:t>to 	</a:t>
            </a:r>
            <a:r>
              <a:rPr dirty="0"/>
              <a:t>make</a:t>
            </a:r>
            <a:r>
              <a:rPr spc="40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decision</a:t>
            </a:r>
            <a:r>
              <a:rPr spc="45" dirty="0"/>
              <a:t> </a:t>
            </a:r>
            <a:r>
              <a:rPr dirty="0"/>
              <a:t>from</a:t>
            </a:r>
            <a:r>
              <a:rPr spc="35" dirty="0"/>
              <a:t> </a:t>
            </a:r>
            <a:r>
              <a:rPr dirty="0"/>
              <a:t>more</a:t>
            </a:r>
            <a:r>
              <a:rPr spc="45" dirty="0"/>
              <a:t> </a:t>
            </a:r>
            <a:r>
              <a:rPr dirty="0"/>
              <a:t>than</a:t>
            </a:r>
            <a:r>
              <a:rPr spc="45" dirty="0"/>
              <a:t> </a:t>
            </a:r>
            <a:r>
              <a:rPr dirty="0"/>
              <a:t>two</a:t>
            </a:r>
            <a:r>
              <a:rPr spc="45" dirty="0"/>
              <a:t> </a:t>
            </a:r>
            <a:r>
              <a:rPr spc="-10" dirty="0"/>
              <a:t>possibilities.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86742" y="5618122"/>
            <a:ext cx="3240405" cy="498919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1240"/>
              </a:spcBef>
              <a:buSzPct val="127419"/>
              <a:buFont typeface="Georgia"/>
              <a:buChar char="●"/>
              <a:tabLst>
                <a:tab pos="462280" algn="l"/>
              </a:tabLst>
            </a:pPr>
            <a:r>
              <a:rPr sz="310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3100" spc="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100" spc="-50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if</a:t>
            </a:r>
            <a:r>
              <a:rPr sz="3100" spc="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(condition1)</a:t>
            </a:r>
            <a:r>
              <a:rPr sz="3100" spc="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1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1150"/>
              </a:spcBef>
            </a:pP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3100" spc="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if(condition2)</a:t>
            </a:r>
            <a:r>
              <a:rPr sz="3100" spc="3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1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1150"/>
              </a:spcBef>
              <a:tabLst>
                <a:tab pos="501650" algn="l"/>
              </a:tabLst>
            </a:pP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	</a:t>
            </a: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310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3100" spc="2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100" spc="-6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1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3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24111" y="2541358"/>
            <a:ext cx="2846705" cy="87058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75360">
              <a:lnSpc>
                <a:spcPct val="129800"/>
              </a:lnSpc>
              <a:spcBef>
                <a:spcPts val="55"/>
              </a:spcBef>
            </a:pP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230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main()</a:t>
            </a:r>
            <a:r>
              <a:rPr sz="230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{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230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marks</a:t>
            </a:r>
            <a:r>
              <a:rPr sz="2300" spc="-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230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245796"/>
                </a:solidFill>
                <a:latin typeface="Times New Roman"/>
                <a:cs typeface="Times New Roman"/>
              </a:rPr>
              <a:t>74;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if(marks</a:t>
            </a:r>
            <a:r>
              <a:rPr sz="230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45796"/>
                </a:solidFill>
                <a:latin typeface="Times New Roman"/>
                <a:cs typeface="Times New Roman"/>
              </a:rPr>
              <a:t>&gt;</a:t>
            </a:r>
            <a:r>
              <a:rPr sz="230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245796"/>
                </a:solidFill>
                <a:latin typeface="Times New Roman"/>
                <a:cs typeface="Times New Roman"/>
              </a:rPr>
              <a:t>85)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525145">
              <a:lnSpc>
                <a:spcPct val="100000"/>
              </a:lnSpc>
              <a:spcBef>
                <a:spcPts val="785"/>
              </a:spcBef>
            </a:pPr>
            <a:r>
              <a:rPr sz="2300" spc="-10" dirty="0">
                <a:solidFill>
                  <a:srgbClr val="245796"/>
                </a:solidFill>
                <a:latin typeface="Times New Roman"/>
                <a:cs typeface="Times New Roman"/>
              </a:rPr>
              <a:t>print("Excellent");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880"/>
              </a:spcBef>
            </a:pPr>
            <a:r>
              <a:rPr sz="230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2300" spc="-4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EE220D"/>
                </a:solidFill>
                <a:latin typeface="Times New Roman"/>
                <a:cs typeface="Times New Roman"/>
              </a:rPr>
              <a:t>if(marks&gt;75)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3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  <a:spcBef>
                <a:spcPts val="785"/>
              </a:spcBef>
            </a:pPr>
            <a:r>
              <a:rPr sz="2300" dirty="0">
                <a:solidFill>
                  <a:srgbClr val="EE220D"/>
                </a:solidFill>
                <a:latin typeface="Times New Roman"/>
                <a:cs typeface="Times New Roman"/>
              </a:rPr>
              <a:t>print("Very</a:t>
            </a:r>
            <a:r>
              <a:rPr sz="2300" spc="-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EE220D"/>
                </a:solidFill>
                <a:latin typeface="Times New Roman"/>
                <a:cs typeface="Times New Roman"/>
              </a:rPr>
              <a:t>Good");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3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300" dirty="0">
                <a:solidFill>
                  <a:srgbClr val="EE220D"/>
                </a:solidFill>
                <a:latin typeface="Times New Roman"/>
                <a:cs typeface="Times New Roman"/>
              </a:rPr>
              <a:t>else</a:t>
            </a:r>
            <a:r>
              <a:rPr sz="2300" spc="-4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EE220D"/>
                </a:solidFill>
                <a:latin typeface="Times New Roman"/>
                <a:cs typeface="Times New Roman"/>
              </a:rPr>
              <a:t>if(marks&gt;65)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3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  <a:spcBef>
                <a:spcPts val="860"/>
              </a:spcBef>
            </a:pPr>
            <a:r>
              <a:rPr sz="2300" spc="-10" dirty="0">
                <a:solidFill>
                  <a:srgbClr val="EE220D"/>
                </a:solidFill>
                <a:latin typeface="Times New Roman"/>
                <a:cs typeface="Times New Roman"/>
              </a:rPr>
              <a:t>print("Good");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3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300" spc="-20" dirty="0">
                <a:solidFill>
                  <a:srgbClr val="245796"/>
                </a:solidFill>
                <a:latin typeface="Times New Roman"/>
                <a:cs typeface="Times New Roman"/>
              </a:rPr>
              <a:t>else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865"/>
              </a:spcBef>
            </a:pP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  <a:spcBef>
                <a:spcPts val="860"/>
              </a:spcBef>
            </a:pPr>
            <a:r>
              <a:rPr sz="2300" spc="-10" dirty="0">
                <a:solidFill>
                  <a:srgbClr val="245796"/>
                </a:solidFill>
                <a:latin typeface="Times New Roman"/>
                <a:cs typeface="Times New Roman"/>
              </a:rPr>
              <a:t>print("Average");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3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193925"/>
            <a:chOff x="0" y="0"/>
            <a:chExt cx="2005838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9926" y="0"/>
              <a:ext cx="9853522" cy="2193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716280">
              <a:lnSpc>
                <a:spcPct val="100000"/>
              </a:lnSpc>
              <a:spcBef>
                <a:spcPts val="114"/>
              </a:spcBef>
            </a:pPr>
            <a:r>
              <a:rPr dirty="0"/>
              <a:t>Switch</a:t>
            </a:r>
            <a:r>
              <a:rPr spc="-15" dirty="0"/>
              <a:t> </a:t>
            </a:r>
            <a:r>
              <a:rPr dirty="0"/>
              <a:t>Case</a:t>
            </a:r>
            <a:r>
              <a:rPr spc="-1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6742" y="2512878"/>
            <a:ext cx="8843645" cy="7333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1645" marR="5080" indent="-449580" algn="just">
              <a:lnSpc>
                <a:spcPct val="130900"/>
              </a:lnSpc>
              <a:spcBef>
                <a:spcPts val="90"/>
              </a:spcBef>
              <a:buSzPct val="133898"/>
              <a:buFont typeface="Georgia"/>
              <a:buChar char="●"/>
              <a:tabLst>
                <a:tab pos="462915" algn="l"/>
              </a:tabLst>
            </a:pP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Switch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case</a:t>
            </a:r>
            <a:r>
              <a:rPr sz="2950" spc="43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statement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2950" spc="4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used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avoid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4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20" dirty="0">
                <a:solidFill>
                  <a:srgbClr val="245796"/>
                </a:solidFill>
                <a:latin typeface="Times New Roman"/>
                <a:cs typeface="Times New Roman"/>
              </a:rPr>
              <a:t>long 	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chain</a:t>
            </a:r>
            <a:r>
              <a:rPr sz="2950" spc="1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2950" spc="2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20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45796"/>
                </a:solidFill>
                <a:latin typeface="Times New Roman"/>
                <a:cs typeface="Times New Roman"/>
              </a:rPr>
              <a:t>if-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else</a:t>
            </a:r>
            <a:r>
              <a:rPr sz="2950" spc="20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statement.</a:t>
            </a:r>
            <a:r>
              <a:rPr sz="2950" spc="2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2950" spc="2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2950" spc="2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20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simplified</a:t>
            </a:r>
            <a:r>
              <a:rPr sz="2950" spc="2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20" dirty="0">
                <a:solidFill>
                  <a:srgbClr val="245796"/>
                </a:solidFill>
                <a:latin typeface="Times New Roman"/>
                <a:cs typeface="Times New Roman"/>
              </a:rPr>
              <a:t>form 	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2950" spc="43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nested</a:t>
            </a:r>
            <a:r>
              <a:rPr sz="2950" spc="4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45796"/>
                </a:solidFill>
                <a:latin typeface="Times New Roman"/>
                <a:cs typeface="Times New Roman"/>
              </a:rPr>
              <a:t>if-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else</a:t>
            </a:r>
            <a:r>
              <a:rPr sz="2950" spc="4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statement.</a:t>
            </a:r>
            <a:r>
              <a:rPr sz="2950" spc="4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4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value</a:t>
            </a:r>
            <a:r>
              <a:rPr sz="2950" spc="4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2950" spc="4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4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45796"/>
                </a:solidFill>
                <a:latin typeface="Times New Roman"/>
                <a:cs typeface="Times New Roman"/>
              </a:rPr>
              <a:t>variable 	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compares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with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multiple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cases,</a:t>
            </a:r>
            <a:r>
              <a:rPr sz="2950" spc="5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if</a:t>
            </a:r>
            <a:r>
              <a:rPr sz="2950" spc="5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2950" spc="5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match</a:t>
            </a:r>
            <a:r>
              <a:rPr sz="2950" spc="5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25" dirty="0">
                <a:solidFill>
                  <a:srgbClr val="245796"/>
                </a:solidFill>
                <a:latin typeface="Times New Roman"/>
                <a:cs typeface="Times New Roman"/>
              </a:rPr>
              <a:t>is 	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found,</a:t>
            </a:r>
            <a:r>
              <a:rPr sz="2950" spc="1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then</a:t>
            </a:r>
            <a:r>
              <a:rPr sz="295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295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executes</a:t>
            </a:r>
            <a:r>
              <a:rPr sz="2950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295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block</a:t>
            </a:r>
            <a:r>
              <a:rPr sz="2950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295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statement</a:t>
            </a:r>
            <a:r>
              <a:rPr sz="295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45796"/>
                </a:solidFill>
                <a:latin typeface="Times New Roman"/>
                <a:cs typeface="Times New Roman"/>
              </a:rPr>
              <a:t>associated 	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with</a:t>
            </a:r>
            <a:r>
              <a:rPr sz="295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that</a:t>
            </a:r>
            <a:r>
              <a:rPr sz="295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245796"/>
                </a:solidFill>
                <a:latin typeface="Times New Roman"/>
                <a:cs typeface="Times New Roman"/>
              </a:rPr>
              <a:t>particular</a:t>
            </a:r>
            <a:r>
              <a:rPr sz="2950" spc="-1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45796"/>
                </a:solidFill>
                <a:latin typeface="Times New Roman"/>
                <a:cs typeface="Times New Roman"/>
              </a:rPr>
              <a:t>case.</a:t>
            </a:r>
            <a:endParaRPr sz="2950">
              <a:latin typeface="Times New Roman"/>
              <a:cs typeface="Times New Roman"/>
            </a:endParaRPr>
          </a:p>
          <a:p>
            <a:pPr marL="12700" marR="6798945" indent="449580" algn="just">
              <a:lnSpc>
                <a:spcPct val="130200"/>
              </a:lnSpc>
              <a:spcBef>
                <a:spcPts val="2040"/>
              </a:spcBef>
              <a:buSzPct val="202564"/>
              <a:buFont typeface="Georgia"/>
              <a:buChar char="●"/>
              <a:tabLst>
                <a:tab pos="462280" algn="l"/>
              </a:tabLst>
            </a:pPr>
            <a:r>
              <a:rPr sz="195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1950" spc="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1950" spc="-50" dirty="0">
                <a:solidFill>
                  <a:srgbClr val="245796"/>
                </a:solidFill>
                <a:latin typeface="Times New Roman"/>
                <a:cs typeface="Times New Roman"/>
              </a:rPr>
              <a:t>- 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switch(</a:t>
            </a:r>
            <a:r>
              <a:rPr sz="1950" spc="5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expression</a:t>
            </a:r>
            <a:r>
              <a:rPr sz="1950" spc="5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1950" spc="-50" dirty="0">
                <a:solidFill>
                  <a:srgbClr val="EE220D"/>
                </a:solidFill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95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195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725"/>
              </a:spcBef>
            </a:pP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case</a:t>
            </a:r>
            <a:r>
              <a:rPr sz="1950" spc="6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value-</a:t>
            </a:r>
            <a:r>
              <a:rPr sz="1950" spc="-25" dirty="0">
                <a:solidFill>
                  <a:srgbClr val="EE220D"/>
                </a:solidFill>
                <a:latin typeface="Times New Roman"/>
                <a:cs typeface="Times New Roman"/>
              </a:rPr>
              <a:t>1:{</a:t>
            </a:r>
            <a:endParaRPr sz="1950">
              <a:latin typeface="Times New Roman"/>
              <a:cs typeface="Times New Roman"/>
            </a:endParaRPr>
          </a:p>
          <a:p>
            <a:pPr marL="892175" marR="7064375">
              <a:lnSpc>
                <a:spcPct val="130200"/>
              </a:lnSpc>
              <a:spcBef>
                <a:spcPts val="80"/>
              </a:spcBef>
            </a:pP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Block-</a:t>
            </a:r>
            <a:r>
              <a:rPr sz="1950" spc="-25" dirty="0">
                <a:solidFill>
                  <a:srgbClr val="EE220D"/>
                </a:solidFill>
                <a:latin typeface="Times New Roman"/>
                <a:cs typeface="Times New Roman"/>
              </a:rPr>
              <a:t>1; </a:t>
            </a:r>
            <a:r>
              <a:rPr sz="1950" spc="-10" dirty="0">
                <a:solidFill>
                  <a:srgbClr val="EE220D"/>
                </a:solidFill>
                <a:latin typeface="Times New Roman"/>
                <a:cs typeface="Times New Roman"/>
              </a:rPr>
              <a:t>break;</a:t>
            </a:r>
            <a:endParaRPr sz="1950">
              <a:latin typeface="Times New Roman"/>
              <a:cs typeface="Times New Roman"/>
            </a:endParaRPr>
          </a:p>
          <a:p>
            <a:pPr marL="766445" marR="6826250" indent="-251460">
              <a:lnSpc>
                <a:spcPct val="130600"/>
              </a:lnSpc>
              <a:spcBef>
                <a:spcPts val="70"/>
              </a:spcBef>
            </a:pP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case</a:t>
            </a:r>
            <a:r>
              <a:rPr sz="1950" spc="6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value-</a:t>
            </a:r>
            <a:r>
              <a:rPr sz="1950" spc="-25" dirty="0">
                <a:solidFill>
                  <a:srgbClr val="EE220D"/>
                </a:solidFill>
                <a:latin typeface="Times New Roman"/>
                <a:cs typeface="Times New Roman"/>
              </a:rPr>
              <a:t>N:{ 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Block-</a:t>
            </a:r>
            <a:r>
              <a:rPr sz="1950" spc="-25" dirty="0">
                <a:solidFill>
                  <a:srgbClr val="EE220D"/>
                </a:solidFill>
                <a:latin typeface="Times New Roman"/>
                <a:cs typeface="Times New Roman"/>
              </a:rPr>
              <a:t>N; </a:t>
            </a:r>
            <a:r>
              <a:rPr sz="1950" spc="-10" dirty="0">
                <a:solidFill>
                  <a:srgbClr val="EE220D"/>
                </a:solidFill>
                <a:latin typeface="Times New Roman"/>
                <a:cs typeface="Times New Roman"/>
              </a:rPr>
              <a:t>break;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8044" y="9830769"/>
            <a:ext cx="1214120" cy="79946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800"/>
              </a:spcBef>
              <a:tabLst>
                <a:tab pos="1016635" algn="l"/>
              </a:tabLst>
            </a:pPr>
            <a:r>
              <a:rPr sz="1950" spc="-10" dirty="0">
                <a:solidFill>
                  <a:srgbClr val="EE220D"/>
                </a:solidFill>
                <a:latin typeface="Times New Roman"/>
                <a:cs typeface="Times New Roman"/>
              </a:rPr>
              <a:t>default:</a:t>
            </a:r>
            <a:r>
              <a:rPr sz="1950" dirty="0">
                <a:solidFill>
                  <a:srgbClr val="EE220D"/>
                </a:solidFill>
                <a:latin typeface="Times New Roman"/>
                <a:cs typeface="Times New Roman"/>
              </a:rPr>
              <a:t>	</a:t>
            </a:r>
            <a:r>
              <a:rPr sz="195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19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705"/>
              </a:spcBef>
            </a:pPr>
            <a:r>
              <a:rPr sz="195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742" y="10702785"/>
            <a:ext cx="14605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824111" y="2519578"/>
            <a:ext cx="4282440" cy="89141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2600" spc="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main()</a:t>
            </a:r>
            <a:r>
              <a:rPr sz="2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682625" marR="1997075">
              <a:lnSpc>
                <a:spcPct val="131900"/>
              </a:lnSpc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int</a:t>
            </a:r>
            <a:r>
              <a:rPr sz="2600" spc="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n</a:t>
            </a:r>
            <a:r>
              <a:rPr sz="2600" spc="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2600" spc="2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45796"/>
                </a:solidFill>
                <a:latin typeface="Times New Roman"/>
                <a:cs typeface="Times New Roman"/>
              </a:rPr>
              <a:t>2;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switch</a:t>
            </a:r>
            <a:r>
              <a:rPr sz="2600" spc="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(n)</a:t>
            </a:r>
            <a:r>
              <a:rPr sz="2600" spc="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020"/>
              </a:spcBef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case</a:t>
            </a:r>
            <a:r>
              <a:rPr sz="2600" spc="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45796"/>
                </a:solidFill>
                <a:latin typeface="Times New Roman"/>
                <a:cs typeface="Times New Roman"/>
              </a:rPr>
              <a:t>1:</a:t>
            </a:r>
            <a:endParaRPr sz="2600">
              <a:latin typeface="Times New Roman"/>
              <a:cs typeface="Times New Roman"/>
            </a:endParaRPr>
          </a:p>
          <a:p>
            <a:pPr marL="1352550" marR="338455">
              <a:lnSpc>
                <a:spcPct val="131900"/>
              </a:lnSpc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print("Value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45796"/>
                </a:solidFill>
                <a:latin typeface="Times New Roman"/>
                <a:cs typeface="Times New Roman"/>
              </a:rPr>
              <a:t>1"); </a:t>
            </a:r>
            <a:r>
              <a:rPr sz="2600" spc="-10" dirty="0">
                <a:solidFill>
                  <a:srgbClr val="245796"/>
                </a:solidFill>
                <a:latin typeface="Times New Roman"/>
                <a:cs typeface="Times New Roman"/>
              </a:rPr>
              <a:t>break;</a:t>
            </a:r>
            <a:endParaRPr sz="260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015"/>
              </a:spcBef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case</a:t>
            </a:r>
            <a:r>
              <a:rPr sz="2600" spc="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45796"/>
                </a:solidFill>
                <a:latin typeface="Times New Roman"/>
                <a:cs typeface="Times New Roman"/>
              </a:rPr>
              <a:t>2:</a:t>
            </a:r>
            <a:endParaRPr sz="2600">
              <a:latin typeface="Times New Roman"/>
              <a:cs typeface="Times New Roman"/>
            </a:endParaRPr>
          </a:p>
          <a:p>
            <a:pPr marL="1352550" marR="338455">
              <a:lnSpc>
                <a:spcPct val="131900"/>
              </a:lnSpc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print("Value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45796"/>
                </a:solidFill>
                <a:latin typeface="Times New Roman"/>
                <a:cs typeface="Times New Roman"/>
              </a:rPr>
              <a:t>2"); </a:t>
            </a:r>
            <a:r>
              <a:rPr sz="2600" spc="-10" dirty="0">
                <a:solidFill>
                  <a:srgbClr val="245796"/>
                </a:solidFill>
                <a:latin typeface="Times New Roman"/>
                <a:cs typeface="Times New Roman"/>
              </a:rPr>
              <a:t>break;</a:t>
            </a:r>
            <a:endParaRPr sz="260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015"/>
              </a:spcBef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case</a:t>
            </a:r>
            <a:r>
              <a:rPr sz="2600" spc="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245796"/>
                </a:solidFill>
                <a:latin typeface="Times New Roman"/>
                <a:cs typeface="Times New Roman"/>
              </a:rPr>
              <a:t>3:</a:t>
            </a:r>
            <a:endParaRPr sz="2600">
              <a:latin typeface="Times New Roman"/>
              <a:cs typeface="Times New Roman"/>
            </a:endParaRPr>
          </a:p>
          <a:p>
            <a:pPr marL="1352550" marR="338455">
              <a:lnSpc>
                <a:spcPct val="131900"/>
              </a:lnSpc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print("Value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2600" spc="7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245796"/>
                </a:solidFill>
                <a:latin typeface="Times New Roman"/>
                <a:cs typeface="Times New Roman"/>
              </a:rPr>
              <a:t>3"); </a:t>
            </a:r>
            <a:r>
              <a:rPr sz="2600" spc="-10" dirty="0">
                <a:solidFill>
                  <a:srgbClr val="245796"/>
                </a:solidFill>
                <a:latin typeface="Times New Roman"/>
                <a:cs typeface="Times New Roman"/>
              </a:rPr>
              <a:t>break;</a:t>
            </a:r>
            <a:endParaRPr sz="2600">
              <a:latin typeface="Times New Roman"/>
              <a:cs typeface="Times New Roman"/>
            </a:endParaRPr>
          </a:p>
          <a:p>
            <a:pPr marL="1101090">
              <a:lnSpc>
                <a:spcPct val="100000"/>
              </a:lnSpc>
              <a:spcBef>
                <a:spcPts val="915"/>
              </a:spcBef>
            </a:pPr>
            <a:r>
              <a:rPr sz="2600" spc="-10" dirty="0">
                <a:solidFill>
                  <a:srgbClr val="245796"/>
                </a:solidFill>
                <a:latin typeface="Times New Roman"/>
                <a:cs typeface="Times New Roman"/>
              </a:rPr>
              <a:t>default:</a:t>
            </a:r>
            <a:endParaRPr sz="2600">
              <a:latin typeface="Times New Roman"/>
              <a:cs typeface="Times New Roman"/>
            </a:endParaRPr>
          </a:p>
          <a:p>
            <a:pPr marL="1352550" marR="5080">
              <a:lnSpc>
                <a:spcPct val="131900"/>
              </a:lnSpc>
              <a:spcBef>
                <a:spcPts val="20"/>
              </a:spcBef>
            </a:pP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print("Out</a:t>
            </a:r>
            <a:r>
              <a:rPr sz="2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2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245796"/>
                </a:solidFill>
                <a:latin typeface="Times New Roman"/>
                <a:cs typeface="Times New Roman"/>
              </a:rPr>
              <a:t>range"); break;</a:t>
            </a:r>
            <a:endParaRPr sz="2600">
              <a:latin typeface="Times New Roman"/>
              <a:cs typeface="Times New Roman"/>
            </a:endParaRPr>
          </a:p>
          <a:p>
            <a:pPr marL="682625">
              <a:lnSpc>
                <a:spcPct val="100000"/>
              </a:lnSpc>
              <a:spcBef>
                <a:spcPts val="1000"/>
              </a:spcBef>
            </a:pPr>
            <a:r>
              <a:rPr sz="26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1015"/>
              </a:spcBef>
            </a:pPr>
            <a:r>
              <a:rPr sz="26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289810"/>
            <a:chOff x="0" y="0"/>
            <a:chExt cx="20058380" cy="228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3451" y="0"/>
              <a:ext cx="11275887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32305">
              <a:lnSpc>
                <a:spcPct val="100000"/>
              </a:lnSpc>
              <a:spcBef>
                <a:spcPts val="125"/>
              </a:spcBef>
            </a:pPr>
            <a:r>
              <a:rPr sz="6900" dirty="0"/>
              <a:t>Dart</a:t>
            </a:r>
            <a:r>
              <a:rPr sz="6900" spc="5" dirty="0"/>
              <a:t> </a:t>
            </a:r>
            <a:r>
              <a:rPr sz="6900" dirty="0"/>
              <a:t>Looping</a:t>
            </a:r>
            <a:r>
              <a:rPr sz="6900" spc="5" dirty="0"/>
              <a:t> </a:t>
            </a:r>
            <a:r>
              <a:rPr sz="6900" spc="-10" dirty="0"/>
              <a:t>statements</a:t>
            </a:r>
            <a:endParaRPr sz="6900"/>
          </a:p>
        </p:txBody>
      </p:sp>
      <p:sp>
        <p:nvSpPr>
          <p:cNvPr id="6" name="object 6"/>
          <p:cNvSpPr txBox="1"/>
          <p:nvPr/>
        </p:nvSpPr>
        <p:spPr>
          <a:xfrm>
            <a:off x="1076272" y="2479370"/>
            <a:ext cx="17950815" cy="75126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algn="just">
              <a:lnSpc>
                <a:spcPct val="151300"/>
              </a:lnSpc>
              <a:spcBef>
                <a:spcPts val="165"/>
              </a:spcBef>
            </a:pP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Loop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used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run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block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repetitively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given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number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600" spc="6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times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or</a:t>
            </a:r>
            <a:r>
              <a:rPr sz="3600" spc="69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245796"/>
                </a:solidFill>
                <a:latin typeface="Times New Roman"/>
                <a:cs typeface="Times New Roman"/>
              </a:rPr>
              <a:t>until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matches</a:t>
            </a:r>
            <a:r>
              <a:rPr sz="3600" spc="3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specified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condition.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Loops</a:t>
            </a:r>
            <a:r>
              <a:rPr sz="3600" spc="3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are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essential</a:t>
            </a:r>
            <a:r>
              <a:rPr sz="3600" spc="3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tools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any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programming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language.</a:t>
            </a:r>
            <a:r>
              <a:rPr sz="3600" spc="3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600" spc="3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spc="-25" dirty="0">
                <a:solidFill>
                  <a:srgbClr val="245796"/>
                </a:solidFill>
                <a:latin typeface="Times New Roman"/>
                <a:cs typeface="Times New Roman"/>
              </a:rPr>
              <a:t>is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used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to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iterate</a:t>
            </a:r>
            <a:r>
              <a:rPr sz="3600" spc="1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iterable</a:t>
            </a:r>
            <a:r>
              <a:rPr sz="3600" spc="114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such</a:t>
            </a:r>
            <a:r>
              <a:rPr sz="3600" spc="1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as</a:t>
            </a:r>
            <a:r>
              <a:rPr sz="3600" spc="114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list,</a:t>
            </a:r>
            <a:r>
              <a:rPr sz="3600" spc="114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map,</a:t>
            </a:r>
            <a:r>
              <a:rPr sz="3600" spc="1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etc.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perform</a:t>
            </a:r>
            <a:r>
              <a:rPr sz="3600" spc="1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operations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600" spc="114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multiple</a:t>
            </a:r>
            <a:r>
              <a:rPr sz="3600" spc="114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Times New Roman"/>
                <a:cs typeface="Times New Roman"/>
              </a:rPr>
              <a:t>times</a:t>
            </a:r>
            <a:r>
              <a:rPr sz="3600" spc="-10" dirty="0">
                <a:solidFill>
                  <a:srgbClr val="245796"/>
                </a:solidFill>
                <a:latin typeface="Times New Roman"/>
                <a:cs typeface="Times New Roman"/>
              </a:rPr>
              <a:t>.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loop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can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have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two</a:t>
            </a:r>
            <a:r>
              <a:rPr sz="3600" spc="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parts</a:t>
            </a:r>
            <a:r>
              <a:rPr sz="3600" spc="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-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body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loop</a:t>
            </a:r>
            <a:r>
              <a:rPr sz="3600" spc="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and</a:t>
            </a:r>
            <a:r>
              <a:rPr sz="3600" spc="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control</a:t>
            </a:r>
            <a:r>
              <a:rPr sz="3600" spc="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statements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main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objective</a:t>
            </a:r>
            <a:r>
              <a:rPr sz="3600" spc="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600" spc="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loop is to run the code</a:t>
            </a:r>
            <a:r>
              <a:rPr sz="36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multiple</a:t>
            </a:r>
            <a:r>
              <a:rPr sz="36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times. Dart</a:t>
            </a:r>
            <a:r>
              <a:rPr sz="36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supports</a:t>
            </a:r>
            <a:r>
              <a:rPr sz="3600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6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following type</a:t>
            </a:r>
            <a:r>
              <a:rPr sz="36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245796"/>
                </a:solidFill>
                <a:latin typeface="Times New Roman"/>
                <a:cs typeface="Times New Roman"/>
              </a:rPr>
              <a:t>of </a:t>
            </a:r>
            <a:r>
              <a:rPr sz="3600" spc="-10" dirty="0">
                <a:solidFill>
                  <a:srgbClr val="245796"/>
                </a:solidFill>
                <a:latin typeface="Times New Roman"/>
                <a:cs typeface="Times New Roman"/>
              </a:rPr>
              <a:t>loops.</a:t>
            </a:r>
            <a:endParaRPr sz="3600">
              <a:latin typeface="Times New Roman"/>
              <a:cs typeface="Times New Roman"/>
            </a:endParaRPr>
          </a:p>
          <a:p>
            <a:pPr marL="1226185" indent="-449580" algn="just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09722"/>
              <a:buFont typeface="Georgia"/>
              <a:buChar char="●"/>
              <a:tabLst>
                <a:tab pos="1226185" algn="l"/>
              </a:tabLst>
            </a:pP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Dart</a:t>
            </a:r>
            <a:r>
              <a:rPr sz="360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for</a:t>
            </a:r>
            <a:r>
              <a:rPr sz="360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EE220D"/>
                </a:solid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  <a:p>
            <a:pPr marL="1226185" indent="-449580" algn="just">
              <a:lnSpc>
                <a:spcPct val="100000"/>
              </a:lnSpc>
              <a:spcBef>
                <a:spcPts val="2290"/>
              </a:spcBef>
              <a:buClr>
                <a:srgbClr val="245796"/>
              </a:buClr>
              <a:buSzPct val="109722"/>
              <a:buFont typeface="Georgia"/>
              <a:buChar char="●"/>
              <a:tabLst>
                <a:tab pos="1226185" algn="l"/>
              </a:tabLst>
            </a:pP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Dart</a:t>
            </a:r>
            <a:r>
              <a:rPr sz="360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for…in</a:t>
            </a:r>
            <a:r>
              <a:rPr sz="360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EE220D"/>
                </a:solid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  <a:p>
            <a:pPr marL="1226185" indent="-449580" algn="just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09722"/>
              <a:buFont typeface="Georgia"/>
              <a:buChar char="●"/>
              <a:tabLst>
                <a:tab pos="1226185" algn="l"/>
              </a:tabLst>
            </a:pP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Dart</a:t>
            </a:r>
            <a:r>
              <a:rPr sz="360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while</a:t>
            </a:r>
            <a:r>
              <a:rPr sz="360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EE220D"/>
                </a:solid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  <a:p>
            <a:pPr marL="1226185" indent="-449580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09722"/>
              <a:buFont typeface="Georgia"/>
              <a:buChar char="●"/>
              <a:tabLst>
                <a:tab pos="1226185" algn="l"/>
              </a:tabLst>
            </a:pP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Dart</a:t>
            </a:r>
            <a:r>
              <a:rPr sz="3600" spc="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Times New Roman"/>
                <a:cs typeface="Times New Roman"/>
              </a:rPr>
              <a:t>do-</a:t>
            </a:r>
            <a:r>
              <a:rPr sz="3600" dirty="0">
                <a:solidFill>
                  <a:srgbClr val="EE220D"/>
                </a:solidFill>
                <a:latin typeface="Times New Roman"/>
                <a:cs typeface="Times New Roman"/>
              </a:rPr>
              <a:t>while </a:t>
            </a:r>
            <a:r>
              <a:rPr sz="3600" spc="-20" dirty="0">
                <a:solidFill>
                  <a:srgbClr val="EE220D"/>
                </a:solid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289810"/>
            <a:chOff x="0" y="0"/>
            <a:chExt cx="20058380" cy="228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9614" y="0"/>
              <a:ext cx="6531319" cy="228935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08660">
              <a:lnSpc>
                <a:spcPct val="100000"/>
              </a:lnSpc>
              <a:spcBef>
                <a:spcPts val="125"/>
              </a:spcBef>
            </a:pPr>
            <a:r>
              <a:rPr sz="6900" dirty="0"/>
              <a:t>Dart</a:t>
            </a:r>
            <a:r>
              <a:rPr sz="6900" spc="15" dirty="0"/>
              <a:t> </a:t>
            </a:r>
            <a:r>
              <a:rPr sz="6900" dirty="0"/>
              <a:t>for</a:t>
            </a:r>
            <a:r>
              <a:rPr sz="6900" spc="15" dirty="0"/>
              <a:t> </a:t>
            </a:r>
            <a:r>
              <a:rPr sz="6900" spc="-20" dirty="0"/>
              <a:t>loop</a:t>
            </a:r>
            <a:endParaRPr sz="6900"/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1645" marR="5080" indent="-449580" algn="just">
              <a:lnSpc>
                <a:spcPct val="150800"/>
              </a:lnSpc>
              <a:spcBef>
                <a:spcPts val="95"/>
              </a:spcBef>
              <a:buSzPct val="96341"/>
              <a:buFont typeface="Georgia"/>
              <a:buChar char="●"/>
              <a:tabLst>
                <a:tab pos="462915" algn="l"/>
              </a:tabLst>
            </a:pPr>
            <a:r>
              <a:rPr dirty="0"/>
              <a:t>The</a:t>
            </a:r>
            <a:r>
              <a:rPr spc="990" dirty="0"/>
              <a:t> </a:t>
            </a:r>
            <a:r>
              <a:rPr dirty="0"/>
              <a:t>for</a:t>
            </a:r>
            <a:r>
              <a:rPr spc="985" dirty="0"/>
              <a:t> </a:t>
            </a:r>
            <a:r>
              <a:rPr dirty="0"/>
              <a:t>loop</a:t>
            </a:r>
            <a:r>
              <a:rPr spc="985" dirty="0"/>
              <a:t> </a:t>
            </a:r>
            <a:r>
              <a:rPr dirty="0"/>
              <a:t>is</a:t>
            </a:r>
            <a:r>
              <a:rPr spc="994" dirty="0"/>
              <a:t> </a:t>
            </a:r>
            <a:r>
              <a:rPr dirty="0"/>
              <a:t>used</a:t>
            </a:r>
            <a:r>
              <a:rPr spc="985" dirty="0"/>
              <a:t> </a:t>
            </a:r>
            <a:r>
              <a:rPr dirty="0"/>
              <a:t>when</a:t>
            </a:r>
            <a:r>
              <a:rPr spc="985" dirty="0"/>
              <a:t> </a:t>
            </a:r>
            <a:r>
              <a:rPr dirty="0"/>
              <a:t>we</a:t>
            </a:r>
            <a:r>
              <a:rPr spc="994" dirty="0"/>
              <a:t> </a:t>
            </a:r>
            <a:r>
              <a:rPr spc="-20" dirty="0"/>
              <a:t>know 	</a:t>
            </a:r>
            <a:r>
              <a:rPr dirty="0"/>
              <a:t>how</a:t>
            </a:r>
            <a:r>
              <a:rPr spc="685" dirty="0"/>
              <a:t> </a:t>
            </a:r>
            <a:r>
              <a:rPr dirty="0"/>
              <a:t>many</a:t>
            </a:r>
            <a:r>
              <a:rPr spc="690" dirty="0"/>
              <a:t> </a:t>
            </a:r>
            <a:r>
              <a:rPr dirty="0"/>
              <a:t>times</a:t>
            </a:r>
            <a:r>
              <a:rPr spc="690" dirty="0"/>
              <a:t> </a:t>
            </a:r>
            <a:r>
              <a:rPr dirty="0"/>
              <a:t>a</a:t>
            </a:r>
            <a:r>
              <a:rPr spc="695" dirty="0"/>
              <a:t> </a:t>
            </a:r>
            <a:r>
              <a:rPr dirty="0"/>
              <a:t>block</a:t>
            </a:r>
            <a:r>
              <a:rPr spc="690" dirty="0"/>
              <a:t> </a:t>
            </a:r>
            <a:r>
              <a:rPr dirty="0"/>
              <a:t>of</a:t>
            </a:r>
            <a:r>
              <a:rPr spc="690" dirty="0"/>
              <a:t> </a:t>
            </a:r>
            <a:r>
              <a:rPr dirty="0"/>
              <a:t>code</a:t>
            </a:r>
            <a:r>
              <a:rPr spc="700" dirty="0"/>
              <a:t> </a:t>
            </a:r>
            <a:r>
              <a:rPr spc="-20" dirty="0"/>
              <a:t>will 	</a:t>
            </a:r>
            <a:r>
              <a:rPr dirty="0"/>
              <a:t>execute.</a:t>
            </a:r>
            <a:r>
              <a:rPr spc="745" dirty="0"/>
              <a:t> </a:t>
            </a:r>
            <a:r>
              <a:rPr dirty="0"/>
              <a:t>It</a:t>
            </a:r>
            <a:r>
              <a:rPr spc="745" dirty="0"/>
              <a:t> </a:t>
            </a:r>
            <a:r>
              <a:rPr dirty="0"/>
              <a:t>is</a:t>
            </a:r>
            <a:r>
              <a:rPr spc="750" dirty="0"/>
              <a:t> </a:t>
            </a:r>
            <a:r>
              <a:rPr dirty="0">
                <a:solidFill>
                  <a:srgbClr val="EE220D"/>
                </a:solidFill>
              </a:rPr>
              <a:t>quite</a:t>
            </a:r>
            <a:r>
              <a:rPr spc="75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same</a:t>
            </a:r>
            <a:r>
              <a:rPr spc="75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as</a:t>
            </a:r>
            <a:r>
              <a:rPr spc="75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the</a:t>
            </a:r>
            <a:r>
              <a:rPr spc="75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C</a:t>
            </a:r>
            <a:r>
              <a:rPr spc="755" dirty="0">
                <a:solidFill>
                  <a:srgbClr val="EE220D"/>
                </a:solidFill>
              </a:rPr>
              <a:t> </a:t>
            </a:r>
            <a:r>
              <a:rPr spc="-25" dirty="0"/>
              <a:t>for 	</a:t>
            </a:r>
            <a:r>
              <a:rPr dirty="0"/>
              <a:t>loop. The syntax</a:t>
            </a:r>
            <a:r>
              <a:rPr spc="-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given</a:t>
            </a:r>
            <a:r>
              <a:rPr spc="-5" dirty="0"/>
              <a:t> </a:t>
            </a:r>
            <a:r>
              <a:rPr spc="-10" dirty="0"/>
              <a:t>below.</a:t>
            </a:r>
          </a:p>
          <a:p>
            <a:pPr marL="12700" algn="just">
              <a:lnSpc>
                <a:spcPct val="100000"/>
              </a:lnSpc>
              <a:spcBef>
                <a:spcPts val="2500"/>
              </a:spcBef>
            </a:pPr>
            <a:r>
              <a:rPr dirty="0">
                <a:solidFill>
                  <a:srgbClr val="EE220D"/>
                </a:solidFill>
              </a:rPr>
              <a:t>for(Initialization;</a:t>
            </a:r>
            <a:r>
              <a:rPr spc="-3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condition;</a:t>
            </a:r>
            <a:r>
              <a:rPr spc="-3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incr/decr)</a:t>
            </a:r>
            <a:r>
              <a:rPr spc="-30" dirty="0">
                <a:solidFill>
                  <a:srgbClr val="EE220D"/>
                </a:solidFill>
              </a:rPr>
              <a:t> </a:t>
            </a:r>
            <a:r>
              <a:rPr spc="-50" dirty="0">
                <a:solidFill>
                  <a:srgbClr val="EE220D"/>
                </a:solidFill>
              </a:rPr>
              <a:t>{</a:t>
            </a:r>
          </a:p>
          <a:p>
            <a:pPr marL="12700" algn="just">
              <a:lnSpc>
                <a:spcPct val="100000"/>
              </a:lnSpc>
              <a:spcBef>
                <a:spcPts val="2500"/>
              </a:spcBef>
            </a:pPr>
            <a:r>
              <a:rPr dirty="0">
                <a:solidFill>
                  <a:srgbClr val="EE220D"/>
                </a:solidFill>
              </a:rPr>
              <a:t>//</a:t>
            </a:r>
            <a:r>
              <a:rPr spc="-5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loop </a:t>
            </a:r>
            <a:r>
              <a:rPr spc="-20" dirty="0">
                <a:solidFill>
                  <a:srgbClr val="EE220D"/>
                </a:solidFill>
              </a:rPr>
              <a:t>body</a:t>
            </a:r>
          </a:p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spc="-50" dirty="0">
                <a:solidFill>
                  <a:srgbClr val="EE220D"/>
                </a:solidFill>
              </a:rPr>
              <a:t>}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0"/>
              </a:spcBef>
            </a:pPr>
            <a:r>
              <a:rPr dirty="0"/>
              <a:t>void</a:t>
            </a:r>
            <a:r>
              <a:rPr spc="-10" dirty="0"/>
              <a:t> main()</a:t>
            </a: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pc="-50" dirty="0"/>
              <a:t>{</a:t>
            </a:r>
          </a:p>
          <a:p>
            <a:pPr marL="577850">
              <a:lnSpc>
                <a:spcPct val="100000"/>
              </a:lnSpc>
              <a:spcBef>
                <a:spcPts val="2655"/>
              </a:spcBef>
            </a:pPr>
            <a:r>
              <a:rPr dirty="0"/>
              <a:t>int</a:t>
            </a:r>
            <a:r>
              <a:rPr spc="-20" dirty="0"/>
              <a:t> </a:t>
            </a:r>
            <a:r>
              <a:rPr dirty="0"/>
              <a:t>num</a:t>
            </a:r>
            <a:r>
              <a:rPr spc="-20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spc="-25" dirty="0"/>
              <a:t>1;</a:t>
            </a:r>
          </a:p>
          <a:p>
            <a:pPr marL="1143000" marR="5080" indent="-565785">
              <a:lnSpc>
                <a:spcPct val="149700"/>
              </a:lnSpc>
              <a:spcBef>
                <a:spcPts val="80"/>
              </a:spcBef>
            </a:pPr>
            <a:r>
              <a:rPr dirty="0">
                <a:solidFill>
                  <a:srgbClr val="EE220D"/>
                </a:solidFill>
              </a:rPr>
              <a:t>for(num;</a:t>
            </a:r>
            <a:r>
              <a:rPr spc="-70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num&lt;=10;</a:t>
            </a:r>
            <a:r>
              <a:rPr spc="-75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num++)</a:t>
            </a:r>
            <a:r>
              <a:rPr spc="-70" dirty="0">
                <a:solidFill>
                  <a:srgbClr val="EE220D"/>
                </a:solidFill>
              </a:rPr>
              <a:t> </a:t>
            </a:r>
            <a:r>
              <a:rPr spc="-50" dirty="0">
                <a:solidFill>
                  <a:srgbClr val="EE220D"/>
                </a:solidFill>
              </a:rPr>
              <a:t>{ </a:t>
            </a:r>
            <a:r>
              <a:rPr spc="-10" dirty="0">
                <a:solidFill>
                  <a:srgbClr val="EE220D"/>
                </a:solidFill>
              </a:rPr>
              <a:t>print(num);</a:t>
            </a:r>
          </a:p>
          <a:p>
            <a:pPr marL="577850">
              <a:lnSpc>
                <a:spcPct val="100000"/>
              </a:lnSpc>
              <a:spcBef>
                <a:spcPts val="2675"/>
              </a:spcBef>
            </a:pPr>
            <a:r>
              <a:rPr spc="-50" dirty="0">
                <a:solidFill>
                  <a:srgbClr val="EE220D"/>
                </a:solidFill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193925"/>
            <a:chOff x="0" y="0"/>
            <a:chExt cx="2005838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8781" y="0"/>
              <a:ext cx="7860703" cy="2193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/>
              <a:t>Dart</a:t>
            </a:r>
            <a:r>
              <a:rPr spc="-25" dirty="0"/>
              <a:t> </a:t>
            </a:r>
            <a:r>
              <a:rPr dirty="0"/>
              <a:t>for…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20" dirty="0"/>
              <a:t>Loop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6742" y="2493611"/>
            <a:ext cx="8844280" cy="3785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1645" marR="5080" indent="-449580" algn="just">
              <a:lnSpc>
                <a:spcPct val="129700"/>
              </a:lnSpc>
              <a:spcBef>
                <a:spcPts val="120"/>
              </a:spcBef>
              <a:buSzPct val="103947"/>
              <a:buFont typeface="Georgia"/>
              <a:buChar char="●"/>
              <a:tabLst>
                <a:tab pos="462915" algn="l"/>
              </a:tabLst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800" spc="27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for…in</a:t>
            </a:r>
            <a:r>
              <a:rPr sz="3800" spc="2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loop</a:t>
            </a:r>
            <a:r>
              <a:rPr sz="3800" spc="2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800" spc="28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slightly</a:t>
            </a:r>
            <a:r>
              <a:rPr sz="3800" spc="2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different</a:t>
            </a:r>
            <a:r>
              <a:rPr sz="3800" spc="2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20" dirty="0">
                <a:solidFill>
                  <a:srgbClr val="245796"/>
                </a:solidFill>
                <a:latin typeface="Times New Roman"/>
                <a:cs typeface="Times New Roman"/>
              </a:rPr>
              <a:t>from 	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800" spc="7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800" spc="7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loop.</a:t>
            </a:r>
            <a:r>
              <a:rPr sz="3800" spc="7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3800" spc="7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only</a:t>
            </a:r>
            <a:r>
              <a:rPr sz="3800" spc="7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takes</a:t>
            </a:r>
            <a:r>
              <a:rPr sz="3800" spc="7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dart</a:t>
            </a:r>
            <a:r>
              <a:rPr sz="3800" spc="7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object</a:t>
            </a:r>
            <a:r>
              <a:rPr sz="3800" spc="7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spc="-25" dirty="0">
                <a:solidFill>
                  <a:srgbClr val="EE220D"/>
                </a:solidFill>
                <a:latin typeface="Times New Roman"/>
                <a:cs typeface="Times New Roman"/>
              </a:rPr>
              <a:t>or 	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expression</a:t>
            </a:r>
            <a:r>
              <a:rPr sz="3800" spc="79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as</a:t>
            </a:r>
            <a:r>
              <a:rPr sz="380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an</a:t>
            </a:r>
            <a:r>
              <a:rPr sz="3800" spc="7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iterator</a:t>
            </a:r>
            <a:r>
              <a:rPr sz="3800" spc="80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800" spc="79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iterates</a:t>
            </a:r>
            <a:r>
              <a:rPr sz="380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 	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element</a:t>
            </a:r>
            <a:r>
              <a:rPr sz="380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one</a:t>
            </a:r>
            <a:r>
              <a:rPr sz="3800" spc="80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at</a:t>
            </a:r>
            <a:r>
              <a:rPr sz="3800" spc="80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a</a:t>
            </a:r>
            <a:r>
              <a:rPr sz="3800" spc="80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time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.</a:t>
            </a:r>
            <a:r>
              <a:rPr sz="3800" spc="8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3800" spc="80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value</a:t>
            </a:r>
            <a:r>
              <a:rPr sz="3800" spc="80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3800" spc="8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 	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element</a:t>
            </a:r>
            <a:r>
              <a:rPr sz="3800" spc="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800" spc="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bound</a:t>
            </a:r>
            <a:r>
              <a:rPr sz="3800" spc="4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to</a:t>
            </a:r>
            <a:r>
              <a:rPr sz="3800" spc="4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var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,</a:t>
            </a:r>
            <a:r>
              <a:rPr sz="3800" spc="3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which</a:t>
            </a:r>
            <a:r>
              <a:rPr sz="3800" spc="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800" spc="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800" spc="4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245796"/>
                </a:solidFill>
                <a:latin typeface="Times New Roman"/>
                <a:cs typeface="Times New Roman"/>
              </a:rPr>
              <a:t>valid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6786" y="6428988"/>
            <a:ext cx="3413760" cy="603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17930" algn="l"/>
                <a:tab pos="2651125" algn="l"/>
              </a:tabLst>
            </a:pPr>
            <a:r>
              <a:rPr sz="3800" spc="-20" dirty="0">
                <a:solidFill>
                  <a:srgbClr val="245796"/>
                </a:solidFill>
                <a:latin typeface="Times New Roman"/>
                <a:cs typeface="Times New Roman"/>
              </a:rPr>
              <a:t>loop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800" spc="-10" dirty="0">
                <a:solidFill>
                  <a:srgbClr val="245796"/>
                </a:solidFill>
                <a:latin typeface="Times New Roman"/>
                <a:cs typeface="Times New Roman"/>
              </a:rPr>
              <a:t>body.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742" y="6263130"/>
            <a:ext cx="5106670" cy="377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 marR="5080">
              <a:lnSpc>
                <a:spcPct val="128400"/>
              </a:lnSpc>
              <a:spcBef>
                <a:spcPts val="100"/>
              </a:spcBef>
              <a:tabLst>
                <a:tab pos="1507490" algn="l"/>
                <a:tab pos="3592829" algn="l"/>
                <a:tab pos="4505325" algn="l"/>
              </a:tabLst>
            </a:pP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and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800" spc="-10" dirty="0">
                <a:solidFill>
                  <a:srgbClr val="245796"/>
                </a:solidFill>
                <a:latin typeface="Times New Roman"/>
                <a:cs typeface="Times New Roman"/>
              </a:rPr>
              <a:t>available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for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3800" spc="-6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3800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given</a:t>
            </a:r>
            <a:r>
              <a:rPr sz="3800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245796"/>
                </a:solidFill>
                <a:latin typeface="Times New Roman"/>
                <a:cs typeface="Times New Roman"/>
              </a:rPr>
              <a:t>below.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for</a:t>
            </a:r>
            <a:r>
              <a:rPr sz="3800" spc="-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(var</a:t>
            </a:r>
            <a:r>
              <a:rPr sz="3800" spc="-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in</a:t>
            </a:r>
            <a:r>
              <a:rPr sz="3800" spc="-6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expression)</a:t>
            </a:r>
            <a:r>
              <a:rPr sz="3800" spc="-6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spc="-10" dirty="0">
                <a:solidFill>
                  <a:srgbClr val="EE220D"/>
                </a:solidFill>
                <a:latin typeface="Times New Roman"/>
                <a:cs typeface="Times New Roman"/>
              </a:rPr>
              <a:t>//statement(s)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24920" y="2450052"/>
            <a:ext cx="6957059" cy="3071495"/>
          </a:xfrm>
          <a:prstGeom prst="rect">
            <a:avLst/>
          </a:prstGeom>
        </p:spPr>
        <p:txBody>
          <a:bodyPr vert="horz" wrap="square" lIns="0" tIns="34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0"/>
              </a:spcBef>
            </a:pP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4450" spc="-10" dirty="0">
                <a:solidFill>
                  <a:srgbClr val="245796"/>
                </a:solidFill>
                <a:latin typeface="Times New Roman"/>
                <a:cs typeface="Times New Roman"/>
              </a:rPr>
              <a:t> main()</a:t>
            </a:r>
            <a:endParaRPr sz="4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445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4450">
              <a:latin typeface="Times New Roman"/>
              <a:cs typeface="Times New Roman"/>
            </a:endParaRPr>
          </a:p>
          <a:p>
            <a:pPr marL="577850">
              <a:lnSpc>
                <a:spcPct val="100000"/>
              </a:lnSpc>
              <a:spcBef>
                <a:spcPts val="2655"/>
              </a:spcBef>
            </a:pP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4450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list1</a:t>
            </a:r>
            <a:r>
              <a:rPr sz="4450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4450" spc="-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450" spc="-10" dirty="0">
                <a:solidFill>
                  <a:srgbClr val="245796"/>
                </a:solidFill>
                <a:latin typeface="Times New Roman"/>
                <a:cs typeface="Times New Roman"/>
              </a:rPr>
              <a:t>[10,20,30,40,50];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90348" y="5505875"/>
            <a:ext cx="4474845" cy="307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0" marR="5080" indent="-565785">
              <a:lnSpc>
                <a:spcPct val="149700"/>
              </a:lnSpc>
              <a:spcBef>
                <a:spcPts val="100"/>
              </a:spcBef>
              <a:tabLst>
                <a:tab pos="4190365" algn="l"/>
              </a:tabLst>
            </a:pP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for(var</a:t>
            </a:r>
            <a:r>
              <a:rPr sz="4450" spc="-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i</a:t>
            </a:r>
            <a:r>
              <a:rPr sz="4450" spc="-3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in</a:t>
            </a:r>
            <a:r>
              <a:rPr sz="4450" spc="-3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450" spc="-10" dirty="0">
                <a:solidFill>
                  <a:srgbClr val="EE220D"/>
                </a:solidFill>
                <a:latin typeface="Times New Roman"/>
                <a:cs typeface="Times New Roman"/>
              </a:rPr>
              <a:t>list1)</a:t>
            </a:r>
            <a:r>
              <a:rPr sz="4450" dirty="0">
                <a:solidFill>
                  <a:srgbClr val="EE220D"/>
                </a:solidFill>
                <a:latin typeface="Times New Roman"/>
                <a:cs typeface="Times New Roman"/>
              </a:rPr>
              <a:t>	</a:t>
            </a:r>
            <a:r>
              <a:rPr sz="4450" spc="-50" dirty="0">
                <a:solidFill>
                  <a:srgbClr val="EE220D"/>
                </a:solidFill>
                <a:latin typeface="Times New Roman"/>
                <a:cs typeface="Times New Roman"/>
              </a:rPr>
              <a:t>{ </a:t>
            </a:r>
            <a:r>
              <a:rPr sz="4450" spc="-10" dirty="0">
                <a:solidFill>
                  <a:srgbClr val="EE220D"/>
                </a:solidFill>
                <a:latin typeface="Times New Roman"/>
                <a:cs typeface="Times New Roman"/>
              </a:rPr>
              <a:t>print(i);</a:t>
            </a:r>
            <a:endParaRPr sz="4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445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24920" y="8890903"/>
            <a:ext cx="29718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44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193925"/>
            <a:chOff x="0" y="0"/>
            <a:chExt cx="2005838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8781" y="0"/>
              <a:ext cx="7109312" cy="2193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/>
              <a:t>Dart</a:t>
            </a:r>
            <a:r>
              <a:rPr spc="-30" dirty="0"/>
              <a:t> </a:t>
            </a:r>
            <a:r>
              <a:rPr dirty="0"/>
              <a:t>while</a:t>
            </a:r>
            <a:r>
              <a:rPr spc="-30" dirty="0"/>
              <a:t> </a:t>
            </a:r>
            <a:r>
              <a:rPr spc="-20" dirty="0"/>
              <a:t>Loop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6742" y="2471831"/>
            <a:ext cx="8844280" cy="354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1645" marR="5080" indent="-449580" algn="just">
              <a:lnSpc>
                <a:spcPct val="140800"/>
              </a:lnSpc>
              <a:spcBef>
                <a:spcPts val="90"/>
              </a:spcBef>
              <a:buSzPct val="96341"/>
              <a:buFont typeface="Georgia"/>
              <a:buChar char="●"/>
              <a:tabLst>
                <a:tab pos="462915" algn="l"/>
              </a:tabLst>
            </a:pP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4100" spc="17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while</a:t>
            </a:r>
            <a:r>
              <a:rPr sz="4100" spc="17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loop</a:t>
            </a:r>
            <a:r>
              <a:rPr sz="4100" spc="16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executes</a:t>
            </a:r>
            <a:r>
              <a:rPr sz="4100" spc="17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4100" spc="17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block</a:t>
            </a:r>
            <a:r>
              <a:rPr sz="4100" spc="16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spc="-25" dirty="0">
                <a:solidFill>
                  <a:srgbClr val="245796"/>
                </a:solidFill>
                <a:latin typeface="Times New Roman"/>
                <a:cs typeface="Times New Roman"/>
              </a:rPr>
              <a:t>of 	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code</a:t>
            </a:r>
            <a:r>
              <a:rPr sz="4100" spc="14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until</a:t>
            </a:r>
            <a:r>
              <a:rPr sz="4100" spc="1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410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given</a:t>
            </a:r>
            <a:r>
              <a:rPr sz="4100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expression</a:t>
            </a:r>
            <a:r>
              <a:rPr sz="4100" spc="1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4100" spc="1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false. 	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It</a:t>
            </a:r>
            <a:r>
              <a:rPr sz="4100" spc="14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is</a:t>
            </a:r>
            <a:r>
              <a:rPr sz="4100" spc="14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more</a:t>
            </a:r>
            <a:r>
              <a:rPr sz="4100" spc="14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beneficial</a:t>
            </a:r>
            <a:r>
              <a:rPr sz="4100" spc="14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when</a:t>
            </a:r>
            <a:r>
              <a:rPr sz="4100" spc="14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we</a:t>
            </a:r>
            <a:r>
              <a:rPr sz="4100" spc="14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don't 	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know</a:t>
            </a:r>
            <a:r>
              <a:rPr sz="4100" spc="18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r>
              <a:rPr sz="4100" spc="19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number</a:t>
            </a:r>
            <a:r>
              <a:rPr sz="4100" spc="19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of</a:t>
            </a:r>
            <a:r>
              <a:rPr sz="4100" spc="185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execution.</a:t>
            </a:r>
            <a:r>
              <a:rPr sz="4100" spc="190" dirty="0">
                <a:solidFill>
                  <a:srgbClr val="245796"/>
                </a:solidFill>
                <a:latin typeface="Times New Roman"/>
                <a:cs typeface="Times New Roman"/>
              </a:rPr>
              <a:t>  </a:t>
            </a:r>
            <a:r>
              <a:rPr sz="4100" spc="-25" dirty="0">
                <a:solidFill>
                  <a:srgbClr val="245796"/>
                </a:solidFill>
                <a:latin typeface="Times New Roman"/>
                <a:cs typeface="Times New Roman"/>
              </a:rPr>
              <a:t>The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1411" y="6241350"/>
            <a:ext cx="395859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34285" algn="l"/>
              </a:tabLst>
            </a:pP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given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below.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6991" y="5990049"/>
            <a:ext cx="3937635" cy="3543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5085">
              <a:lnSpc>
                <a:spcPct val="140800"/>
              </a:lnSpc>
              <a:spcBef>
                <a:spcPts val="90"/>
              </a:spcBef>
              <a:tabLst>
                <a:tab pos="2738755" algn="l"/>
              </a:tabLst>
            </a:pP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syntax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	</a:t>
            </a:r>
            <a:r>
              <a:rPr sz="4100" spc="-25" dirty="0">
                <a:solidFill>
                  <a:srgbClr val="245796"/>
                </a:solidFill>
                <a:latin typeface="Times New Roman"/>
                <a:cs typeface="Times New Roman"/>
              </a:rPr>
              <a:t>is </a:t>
            </a:r>
            <a:r>
              <a:rPr sz="4100" dirty="0">
                <a:solidFill>
                  <a:srgbClr val="EE220D"/>
                </a:solidFill>
                <a:latin typeface="Times New Roman"/>
                <a:cs typeface="Times New Roman"/>
              </a:rPr>
              <a:t>while(condition)</a:t>
            </a:r>
            <a:r>
              <a:rPr sz="4100" spc="-3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1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4100">
              <a:latin typeface="Times New Roman"/>
              <a:cs typeface="Times New Roman"/>
            </a:endParaRPr>
          </a:p>
          <a:p>
            <a:pPr marL="1394460">
              <a:lnSpc>
                <a:spcPct val="100000"/>
              </a:lnSpc>
              <a:spcBef>
                <a:spcPts val="2010"/>
              </a:spcBef>
            </a:pPr>
            <a:r>
              <a:rPr sz="4100" dirty="0">
                <a:solidFill>
                  <a:srgbClr val="EE220D"/>
                </a:solidFill>
                <a:latin typeface="Times New Roman"/>
                <a:cs typeface="Times New Roman"/>
              </a:rPr>
              <a:t>//</a:t>
            </a:r>
            <a:r>
              <a:rPr sz="410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EE220D"/>
                </a:solidFill>
                <a:latin typeface="Times New Roman"/>
                <a:cs typeface="Times New Roman"/>
              </a:rPr>
              <a:t>loop </a:t>
            </a:r>
            <a:r>
              <a:rPr sz="4100" spc="-20" dirty="0">
                <a:solidFill>
                  <a:srgbClr val="EE220D"/>
                </a:solidFill>
                <a:latin typeface="Times New Roman"/>
                <a:cs typeface="Times New Roman"/>
              </a:rPr>
              <a:t>body</a:t>
            </a:r>
            <a:endParaRPr sz="41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2005"/>
              </a:spcBef>
            </a:pPr>
            <a:r>
              <a:rPr sz="41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41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24920" y="2491936"/>
            <a:ext cx="5589270" cy="7376159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41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spc="-10" dirty="0">
                <a:solidFill>
                  <a:srgbClr val="245796"/>
                </a:solidFill>
                <a:latin typeface="Times New Roman"/>
                <a:cs typeface="Times New Roman"/>
              </a:rPr>
              <a:t>main()</a:t>
            </a: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41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4100">
              <a:latin typeface="Times New Roman"/>
              <a:cs typeface="Times New Roman"/>
            </a:endParaRPr>
          </a:p>
          <a:p>
            <a:pPr marL="535940">
              <a:lnSpc>
                <a:spcPct val="100000"/>
              </a:lnSpc>
              <a:spcBef>
                <a:spcPts val="1510"/>
              </a:spcBef>
            </a:pP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var a</a:t>
            </a:r>
            <a:r>
              <a:rPr sz="4100" spc="1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4100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spc="-25" dirty="0">
                <a:solidFill>
                  <a:srgbClr val="245796"/>
                </a:solidFill>
                <a:latin typeface="Times New Roman"/>
                <a:cs typeface="Times New Roman"/>
              </a:rPr>
              <a:t>1;</a:t>
            </a:r>
            <a:endParaRPr sz="4100">
              <a:latin typeface="Times New Roman"/>
              <a:cs typeface="Times New Roman"/>
            </a:endParaRPr>
          </a:p>
          <a:p>
            <a:pPr marL="1452245" marR="5080">
              <a:lnSpc>
                <a:spcPct val="130700"/>
              </a:lnSpc>
            </a:pP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4100" spc="-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245796"/>
                </a:solidFill>
                <a:latin typeface="Times New Roman"/>
                <a:cs typeface="Times New Roman"/>
              </a:rPr>
              <a:t>maxnum =</a:t>
            </a:r>
            <a:r>
              <a:rPr sz="4100" spc="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4100" spc="-25" dirty="0">
                <a:solidFill>
                  <a:srgbClr val="245796"/>
                </a:solidFill>
                <a:latin typeface="Times New Roman"/>
                <a:cs typeface="Times New Roman"/>
              </a:rPr>
              <a:t>10; </a:t>
            </a:r>
            <a:r>
              <a:rPr sz="4100" spc="-10" dirty="0">
                <a:solidFill>
                  <a:srgbClr val="EE220D"/>
                </a:solidFill>
                <a:latin typeface="Times New Roman"/>
                <a:cs typeface="Times New Roman"/>
              </a:rPr>
              <a:t>while(a&lt;maxnum){</a:t>
            </a:r>
            <a:endParaRPr sz="4100">
              <a:latin typeface="Times New Roman"/>
              <a:cs typeface="Times New Roman"/>
            </a:endParaRPr>
          </a:p>
          <a:p>
            <a:pPr marL="1975485" marR="1878330">
              <a:lnSpc>
                <a:spcPct val="130700"/>
              </a:lnSpc>
              <a:spcBef>
                <a:spcPts val="5"/>
              </a:spcBef>
            </a:pPr>
            <a:r>
              <a:rPr sz="4100" spc="-10" dirty="0">
                <a:solidFill>
                  <a:srgbClr val="EE220D"/>
                </a:solidFill>
                <a:latin typeface="Times New Roman"/>
                <a:cs typeface="Times New Roman"/>
              </a:rPr>
              <a:t>print(a); </a:t>
            </a:r>
            <a:r>
              <a:rPr sz="4100" dirty="0">
                <a:solidFill>
                  <a:srgbClr val="EE220D"/>
                </a:solidFill>
                <a:latin typeface="Times New Roman"/>
                <a:cs typeface="Times New Roman"/>
              </a:rPr>
              <a:t>a</a:t>
            </a:r>
            <a:r>
              <a:rPr sz="4100" spc="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10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4100" spc="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4100" spc="-20" dirty="0">
                <a:solidFill>
                  <a:srgbClr val="EE220D"/>
                </a:solidFill>
                <a:latin typeface="Times New Roman"/>
                <a:cs typeface="Times New Roman"/>
              </a:rPr>
              <a:t>a+1;</a:t>
            </a: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41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4100" spc="-50" dirty="0">
                <a:solidFill>
                  <a:srgbClr val="245796"/>
                </a:solidFill>
                <a:latin typeface="Times New Roman"/>
                <a:cs typeface="Times New Roman"/>
              </a:rPr>
              <a:t>}</a:t>
            </a:r>
            <a:endParaRPr sz="4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058380" cy="2193925"/>
            <a:chOff x="0" y="0"/>
            <a:chExt cx="2005838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8781" y="0"/>
              <a:ext cx="8790517" cy="2193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54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14"/>
              </a:spcBef>
            </a:pPr>
            <a:r>
              <a:rPr dirty="0"/>
              <a:t>Dart</a:t>
            </a:r>
            <a:r>
              <a:rPr spc="-35" dirty="0"/>
              <a:t> </a:t>
            </a:r>
            <a:r>
              <a:rPr dirty="0"/>
              <a:t>do…while</a:t>
            </a:r>
            <a:r>
              <a:rPr spc="-40" dirty="0"/>
              <a:t> </a:t>
            </a:r>
            <a:r>
              <a:rPr spc="-20" dirty="0"/>
              <a:t>Loop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1645" marR="5080" indent="-449580" algn="just">
              <a:lnSpc>
                <a:spcPct val="140800"/>
              </a:lnSpc>
              <a:spcBef>
                <a:spcPts val="90"/>
              </a:spcBef>
              <a:buSzPct val="96341"/>
              <a:buFont typeface="Georgia"/>
              <a:buChar char="●"/>
              <a:tabLst>
                <a:tab pos="462915" algn="l"/>
              </a:tabLst>
            </a:pPr>
            <a:r>
              <a:rPr dirty="0"/>
              <a:t>The</a:t>
            </a:r>
            <a:r>
              <a:rPr spc="1015" dirty="0"/>
              <a:t> </a:t>
            </a:r>
            <a:r>
              <a:rPr dirty="0"/>
              <a:t>do…while</a:t>
            </a:r>
            <a:r>
              <a:rPr spc="1015" dirty="0"/>
              <a:t> </a:t>
            </a:r>
            <a:r>
              <a:rPr dirty="0"/>
              <a:t>loop</a:t>
            </a:r>
            <a:r>
              <a:rPr spc="1015" dirty="0"/>
              <a:t> </a:t>
            </a:r>
            <a:r>
              <a:rPr dirty="0"/>
              <a:t>is</a:t>
            </a:r>
            <a:r>
              <a:rPr spc="1015" dirty="0"/>
              <a:t> </a:t>
            </a:r>
            <a:r>
              <a:rPr dirty="0"/>
              <a:t>similar</a:t>
            </a:r>
            <a:r>
              <a:rPr spc="1015" dirty="0"/>
              <a:t> </a:t>
            </a:r>
            <a:r>
              <a:rPr dirty="0"/>
              <a:t>to</a:t>
            </a:r>
            <a:r>
              <a:rPr spc="1019" dirty="0"/>
              <a:t> </a:t>
            </a:r>
            <a:r>
              <a:rPr spc="-25" dirty="0"/>
              <a:t>the 	</a:t>
            </a:r>
            <a:r>
              <a:rPr dirty="0"/>
              <a:t>while</a:t>
            </a:r>
            <a:r>
              <a:rPr spc="85" dirty="0"/>
              <a:t> </a:t>
            </a:r>
            <a:r>
              <a:rPr dirty="0"/>
              <a:t>loop</a:t>
            </a:r>
            <a:r>
              <a:rPr spc="80" dirty="0"/>
              <a:t> </a:t>
            </a:r>
            <a:r>
              <a:rPr dirty="0"/>
              <a:t>but</a:t>
            </a:r>
            <a:r>
              <a:rPr spc="85" dirty="0"/>
              <a:t> </a:t>
            </a:r>
            <a:r>
              <a:rPr dirty="0"/>
              <a:t>only</a:t>
            </a:r>
            <a:r>
              <a:rPr spc="80" dirty="0"/>
              <a:t> </a:t>
            </a:r>
            <a:r>
              <a:rPr dirty="0"/>
              <a:t>difference</a:t>
            </a:r>
            <a:r>
              <a:rPr spc="90" dirty="0"/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dirty="0"/>
              <a:t>that,</a:t>
            </a:r>
            <a:r>
              <a:rPr spc="85" dirty="0"/>
              <a:t> </a:t>
            </a:r>
            <a:r>
              <a:rPr spc="-25" dirty="0"/>
              <a:t>it 	</a:t>
            </a:r>
            <a:r>
              <a:rPr dirty="0"/>
              <a:t>executes</a:t>
            </a:r>
            <a:r>
              <a:rPr spc="15" dirty="0"/>
              <a:t>  </a:t>
            </a:r>
            <a:r>
              <a:rPr dirty="0"/>
              <a:t>the</a:t>
            </a:r>
            <a:r>
              <a:rPr spc="15" dirty="0"/>
              <a:t>  </a:t>
            </a:r>
            <a:r>
              <a:rPr dirty="0"/>
              <a:t>loop</a:t>
            </a:r>
            <a:r>
              <a:rPr spc="15" dirty="0"/>
              <a:t>  </a:t>
            </a:r>
            <a:r>
              <a:rPr dirty="0"/>
              <a:t>statement</a:t>
            </a:r>
            <a:r>
              <a:rPr spc="15" dirty="0"/>
              <a:t>  </a:t>
            </a:r>
            <a:r>
              <a:rPr dirty="0"/>
              <a:t>and</a:t>
            </a:r>
            <a:r>
              <a:rPr spc="15" dirty="0"/>
              <a:t>  </a:t>
            </a:r>
            <a:r>
              <a:rPr spc="-20" dirty="0"/>
              <a:t>then 	</a:t>
            </a:r>
            <a:r>
              <a:rPr dirty="0"/>
              <a:t>check</a:t>
            </a:r>
            <a:r>
              <a:rPr spc="605" dirty="0"/>
              <a:t> </a:t>
            </a:r>
            <a:r>
              <a:rPr dirty="0"/>
              <a:t>the</a:t>
            </a:r>
            <a:r>
              <a:rPr spc="625" dirty="0"/>
              <a:t> </a:t>
            </a:r>
            <a:r>
              <a:rPr dirty="0"/>
              <a:t>given</a:t>
            </a:r>
            <a:r>
              <a:rPr spc="615" dirty="0"/>
              <a:t> </a:t>
            </a:r>
            <a:r>
              <a:rPr dirty="0"/>
              <a:t>condition.</a:t>
            </a:r>
            <a:r>
              <a:rPr spc="625" dirty="0"/>
              <a:t> </a:t>
            </a:r>
            <a:r>
              <a:rPr dirty="0"/>
              <a:t>The</a:t>
            </a:r>
            <a:r>
              <a:rPr spc="625" dirty="0"/>
              <a:t> </a:t>
            </a:r>
            <a:r>
              <a:rPr spc="-10" dirty="0"/>
              <a:t>syntax 	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given</a:t>
            </a:r>
            <a:r>
              <a:rPr spc="-5" dirty="0"/>
              <a:t> </a:t>
            </a:r>
            <a:r>
              <a:rPr spc="-10" dirty="0"/>
              <a:t>below.</a:t>
            </a:r>
          </a:p>
          <a:p>
            <a:pPr marL="405130">
              <a:lnSpc>
                <a:spcPct val="100000"/>
              </a:lnSpc>
              <a:spcBef>
                <a:spcPts val="2010"/>
              </a:spcBef>
            </a:pPr>
            <a:r>
              <a:rPr dirty="0">
                <a:solidFill>
                  <a:srgbClr val="EE220D"/>
                </a:solidFill>
              </a:rPr>
              <a:t>do</a:t>
            </a:r>
            <a:r>
              <a:rPr spc="5" dirty="0">
                <a:solidFill>
                  <a:srgbClr val="EE220D"/>
                </a:solidFill>
              </a:rPr>
              <a:t> </a:t>
            </a:r>
            <a:r>
              <a:rPr spc="-60" dirty="0">
                <a:solidFill>
                  <a:srgbClr val="EE220D"/>
                </a:solidFill>
              </a:rPr>
              <a:t>{</a:t>
            </a:r>
          </a:p>
          <a:p>
            <a:pPr marL="535940">
              <a:lnSpc>
                <a:spcPct val="100000"/>
              </a:lnSpc>
              <a:spcBef>
                <a:spcPts val="2005"/>
              </a:spcBef>
            </a:pPr>
            <a:r>
              <a:rPr dirty="0">
                <a:solidFill>
                  <a:srgbClr val="EE220D"/>
                </a:solidFill>
              </a:rPr>
              <a:t>//</a:t>
            </a:r>
            <a:r>
              <a:rPr spc="-5" dirty="0">
                <a:solidFill>
                  <a:srgbClr val="EE220D"/>
                </a:solidFill>
              </a:rPr>
              <a:t> </a:t>
            </a:r>
            <a:r>
              <a:rPr dirty="0">
                <a:solidFill>
                  <a:srgbClr val="EE220D"/>
                </a:solidFill>
              </a:rPr>
              <a:t>loop </a:t>
            </a:r>
            <a:r>
              <a:rPr spc="-20" dirty="0">
                <a:solidFill>
                  <a:srgbClr val="EE220D"/>
                </a:solidFill>
              </a:rPr>
              <a:t>body</a:t>
            </a:r>
          </a:p>
          <a:p>
            <a:pPr marL="535940">
              <a:lnSpc>
                <a:spcPct val="100000"/>
              </a:lnSpc>
              <a:spcBef>
                <a:spcPts val="2005"/>
              </a:spcBef>
            </a:pPr>
            <a:r>
              <a:rPr dirty="0">
                <a:solidFill>
                  <a:srgbClr val="EE220D"/>
                </a:solidFill>
              </a:rPr>
              <a:t>}</a:t>
            </a:r>
            <a:r>
              <a:rPr spc="5" dirty="0">
                <a:solidFill>
                  <a:srgbClr val="EE220D"/>
                </a:solidFill>
              </a:rPr>
              <a:t> </a:t>
            </a:r>
            <a:r>
              <a:rPr spc="-10" dirty="0">
                <a:solidFill>
                  <a:srgbClr val="EE220D"/>
                </a:solidFill>
              </a:rPr>
              <a:t>while(condition);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24920" y="2493611"/>
            <a:ext cx="6149975" cy="7544434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void</a:t>
            </a:r>
            <a:r>
              <a:rPr sz="3800" spc="-8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245796"/>
                </a:solidFill>
                <a:latin typeface="Times New Roman"/>
                <a:cs typeface="Times New Roman"/>
              </a:rPr>
              <a:t>main()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spc="-50" dirty="0">
                <a:solidFill>
                  <a:srgbClr val="245796"/>
                </a:solidFill>
                <a:latin typeface="Times New Roman"/>
                <a:cs typeface="Times New Roman"/>
              </a:rPr>
              <a:t>{</a:t>
            </a:r>
            <a:endParaRPr sz="3800">
              <a:latin typeface="Times New Roman"/>
              <a:cs typeface="Times New Roman"/>
            </a:endParaRPr>
          </a:p>
          <a:p>
            <a:pPr marL="132715">
              <a:lnSpc>
                <a:spcPct val="100000"/>
              </a:lnSpc>
              <a:spcBef>
                <a:spcPts val="1300"/>
              </a:spcBef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380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a</a:t>
            </a:r>
            <a:r>
              <a:rPr sz="3800" spc="-3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3800" spc="-2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1;</a:t>
            </a:r>
            <a:endParaRPr sz="3800">
              <a:latin typeface="Times New Roman"/>
              <a:cs typeface="Times New Roman"/>
            </a:endParaRPr>
          </a:p>
          <a:p>
            <a:pPr marL="12700" marR="2459990" indent="120014">
              <a:lnSpc>
                <a:spcPct val="130200"/>
              </a:lnSpc>
            </a:pP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var</a:t>
            </a:r>
            <a:r>
              <a:rPr sz="3800" spc="-55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maxnum</a:t>
            </a:r>
            <a:r>
              <a:rPr sz="3800" spc="-6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245796"/>
                </a:solidFill>
                <a:latin typeface="Times New Roman"/>
                <a:cs typeface="Times New Roman"/>
              </a:rPr>
              <a:t>=</a:t>
            </a:r>
            <a:r>
              <a:rPr sz="3800" spc="-50" dirty="0">
                <a:solidFill>
                  <a:srgbClr val="245796"/>
                </a:solidFill>
                <a:latin typeface="Times New Roman"/>
                <a:cs typeface="Times New Roman"/>
              </a:rPr>
              <a:t> </a:t>
            </a:r>
            <a:r>
              <a:rPr sz="3800" spc="-25" dirty="0">
                <a:solidFill>
                  <a:srgbClr val="245796"/>
                </a:solidFill>
                <a:latin typeface="Times New Roman"/>
                <a:cs typeface="Times New Roman"/>
              </a:rPr>
              <a:t>10; </a:t>
            </a:r>
            <a:r>
              <a:rPr sz="3800" spc="-25" dirty="0">
                <a:solidFill>
                  <a:srgbClr val="EE220D"/>
                </a:solidFill>
                <a:latin typeface="Times New Roman"/>
                <a:cs typeface="Times New Roman"/>
              </a:rPr>
              <a:t>do</a:t>
            </a:r>
            <a:endParaRPr sz="3800">
              <a:latin typeface="Times New Roman"/>
              <a:cs typeface="Times New Roman"/>
            </a:endParaRPr>
          </a:p>
          <a:p>
            <a:pPr marL="494030">
              <a:lnSpc>
                <a:spcPct val="100000"/>
              </a:lnSpc>
              <a:spcBef>
                <a:spcPts val="1375"/>
              </a:spcBef>
            </a:pPr>
            <a:r>
              <a:rPr sz="380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800">
              <a:latin typeface="Times New Roman"/>
              <a:cs typeface="Times New Roman"/>
            </a:endParaRPr>
          </a:p>
          <a:p>
            <a:pPr marL="855344" marR="5080">
              <a:lnSpc>
                <a:spcPts val="5940"/>
              </a:lnSpc>
              <a:spcBef>
                <a:spcPts val="345"/>
              </a:spcBef>
            </a:pP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print("The</a:t>
            </a:r>
            <a:r>
              <a:rPr sz="3800" spc="-8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value</a:t>
            </a:r>
            <a:r>
              <a:rPr sz="3800" spc="-8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is:</a:t>
            </a:r>
            <a:r>
              <a:rPr sz="3800" spc="-7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EE220D"/>
                </a:solidFill>
                <a:latin typeface="Times New Roman"/>
                <a:cs typeface="Times New Roman"/>
              </a:rPr>
              <a:t>${a}");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a</a:t>
            </a:r>
            <a:r>
              <a:rPr sz="380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80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800" spc="-20" dirty="0">
                <a:solidFill>
                  <a:srgbClr val="EE220D"/>
                </a:solidFill>
                <a:latin typeface="Times New Roman"/>
                <a:cs typeface="Times New Roman"/>
              </a:rPr>
              <a:t>a+1;</a:t>
            </a:r>
            <a:endParaRPr sz="3800">
              <a:latin typeface="Times New Roman"/>
              <a:cs typeface="Times New Roman"/>
            </a:endParaRPr>
          </a:p>
          <a:p>
            <a:pPr marL="855344">
              <a:lnSpc>
                <a:spcPct val="100000"/>
              </a:lnSpc>
              <a:spcBef>
                <a:spcPts val="944"/>
              </a:spcBef>
            </a:pPr>
            <a:r>
              <a:rPr sz="3800" spc="-10" dirty="0">
                <a:solidFill>
                  <a:srgbClr val="EE220D"/>
                </a:solidFill>
                <a:latin typeface="Times New Roman"/>
                <a:cs typeface="Times New Roman"/>
              </a:rPr>
              <a:t>}while(a&lt;maxnum);</a:t>
            </a: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380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3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587</Words>
  <Application>Microsoft Office PowerPoint</Application>
  <PresentationFormat>Custom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 MT</vt:lpstr>
      <vt:lpstr>Georgia</vt:lpstr>
      <vt:lpstr>Times New Roman</vt:lpstr>
      <vt:lpstr>Office Theme</vt:lpstr>
      <vt:lpstr>Mobile Learning Application Development</vt:lpstr>
      <vt:lpstr>Dart Control Flow Statement</vt:lpstr>
      <vt:lpstr>Dart Decision-Making Statements</vt:lpstr>
      <vt:lpstr>If Statement</vt:lpstr>
      <vt:lpstr>else Statements</vt:lpstr>
      <vt:lpstr>if else-if Statement</vt:lpstr>
      <vt:lpstr>Switch Case Statement</vt:lpstr>
      <vt:lpstr>Dart Looping statements</vt:lpstr>
      <vt:lpstr>Dart for loop</vt:lpstr>
      <vt:lpstr>Dart for… in Loop</vt:lpstr>
      <vt:lpstr>Dart while Loop</vt:lpstr>
      <vt:lpstr>Dart do…while Loop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cp:lastModifiedBy>User</cp:lastModifiedBy>
  <cp:revision>2</cp:revision>
  <dcterms:created xsi:type="dcterms:W3CDTF">2025-09-05T02:43:49Z</dcterms:created>
  <dcterms:modified xsi:type="dcterms:W3CDTF">2025-09-05T02:45:54Z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2025-09-05T00:00:00Z</vt:filetime>
  </property>
  <property fmtid="{D5CDD505-2E9C-101B-9397-08002B2CF9AE}" pid="5" name="Producer">
    <vt:lpwstr>macOS Version 14.6.1 (Build 23G93) Quartz PDFContext</vt:lpwstr>
  </property>
</Properties>
</file>