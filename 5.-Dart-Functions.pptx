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0825" cy="1089025"/>
          </a:xfrm>
          <a:custGeom>
            <a:avLst/>
            <a:gdLst/>
            <a:ahLst/>
            <a:cxnLst/>
            <a:rect l="l" t="t" r="r" b="b"/>
            <a:pathLst>
              <a:path w="9140825" h="1089025">
                <a:moveTo>
                  <a:pt x="0" y="1088999"/>
                </a:moveTo>
                <a:lnTo>
                  <a:pt x="9140761" y="1088999"/>
                </a:lnTo>
                <a:lnTo>
                  <a:pt x="9140761" y="0"/>
                </a:lnTo>
                <a:lnTo>
                  <a:pt x="0" y="0"/>
                </a:lnTo>
                <a:lnTo>
                  <a:pt x="0" y="1088999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088999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4">
                <a:moveTo>
                  <a:pt x="9143631" y="0"/>
                </a:moveTo>
                <a:lnTo>
                  <a:pt x="0" y="0"/>
                </a:lnTo>
                <a:lnTo>
                  <a:pt x="0" y="216001"/>
                </a:lnTo>
                <a:lnTo>
                  <a:pt x="9143631" y="216001"/>
                </a:lnTo>
                <a:lnTo>
                  <a:pt x="9143631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252361"/>
                </a:moveTo>
                <a:lnTo>
                  <a:pt x="0" y="0"/>
                </a:ln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96" y="6192354"/>
            <a:ext cx="1799996" cy="503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89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9904" y="1517662"/>
            <a:ext cx="8124190" cy="4520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://tusharkute.com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contact@mitu.co.in" TargetMode="External"/><Relationship Id="rId3" Type="http://schemas.openxmlformats.org/officeDocument/2006/relationships/hyperlink" Target="mailto:tushar@tusharkute.com" TargetMode="External"/><Relationship Id="rId4" Type="http://schemas.openxmlformats.org/officeDocument/2006/relationships/hyperlink" Target="http://tusharkute.com/" TargetMode="External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2421255"/>
          </a:xfrm>
          <a:custGeom>
            <a:avLst/>
            <a:gdLst/>
            <a:ahLst/>
            <a:cxnLst/>
            <a:rect l="l" t="t" r="r" b="b"/>
            <a:pathLst>
              <a:path w="9144000" h="2421255">
                <a:moveTo>
                  <a:pt x="9144000" y="0"/>
                </a:moveTo>
                <a:lnTo>
                  <a:pt x="0" y="0"/>
                </a:lnTo>
                <a:lnTo>
                  <a:pt x="0" y="2421001"/>
                </a:lnTo>
                <a:lnTo>
                  <a:pt x="4572000" y="2421001"/>
                </a:lnTo>
                <a:lnTo>
                  <a:pt x="9144000" y="2421001"/>
                </a:lnTo>
                <a:lnTo>
                  <a:pt x="91440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252361"/>
                </a:moveTo>
                <a:lnTo>
                  <a:pt x="0" y="0"/>
                </a:ln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2421001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5">
                <a:moveTo>
                  <a:pt x="9143644" y="0"/>
                </a:moveTo>
                <a:lnTo>
                  <a:pt x="0" y="0"/>
                </a:lnTo>
                <a:lnTo>
                  <a:pt x="0" y="216001"/>
                </a:lnTo>
                <a:lnTo>
                  <a:pt x="9143644" y="216001"/>
                </a:lnTo>
                <a:lnTo>
                  <a:pt x="9143644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7458" y="838339"/>
            <a:ext cx="30956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Times New Roman"/>
                <a:cs typeface="Times New Roman"/>
              </a:rPr>
              <a:t>Dart</a:t>
            </a:r>
            <a:r>
              <a:rPr dirty="0" spc="-5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–</a:t>
            </a:r>
            <a:r>
              <a:rPr dirty="0" spc="-40">
                <a:latin typeface="Times New Roman"/>
                <a:cs typeface="Times New Roman"/>
              </a:rPr>
              <a:t> </a:t>
            </a:r>
            <a:r>
              <a:rPr dirty="0" spc="-5">
                <a:latin typeface="Times New Roman"/>
                <a:cs typeface="Times New Roman"/>
              </a:rPr>
              <a:t>Functions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003" y="6191643"/>
            <a:ext cx="1799996" cy="5039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47458" y="5040629"/>
            <a:ext cx="257746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10">
                <a:latin typeface="Georgia"/>
                <a:cs typeface="Georgia"/>
              </a:rPr>
              <a:t>Tushar</a:t>
            </a:r>
            <a:r>
              <a:rPr dirty="0" sz="2400" spc="160">
                <a:latin typeface="Georgia"/>
                <a:cs typeface="Georgia"/>
              </a:rPr>
              <a:t> </a:t>
            </a:r>
            <a:r>
              <a:rPr dirty="0" sz="2400" spc="155">
                <a:latin typeface="Georgia"/>
                <a:cs typeface="Georgia"/>
              </a:rPr>
              <a:t>B. </a:t>
            </a:r>
            <a:r>
              <a:rPr dirty="0" sz="2400" spc="95">
                <a:latin typeface="Georgia"/>
                <a:cs typeface="Georgia"/>
              </a:rPr>
              <a:t>Kute,</a:t>
            </a:r>
            <a:endParaRPr sz="2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800" spc="95">
                <a:latin typeface="Georgia"/>
                <a:cs typeface="Georgia"/>
                <a:hlinkClick r:id="rId3"/>
              </a:rPr>
              <a:t>http://tusharkute.com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71994" y="4895634"/>
            <a:ext cx="1370520" cy="137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55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107045" cy="3737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14604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40">
                <a:latin typeface="Microsoft Sans Serif"/>
                <a:cs typeface="Microsoft Sans Serif"/>
              </a:rPr>
              <a:t>Function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50">
                <a:latin typeface="Microsoft Sans Serif"/>
                <a:cs typeface="Microsoft Sans Serif"/>
              </a:rPr>
              <a:t>is</a:t>
            </a:r>
            <a:r>
              <a:rPr dirty="0" sz="2800" spc="-100">
                <a:latin typeface="Microsoft Sans Serif"/>
                <a:cs typeface="Microsoft Sans Serif"/>
              </a:rPr>
              <a:t> a </a:t>
            </a:r>
            <a:r>
              <a:rPr dirty="0" sz="2800" spc="60">
                <a:latin typeface="Microsoft Sans Serif"/>
                <a:cs typeface="Microsoft Sans Serif"/>
              </a:rPr>
              <a:t>set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190">
                <a:latin typeface="Microsoft Sans Serif"/>
                <a:cs typeface="Microsoft Sans Serif"/>
              </a:rPr>
              <a:t>of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-20">
                <a:latin typeface="Microsoft Sans Serif"/>
                <a:cs typeface="Microsoft Sans Serif"/>
              </a:rPr>
              <a:t>codes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55">
                <a:latin typeface="Microsoft Sans Serif"/>
                <a:cs typeface="Microsoft Sans Serif"/>
              </a:rPr>
              <a:t>that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together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14">
                <a:latin typeface="Microsoft Sans Serif"/>
                <a:cs typeface="Microsoft Sans Serif"/>
              </a:rPr>
              <a:t>perform </a:t>
            </a:r>
            <a:r>
              <a:rPr dirty="0" sz="2800" spc="-725">
                <a:latin typeface="Microsoft Sans Serif"/>
                <a:cs typeface="Microsoft Sans Serif"/>
              </a:rPr>
              <a:t> </a:t>
            </a:r>
            <a:r>
              <a:rPr dirty="0" sz="2800" spc="-100">
                <a:latin typeface="Microsoft Sans Serif"/>
                <a:cs typeface="Microsoft Sans Serif"/>
              </a:rPr>
              <a:t>a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30">
                <a:latin typeface="Microsoft Sans Serif"/>
                <a:cs typeface="Microsoft Sans Serif"/>
              </a:rPr>
              <a:t>s</a:t>
            </a:r>
            <a:r>
              <a:rPr dirty="0" sz="2800" spc="-45">
                <a:latin typeface="Microsoft Sans Serif"/>
                <a:cs typeface="Microsoft Sans Serif"/>
              </a:rPr>
              <a:t>p</a:t>
            </a:r>
            <a:r>
              <a:rPr dirty="0" sz="2800" spc="-5">
                <a:latin typeface="Microsoft Sans Serif"/>
                <a:cs typeface="Microsoft Sans Serif"/>
              </a:rPr>
              <a:t>e</a:t>
            </a:r>
            <a:r>
              <a:rPr dirty="0" sz="2800" spc="-105">
                <a:latin typeface="Microsoft Sans Serif"/>
                <a:cs typeface="Microsoft Sans Serif"/>
              </a:rPr>
              <a:t>c</a:t>
            </a:r>
            <a:r>
              <a:rPr dirty="0" sz="2800" spc="85">
                <a:latin typeface="Microsoft Sans Serif"/>
                <a:cs typeface="Microsoft Sans Serif"/>
              </a:rPr>
              <a:t>ific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-105">
                <a:latin typeface="Microsoft Sans Serif"/>
                <a:cs typeface="Microsoft Sans Serif"/>
              </a:rPr>
              <a:t>a</a:t>
            </a:r>
            <a:r>
              <a:rPr dirty="0" sz="2800" spc="-45">
                <a:latin typeface="Microsoft Sans Serif"/>
                <a:cs typeface="Microsoft Sans Serif"/>
              </a:rPr>
              <a:t>s</a:t>
            </a:r>
            <a:r>
              <a:rPr dirty="0" sz="2800" spc="-40">
                <a:latin typeface="Microsoft Sans Serif"/>
                <a:cs typeface="Microsoft Sans Serif"/>
              </a:rPr>
              <a:t>k</a:t>
            </a:r>
            <a:r>
              <a:rPr dirty="0" sz="2800" spc="-90"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  <a:p>
            <a:pPr marL="355600" marR="506730" indent="-343535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160">
                <a:latin typeface="Microsoft Sans Serif"/>
                <a:cs typeface="Microsoft Sans Serif"/>
              </a:rPr>
              <a:t>It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45">
                <a:latin typeface="Microsoft Sans Serif"/>
                <a:cs typeface="Microsoft Sans Serif"/>
              </a:rPr>
              <a:t>is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used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220">
                <a:latin typeface="Microsoft Sans Serif"/>
                <a:cs typeface="Microsoft Sans Serif"/>
              </a:rPr>
              <a:t>to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35">
                <a:latin typeface="Microsoft Sans Serif"/>
                <a:cs typeface="Microsoft Sans Serif"/>
              </a:rPr>
              <a:t>break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30">
                <a:latin typeface="Microsoft Sans Serif"/>
                <a:cs typeface="Microsoft Sans Serif"/>
              </a:rPr>
              <a:t>the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45">
                <a:latin typeface="Microsoft Sans Serif"/>
                <a:cs typeface="Microsoft Sans Serif"/>
              </a:rPr>
              <a:t>large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code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35">
                <a:latin typeface="Microsoft Sans Serif"/>
                <a:cs typeface="Microsoft Sans Serif"/>
              </a:rPr>
              <a:t>into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30">
                <a:latin typeface="Microsoft Sans Serif"/>
                <a:cs typeface="Microsoft Sans Serif"/>
              </a:rPr>
              <a:t>smaller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35">
                <a:latin typeface="Microsoft Sans Serif"/>
                <a:cs typeface="Microsoft Sans Serif"/>
              </a:rPr>
              <a:t>modules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0">
                <a:latin typeface="Microsoft Sans Serif"/>
                <a:cs typeface="Microsoft Sans Serif"/>
              </a:rPr>
              <a:t>and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5">
                <a:latin typeface="Microsoft Sans Serif"/>
                <a:cs typeface="Microsoft Sans Serif"/>
              </a:rPr>
              <a:t>reuse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204">
                <a:latin typeface="Microsoft Sans Serif"/>
                <a:cs typeface="Microsoft Sans Serif"/>
              </a:rPr>
              <a:t>it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when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needed.</a:t>
            </a:r>
            <a:endParaRPr sz="2800">
              <a:latin typeface="Microsoft Sans Serif"/>
              <a:cs typeface="Microsoft Sans Serif"/>
            </a:endParaRPr>
          </a:p>
          <a:p>
            <a:pPr marL="355600" marR="508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15">
                <a:latin typeface="Microsoft Sans Serif"/>
                <a:cs typeface="Microsoft Sans Serif"/>
              </a:rPr>
              <a:t>Functions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10">
                <a:latin typeface="Microsoft Sans Serif"/>
                <a:cs typeface="Microsoft Sans Serif"/>
              </a:rPr>
              <a:t>make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30">
                <a:latin typeface="Microsoft Sans Serif"/>
                <a:cs typeface="Microsoft Sans Serif"/>
              </a:rPr>
              <a:t>the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70">
                <a:latin typeface="Microsoft Sans Serif"/>
                <a:cs typeface="Microsoft Sans Serif"/>
              </a:rPr>
              <a:t>program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75">
                <a:latin typeface="Microsoft Sans Serif"/>
                <a:cs typeface="Microsoft Sans Serif"/>
              </a:rPr>
              <a:t>more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30">
                <a:latin typeface="Microsoft Sans Serif"/>
                <a:cs typeface="Microsoft Sans Serif"/>
              </a:rPr>
              <a:t>readable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0">
                <a:latin typeface="Microsoft Sans Serif"/>
                <a:cs typeface="Microsoft Sans Serif"/>
              </a:rPr>
              <a:t>and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-70">
                <a:latin typeface="Microsoft Sans Serif"/>
                <a:cs typeface="Microsoft Sans Serif"/>
              </a:rPr>
              <a:t>easy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220">
                <a:latin typeface="Microsoft Sans Serif"/>
                <a:cs typeface="Microsoft Sans Serif"/>
              </a:rPr>
              <a:t>to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30">
                <a:latin typeface="Microsoft Sans Serif"/>
                <a:cs typeface="Microsoft Sans Serif"/>
              </a:rPr>
              <a:t>debug.</a:t>
            </a:r>
            <a:endParaRPr sz="2800">
              <a:latin typeface="Microsoft Sans Serif"/>
              <a:cs typeface="Microsoft Sans Serif"/>
            </a:endParaRPr>
          </a:p>
          <a:p>
            <a:pPr marL="355600" marR="1778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160">
                <a:latin typeface="Microsoft Sans Serif"/>
                <a:cs typeface="Microsoft Sans Serif"/>
              </a:rPr>
              <a:t>It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35">
                <a:latin typeface="Microsoft Sans Serif"/>
                <a:cs typeface="Microsoft Sans Serif"/>
              </a:rPr>
              <a:t>improves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65">
                <a:latin typeface="Microsoft Sans Serif"/>
                <a:cs typeface="Microsoft Sans Serif"/>
              </a:rPr>
              <a:t>modular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approach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0">
                <a:latin typeface="Microsoft Sans Serif"/>
                <a:cs typeface="Microsoft Sans Serif"/>
              </a:rPr>
              <a:t>and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30">
                <a:latin typeface="Microsoft Sans Serif"/>
                <a:cs typeface="Microsoft Sans Serif"/>
              </a:rPr>
              <a:t>enhances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code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40">
                <a:latin typeface="Microsoft Sans Serif"/>
                <a:cs typeface="Microsoft Sans Serif"/>
              </a:rPr>
              <a:t>reusability.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55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864475" cy="4488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355600" marR="5080" indent="-343535">
              <a:lnSpc>
                <a:spcPct val="99700"/>
              </a:lnSpc>
              <a:spcBef>
                <a:spcPts val="110"/>
              </a:spcBef>
              <a:buClr>
                <a:srgbClr val="6697CC"/>
              </a:buClr>
              <a:buFont typeface="Arial MT"/>
              <a:buChar char="•"/>
              <a:tabLst>
                <a:tab pos="356235" algn="l"/>
              </a:tabLst>
            </a:pPr>
            <a:r>
              <a:rPr dirty="0" sz="2800" spc="-180">
                <a:latin typeface="Microsoft Sans Serif"/>
                <a:cs typeface="Microsoft Sans Serif"/>
              </a:rPr>
              <a:t>S</a:t>
            </a:r>
            <a:r>
              <a:rPr dirty="0" sz="2800" spc="-160">
                <a:latin typeface="Microsoft Sans Serif"/>
                <a:cs typeface="Microsoft Sans Serif"/>
              </a:rPr>
              <a:t>u</a:t>
            </a:r>
            <a:r>
              <a:rPr dirty="0" sz="2800" spc="90">
                <a:latin typeface="Microsoft Sans Serif"/>
                <a:cs typeface="Microsoft Sans Serif"/>
              </a:rPr>
              <a:t>p</a:t>
            </a:r>
            <a:r>
              <a:rPr dirty="0" sz="2800" spc="80">
                <a:latin typeface="Microsoft Sans Serif"/>
                <a:cs typeface="Microsoft Sans Serif"/>
              </a:rPr>
              <a:t>p</a:t>
            </a:r>
            <a:r>
              <a:rPr dirty="0" sz="2800" spc="85">
                <a:latin typeface="Microsoft Sans Serif"/>
                <a:cs typeface="Microsoft Sans Serif"/>
              </a:rPr>
              <a:t>o</a:t>
            </a:r>
            <a:r>
              <a:rPr dirty="0" sz="2800" spc="-165">
                <a:latin typeface="Microsoft Sans Serif"/>
                <a:cs typeface="Microsoft Sans Serif"/>
              </a:rPr>
              <a:t>s</a:t>
            </a:r>
            <a:r>
              <a:rPr dirty="0" sz="2800" spc="5">
                <a:latin typeface="Microsoft Sans Serif"/>
                <a:cs typeface="Microsoft Sans Serif"/>
              </a:rPr>
              <a:t>e</a:t>
            </a:r>
            <a:r>
              <a:rPr dirty="0" sz="2800" spc="-90">
                <a:latin typeface="Microsoft Sans Serif"/>
                <a:cs typeface="Microsoft Sans Serif"/>
              </a:rPr>
              <a:t>,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40">
                <a:latin typeface="Microsoft Sans Serif"/>
                <a:cs typeface="Microsoft Sans Serif"/>
              </a:rPr>
              <a:t>w</a:t>
            </a:r>
            <a:r>
              <a:rPr dirty="0" sz="2800" spc="5">
                <a:latin typeface="Microsoft Sans Serif"/>
                <a:cs typeface="Microsoft Sans Serif"/>
              </a:rPr>
              <a:t>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40">
                <a:latin typeface="Microsoft Sans Serif"/>
                <a:cs typeface="Microsoft Sans Serif"/>
              </a:rPr>
              <a:t>w</a:t>
            </a:r>
            <a:r>
              <a:rPr dirty="0" sz="2800" spc="185">
                <a:latin typeface="Microsoft Sans Serif"/>
                <a:cs typeface="Microsoft Sans Serif"/>
              </a:rPr>
              <a:t>rit</a:t>
            </a:r>
            <a:r>
              <a:rPr dirty="0" sz="2800" spc="5">
                <a:latin typeface="Microsoft Sans Serif"/>
                <a:cs typeface="Microsoft Sans Serif"/>
              </a:rPr>
              <a:t>e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-100">
                <a:latin typeface="Microsoft Sans Serif"/>
                <a:cs typeface="Microsoft Sans Serif"/>
              </a:rPr>
              <a:t>a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-165">
                <a:latin typeface="Microsoft Sans Serif"/>
                <a:cs typeface="Microsoft Sans Serif"/>
              </a:rPr>
              <a:t>s</a:t>
            </a:r>
            <a:r>
              <a:rPr dirty="0" sz="2800" spc="90">
                <a:latin typeface="Microsoft Sans Serif"/>
                <a:cs typeface="Microsoft Sans Serif"/>
              </a:rPr>
              <a:t>impl</a:t>
            </a:r>
            <a:r>
              <a:rPr dirty="0" sz="2800" spc="5">
                <a:latin typeface="Microsoft Sans Serif"/>
                <a:cs typeface="Microsoft Sans Serif"/>
              </a:rPr>
              <a:t>e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-105">
                <a:latin typeface="Microsoft Sans Serif"/>
                <a:cs typeface="Microsoft Sans Serif"/>
              </a:rPr>
              <a:t>c</a:t>
            </a:r>
            <a:r>
              <a:rPr dirty="0" sz="2800" spc="-105">
                <a:latin typeface="Microsoft Sans Serif"/>
                <a:cs typeface="Microsoft Sans Serif"/>
              </a:rPr>
              <a:t>a</a:t>
            </a:r>
            <a:r>
              <a:rPr dirty="0" sz="2800" spc="125">
                <a:latin typeface="Microsoft Sans Serif"/>
                <a:cs typeface="Microsoft Sans Serif"/>
              </a:rPr>
              <a:t>l</a:t>
            </a:r>
            <a:r>
              <a:rPr dirty="0" sz="2800" spc="-105">
                <a:latin typeface="Microsoft Sans Serif"/>
                <a:cs typeface="Microsoft Sans Serif"/>
              </a:rPr>
              <a:t>c</a:t>
            </a:r>
            <a:r>
              <a:rPr dirty="0" sz="2800" spc="120">
                <a:latin typeface="Microsoft Sans Serif"/>
                <a:cs typeface="Microsoft Sans Serif"/>
              </a:rPr>
              <a:t>u</a:t>
            </a:r>
            <a:r>
              <a:rPr dirty="0" sz="2800" spc="40">
                <a:latin typeface="Microsoft Sans Serif"/>
                <a:cs typeface="Microsoft Sans Serif"/>
              </a:rPr>
              <a:t>l</a:t>
            </a:r>
            <a:r>
              <a:rPr dirty="0" sz="2800" spc="-95">
                <a:latin typeface="Microsoft Sans Serif"/>
                <a:cs typeface="Microsoft Sans Serif"/>
              </a:rPr>
              <a:t>a</a:t>
            </a:r>
            <a:r>
              <a:rPr dirty="0" sz="2800" spc="335">
                <a:latin typeface="Microsoft Sans Serif"/>
                <a:cs typeface="Microsoft Sans Serif"/>
              </a:rPr>
              <a:t>t</a:t>
            </a:r>
            <a:r>
              <a:rPr dirty="0" sz="2800" spc="85">
                <a:latin typeface="Microsoft Sans Serif"/>
                <a:cs typeface="Microsoft Sans Serif"/>
              </a:rPr>
              <a:t>o</a:t>
            </a:r>
            <a:r>
              <a:rPr dirty="0" sz="2800" spc="145">
                <a:latin typeface="Microsoft Sans Serif"/>
                <a:cs typeface="Microsoft Sans Serif"/>
              </a:rPr>
              <a:t>r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80">
                <a:latin typeface="Microsoft Sans Serif"/>
                <a:cs typeface="Microsoft Sans Serif"/>
              </a:rPr>
              <a:t>p</a:t>
            </a:r>
            <a:r>
              <a:rPr dirty="0" sz="2800" spc="90">
                <a:latin typeface="Microsoft Sans Serif"/>
                <a:cs typeface="Microsoft Sans Serif"/>
              </a:rPr>
              <a:t>r</a:t>
            </a:r>
            <a:r>
              <a:rPr dirty="0" sz="2800" spc="135">
                <a:latin typeface="Microsoft Sans Serif"/>
                <a:cs typeface="Microsoft Sans Serif"/>
              </a:rPr>
              <a:t>o</a:t>
            </a:r>
            <a:r>
              <a:rPr dirty="0" sz="2800" spc="35">
                <a:latin typeface="Microsoft Sans Serif"/>
                <a:cs typeface="Microsoft Sans Serif"/>
              </a:rPr>
              <a:t>gr</a:t>
            </a:r>
            <a:r>
              <a:rPr dirty="0" sz="2800" spc="45">
                <a:latin typeface="Microsoft Sans Serif"/>
                <a:cs typeface="Microsoft Sans Serif"/>
              </a:rPr>
              <a:t>a</a:t>
            </a:r>
            <a:r>
              <a:rPr dirty="0" sz="2800" spc="40">
                <a:latin typeface="Microsoft Sans Serif"/>
                <a:cs typeface="Microsoft Sans Serif"/>
              </a:rPr>
              <a:t>m  </a:t>
            </a:r>
            <a:r>
              <a:rPr dirty="0" sz="2800" spc="65">
                <a:latin typeface="Microsoft Sans Serif"/>
                <a:cs typeface="Microsoft Sans Serif"/>
              </a:rPr>
              <a:t>where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75">
                <a:latin typeface="Microsoft Sans Serif"/>
                <a:cs typeface="Microsoft Sans Serif"/>
              </a:rPr>
              <a:t>we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30">
                <a:latin typeface="Microsoft Sans Serif"/>
                <a:cs typeface="Microsoft Sans Serif"/>
              </a:rPr>
              <a:t>need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220">
                <a:latin typeface="Microsoft Sans Serif"/>
                <a:cs typeface="Microsoft Sans Serif"/>
              </a:rPr>
              <a:t>to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14">
                <a:latin typeface="Microsoft Sans Serif"/>
                <a:cs typeface="Microsoft Sans Serif"/>
              </a:rPr>
              <a:t>perform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operations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65">
                <a:latin typeface="Microsoft Sans Serif"/>
                <a:cs typeface="Microsoft Sans Serif"/>
              </a:rPr>
              <a:t>number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190">
                <a:latin typeface="Microsoft Sans Serif"/>
                <a:cs typeface="Microsoft Sans Serif"/>
              </a:rPr>
              <a:t>of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65">
                <a:latin typeface="Microsoft Sans Serif"/>
                <a:cs typeface="Microsoft Sans Serif"/>
              </a:rPr>
              <a:t>times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when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0">
                <a:latin typeface="Microsoft Sans Serif"/>
                <a:cs typeface="Microsoft Sans Serif"/>
              </a:rPr>
              <a:t>user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65">
                <a:latin typeface="Microsoft Sans Serif"/>
                <a:cs typeface="Microsoft Sans Serif"/>
              </a:rPr>
              <a:t>enters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25">
                <a:latin typeface="Microsoft Sans Serif"/>
                <a:cs typeface="Microsoft Sans Serif"/>
              </a:rPr>
              <a:t>values.</a:t>
            </a:r>
            <a:endParaRPr sz="2800">
              <a:latin typeface="Microsoft Sans Serif"/>
              <a:cs typeface="Microsoft Sans Serif"/>
            </a:endParaRPr>
          </a:p>
          <a:p>
            <a:pPr marL="355600" marR="1905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25">
                <a:latin typeface="Microsoft Sans Serif"/>
                <a:cs typeface="Microsoft Sans Serif"/>
              </a:rPr>
              <a:t>We </a:t>
            </a:r>
            <a:r>
              <a:rPr dirty="0" sz="2800" spc="-55">
                <a:latin typeface="Microsoft Sans Serif"/>
                <a:cs typeface="Microsoft Sans Serif"/>
              </a:rPr>
              <a:t>can </a:t>
            </a:r>
            <a:r>
              <a:rPr dirty="0" sz="2800" spc="45">
                <a:latin typeface="Microsoft Sans Serif"/>
                <a:cs typeface="Microsoft Sans Serif"/>
              </a:rPr>
              <a:t>create </a:t>
            </a:r>
            <a:r>
              <a:rPr dirty="0" sz="2800" spc="145">
                <a:latin typeface="Microsoft Sans Serif"/>
                <a:cs typeface="Microsoft Sans Serif"/>
              </a:rPr>
              <a:t>different </a:t>
            </a:r>
            <a:r>
              <a:rPr dirty="0" sz="2800" spc="75">
                <a:latin typeface="Microsoft Sans Serif"/>
                <a:cs typeface="Microsoft Sans Serif"/>
              </a:rPr>
              <a:t>functions </a:t>
            </a:r>
            <a:r>
              <a:rPr dirty="0" sz="2800" spc="175">
                <a:latin typeface="Microsoft Sans Serif"/>
                <a:cs typeface="Microsoft Sans Serif"/>
              </a:rPr>
              <a:t>for </a:t>
            </a:r>
            <a:r>
              <a:rPr dirty="0" sz="2800" spc="-45">
                <a:latin typeface="Microsoft Sans Serif"/>
                <a:cs typeface="Microsoft Sans Serif"/>
              </a:rPr>
              <a:t>each </a:t>
            </a:r>
            <a:r>
              <a:rPr dirty="0" sz="2800" spc="-40">
                <a:latin typeface="Microsoft Sans Serif"/>
                <a:cs typeface="Microsoft Sans Serif"/>
              </a:rPr>
              <a:t> </a:t>
            </a:r>
            <a:r>
              <a:rPr dirty="0" sz="2800" spc="45">
                <a:latin typeface="Microsoft Sans Serif"/>
                <a:cs typeface="Microsoft Sans Serif"/>
              </a:rPr>
              <a:t>calculator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75">
                <a:latin typeface="Microsoft Sans Serif"/>
                <a:cs typeface="Microsoft Sans Serif"/>
              </a:rPr>
              <a:t>operator.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40">
                <a:latin typeface="Microsoft Sans Serif"/>
                <a:cs typeface="Microsoft Sans Serif"/>
              </a:rPr>
              <a:t>By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10">
                <a:latin typeface="Microsoft Sans Serif"/>
                <a:cs typeface="Microsoft Sans Serif"/>
              </a:rPr>
              <a:t>using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functions,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75">
                <a:latin typeface="Microsoft Sans Serif"/>
                <a:cs typeface="Microsoft Sans Serif"/>
              </a:rPr>
              <a:t>we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135">
                <a:latin typeface="Microsoft Sans Serif"/>
                <a:cs typeface="Microsoft Sans Serif"/>
              </a:rPr>
              <a:t>don't </a:t>
            </a:r>
            <a:r>
              <a:rPr dirty="0" sz="2800" spc="30">
                <a:latin typeface="Microsoft Sans Serif"/>
                <a:cs typeface="Microsoft Sans Serif"/>
              </a:rPr>
              <a:t>need </a:t>
            </a:r>
            <a:r>
              <a:rPr dirty="0" sz="2800" spc="220">
                <a:latin typeface="Microsoft Sans Serif"/>
                <a:cs typeface="Microsoft Sans Serif"/>
              </a:rPr>
              <a:t>to </a:t>
            </a:r>
            <a:r>
              <a:rPr dirty="0" sz="2800" spc="140">
                <a:latin typeface="Microsoft Sans Serif"/>
                <a:cs typeface="Microsoft Sans Serif"/>
              </a:rPr>
              <a:t>write </a:t>
            </a:r>
            <a:r>
              <a:rPr dirty="0" sz="2800" spc="15">
                <a:latin typeface="Microsoft Sans Serif"/>
                <a:cs typeface="Microsoft Sans Serif"/>
              </a:rPr>
              <a:t>code </a:t>
            </a:r>
            <a:r>
              <a:rPr dirty="0" sz="2800" spc="180">
                <a:latin typeface="Microsoft Sans Serif"/>
                <a:cs typeface="Microsoft Sans Serif"/>
              </a:rPr>
              <a:t>for </a:t>
            </a:r>
            <a:r>
              <a:rPr dirty="0" sz="2800" spc="20">
                <a:latin typeface="Microsoft Sans Serif"/>
                <a:cs typeface="Microsoft Sans Serif"/>
              </a:rPr>
              <a:t>adding, </a:t>
            </a:r>
            <a:r>
              <a:rPr dirty="0" sz="2800" spc="25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subtracting, </a:t>
            </a:r>
            <a:r>
              <a:rPr dirty="0" sz="2800" spc="75">
                <a:latin typeface="Microsoft Sans Serif"/>
                <a:cs typeface="Microsoft Sans Serif"/>
              </a:rPr>
              <a:t>multiplying, </a:t>
            </a:r>
            <a:r>
              <a:rPr dirty="0" sz="2800" spc="10">
                <a:latin typeface="Microsoft Sans Serif"/>
                <a:cs typeface="Microsoft Sans Serif"/>
              </a:rPr>
              <a:t>and </a:t>
            </a:r>
            <a:r>
              <a:rPr dirty="0" sz="2800" spc="50">
                <a:latin typeface="Microsoft Sans Serif"/>
                <a:cs typeface="Microsoft Sans Serif"/>
              </a:rPr>
              <a:t>divide </a:t>
            </a:r>
            <a:r>
              <a:rPr dirty="0" sz="2800" spc="-5">
                <a:latin typeface="Microsoft Sans Serif"/>
                <a:cs typeface="Microsoft Sans Serif"/>
              </a:rPr>
              <a:t>again </a:t>
            </a:r>
            <a:r>
              <a:rPr dirty="0" sz="2800" spc="10">
                <a:latin typeface="Microsoft Sans Serif"/>
                <a:cs typeface="Microsoft Sans Serif"/>
              </a:rPr>
              <a:t>and </a:t>
            </a:r>
            <a:r>
              <a:rPr dirty="0" sz="2800" spc="15">
                <a:latin typeface="Microsoft Sans Serif"/>
                <a:cs typeface="Microsoft Sans Serif"/>
              </a:rPr>
              <a:t> </a:t>
            </a:r>
            <a:r>
              <a:rPr dirty="0" sz="2800" spc="-20">
                <a:latin typeface="Microsoft Sans Serif"/>
                <a:cs typeface="Microsoft Sans Serif"/>
              </a:rPr>
              <a:t>again.</a:t>
            </a:r>
            <a:endParaRPr sz="2800">
              <a:latin typeface="Microsoft Sans Serif"/>
              <a:cs typeface="Microsoft Sans Serif"/>
            </a:endParaRPr>
          </a:p>
          <a:p>
            <a:pPr marL="355600" marR="600075" indent="-343535">
              <a:lnSpc>
                <a:spcPct val="100000"/>
              </a:lnSpc>
              <a:spcBef>
                <a:spcPts val="76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25">
                <a:latin typeface="Microsoft Sans Serif"/>
                <a:cs typeface="Microsoft Sans Serif"/>
              </a:rPr>
              <a:t>We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55">
                <a:latin typeface="Microsoft Sans Serif"/>
                <a:cs typeface="Microsoft Sans Serif"/>
              </a:rPr>
              <a:t>can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35">
                <a:latin typeface="Microsoft Sans Serif"/>
                <a:cs typeface="Microsoft Sans Serif"/>
              </a:rPr>
              <a:t>use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75">
                <a:latin typeface="Microsoft Sans Serif"/>
                <a:cs typeface="Microsoft Sans Serif"/>
              </a:rPr>
              <a:t>functions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05">
                <a:latin typeface="Microsoft Sans Serif"/>
                <a:cs typeface="Microsoft Sans Serif"/>
              </a:rPr>
              <a:t>multiple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65">
                <a:latin typeface="Microsoft Sans Serif"/>
                <a:cs typeface="Microsoft Sans Serif"/>
              </a:rPr>
              <a:t>times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40">
                <a:latin typeface="Microsoft Sans Serif"/>
                <a:cs typeface="Microsoft Sans Serif"/>
              </a:rPr>
              <a:t>by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calling.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2573020" algn="l"/>
              </a:tabLst>
            </a:pPr>
            <a:r>
              <a:rPr dirty="0" spc="-275"/>
              <a:t>F</a:t>
            </a:r>
            <a:r>
              <a:rPr dirty="0" spc="60"/>
              <a:t>u</a:t>
            </a:r>
            <a:r>
              <a:rPr dirty="0" spc="50"/>
              <a:t>n</a:t>
            </a:r>
            <a:r>
              <a:rPr dirty="0" spc="-130"/>
              <a:t>c</a:t>
            </a:r>
            <a:r>
              <a:rPr dirty="0" spc="215"/>
              <a:t>tio</a:t>
            </a:r>
            <a:r>
              <a:rPr dirty="0" spc="60"/>
              <a:t>n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185"/>
              <a:t>w</a:t>
            </a:r>
            <a:r>
              <a:rPr dirty="0" spc="40"/>
              <a:t>h</a:t>
            </a:r>
            <a:r>
              <a:rPr dirty="0" spc="-280"/>
              <a:t>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682230" cy="3941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160">
                <a:latin typeface="Microsoft Sans Serif"/>
                <a:cs typeface="Microsoft Sans Serif"/>
              </a:rPr>
              <a:t>It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30">
                <a:latin typeface="Microsoft Sans Serif"/>
                <a:cs typeface="Microsoft Sans Serif"/>
              </a:rPr>
              <a:t>increases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30">
                <a:latin typeface="Microsoft Sans Serif"/>
                <a:cs typeface="Microsoft Sans Serif"/>
              </a:rPr>
              <a:t>the</a:t>
            </a:r>
            <a:r>
              <a:rPr dirty="0" sz="2800" spc="-120">
                <a:latin typeface="Microsoft Sans Serif"/>
                <a:cs typeface="Microsoft Sans Serif"/>
              </a:rPr>
              <a:t> </a:t>
            </a:r>
            <a:r>
              <a:rPr dirty="0" sz="2800" spc="70">
                <a:latin typeface="Microsoft Sans Serif"/>
                <a:cs typeface="Microsoft Sans Serif"/>
              </a:rPr>
              <a:t>module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approach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215">
                <a:latin typeface="Microsoft Sans Serif"/>
                <a:cs typeface="Microsoft Sans Serif"/>
              </a:rPr>
              <a:t>to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0">
                <a:latin typeface="Microsoft Sans Serif"/>
                <a:cs typeface="Microsoft Sans Serif"/>
              </a:rPr>
              <a:t>solve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 </a:t>
            </a:r>
            <a:r>
              <a:rPr dirty="0" sz="2800" spc="-725">
                <a:latin typeface="Microsoft Sans Serif"/>
                <a:cs typeface="Microsoft Sans Serif"/>
              </a:rPr>
              <a:t> </a:t>
            </a:r>
            <a:r>
              <a:rPr dirty="0" sz="2800" spc="40">
                <a:latin typeface="Microsoft Sans Serif"/>
                <a:cs typeface="Microsoft Sans Serif"/>
              </a:rPr>
              <a:t>problems.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160">
                <a:latin typeface="Microsoft Sans Serif"/>
                <a:cs typeface="Microsoft Sans Serif"/>
              </a:rPr>
              <a:t>It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30">
                <a:latin typeface="Microsoft Sans Serif"/>
                <a:cs typeface="Microsoft Sans Serif"/>
              </a:rPr>
              <a:t>enhances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40">
                <a:latin typeface="Microsoft Sans Serif"/>
                <a:cs typeface="Microsoft Sans Serif"/>
              </a:rPr>
              <a:t>re-usability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90">
                <a:latin typeface="Microsoft Sans Serif"/>
                <a:cs typeface="Microsoft Sans Serif"/>
              </a:rPr>
              <a:t>of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50">
                <a:latin typeface="Microsoft Sans Serif"/>
                <a:cs typeface="Microsoft Sans Serif"/>
              </a:rPr>
              <a:t>program.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25">
                <a:latin typeface="Microsoft Sans Serif"/>
                <a:cs typeface="Microsoft Sans Serif"/>
              </a:rPr>
              <a:t>We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55">
                <a:latin typeface="Microsoft Sans Serif"/>
                <a:cs typeface="Microsoft Sans Serif"/>
              </a:rPr>
              <a:t>can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90">
                <a:latin typeface="Microsoft Sans Serif"/>
                <a:cs typeface="Microsoft Sans Serif"/>
              </a:rPr>
              <a:t>do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50">
                <a:latin typeface="Microsoft Sans Serif"/>
                <a:cs typeface="Microsoft Sans Serif"/>
              </a:rPr>
              <a:t>coupling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90">
                <a:latin typeface="Microsoft Sans Serif"/>
                <a:cs typeface="Microsoft Sans Serif"/>
              </a:rPr>
              <a:t>of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25">
                <a:latin typeface="Microsoft Sans Serif"/>
                <a:cs typeface="Microsoft Sans Serif"/>
              </a:rPr>
              <a:t>programs.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160">
                <a:latin typeface="Microsoft Sans Serif"/>
                <a:cs typeface="Microsoft Sans Serif"/>
              </a:rPr>
              <a:t>It</a:t>
            </a:r>
            <a:r>
              <a:rPr dirty="0" sz="2800" spc="-125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optimizes</a:t>
            </a:r>
            <a:r>
              <a:rPr dirty="0" sz="2800" spc="-130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code.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160">
                <a:latin typeface="Microsoft Sans Serif"/>
                <a:cs typeface="Microsoft Sans Serif"/>
              </a:rPr>
              <a:t>It</a:t>
            </a:r>
            <a:r>
              <a:rPr dirty="0" sz="2800" spc="-120">
                <a:latin typeface="Microsoft Sans Serif"/>
                <a:cs typeface="Microsoft Sans Serif"/>
              </a:rPr>
              <a:t> </a:t>
            </a:r>
            <a:r>
              <a:rPr dirty="0" sz="2800" spc="-25">
                <a:latin typeface="Microsoft Sans Serif"/>
                <a:cs typeface="Microsoft Sans Serif"/>
              </a:rPr>
              <a:t>makes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debugging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20">
                <a:latin typeface="Microsoft Sans Serif"/>
                <a:cs typeface="Microsoft Sans Serif"/>
              </a:rPr>
              <a:t>easier.</a:t>
            </a:r>
            <a:endParaRPr sz="2800">
              <a:latin typeface="Microsoft Sans Serif"/>
              <a:cs typeface="Microsoft Sans Serif"/>
            </a:endParaRPr>
          </a:p>
          <a:p>
            <a:pPr marL="355600" marR="28829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160">
                <a:latin typeface="Microsoft Sans Serif"/>
                <a:cs typeface="Microsoft Sans Serif"/>
              </a:rPr>
              <a:t>It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25">
                <a:latin typeface="Microsoft Sans Serif"/>
                <a:cs typeface="Microsoft Sans Serif"/>
              </a:rPr>
              <a:t>makes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75">
                <a:latin typeface="Microsoft Sans Serif"/>
                <a:cs typeface="Microsoft Sans Serif"/>
              </a:rPr>
              <a:t>development</a:t>
            </a:r>
            <a:r>
              <a:rPr dirty="0" sz="2800" spc="-90">
                <a:latin typeface="Microsoft Sans Serif"/>
                <a:cs typeface="Microsoft Sans Serif"/>
              </a:rPr>
              <a:t> </a:t>
            </a:r>
            <a:r>
              <a:rPr dirty="0" sz="2800" spc="-70">
                <a:latin typeface="Microsoft Sans Serif"/>
                <a:cs typeface="Microsoft Sans Serif"/>
              </a:rPr>
              <a:t>easy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0">
                <a:latin typeface="Microsoft Sans Serif"/>
                <a:cs typeface="Microsoft Sans Serif"/>
              </a:rPr>
              <a:t>and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creates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-50">
                <a:latin typeface="Microsoft Sans Serif"/>
                <a:cs typeface="Microsoft Sans Serif"/>
              </a:rPr>
              <a:t>less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complexity.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2573020" algn="l"/>
              </a:tabLst>
            </a:pPr>
            <a:r>
              <a:rPr dirty="0" spc="-275"/>
              <a:t>F</a:t>
            </a:r>
            <a:r>
              <a:rPr dirty="0" spc="60"/>
              <a:t>u</a:t>
            </a:r>
            <a:r>
              <a:rPr dirty="0" spc="50"/>
              <a:t>n</a:t>
            </a:r>
            <a:r>
              <a:rPr dirty="0" spc="-130"/>
              <a:t>c</a:t>
            </a:r>
            <a:r>
              <a:rPr dirty="0" spc="215"/>
              <a:t>tio</a:t>
            </a:r>
            <a:r>
              <a:rPr dirty="0" spc="60"/>
              <a:t>n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-45"/>
              <a:t>D</a:t>
            </a:r>
            <a:r>
              <a:rPr dirty="0" spc="10"/>
              <a:t>e</a:t>
            </a:r>
            <a:r>
              <a:rPr dirty="0" spc="270"/>
              <a:t>f</a:t>
            </a:r>
            <a:r>
              <a:rPr dirty="0" spc="215"/>
              <a:t>i</a:t>
            </a:r>
            <a:r>
              <a:rPr dirty="0" spc="185"/>
              <a:t>nit</a:t>
            </a:r>
            <a:r>
              <a:rPr dirty="0" spc="125"/>
              <a:t>i</a:t>
            </a:r>
            <a:r>
              <a:rPr dirty="0" spc="114"/>
              <a:t>o</a:t>
            </a:r>
            <a:r>
              <a:rPr dirty="0" spc="60"/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122920" cy="43059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13055" marR="5080" indent="-300990">
              <a:lnSpc>
                <a:spcPct val="100200"/>
              </a:lnSpc>
              <a:spcBef>
                <a:spcPts val="105"/>
              </a:spcBef>
              <a:buClr>
                <a:srgbClr val="6697CC"/>
              </a:buClr>
              <a:buFont typeface="Arial MT"/>
              <a:buChar char="•"/>
              <a:tabLst>
                <a:tab pos="313055" algn="l"/>
                <a:tab pos="313690" algn="l"/>
              </a:tabLst>
            </a:pPr>
            <a:r>
              <a:rPr dirty="0" sz="2450" spc="-5">
                <a:latin typeface="Microsoft Sans Serif"/>
                <a:cs typeface="Microsoft Sans Serif"/>
              </a:rPr>
              <a:t>A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95">
                <a:latin typeface="Microsoft Sans Serif"/>
                <a:cs typeface="Microsoft Sans Serif"/>
              </a:rPr>
              <a:t>function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-40">
                <a:latin typeface="Microsoft Sans Serif"/>
                <a:cs typeface="Microsoft Sans Serif"/>
              </a:rPr>
              <a:t>can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45">
                <a:latin typeface="Microsoft Sans Serif"/>
                <a:cs typeface="Microsoft Sans Serif"/>
              </a:rPr>
              <a:t>be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80">
                <a:latin typeface="Microsoft Sans Serif"/>
                <a:cs typeface="Microsoft Sans Serif"/>
              </a:rPr>
              <a:t>defined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40">
                <a:latin typeface="Microsoft Sans Serif"/>
                <a:cs typeface="Microsoft Sans Serif"/>
              </a:rPr>
              <a:t>by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65">
                <a:latin typeface="Microsoft Sans Serif"/>
                <a:cs typeface="Microsoft Sans Serif"/>
              </a:rPr>
              <a:t>providing</a:t>
            </a:r>
            <a:r>
              <a:rPr dirty="0" sz="2450" spc="-95">
                <a:latin typeface="Microsoft Sans Serif"/>
                <a:cs typeface="Microsoft Sans Serif"/>
              </a:rPr>
              <a:t> </a:t>
            </a:r>
            <a:r>
              <a:rPr dirty="0" sz="2450" spc="114">
                <a:latin typeface="Microsoft Sans Serif"/>
                <a:cs typeface="Microsoft Sans Serif"/>
              </a:rPr>
              <a:t>the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15">
                <a:latin typeface="Microsoft Sans Serif"/>
                <a:cs typeface="Microsoft Sans Serif"/>
              </a:rPr>
              <a:t>name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175">
                <a:latin typeface="Microsoft Sans Serif"/>
                <a:cs typeface="Microsoft Sans Serif"/>
              </a:rPr>
              <a:t>of</a:t>
            </a:r>
            <a:r>
              <a:rPr dirty="0" sz="2450" spc="-90">
                <a:latin typeface="Microsoft Sans Serif"/>
                <a:cs typeface="Microsoft Sans Serif"/>
              </a:rPr>
              <a:t> </a:t>
            </a:r>
            <a:r>
              <a:rPr dirty="0" sz="2450" spc="114">
                <a:latin typeface="Microsoft Sans Serif"/>
                <a:cs typeface="Microsoft Sans Serif"/>
              </a:rPr>
              <a:t>the </a:t>
            </a:r>
            <a:r>
              <a:rPr dirty="0" sz="2450" spc="-635">
                <a:latin typeface="Microsoft Sans Serif"/>
                <a:cs typeface="Microsoft Sans Serif"/>
              </a:rPr>
              <a:t> </a:t>
            </a:r>
            <a:r>
              <a:rPr dirty="0" sz="2450" spc="95">
                <a:latin typeface="Microsoft Sans Serif"/>
                <a:cs typeface="Microsoft Sans Serif"/>
              </a:rPr>
              <a:t>function </a:t>
            </a:r>
            <a:r>
              <a:rPr dirty="0" sz="2450" spc="135">
                <a:latin typeface="Microsoft Sans Serif"/>
                <a:cs typeface="Microsoft Sans Serif"/>
              </a:rPr>
              <a:t>with </a:t>
            </a:r>
            <a:r>
              <a:rPr dirty="0" sz="2450" spc="114">
                <a:latin typeface="Microsoft Sans Serif"/>
                <a:cs typeface="Microsoft Sans Serif"/>
              </a:rPr>
              <a:t>the </a:t>
            </a:r>
            <a:r>
              <a:rPr dirty="0" sz="2450" spc="75">
                <a:latin typeface="Microsoft Sans Serif"/>
                <a:cs typeface="Microsoft Sans Serif"/>
              </a:rPr>
              <a:t>appropriate </a:t>
            </a:r>
            <a:r>
              <a:rPr dirty="0" sz="2450" spc="65">
                <a:latin typeface="Microsoft Sans Serif"/>
                <a:cs typeface="Microsoft Sans Serif"/>
              </a:rPr>
              <a:t>parameter </a:t>
            </a:r>
            <a:r>
              <a:rPr dirty="0" sz="2450" spc="15">
                <a:latin typeface="Microsoft Sans Serif"/>
                <a:cs typeface="Microsoft Sans Serif"/>
              </a:rPr>
              <a:t>and </a:t>
            </a:r>
            <a:r>
              <a:rPr dirty="0" sz="2450" spc="110">
                <a:latin typeface="Microsoft Sans Serif"/>
                <a:cs typeface="Microsoft Sans Serif"/>
              </a:rPr>
              <a:t>return </a:t>
            </a:r>
            <a:r>
              <a:rPr dirty="0" sz="2450" spc="114">
                <a:latin typeface="Microsoft Sans Serif"/>
                <a:cs typeface="Microsoft Sans Serif"/>
              </a:rPr>
              <a:t> </a:t>
            </a:r>
            <a:r>
              <a:rPr dirty="0" sz="2450" spc="105">
                <a:latin typeface="Microsoft Sans Serif"/>
                <a:cs typeface="Microsoft Sans Serif"/>
              </a:rPr>
              <a:t>t</a:t>
            </a:r>
            <a:r>
              <a:rPr dirty="0" sz="2450" spc="190">
                <a:latin typeface="Microsoft Sans Serif"/>
                <a:cs typeface="Microsoft Sans Serif"/>
              </a:rPr>
              <a:t>y</a:t>
            </a:r>
            <a:r>
              <a:rPr dirty="0" sz="2450" spc="45">
                <a:latin typeface="Microsoft Sans Serif"/>
                <a:cs typeface="Microsoft Sans Serif"/>
              </a:rPr>
              <a:t>pe</a:t>
            </a:r>
            <a:r>
              <a:rPr dirty="0" sz="2450" spc="-80">
                <a:latin typeface="Microsoft Sans Serif"/>
                <a:cs typeface="Microsoft Sans Serif"/>
              </a:rPr>
              <a:t>.</a:t>
            </a:r>
            <a:r>
              <a:rPr dirty="0" sz="2450" spc="-90">
                <a:latin typeface="Microsoft Sans Serif"/>
                <a:cs typeface="Microsoft Sans Serif"/>
              </a:rPr>
              <a:t> </a:t>
            </a:r>
            <a:r>
              <a:rPr dirty="0" sz="2450" spc="-5">
                <a:latin typeface="Microsoft Sans Serif"/>
                <a:cs typeface="Microsoft Sans Serif"/>
              </a:rPr>
              <a:t>A</a:t>
            </a:r>
            <a:r>
              <a:rPr dirty="0" sz="2450" spc="-90">
                <a:latin typeface="Microsoft Sans Serif"/>
                <a:cs typeface="Microsoft Sans Serif"/>
              </a:rPr>
              <a:t> </a:t>
            </a:r>
            <a:r>
              <a:rPr dirty="0" sz="2450" spc="155">
                <a:latin typeface="Microsoft Sans Serif"/>
                <a:cs typeface="Microsoft Sans Serif"/>
              </a:rPr>
              <a:t>fu</a:t>
            </a:r>
            <a:r>
              <a:rPr dirty="0" sz="2450" spc="40">
                <a:latin typeface="Microsoft Sans Serif"/>
                <a:cs typeface="Microsoft Sans Serif"/>
              </a:rPr>
              <a:t>n</a:t>
            </a:r>
            <a:r>
              <a:rPr dirty="0" sz="2450" spc="-90">
                <a:latin typeface="Microsoft Sans Serif"/>
                <a:cs typeface="Microsoft Sans Serif"/>
              </a:rPr>
              <a:t>c</a:t>
            </a:r>
            <a:r>
              <a:rPr dirty="0" sz="2450" spc="200">
                <a:latin typeface="Microsoft Sans Serif"/>
                <a:cs typeface="Microsoft Sans Serif"/>
              </a:rPr>
              <a:t>t</a:t>
            </a:r>
            <a:r>
              <a:rPr dirty="0" sz="2450" spc="160">
                <a:latin typeface="Microsoft Sans Serif"/>
                <a:cs typeface="Microsoft Sans Serif"/>
              </a:rPr>
              <a:t>i</a:t>
            </a:r>
            <a:r>
              <a:rPr dirty="0" sz="2450" spc="80">
                <a:latin typeface="Microsoft Sans Serif"/>
                <a:cs typeface="Microsoft Sans Serif"/>
              </a:rPr>
              <a:t>o</a:t>
            </a:r>
            <a:r>
              <a:rPr dirty="0" sz="2450" spc="45">
                <a:latin typeface="Microsoft Sans Serif"/>
                <a:cs typeface="Microsoft Sans Serif"/>
              </a:rPr>
              <a:t>n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-90">
                <a:latin typeface="Microsoft Sans Serif"/>
                <a:cs typeface="Microsoft Sans Serif"/>
              </a:rPr>
              <a:t>c</a:t>
            </a:r>
            <a:r>
              <a:rPr dirty="0" sz="2450" spc="80">
                <a:latin typeface="Microsoft Sans Serif"/>
                <a:cs typeface="Microsoft Sans Serif"/>
              </a:rPr>
              <a:t>o</a:t>
            </a:r>
            <a:r>
              <a:rPr dirty="0" sz="2450" spc="45">
                <a:latin typeface="Microsoft Sans Serif"/>
                <a:cs typeface="Microsoft Sans Serif"/>
              </a:rPr>
              <a:t>n</a:t>
            </a:r>
            <a:r>
              <a:rPr dirty="0" sz="2450" spc="295">
                <a:latin typeface="Microsoft Sans Serif"/>
                <a:cs typeface="Microsoft Sans Serif"/>
              </a:rPr>
              <a:t>t</a:t>
            </a:r>
            <a:r>
              <a:rPr dirty="0" sz="2450" spc="-80">
                <a:latin typeface="Microsoft Sans Serif"/>
                <a:cs typeface="Microsoft Sans Serif"/>
              </a:rPr>
              <a:t>a</a:t>
            </a:r>
            <a:r>
              <a:rPr dirty="0" sz="2450" spc="55">
                <a:latin typeface="Microsoft Sans Serif"/>
                <a:cs typeface="Microsoft Sans Serif"/>
              </a:rPr>
              <a:t>i</a:t>
            </a:r>
            <a:r>
              <a:rPr dirty="0" sz="2450" spc="45">
                <a:latin typeface="Microsoft Sans Serif"/>
                <a:cs typeface="Microsoft Sans Serif"/>
              </a:rPr>
              <a:t>n</a:t>
            </a:r>
            <a:r>
              <a:rPr dirty="0" sz="2450" spc="-130">
                <a:latin typeface="Microsoft Sans Serif"/>
                <a:cs typeface="Microsoft Sans Serif"/>
              </a:rPr>
              <a:t>s</a:t>
            </a:r>
            <a:r>
              <a:rPr dirty="0" sz="2450" spc="-100">
                <a:latin typeface="Microsoft Sans Serif"/>
                <a:cs typeface="Microsoft Sans Serif"/>
              </a:rPr>
              <a:t> </a:t>
            </a:r>
            <a:r>
              <a:rPr dirty="0" sz="2450" spc="-80">
                <a:latin typeface="Microsoft Sans Serif"/>
                <a:cs typeface="Microsoft Sans Serif"/>
              </a:rPr>
              <a:t>a</a:t>
            </a:r>
            <a:r>
              <a:rPr dirty="0" sz="2450" spc="-90">
                <a:latin typeface="Microsoft Sans Serif"/>
                <a:cs typeface="Microsoft Sans Serif"/>
              </a:rPr>
              <a:t> </a:t>
            </a:r>
            <a:r>
              <a:rPr dirty="0" sz="2450" spc="-140">
                <a:latin typeface="Microsoft Sans Serif"/>
                <a:cs typeface="Microsoft Sans Serif"/>
              </a:rPr>
              <a:t>s</a:t>
            </a:r>
            <a:r>
              <a:rPr dirty="0" sz="2450" spc="10">
                <a:latin typeface="Microsoft Sans Serif"/>
                <a:cs typeface="Microsoft Sans Serif"/>
              </a:rPr>
              <a:t>e</a:t>
            </a:r>
            <a:r>
              <a:rPr dirty="0" sz="2450" spc="305">
                <a:latin typeface="Microsoft Sans Serif"/>
                <a:cs typeface="Microsoft Sans Serif"/>
              </a:rPr>
              <a:t>t</a:t>
            </a:r>
            <a:r>
              <a:rPr dirty="0" sz="2450" spc="-90">
                <a:latin typeface="Microsoft Sans Serif"/>
                <a:cs typeface="Microsoft Sans Serif"/>
              </a:rPr>
              <a:t> </a:t>
            </a:r>
            <a:r>
              <a:rPr dirty="0" sz="2450" spc="80">
                <a:latin typeface="Microsoft Sans Serif"/>
                <a:cs typeface="Microsoft Sans Serif"/>
              </a:rPr>
              <a:t>o</a:t>
            </a:r>
            <a:r>
              <a:rPr dirty="0" sz="2450" spc="265">
                <a:latin typeface="Microsoft Sans Serif"/>
                <a:cs typeface="Microsoft Sans Serif"/>
              </a:rPr>
              <a:t>f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-140">
                <a:latin typeface="Microsoft Sans Serif"/>
                <a:cs typeface="Microsoft Sans Serif"/>
              </a:rPr>
              <a:t>s</a:t>
            </a:r>
            <a:r>
              <a:rPr dirty="0" sz="2450" spc="295">
                <a:latin typeface="Microsoft Sans Serif"/>
                <a:cs typeface="Microsoft Sans Serif"/>
              </a:rPr>
              <a:t>t</a:t>
            </a:r>
            <a:r>
              <a:rPr dirty="0" sz="2450" spc="-80">
                <a:latin typeface="Microsoft Sans Serif"/>
                <a:cs typeface="Microsoft Sans Serif"/>
              </a:rPr>
              <a:t>a</a:t>
            </a:r>
            <a:r>
              <a:rPr dirty="0" sz="2450" spc="295">
                <a:latin typeface="Microsoft Sans Serif"/>
                <a:cs typeface="Microsoft Sans Serif"/>
              </a:rPr>
              <a:t>t</a:t>
            </a:r>
            <a:r>
              <a:rPr dirty="0" sz="2450" spc="10">
                <a:latin typeface="Microsoft Sans Serif"/>
                <a:cs typeface="Microsoft Sans Serif"/>
              </a:rPr>
              <a:t>e</a:t>
            </a:r>
            <a:r>
              <a:rPr dirty="0" sz="2450" spc="45">
                <a:latin typeface="Microsoft Sans Serif"/>
                <a:cs typeface="Microsoft Sans Serif"/>
              </a:rPr>
              <a:t>me</a:t>
            </a:r>
            <a:r>
              <a:rPr dirty="0" sz="2450" spc="45">
                <a:latin typeface="Microsoft Sans Serif"/>
                <a:cs typeface="Microsoft Sans Serif"/>
              </a:rPr>
              <a:t>n</a:t>
            </a:r>
            <a:r>
              <a:rPr dirty="0" sz="2450" spc="90">
                <a:latin typeface="Microsoft Sans Serif"/>
                <a:cs typeface="Microsoft Sans Serif"/>
              </a:rPr>
              <a:t>ts</a:t>
            </a:r>
            <a:r>
              <a:rPr dirty="0" sz="2450" spc="-100">
                <a:latin typeface="Microsoft Sans Serif"/>
                <a:cs typeface="Microsoft Sans Serif"/>
              </a:rPr>
              <a:t> </a:t>
            </a:r>
            <a:r>
              <a:rPr dirty="0" sz="2450" spc="135">
                <a:latin typeface="Microsoft Sans Serif"/>
                <a:cs typeface="Microsoft Sans Serif"/>
              </a:rPr>
              <a:t>w</a:t>
            </a:r>
            <a:r>
              <a:rPr dirty="0" sz="2450" spc="35">
                <a:latin typeface="Microsoft Sans Serif"/>
                <a:cs typeface="Microsoft Sans Serif"/>
              </a:rPr>
              <a:t>h</a:t>
            </a:r>
            <a:r>
              <a:rPr dirty="0" sz="2450" spc="60">
                <a:latin typeface="Microsoft Sans Serif"/>
                <a:cs typeface="Microsoft Sans Serif"/>
              </a:rPr>
              <a:t>i</a:t>
            </a:r>
            <a:r>
              <a:rPr dirty="0" sz="2450" spc="-90">
                <a:latin typeface="Microsoft Sans Serif"/>
                <a:cs typeface="Microsoft Sans Serif"/>
              </a:rPr>
              <a:t>c</a:t>
            </a:r>
            <a:r>
              <a:rPr dirty="0" sz="2450" spc="40">
                <a:latin typeface="Microsoft Sans Serif"/>
                <a:cs typeface="Microsoft Sans Serif"/>
              </a:rPr>
              <a:t>h</a:t>
            </a:r>
            <a:r>
              <a:rPr dirty="0" sz="2450" spc="-95">
                <a:latin typeface="Microsoft Sans Serif"/>
                <a:cs typeface="Microsoft Sans Serif"/>
              </a:rPr>
              <a:t> </a:t>
            </a:r>
            <a:r>
              <a:rPr dirty="0" sz="2450" spc="-80">
                <a:latin typeface="Microsoft Sans Serif"/>
                <a:cs typeface="Microsoft Sans Serif"/>
              </a:rPr>
              <a:t>a</a:t>
            </a:r>
            <a:r>
              <a:rPr dirty="0" sz="2450" spc="55">
                <a:latin typeface="Microsoft Sans Serif"/>
                <a:cs typeface="Microsoft Sans Serif"/>
              </a:rPr>
              <a:t>re  </a:t>
            </a:r>
            <a:r>
              <a:rPr dirty="0" sz="2450" spc="25">
                <a:latin typeface="Microsoft Sans Serif"/>
                <a:cs typeface="Microsoft Sans Serif"/>
              </a:rPr>
              <a:t>called</a:t>
            </a:r>
            <a:r>
              <a:rPr dirty="0" sz="2450" spc="-90">
                <a:latin typeface="Microsoft Sans Serif"/>
                <a:cs typeface="Microsoft Sans Serif"/>
              </a:rPr>
              <a:t> </a:t>
            </a:r>
            <a:r>
              <a:rPr dirty="0" sz="2450" spc="95">
                <a:latin typeface="Microsoft Sans Serif"/>
                <a:cs typeface="Microsoft Sans Serif"/>
              </a:rPr>
              <a:t>function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35">
                <a:latin typeface="Microsoft Sans Serif"/>
                <a:cs typeface="Microsoft Sans Serif"/>
              </a:rPr>
              <a:t>body.</a:t>
            </a:r>
            <a:r>
              <a:rPr dirty="0" sz="2450" spc="-95">
                <a:latin typeface="Microsoft Sans Serif"/>
                <a:cs typeface="Microsoft Sans Serif"/>
              </a:rPr>
              <a:t> </a:t>
            </a:r>
            <a:r>
              <a:rPr dirty="0" sz="2450" spc="-20">
                <a:latin typeface="Microsoft Sans Serif"/>
                <a:cs typeface="Microsoft Sans Serif"/>
              </a:rPr>
              <a:t>The</a:t>
            </a:r>
            <a:r>
              <a:rPr dirty="0" sz="2450" spc="-95">
                <a:latin typeface="Microsoft Sans Serif"/>
                <a:cs typeface="Microsoft Sans Serif"/>
              </a:rPr>
              <a:t> </a:t>
            </a:r>
            <a:r>
              <a:rPr dirty="0" sz="2450" spc="25">
                <a:latin typeface="Microsoft Sans Serif"/>
                <a:cs typeface="Microsoft Sans Serif"/>
              </a:rPr>
              <a:t>syntax</a:t>
            </a:r>
            <a:r>
              <a:rPr dirty="0" sz="2450" spc="-90">
                <a:latin typeface="Microsoft Sans Serif"/>
                <a:cs typeface="Microsoft Sans Serif"/>
              </a:rPr>
              <a:t> </a:t>
            </a:r>
            <a:r>
              <a:rPr dirty="0" sz="2450" spc="-35">
                <a:latin typeface="Microsoft Sans Serif"/>
                <a:cs typeface="Microsoft Sans Serif"/>
              </a:rPr>
              <a:t>is</a:t>
            </a:r>
            <a:r>
              <a:rPr dirty="0" sz="2450" spc="-90">
                <a:latin typeface="Microsoft Sans Serif"/>
                <a:cs typeface="Microsoft Sans Serif"/>
              </a:rPr>
              <a:t> </a:t>
            </a:r>
            <a:r>
              <a:rPr dirty="0" sz="2450" spc="35">
                <a:latin typeface="Microsoft Sans Serif"/>
                <a:cs typeface="Microsoft Sans Serif"/>
              </a:rPr>
              <a:t>given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55">
                <a:latin typeface="Microsoft Sans Serif"/>
                <a:cs typeface="Microsoft Sans Serif"/>
              </a:rPr>
              <a:t>below.</a:t>
            </a:r>
            <a:endParaRPr sz="2450">
              <a:latin typeface="Microsoft Sans Serif"/>
              <a:cs typeface="Microsoft Sans Serif"/>
            </a:endParaRPr>
          </a:p>
          <a:p>
            <a:pPr marL="313055" indent="-300990">
              <a:lnSpc>
                <a:spcPct val="100000"/>
              </a:lnSpc>
              <a:spcBef>
                <a:spcPts val="720"/>
              </a:spcBef>
              <a:buClr>
                <a:srgbClr val="6697CC"/>
              </a:buClr>
              <a:buFont typeface="Arial MT"/>
              <a:buChar char="•"/>
              <a:tabLst>
                <a:tab pos="313055" algn="l"/>
                <a:tab pos="313690" algn="l"/>
              </a:tabLst>
            </a:pPr>
            <a:r>
              <a:rPr dirty="0" sz="2450" spc="-20">
                <a:latin typeface="Microsoft Sans Serif"/>
                <a:cs typeface="Microsoft Sans Serif"/>
              </a:rPr>
              <a:t>Syntax:</a:t>
            </a:r>
            <a:endParaRPr sz="2450">
              <a:latin typeface="Microsoft Sans Serif"/>
              <a:cs typeface="Microsoft Sans Serif"/>
            </a:endParaRPr>
          </a:p>
          <a:p>
            <a:pPr marL="313055">
              <a:lnSpc>
                <a:spcPct val="100000"/>
              </a:lnSpc>
              <a:spcBef>
                <a:spcPts val="710"/>
              </a:spcBef>
            </a:pPr>
            <a:r>
              <a:rPr dirty="0" sz="2450" spc="80">
                <a:latin typeface="Microsoft Sans Serif"/>
                <a:cs typeface="Microsoft Sans Serif"/>
              </a:rPr>
              <a:t>return_type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20">
                <a:latin typeface="Microsoft Sans Serif"/>
                <a:cs typeface="Microsoft Sans Serif"/>
              </a:rPr>
              <a:t>func_name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35">
                <a:latin typeface="Microsoft Sans Serif"/>
                <a:cs typeface="Microsoft Sans Serif"/>
              </a:rPr>
              <a:t>(parameter_list):</a:t>
            </a:r>
            <a:endParaRPr sz="2450">
              <a:latin typeface="Microsoft Sans Serif"/>
              <a:cs typeface="Microsoft Sans Serif"/>
            </a:endParaRPr>
          </a:p>
          <a:p>
            <a:pPr marL="313055">
              <a:lnSpc>
                <a:spcPct val="100000"/>
              </a:lnSpc>
              <a:spcBef>
                <a:spcPts val="710"/>
              </a:spcBef>
            </a:pPr>
            <a:r>
              <a:rPr dirty="0" sz="2450">
                <a:latin typeface="Microsoft Sans Serif"/>
                <a:cs typeface="Microsoft Sans Serif"/>
              </a:rPr>
              <a:t>{</a:t>
            </a:r>
            <a:endParaRPr sz="2450">
              <a:latin typeface="Microsoft Sans Serif"/>
              <a:cs typeface="Microsoft Sans Serif"/>
            </a:endParaRPr>
          </a:p>
          <a:p>
            <a:pPr marL="527685" marR="5458460" indent="71755">
              <a:lnSpc>
                <a:spcPts val="3650"/>
              </a:lnSpc>
              <a:spcBef>
                <a:spcPts val="240"/>
              </a:spcBef>
            </a:pPr>
            <a:r>
              <a:rPr dirty="0" sz="2450" spc="260">
                <a:latin typeface="Microsoft Sans Serif"/>
                <a:cs typeface="Microsoft Sans Serif"/>
              </a:rPr>
              <a:t>//</a:t>
            </a:r>
            <a:r>
              <a:rPr dirty="0" sz="2450" spc="-140">
                <a:latin typeface="Microsoft Sans Serif"/>
                <a:cs typeface="Microsoft Sans Serif"/>
              </a:rPr>
              <a:t>s</a:t>
            </a:r>
            <a:r>
              <a:rPr dirty="0" sz="2450" spc="295">
                <a:latin typeface="Microsoft Sans Serif"/>
                <a:cs typeface="Microsoft Sans Serif"/>
              </a:rPr>
              <a:t>t</a:t>
            </a:r>
            <a:r>
              <a:rPr dirty="0" sz="2450" spc="-85">
                <a:latin typeface="Microsoft Sans Serif"/>
                <a:cs typeface="Microsoft Sans Serif"/>
              </a:rPr>
              <a:t>a</a:t>
            </a:r>
            <a:r>
              <a:rPr dirty="0" sz="2450" spc="160">
                <a:latin typeface="Microsoft Sans Serif"/>
                <a:cs typeface="Microsoft Sans Serif"/>
              </a:rPr>
              <a:t>te</a:t>
            </a:r>
            <a:r>
              <a:rPr dirty="0" sz="2450" spc="45">
                <a:latin typeface="Microsoft Sans Serif"/>
                <a:cs typeface="Microsoft Sans Serif"/>
              </a:rPr>
              <a:t>me</a:t>
            </a:r>
            <a:r>
              <a:rPr dirty="0" sz="2450" spc="45">
                <a:latin typeface="Microsoft Sans Serif"/>
                <a:cs typeface="Microsoft Sans Serif"/>
              </a:rPr>
              <a:t>n</a:t>
            </a:r>
            <a:r>
              <a:rPr dirty="0" sz="2450" spc="295">
                <a:latin typeface="Microsoft Sans Serif"/>
                <a:cs typeface="Microsoft Sans Serif"/>
              </a:rPr>
              <a:t>t</a:t>
            </a:r>
            <a:r>
              <a:rPr dirty="0" sz="2450" spc="-30">
                <a:latin typeface="Microsoft Sans Serif"/>
                <a:cs typeface="Microsoft Sans Serif"/>
              </a:rPr>
              <a:t>(</a:t>
            </a:r>
            <a:r>
              <a:rPr dirty="0" sz="2450" spc="-60">
                <a:latin typeface="Microsoft Sans Serif"/>
                <a:cs typeface="Microsoft Sans Serif"/>
              </a:rPr>
              <a:t>s)  </a:t>
            </a:r>
            <a:r>
              <a:rPr dirty="0" sz="2450" spc="110">
                <a:latin typeface="Microsoft Sans Serif"/>
                <a:cs typeface="Microsoft Sans Serif"/>
              </a:rPr>
              <a:t>return</a:t>
            </a:r>
            <a:r>
              <a:rPr dirty="0" sz="2450" spc="-95">
                <a:latin typeface="Microsoft Sans Serif"/>
                <a:cs typeface="Microsoft Sans Serif"/>
              </a:rPr>
              <a:t> </a:t>
            </a:r>
            <a:r>
              <a:rPr dirty="0" sz="2450">
                <a:latin typeface="Microsoft Sans Serif"/>
                <a:cs typeface="Microsoft Sans Serif"/>
              </a:rPr>
              <a:t>value;</a:t>
            </a:r>
            <a:endParaRPr sz="2450">
              <a:latin typeface="Microsoft Sans Serif"/>
              <a:cs typeface="Microsoft Sans Serif"/>
            </a:endParaRPr>
          </a:p>
          <a:p>
            <a:pPr marL="313055">
              <a:lnSpc>
                <a:spcPct val="100000"/>
              </a:lnSpc>
              <a:spcBef>
                <a:spcPts val="470"/>
              </a:spcBef>
            </a:pPr>
            <a:r>
              <a:rPr dirty="0" sz="2450">
                <a:latin typeface="Microsoft Sans Serif"/>
                <a:cs typeface="Microsoft Sans Serif"/>
              </a:rPr>
              <a:t>}</a:t>
            </a:r>
            <a:endParaRPr sz="24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2573020" algn="l"/>
              </a:tabLst>
            </a:pPr>
            <a:r>
              <a:rPr dirty="0" spc="-275"/>
              <a:t>F</a:t>
            </a:r>
            <a:r>
              <a:rPr dirty="0" spc="60"/>
              <a:t>u</a:t>
            </a:r>
            <a:r>
              <a:rPr dirty="0" spc="50"/>
              <a:t>n</a:t>
            </a:r>
            <a:r>
              <a:rPr dirty="0" spc="-130"/>
              <a:t>c</a:t>
            </a:r>
            <a:r>
              <a:rPr dirty="0" spc="215"/>
              <a:t>tio</a:t>
            </a:r>
            <a:r>
              <a:rPr dirty="0" spc="60"/>
              <a:t>n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-360"/>
              <a:t>E</a:t>
            </a:r>
            <a:r>
              <a:rPr dirty="0" spc="20"/>
              <a:t>x</a:t>
            </a:r>
            <a:r>
              <a:rPr dirty="0" spc="-120"/>
              <a:t>a</a:t>
            </a:r>
            <a:r>
              <a:rPr dirty="0" spc="160"/>
              <a:t>mp</a:t>
            </a:r>
            <a:r>
              <a:rPr dirty="0" spc="45"/>
              <a:t>l</a:t>
            </a:r>
            <a:r>
              <a:rPr dirty="0" spc="1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417436"/>
            <a:ext cx="4203065" cy="2661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4180" marR="1109345" indent="-411480">
              <a:lnSpc>
                <a:spcPct val="123500"/>
              </a:lnSpc>
              <a:spcBef>
                <a:spcPts val="100"/>
              </a:spcBef>
            </a:pPr>
            <a:r>
              <a:rPr dirty="0" sz="2800" spc="30">
                <a:latin typeface="Microsoft Sans Serif"/>
                <a:cs typeface="Microsoft Sans Serif"/>
              </a:rPr>
              <a:t>i</a:t>
            </a:r>
            <a:r>
              <a:rPr dirty="0" sz="2800" spc="75">
                <a:latin typeface="Microsoft Sans Serif"/>
                <a:cs typeface="Microsoft Sans Serif"/>
              </a:rPr>
              <a:t>n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80">
                <a:latin typeface="Microsoft Sans Serif"/>
                <a:cs typeface="Microsoft Sans Serif"/>
              </a:rPr>
              <a:t>mul</a:t>
            </a:r>
            <a:r>
              <a:rPr dirty="0" sz="2800" spc="-40">
                <a:latin typeface="Microsoft Sans Serif"/>
                <a:cs typeface="Microsoft Sans Serif"/>
              </a:rPr>
              <a:t>(</a:t>
            </a:r>
            <a:r>
              <a:rPr dirty="0" sz="2800" spc="30">
                <a:latin typeface="Microsoft Sans Serif"/>
                <a:cs typeface="Microsoft Sans Serif"/>
              </a:rPr>
              <a:t>i</a:t>
            </a:r>
            <a:r>
              <a:rPr dirty="0" sz="2800" spc="75">
                <a:latin typeface="Microsoft Sans Serif"/>
                <a:cs typeface="Microsoft Sans Serif"/>
              </a:rPr>
              <a:t>n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-105">
                <a:latin typeface="Microsoft Sans Serif"/>
                <a:cs typeface="Microsoft Sans Serif"/>
              </a:rPr>
              <a:t>a</a:t>
            </a:r>
            <a:r>
              <a:rPr dirty="0" sz="2800" spc="-90">
                <a:latin typeface="Microsoft Sans Serif"/>
                <a:cs typeface="Microsoft Sans Serif"/>
              </a:rPr>
              <a:t>,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i</a:t>
            </a:r>
            <a:r>
              <a:rPr dirty="0" sz="2800" spc="195">
                <a:latin typeface="Microsoft Sans Serif"/>
                <a:cs typeface="Microsoft Sans Serif"/>
              </a:rPr>
              <a:t>nt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80">
                <a:latin typeface="Microsoft Sans Serif"/>
                <a:cs typeface="Microsoft Sans Serif"/>
              </a:rPr>
              <a:t>b</a:t>
            </a:r>
            <a:r>
              <a:rPr dirty="0" sz="2800" spc="-40">
                <a:latin typeface="Microsoft Sans Serif"/>
                <a:cs typeface="Microsoft Sans Serif"/>
              </a:rPr>
              <a:t>)</a:t>
            </a:r>
            <a:r>
              <a:rPr dirty="0" sz="2800" spc="-5">
                <a:latin typeface="Microsoft Sans Serif"/>
                <a:cs typeface="Microsoft Sans Serif"/>
              </a:rPr>
              <a:t>{  </a:t>
            </a:r>
            <a:r>
              <a:rPr dirty="0" sz="2800" spc="150">
                <a:latin typeface="Microsoft Sans Serif"/>
                <a:cs typeface="Microsoft Sans Serif"/>
              </a:rPr>
              <a:t>int</a:t>
            </a:r>
            <a:r>
              <a:rPr dirty="0" sz="2800" spc="-100">
                <a:latin typeface="Microsoft Sans Serif"/>
                <a:cs typeface="Microsoft Sans Serif"/>
              </a:rPr>
              <a:t> c;</a:t>
            </a:r>
            <a:endParaRPr sz="2800">
              <a:latin typeface="Microsoft Sans Serif"/>
              <a:cs typeface="Microsoft Sans Serif"/>
            </a:endParaRPr>
          </a:p>
          <a:p>
            <a:pPr marL="424180">
              <a:lnSpc>
                <a:spcPct val="100000"/>
              </a:lnSpc>
              <a:spcBef>
                <a:spcPts val="790"/>
              </a:spcBef>
            </a:pPr>
            <a:r>
              <a:rPr dirty="0" sz="2800" spc="-100">
                <a:latin typeface="Microsoft Sans Serif"/>
                <a:cs typeface="Microsoft Sans Serif"/>
              </a:rPr>
              <a:t>c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60">
                <a:latin typeface="Microsoft Sans Serif"/>
                <a:cs typeface="Microsoft Sans Serif"/>
              </a:rPr>
              <a:t>=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95">
                <a:latin typeface="Microsoft Sans Serif"/>
                <a:cs typeface="Microsoft Sans Serif"/>
              </a:rPr>
              <a:t>a</a:t>
            </a:r>
            <a:r>
              <a:rPr dirty="0" sz="2800" spc="-70">
                <a:latin typeface="Microsoft Sans Serif"/>
                <a:cs typeface="Microsoft Sans Serif"/>
              </a:rPr>
              <a:t>+</a:t>
            </a:r>
            <a:r>
              <a:rPr dirty="0" sz="2800" spc="80">
                <a:latin typeface="Microsoft Sans Serif"/>
                <a:cs typeface="Microsoft Sans Serif"/>
              </a:rPr>
              <a:t>b</a:t>
            </a:r>
            <a:r>
              <a:rPr dirty="0" sz="2800" spc="-90">
                <a:latin typeface="Microsoft Sans Serif"/>
                <a:cs typeface="Microsoft Sans Serif"/>
              </a:rPr>
              <a:t>;</a:t>
            </a:r>
            <a:endParaRPr sz="2800">
              <a:latin typeface="Microsoft Sans Serif"/>
              <a:cs typeface="Microsoft Sans Serif"/>
            </a:endParaRPr>
          </a:p>
          <a:p>
            <a:pPr marL="424180">
              <a:lnSpc>
                <a:spcPct val="100000"/>
              </a:lnSpc>
              <a:spcBef>
                <a:spcPts val="795"/>
              </a:spcBef>
            </a:pPr>
            <a:r>
              <a:rPr dirty="0" sz="2800" spc="70">
                <a:latin typeface="Microsoft Sans Serif"/>
                <a:cs typeface="Microsoft Sans Serif"/>
              </a:rPr>
              <a:t>print("The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-15">
                <a:latin typeface="Microsoft Sans Serif"/>
                <a:cs typeface="Microsoft Sans Serif"/>
              </a:rPr>
              <a:t>sum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-25">
                <a:latin typeface="Microsoft Sans Serif"/>
                <a:cs typeface="Microsoft Sans Serif"/>
              </a:rPr>
              <a:t>is:${c}");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800" spc="-5">
                <a:latin typeface="Microsoft Sans Serif"/>
                <a:cs typeface="Microsoft Sans Serif"/>
              </a:rPr>
              <a:t>}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2573020" algn="l"/>
              </a:tabLst>
            </a:pPr>
            <a:r>
              <a:rPr dirty="0" spc="-275"/>
              <a:t>F</a:t>
            </a:r>
            <a:r>
              <a:rPr dirty="0" spc="60"/>
              <a:t>u</a:t>
            </a:r>
            <a:r>
              <a:rPr dirty="0" spc="50"/>
              <a:t>n</a:t>
            </a:r>
            <a:r>
              <a:rPr dirty="0" spc="-130"/>
              <a:t>c</a:t>
            </a:r>
            <a:r>
              <a:rPr dirty="0" spc="215"/>
              <a:t>tio</a:t>
            </a:r>
            <a:r>
              <a:rPr dirty="0" spc="60"/>
              <a:t>n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-225"/>
              <a:t>P</a:t>
            </a:r>
            <a:r>
              <a:rPr dirty="0" spc="-20"/>
              <a:t>ar</a:t>
            </a:r>
            <a:r>
              <a:rPr dirty="0" spc="-20"/>
              <a:t>a</a:t>
            </a:r>
            <a:r>
              <a:rPr dirty="0" spc="65"/>
              <a:t>m</a:t>
            </a:r>
            <a:r>
              <a:rPr dirty="0" spc="35"/>
              <a:t>e</a:t>
            </a:r>
            <a:r>
              <a:rPr dirty="0" spc="455"/>
              <a:t>t</a:t>
            </a:r>
            <a:r>
              <a:rPr dirty="0" spc="5"/>
              <a:t>e</a:t>
            </a:r>
            <a:r>
              <a:rPr dirty="0" spc="-5"/>
              <a:t>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50"/>
            <a:ext cx="8051800" cy="426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6860" marR="99695" indent="-264795">
              <a:lnSpc>
                <a:spcPct val="1000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>
                <a:latin typeface="Microsoft Sans Serif"/>
                <a:cs typeface="Microsoft Sans Serif"/>
              </a:rPr>
              <a:t>When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a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>
                <a:latin typeface="Microsoft Sans Serif"/>
                <a:cs typeface="Microsoft Sans Serif"/>
              </a:rPr>
              <a:t>called,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55">
                <a:latin typeface="Microsoft Sans Serif"/>
                <a:cs typeface="Microsoft Sans Serif"/>
              </a:rPr>
              <a:t>it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15">
                <a:latin typeface="Microsoft Sans Serif"/>
                <a:cs typeface="Microsoft Sans Serif"/>
              </a:rPr>
              <a:t>may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15">
                <a:latin typeface="Microsoft Sans Serif"/>
                <a:cs typeface="Microsoft Sans Serif"/>
              </a:rPr>
              <a:t>have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>
                <a:latin typeface="Microsoft Sans Serif"/>
                <a:cs typeface="Microsoft Sans Serif"/>
              </a:rPr>
              <a:t>some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information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-100">
                <a:latin typeface="Microsoft Sans Serif"/>
                <a:cs typeface="Microsoft Sans Serif"/>
              </a:rPr>
              <a:t>as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per </a:t>
            </a:r>
            <a:r>
              <a:rPr dirty="0" sz="2150" spc="-555">
                <a:latin typeface="Microsoft Sans Serif"/>
                <a:cs typeface="Microsoft Sans Serif"/>
              </a:rPr>
              <a:t> </a:t>
            </a:r>
            <a:r>
              <a:rPr dirty="0" sz="2150" spc="95">
                <a:latin typeface="Microsoft Sans Serif"/>
                <a:cs typeface="Microsoft Sans Serif"/>
              </a:rPr>
              <a:t>the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75">
                <a:latin typeface="Microsoft Sans Serif"/>
                <a:cs typeface="Microsoft Sans Serif"/>
              </a:rPr>
              <a:t>function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100">
                <a:latin typeface="Microsoft Sans Serif"/>
                <a:cs typeface="Microsoft Sans Serif"/>
              </a:rPr>
              <a:t>prototype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60">
                <a:latin typeface="Microsoft Sans Serif"/>
                <a:cs typeface="Microsoft Sans Serif"/>
              </a:rPr>
              <a:t>known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-105">
                <a:latin typeface="Microsoft Sans Serif"/>
                <a:cs typeface="Microsoft Sans Serif"/>
              </a:rPr>
              <a:t>as</a:t>
            </a:r>
            <a:r>
              <a:rPr dirty="0" sz="2150" spc="-75">
                <a:latin typeface="Microsoft Sans Serif"/>
                <a:cs typeface="Microsoft Sans Serif"/>
              </a:rPr>
              <a:t> a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parameter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(argument).</a:t>
            </a:r>
            <a:endParaRPr sz="2150">
              <a:latin typeface="Microsoft Sans Serif"/>
              <a:cs typeface="Microsoft Sans Serif"/>
            </a:endParaRPr>
          </a:p>
          <a:p>
            <a:pPr marL="276860" marR="116205" indent="-264795">
              <a:lnSpc>
                <a:spcPct val="100000"/>
              </a:lnSpc>
              <a:spcBef>
                <a:spcPts val="625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 spc="-30">
                <a:latin typeface="Microsoft Sans Serif"/>
                <a:cs typeface="Microsoft Sans Serif"/>
              </a:rPr>
              <a:t>The </a:t>
            </a:r>
            <a:r>
              <a:rPr dirty="0" sz="2150" spc="45">
                <a:latin typeface="Microsoft Sans Serif"/>
                <a:cs typeface="Microsoft Sans Serif"/>
              </a:rPr>
              <a:t>number </a:t>
            </a:r>
            <a:r>
              <a:rPr dirty="0" sz="2150" spc="150">
                <a:latin typeface="Microsoft Sans Serif"/>
                <a:cs typeface="Microsoft Sans Serif"/>
              </a:rPr>
              <a:t>of </a:t>
            </a:r>
            <a:r>
              <a:rPr dirty="0" sz="2150" spc="30">
                <a:latin typeface="Microsoft Sans Serif"/>
                <a:cs typeface="Microsoft Sans Serif"/>
              </a:rPr>
              <a:t>parameters </a:t>
            </a:r>
            <a:r>
              <a:rPr dirty="0" sz="2150" spc="-35">
                <a:latin typeface="Microsoft Sans Serif"/>
                <a:cs typeface="Microsoft Sans Serif"/>
              </a:rPr>
              <a:t>passed </a:t>
            </a:r>
            <a:r>
              <a:rPr dirty="0" sz="2150" spc="5">
                <a:latin typeface="Microsoft Sans Serif"/>
                <a:cs typeface="Microsoft Sans Serif"/>
              </a:rPr>
              <a:t>and </a:t>
            </a:r>
            <a:r>
              <a:rPr dirty="0" sz="2150" spc="40">
                <a:latin typeface="Microsoft Sans Serif"/>
                <a:cs typeface="Microsoft Sans Serif"/>
              </a:rPr>
              <a:t>data </a:t>
            </a:r>
            <a:r>
              <a:rPr dirty="0" sz="2150" spc="75">
                <a:latin typeface="Microsoft Sans Serif"/>
                <a:cs typeface="Microsoft Sans Serif"/>
              </a:rPr>
              <a:t>type </a:t>
            </a:r>
            <a:r>
              <a:rPr dirty="0" sz="2150" spc="55">
                <a:latin typeface="Microsoft Sans Serif"/>
                <a:cs typeface="Microsoft Sans Serif"/>
              </a:rPr>
              <a:t>while </a:t>
            </a:r>
            <a:r>
              <a:rPr dirty="0" sz="2150" spc="95">
                <a:latin typeface="Microsoft Sans Serif"/>
                <a:cs typeface="Microsoft Sans Serif"/>
              </a:rPr>
              <a:t>the </a:t>
            </a:r>
            <a:r>
              <a:rPr dirty="0" sz="2150" spc="100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5">
                <a:latin typeface="Microsoft Sans Serif"/>
                <a:cs typeface="Microsoft Sans Serif"/>
              </a:rPr>
              <a:t>call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must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be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matched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10">
                <a:latin typeface="Microsoft Sans Serif"/>
                <a:cs typeface="Microsoft Sans Serif"/>
              </a:rPr>
              <a:t>with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95">
                <a:latin typeface="Microsoft Sans Serif"/>
                <a:cs typeface="Microsoft Sans Serif"/>
              </a:rPr>
              <a:t>the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number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150">
                <a:latin typeface="Microsoft Sans Serif"/>
                <a:cs typeface="Microsoft Sans Serif"/>
              </a:rPr>
              <a:t>of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parameters </a:t>
            </a:r>
            <a:r>
              <a:rPr dirty="0" sz="2150" spc="-555">
                <a:latin typeface="Microsoft Sans Serif"/>
                <a:cs typeface="Microsoft Sans Serif"/>
              </a:rPr>
              <a:t> </a:t>
            </a:r>
            <a:r>
              <a:rPr dirty="0" sz="2150" spc="50">
                <a:latin typeface="Microsoft Sans Serif"/>
                <a:cs typeface="Microsoft Sans Serif"/>
              </a:rPr>
              <a:t>during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75">
                <a:latin typeface="Microsoft Sans Serif"/>
                <a:cs typeface="Microsoft Sans Serif"/>
              </a:rPr>
              <a:t>function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declaration.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35">
                <a:latin typeface="Microsoft Sans Serif"/>
                <a:cs typeface="Microsoft Sans Serif"/>
              </a:rPr>
              <a:t>Otherwise,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155">
                <a:latin typeface="Microsoft Sans Serif"/>
                <a:cs typeface="Microsoft Sans Serif"/>
              </a:rPr>
              <a:t>it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85">
                <a:latin typeface="Microsoft Sans Serif"/>
                <a:cs typeface="Microsoft Sans Serif"/>
              </a:rPr>
              <a:t>will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114">
                <a:latin typeface="Microsoft Sans Serif"/>
                <a:cs typeface="Microsoft Sans Serif"/>
              </a:rPr>
              <a:t>throw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25">
                <a:latin typeface="Microsoft Sans Serif"/>
                <a:cs typeface="Microsoft Sans Serif"/>
              </a:rPr>
              <a:t>an</a:t>
            </a:r>
            <a:r>
              <a:rPr dirty="0" sz="2150" spc="-70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error.</a:t>
            </a:r>
            <a:endParaRPr sz="2150">
              <a:latin typeface="Microsoft Sans Serif"/>
              <a:cs typeface="Microsoft Sans Serif"/>
            </a:endParaRPr>
          </a:p>
          <a:p>
            <a:pPr marL="276860" marR="5080" indent="-264795">
              <a:lnSpc>
                <a:spcPct val="100000"/>
              </a:lnSpc>
              <a:spcBef>
                <a:spcPts val="610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 spc="25">
                <a:latin typeface="Microsoft Sans Serif"/>
                <a:cs typeface="Microsoft Sans Serif"/>
              </a:rPr>
              <a:t>Parameter </a:t>
            </a:r>
            <a:r>
              <a:rPr dirty="0" sz="2150" spc="-20">
                <a:latin typeface="Microsoft Sans Serif"/>
                <a:cs typeface="Microsoft Sans Serif"/>
              </a:rPr>
              <a:t>passing </a:t>
            </a:r>
            <a:r>
              <a:rPr dirty="0" sz="2150" spc="-35">
                <a:latin typeface="Microsoft Sans Serif"/>
                <a:cs typeface="Microsoft Sans Serif"/>
              </a:rPr>
              <a:t>is </a:t>
            </a:r>
            <a:r>
              <a:rPr dirty="0" sz="2150" spc="-10">
                <a:latin typeface="Microsoft Sans Serif"/>
                <a:cs typeface="Microsoft Sans Serif"/>
              </a:rPr>
              <a:t>also </a:t>
            </a:r>
            <a:r>
              <a:rPr dirty="0" sz="2150" spc="55">
                <a:latin typeface="Microsoft Sans Serif"/>
                <a:cs typeface="Microsoft Sans Serif"/>
              </a:rPr>
              <a:t>optional, </a:t>
            </a:r>
            <a:r>
              <a:rPr dirty="0" sz="2150" spc="20">
                <a:latin typeface="Microsoft Sans Serif"/>
                <a:cs typeface="Microsoft Sans Serif"/>
              </a:rPr>
              <a:t>which </a:t>
            </a:r>
            <a:r>
              <a:rPr dirty="0" sz="2150" spc="-25">
                <a:latin typeface="Microsoft Sans Serif"/>
                <a:cs typeface="Microsoft Sans Serif"/>
              </a:rPr>
              <a:t>means </a:t>
            </a:r>
            <a:r>
              <a:rPr dirty="0" sz="2150" spc="155">
                <a:latin typeface="Microsoft Sans Serif"/>
                <a:cs typeface="Microsoft Sans Serif"/>
              </a:rPr>
              <a:t>it </a:t>
            </a:r>
            <a:r>
              <a:rPr dirty="0" sz="2150" spc="-35">
                <a:latin typeface="Microsoft Sans Serif"/>
                <a:cs typeface="Microsoft Sans Serif"/>
              </a:rPr>
              <a:t>is </a:t>
            </a:r>
            <a:r>
              <a:rPr dirty="0" sz="2150" spc="125">
                <a:latin typeface="Microsoft Sans Serif"/>
                <a:cs typeface="Microsoft Sans Serif"/>
              </a:rPr>
              <a:t>not </a:t>
            </a:r>
            <a:r>
              <a:rPr dirty="0" sz="2150" spc="130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compulsory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165">
                <a:latin typeface="Microsoft Sans Serif"/>
                <a:cs typeface="Microsoft Sans Serif"/>
              </a:rPr>
              <a:t>to</a:t>
            </a:r>
            <a:r>
              <a:rPr dirty="0" sz="2150" spc="-70">
                <a:latin typeface="Microsoft Sans Serif"/>
                <a:cs typeface="Microsoft Sans Serif"/>
              </a:rPr>
              <a:t> pass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during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declaration.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30">
                <a:latin typeface="Microsoft Sans Serif"/>
                <a:cs typeface="Microsoft Sans Serif"/>
              </a:rPr>
              <a:t>The</a:t>
            </a:r>
            <a:r>
              <a:rPr dirty="0" sz="2150" spc="-70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parameter </a:t>
            </a:r>
            <a:r>
              <a:rPr dirty="0" sz="2150" spc="-555">
                <a:latin typeface="Microsoft Sans Serif"/>
                <a:cs typeface="Microsoft Sans Serif"/>
              </a:rPr>
              <a:t> </a:t>
            </a:r>
            <a:r>
              <a:rPr dirty="0" sz="2150" spc="-45">
                <a:latin typeface="Microsoft Sans Serif"/>
                <a:cs typeface="Microsoft Sans Serif"/>
              </a:rPr>
              <a:t>can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be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50">
                <a:latin typeface="Microsoft Sans Serif"/>
                <a:cs typeface="Microsoft Sans Serif"/>
              </a:rPr>
              <a:t>two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20">
                <a:latin typeface="Microsoft Sans Serif"/>
                <a:cs typeface="Microsoft Sans Serif"/>
              </a:rPr>
              <a:t>types.</a:t>
            </a:r>
            <a:endParaRPr sz="2150">
              <a:latin typeface="Microsoft Sans Serif"/>
              <a:cs typeface="Microsoft Sans Serif"/>
            </a:endParaRPr>
          </a:p>
          <a:p>
            <a:pPr marL="276860" marR="833119" indent="-264795">
              <a:lnSpc>
                <a:spcPct val="100000"/>
              </a:lnSpc>
              <a:spcBef>
                <a:spcPts val="615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 spc="35">
                <a:latin typeface="Microsoft Sans Serif"/>
                <a:cs typeface="Microsoft Sans Serif"/>
              </a:rPr>
              <a:t>Actual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Parameter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-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10">
                <a:latin typeface="Microsoft Sans Serif"/>
                <a:cs typeface="Microsoft Sans Serif"/>
              </a:rPr>
              <a:t>A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parameter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which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passed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during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a </a:t>
            </a:r>
            <a:r>
              <a:rPr dirty="0" sz="2150" spc="-560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85">
                <a:latin typeface="Microsoft Sans Serif"/>
                <a:cs typeface="Microsoft Sans Serif"/>
              </a:rPr>
              <a:t>definition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5">
                <a:latin typeface="Microsoft Sans Serif"/>
                <a:cs typeface="Microsoft Sans Serif"/>
              </a:rPr>
              <a:t>called</a:t>
            </a:r>
            <a:r>
              <a:rPr dirty="0" sz="2150" spc="-95">
                <a:latin typeface="Microsoft Sans Serif"/>
                <a:cs typeface="Microsoft Sans Serif"/>
              </a:rPr>
              <a:t> </a:t>
            </a:r>
            <a:r>
              <a:rPr dirty="0" sz="2150" spc="95">
                <a:latin typeface="Microsoft Sans Serif"/>
                <a:cs typeface="Microsoft Sans Serif"/>
              </a:rPr>
              <a:t>the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20">
                <a:latin typeface="Microsoft Sans Serif"/>
                <a:cs typeface="Microsoft Sans Serif"/>
              </a:rPr>
              <a:t>actual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35">
                <a:latin typeface="Microsoft Sans Serif"/>
                <a:cs typeface="Microsoft Sans Serif"/>
              </a:rPr>
              <a:t>parameter.</a:t>
            </a:r>
            <a:endParaRPr sz="2150">
              <a:latin typeface="Microsoft Sans Serif"/>
              <a:cs typeface="Microsoft Sans Serif"/>
            </a:endParaRPr>
          </a:p>
          <a:p>
            <a:pPr marL="276860" marR="758825" indent="-264795">
              <a:lnSpc>
                <a:spcPct val="100000"/>
              </a:lnSpc>
              <a:spcBef>
                <a:spcPts val="615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 spc="10">
                <a:latin typeface="Microsoft Sans Serif"/>
                <a:cs typeface="Microsoft Sans Serif"/>
              </a:rPr>
              <a:t>Formal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Parameter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- </a:t>
            </a:r>
            <a:r>
              <a:rPr dirty="0" sz="2150" spc="-10">
                <a:latin typeface="Microsoft Sans Serif"/>
                <a:cs typeface="Microsoft Sans Serif"/>
              </a:rPr>
              <a:t>A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parameter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which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passed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50">
                <a:latin typeface="Microsoft Sans Serif"/>
                <a:cs typeface="Microsoft Sans Serif"/>
              </a:rPr>
              <a:t>during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a </a:t>
            </a:r>
            <a:r>
              <a:rPr dirty="0" sz="2150" spc="-560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5">
                <a:latin typeface="Microsoft Sans Serif"/>
                <a:cs typeface="Microsoft Sans Serif"/>
              </a:rPr>
              <a:t>call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5">
                <a:latin typeface="Microsoft Sans Serif"/>
                <a:cs typeface="Microsoft Sans Serif"/>
              </a:rPr>
              <a:t>called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95">
                <a:latin typeface="Microsoft Sans Serif"/>
                <a:cs typeface="Microsoft Sans Serif"/>
              </a:rPr>
              <a:t>the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75">
                <a:latin typeface="Microsoft Sans Serif"/>
                <a:cs typeface="Microsoft Sans Serif"/>
              </a:rPr>
              <a:t>formal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35">
                <a:latin typeface="Microsoft Sans Serif"/>
                <a:cs typeface="Microsoft Sans Serif"/>
              </a:rPr>
              <a:t>parameter.</a:t>
            </a:r>
            <a:endParaRPr sz="21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2573020" algn="l"/>
              </a:tabLst>
            </a:pPr>
            <a:r>
              <a:rPr dirty="0" spc="-275"/>
              <a:t>F</a:t>
            </a:r>
            <a:r>
              <a:rPr dirty="0" spc="60"/>
              <a:t>u</a:t>
            </a:r>
            <a:r>
              <a:rPr dirty="0" spc="50"/>
              <a:t>n</a:t>
            </a:r>
            <a:r>
              <a:rPr dirty="0" spc="-130"/>
              <a:t>c</a:t>
            </a:r>
            <a:r>
              <a:rPr dirty="0" spc="215"/>
              <a:t>tio</a:t>
            </a:r>
            <a:r>
              <a:rPr dirty="0" spc="60"/>
              <a:t>n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-225"/>
              <a:t>P</a:t>
            </a:r>
            <a:r>
              <a:rPr dirty="0" spc="-20"/>
              <a:t>ar</a:t>
            </a:r>
            <a:r>
              <a:rPr dirty="0" spc="-20"/>
              <a:t>a</a:t>
            </a:r>
            <a:r>
              <a:rPr dirty="0" spc="65"/>
              <a:t>m</a:t>
            </a:r>
            <a:r>
              <a:rPr dirty="0" spc="35"/>
              <a:t>e</a:t>
            </a:r>
            <a:r>
              <a:rPr dirty="0" spc="455"/>
              <a:t>t</a:t>
            </a:r>
            <a:r>
              <a:rPr dirty="0" spc="5"/>
              <a:t>e</a:t>
            </a:r>
            <a:r>
              <a:rPr dirty="0" spc="-5"/>
              <a:t>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50"/>
            <a:ext cx="8051800" cy="426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6860" marR="99695" indent="-264795">
              <a:lnSpc>
                <a:spcPct val="1000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>
                <a:latin typeface="Microsoft Sans Serif"/>
                <a:cs typeface="Microsoft Sans Serif"/>
              </a:rPr>
              <a:t>When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a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>
                <a:latin typeface="Microsoft Sans Serif"/>
                <a:cs typeface="Microsoft Sans Serif"/>
              </a:rPr>
              <a:t>called,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55">
                <a:latin typeface="Microsoft Sans Serif"/>
                <a:cs typeface="Microsoft Sans Serif"/>
              </a:rPr>
              <a:t>it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15">
                <a:latin typeface="Microsoft Sans Serif"/>
                <a:cs typeface="Microsoft Sans Serif"/>
              </a:rPr>
              <a:t>may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15">
                <a:latin typeface="Microsoft Sans Serif"/>
                <a:cs typeface="Microsoft Sans Serif"/>
              </a:rPr>
              <a:t>have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>
                <a:latin typeface="Microsoft Sans Serif"/>
                <a:cs typeface="Microsoft Sans Serif"/>
              </a:rPr>
              <a:t>some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information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-100">
                <a:latin typeface="Microsoft Sans Serif"/>
                <a:cs typeface="Microsoft Sans Serif"/>
              </a:rPr>
              <a:t>as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per </a:t>
            </a:r>
            <a:r>
              <a:rPr dirty="0" sz="2150" spc="-555">
                <a:latin typeface="Microsoft Sans Serif"/>
                <a:cs typeface="Microsoft Sans Serif"/>
              </a:rPr>
              <a:t> </a:t>
            </a:r>
            <a:r>
              <a:rPr dirty="0" sz="2150" spc="95">
                <a:latin typeface="Microsoft Sans Serif"/>
                <a:cs typeface="Microsoft Sans Serif"/>
              </a:rPr>
              <a:t>the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75">
                <a:latin typeface="Microsoft Sans Serif"/>
                <a:cs typeface="Microsoft Sans Serif"/>
              </a:rPr>
              <a:t>function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100">
                <a:latin typeface="Microsoft Sans Serif"/>
                <a:cs typeface="Microsoft Sans Serif"/>
              </a:rPr>
              <a:t>prototype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60">
                <a:latin typeface="Microsoft Sans Serif"/>
                <a:cs typeface="Microsoft Sans Serif"/>
              </a:rPr>
              <a:t>known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-105">
                <a:latin typeface="Microsoft Sans Serif"/>
                <a:cs typeface="Microsoft Sans Serif"/>
              </a:rPr>
              <a:t>as</a:t>
            </a:r>
            <a:r>
              <a:rPr dirty="0" sz="2150" spc="-75">
                <a:latin typeface="Microsoft Sans Serif"/>
                <a:cs typeface="Microsoft Sans Serif"/>
              </a:rPr>
              <a:t> a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parameter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(argument).</a:t>
            </a:r>
            <a:endParaRPr sz="2150">
              <a:latin typeface="Microsoft Sans Serif"/>
              <a:cs typeface="Microsoft Sans Serif"/>
            </a:endParaRPr>
          </a:p>
          <a:p>
            <a:pPr marL="276860" marR="116205" indent="-264795">
              <a:lnSpc>
                <a:spcPct val="100000"/>
              </a:lnSpc>
              <a:spcBef>
                <a:spcPts val="625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 spc="-30">
                <a:latin typeface="Microsoft Sans Serif"/>
                <a:cs typeface="Microsoft Sans Serif"/>
              </a:rPr>
              <a:t>The </a:t>
            </a:r>
            <a:r>
              <a:rPr dirty="0" sz="2150" spc="45">
                <a:latin typeface="Microsoft Sans Serif"/>
                <a:cs typeface="Microsoft Sans Serif"/>
              </a:rPr>
              <a:t>number </a:t>
            </a:r>
            <a:r>
              <a:rPr dirty="0" sz="2150" spc="150">
                <a:latin typeface="Microsoft Sans Serif"/>
                <a:cs typeface="Microsoft Sans Serif"/>
              </a:rPr>
              <a:t>of </a:t>
            </a:r>
            <a:r>
              <a:rPr dirty="0" sz="2150" spc="30">
                <a:latin typeface="Microsoft Sans Serif"/>
                <a:cs typeface="Microsoft Sans Serif"/>
              </a:rPr>
              <a:t>parameters </a:t>
            </a:r>
            <a:r>
              <a:rPr dirty="0" sz="2150" spc="-35">
                <a:latin typeface="Microsoft Sans Serif"/>
                <a:cs typeface="Microsoft Sans Serif"/>
              </a:rPr>
              <a:t>passed </a:t>
            </a:r>
            <a:r>
              <a:rPr dirty="0" sz="2150" spc="5">
                <a:latin typeface="Microsoft Sans Serif"/>
                <a:cs typeface="Microsoft Sans Serif"/>
              </a:rPr>
              <a:t>and </a:t>
            </a:r>
            <a:r>
              <a:rPr dirty="0" sz="2150" spc="40">
                <a:latin typeface="Microsoft Sans Serif"/>
                <a:cs typeface="Microsoft Sans Serif"/>
              </a:rPr>
              <a:t>data </a:t>
            </a:r>
            <a:r>
              <a:rPr dirty="0" sz="2150" spc="75">
                <a:latin typeface="Microsoft Sans Serif"/>
                <a:cs typeface="Microsoft Sans Serif"/>
              </a:rPr>
              <a:t>type </a:t>
            </a:r>
            <a:r>
              <a:rPr dirty="0" sz="2150" spc="55">
                <a:latin typeface="Microsoft Sans Serif"/>
                <a:cs typeface="Microsoft Sans Serif"/>
              </a:rPr>
              <a:t>while </a:t>
            </a:r>
            <a:r>
              <a:rPr dirty="0" sz="2150" spc="95">
                <a:latin typeface="Microsoft Sans Serif"/>
                <a:cs typeface="Microsoft Sans Serif"/>
              </a:rPr>
              <a:t>the </a:t>
            </a:r>
            <a:r>
              <a:rPr dirty="0" sz="2150" spc="100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5">
                <a:latin typeface="Microsoft Sans Serif"/>
                <a:cs typeface="Microsoft Sans Serif"/>
              </a:rPr>
              <a:t>call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must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be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matched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10">
                <a:latin typeface="Microsoft Sans Serif"/>
                <a:cs typeface="Microsoft Sans Serif"/>
              </a:rPr>
              <a:t>with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95">
                <a:latin typeface="Microsoft Sans Serif"/>
                <a:cs typeface="Microsoft Sans Serif"/>
              </a:rPr>
              <a:t>the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number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150">
                <a:latin typeface="Microsoft Sans Serif"/>
                <a:cs typeface="Microsoft Sans Serif"/>
              </a:rPr>
              <a:t>of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parameters </a:t>
            </a:r>
            <a:r>
              <a:rPr dirty="0" sz="2150" spc="-555">
                <a:latin typeface="Microsoft Sans Serif"/>
                <a:cs typeface="Microsoft Sans Serif"/>
              </a:rPr>
              <a:t> </a:t>
            </a:r>
            <a:r>
              <a:rPr dirty="0" sz="2150" spc="50">
                <a:latin typeface="Microsoft Sans Serif"/>
                <a:cs typeface="Microsoft Sans Serif"/>
              </a:rPr>
              <a:t>during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75">
                <a:latin typeface="Microsoft Sans Serif"/>
                <a:cs typeface="Microsoft Sans Serif"/>
              </a:rPr>
              <a:t>function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declaration.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35">
                <a:latin typeface="Microsoft Sans Serif"/>
                <a:cs typeface="Microsoft Sans Serif"/>
              </a:rPr>
              <a:t>Otherwise,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155">
                <a:latin typeface="Microsoft Sans Serif"/>
                <a:cs typeface="Microsoft Sans Serif"/>
              </a:rPr>
              <a:t>it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85">
                <a:latin typeface="Microsoft Sans Serif"/>
                <a:cs typeface="Microsoft Sans Serif"/>
              </a:rPr>
              <a:t>will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114">
                <a:latin typeface="Microsoft Sans Serif"/>
                <a:cs typeface="Microsoft Sans Serif"/>
              </a:rPr>
              <a:t>throw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25">
                <a:latin typeface="Microsoft Sans Serif"/>
                <a:cs typeface="Microsoft Sans Serif"/>
              </a:rPr>
              <a:t>an</a:t>
            </a:r>
            <a:r>
              <a:rPr dirty="0" sz="2150" spc="-70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error.</a:t>
            </a:r>
            <a:endParaRPr sz="2150">
              <a:latin typeface="Microsoft Sans Serif"/>
              <a:cs typeface="Microsoft Sans Serif"/>
            </a:endParaRPr>
          </a:p>
          <a:p>
            <a:pPr marL="276860" marR="5080" indent="-264795">
              <a:lnSpc>
                <a:spcPct val="100000"/>
              </a:lnSpc>
              <a:spcBef>
                <a:spcPts val="610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 spc="25">
                <a:latin typeface="Microsoft Sans Serif"/>
                <a:cs typeface="Microsoft Sans Serif"/>
              </a:rPr>
              <a:t>Parameter </a:t>
            </a:r>
            <a:r>
              <a:rPr dirty="0" sz="2150" spc="-20">
                <a:latin typeface="Microsoft Sans Serif"/>
                <a:cs typeface="Microsoft Sans Serif"/>
              </a:rPr>
              <a:t>passing </a:t>
            </a:r>
            <a:r>
              <a:rPr dirty="0" sz="2150" spc="-35">
                <a:latin typeface="Microsoft Sans Serif"/>
                <a:cs typeface="Microsoft Sans Serif"/>
              </a:rPr>
              <a:t>is </a:t>
            </a:r>
            <a:r>
              <a:rPr dirty="0" sz="2150" spc="-10">
                <a:latin typeface="Microsoft Sans Serif"/>
                <a:cs typeface="Microsoft Sans Serif"/>
              </a:rPr>
              <a:t>also </a:t>
            </a:r>
            <a:r>
              <a:rPr dirty="0" sz="2150" spc="55">
                <a:latin typeface="Microsoft Sans Serif"/>
                <a:cs typeface="Microsoft Sans Serif"/>
              </a:rPr>
              <a:t>optional, </a:t>
            </a:r>
            <a:r>
              <a:rPr dirty="0" sz="2150" spc="20">
                <a:latin typeface="Microsoft Sans Serif"/>
                <a:cs typeface="Microsoft Sans Serif"/>
              </a:rPr>
              <a:t>which </a:t>
            </a:r>
            <a:r>
              <a:rPr dirty="0" sz="2150" spc="-25">
                <a:latin typeface="Microsoft Sans Serif"/>
                <a:cs typeface="Microsoft Sans Serif"/>
              </a:rPr>
              <a:t>means </a:t>
            </a:r>
            <a:r>
              <a:rPr dirty="0" sz="2150" spc="155">
                <a:latin typeface="Microsoft Sans Serif"/>
                <a:cs typeface="Microsoft Sans Serif"/>
              </a:rPr>
              <a:t>it </a:t>
            </a:r>
            <a:r>
              <a:rPr dirty="0" sz="2150" spc="-35">
                <a:latin typeface="Microsoft Sans Serif"/>
                <a:cs typeface="Microsoft Sans Serif"/>
              </a:rPr>
              <a:t>is </a:t>
            </a:r>
            <a:r>
              <a:rPr dirty="0" sz="2150" spc="125">
                <a:latin typeface="Microsoft Sans Serif"/>
                <a:cs typeface="Microsoft Sans Serif"/>
              </a:rPr>
              <a:t>not </a:t>
            </a:r>
            <a:r>
              <a:rPr dirty="0" sz="2150" spc="130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compulsory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165">
                <a:latin typeface="Microsoft Sans Serif"/>
                <a:cs typeface="Microsoft Sans Serif"/>
              </a:rPr>
              <a:t>to</a:t>
            </a:r>
            <a:r>
              <a:rPr dirty="0" sz="2150" spc="-70">
                <a:latin typeface="Microsoft Sans Serif"/>
                <a:cs typeface="Microsoft Sans Serif"/>
              </a:rPr>
              <a:t> pass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during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declaration.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30">
                <a:latin typeface="Microsoft Sans Serif"/>
                <a:cs typeface="Microsoft Sans Serif"/>
              </a:rPr>
              <a:t>The</a:t>
            </a:r>
            <a:r>
              <a:rPr dirty="0" sz="2150" spc="-70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parameter </a:t>
            </a:r>
            <a:r>
              <a:rPr dirty="0" sz="2150" spc="-555">
                <a:latin typeface="Microsoft Sans Serif"/>
                <a:cs typeface="Microsoft Sans Serif"/>
              </a:rPr>
              <a:t> </a:t>
            </a:r>
            <a:r>
              <a:rPr dirty="0" sz="2150" spc="-45">
                <a:latin typeface="Microsoft Sans Serif"/>
                <a:cs typeface="Microsoft Sans Serif"/>
              </a:rPr>
              <a:t>can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be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50">
                <a:latin typeface="Microsoft Sans Serif"/>
                <a:cs typeface="Microsoft Sans Serif"/>
              </a:rPr>
              <a:t>two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20">
                <a:latin typeface="Microsoft Sans Serif"/>
                <a:cs typeface="Microsoft Sans Serif"/>
              </a:rPr>
              <a:t>types.</a:t>
            </a:r>
            <a:endParaRPr sz="2150">
              <a:latin typeface="Microsoft Sans Serif"/>
              <a:cs typeface="Microsoft Sans Serif"/>
            </a:endParaRPr>
          </a:p>
          <a:p>
            <a:pPr marL="276860" marR="833119" indent="-264795">
              <a:lnSpc>
                <a:spcPct val="100000"/>
              </a:lnSpc>
              <a:spcBef>
                <a:spcPts val="615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 spc="35">
                <a:latin typeface="Microsoft Sans Serif"/>
                <a:cs typeface="Microsoft Sans Serif"/>
              </a:rPr>
              <a:t>Actual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Parameter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-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10">
                <a:latin typeface="Microsoft Sans Serif"/>
                <a:cs typeface="Microsoft Sans Serif"/>
              </a:rPr>
              <a:t>A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parameter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which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passed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during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a </a:t>
            </a:r>
            <a:r>
              <a:rPr dirty="0" sz="2150" spc="-560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85">
                <a:latin typeface="Microsoft Sans Serif"/>
                <a:cs typeface="Microsoft Sans Serif"/>
              </a:rPr>
              <a:t>definition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5">
                <a:latin typeface="Microsoft Sans Serif"/>
                <a:cs typeface="Microsoft Sans Serif"/>
              </a:rPr>
              <a:t>called</a:t>
            </a:r>
            <a:r>
              <a:rPr dirty="0" sz="2150" spc="-95">
                <a:latin typeface="Microsoft Sans Serif"/>
                <a:cs typeface="Microsoft Sans Serif"/>
              </a:rPr>
              <a:t> </a:t>
            </a:r>
            <a:r>
              <a:rPr dirty="0" sz="2150" spc="95">
                <a:latin typeface="Microsoft Sans Serif"/>
                <a:cs typeface="Microsoft Sans Serif"/>
              </a:rPr>
              <a:t>the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20">
                <a:latin typeface="Microsoft Sans Serif"/>
                <a:cs typeface="Microsoft Sans Serif"/>
              </a:rPr>
              <a:t>actual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35">
                <a:latin typeface="Microsoft Sans Serif"/>
                <a:cs typeface="Microsoft Sans Serif"/>
              </a:rPr>
              <a:t>parameter.</a:t>
            </a:r>
            <a:endParaRPr sz="2150">
              <a:latin typeface="Microsoft Sans Serif"/>
              <a:cs typeface="Microsoft Sans Serif"/>
            </a:endParaRPr>
          </a:p>
          <a:p>
            <a:pPr marL="276860" marR="758825" indent="-264795">
              <a:lnSpc>
                <a:spcPct val="100000"/>
              </a:lnSpc>
              <a:spcBef>
                <a:spcPts val="615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 spc="10">
                <a:latin typeface="Microsoft Sans Serif"/>
                <a:cs typeface="Microsoft Sans Serif"/>
              </a:rPr>
              <a:t>Formal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Parameter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- </a:t>
            </a:r>
            <a:r>
              <a:rPr dirty="0" sz="2150" spc="-10">
                <a:latin typeface="Microsoft Sans Serif"/>
                <a:cs typeface="Microsoft Sans Serif"/>
              </a:rPr>
              <a:t>A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parameter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which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passed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50">
                <a:latin typeface="Microsoft Sans Serif"/>
                <a:cs typeface="Microsoft Sans Serif"/>
              </a:rPr>
              <a:t>during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a </a:t>
            </a:r>
            <a:r>
              <a:rPr dirty="0" sz="2150" spc="-560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5">
                <a:latin typeface="Microsoft Sans Serif"/>
                <a:cs typeface="Microsoft Sans Serif"/>
              </a:rPr>
              <a:t>call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5">
                <a:latin typeface="Microsoft Sans Serif"/>
                <a:cs typeface="Microsoft Sans Serif"/>
              </a:rPr>
              <a:t>called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95">
                <a:latin typeface="Microsoft Sans Serif"/>
                <a:cs typeface="Microsoft Sans Serif"/>
              </a:rPr>
              <a:t>the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75">
                <a:latin typeface="Microsoft Sans Serif"/>
                <a:cs typeface="Microsoft Sans Serif"/>
              </a:rPr>
              <a:t>formal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35">
                <a:latin typeface="Microsoft Sans Serif"/>
                <a:cs typeface="Microsoft Sans Serif"/>
              </a:rPr>
              <a:t>parameter.</a:t>
            </a:r>
            <a:endParaRPr sz="21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305560"/>
            <a:chOff x="0" y="0"/>
            <a:chExt cx="9144000" cy="13055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0825" cy="1089025"/>
            </a:xfrm>
            <a:custGeom>
              <a:avLst/>
              <a:gdLst/>
              <a:ahLst/>
              <a:cxnLst/>
              <a:rect l="l" t="t" r="r" b="b"/>
              <a:pathLst>
                <a:path w="9140825" h="1089025">
                  <a:moveTo>
                    <a:pt x="0" y="1088999"/>
                  </a:moveTo>
                  <a:lnTo>
                    <a:pt x="9140761" y="1088999"/>
                  </a:lnTo>
                  <a:lnTo>
                    <a:pt x="9140761" y="0"/>
                  </a:lnTo>
                  <a:lnTo>
                    <a:pt x="0" y="0"/>
                  </a:lnTo>
                  <a:lnTo>
                    <a:pt x="0" y="108899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1088999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>
                  <a:moveTo>
                    <a:pt x="9143631" y="0"/>
                  </a:moveTo>
                  <a:lnTo>
                    <a:pt x="0" y="0"/>
                  </a:lnTo>
                  <a:lnTo>
                    <a:pt x="0" y="216001"/>
                  </a:lnTo>
                  <a:lnTo>
                    <a:pt x="9143631" y="216001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018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252361"/>
                </a:moveTo>
                <a:lnTo>
                  <a:pt x="0" y="0"/>
                </a:ln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2573020" algn="l"/>
              </a:tabLst>
            </a:pPr>
            <a:r>
              <a:rPr dirty="0" spc="-275"/>
              <a:t>F</a:t>
            </a:r>
            <a:r>
              <a:rPr dirty="0" spc="60"/>
              <a:t>u</a:t>
            </a:r>
            <a:r>
              <a:rPr dirty="0" spc="50"/>
              <a:t>n</a:t>
            </a:r>
            <a:r>
              <a:rPr dirty="0" spc="-130"/>
              <a:t>c</a:t>
            </a:r>
            <a:r>
              <a:rPr dirty="0" spc="215"/>
              <a:t>tio</a:t>
            </a:r>
            <a:r>
              <a:rPr dirty="0" spc="60"/>
              <a:t>n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-225"/>
              <a:t>P</a:t>
            </a:r>
            <a:r>
              <a:rPr dirty="0" spc="-20"/>
              <a:t>ar</a:t>
            </a:r>
            <a:r>
              <a:rPr dirty="0" spc="-20"/>
              <a:t>a</a:t>
            </a:r>
            <a:r>
              <a:rPr dirty="0" spc="65"/>
              <a:t>m</a:t>
            </a:r>
            <a:r>
              <a:rPr dirty="0" spc="35"/>
              <a:t>e</a:t>
            </a:r>
            <a:r>
              <a:rPr dirty="0" spc="455"/>
              <a:t>t</a:t>
            </a:r>
            <a:r>
              <a:rPr dirty="0" spc="5"/>
              <a:t>e</a:t>
            </a:r>
            <a:r>
              <a:rPr dirty="0" spc="-5"/>
              <a:t>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517662"/>
            <a:ext cx="8079740" cy="26828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55600" marR="5080" indent="-343535">
              <a:lnSpc>
                <a:spcPct val="99700"/>
              </a:lnSpc>
              <a:spcBef>
                <a:spcPts val="11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15">
                <a:latin typeface="Microsoft Sans Serif"/>
                <a:cs typeface="Microsoft Sans Serif"/>
              </a:rPr>
              <a:t>A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00">
                <a:latin typeface="Microsoft Sans Serif"/>
                <a:cs typeface="Microsoft Sans Serif"/>
              </a:rPr>
              <a:t>function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15">
                <a:latin typeface="Microsoft Sans Serif"/>
                <a:cs typeface="Microsoft Sans Serif"/>
              </a:rPr>
              <a:t>always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80">
                <a:latin typeface="Microsoft Sans Serif"/>
                <a:cs typeface="Microsoft Sans Serif"/>
              </a:rPr>
              <a:t>returns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some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value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125">
                <a:latin typeface="Microsoft Sans Serif"/>
                <a:cs typeface="Microsoft Sans Serif"/>
              </a:rPr>
              <a:t>as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100">
                <a:latin typeface="Microsoft Sans Serif"/>
                <a:cs typeface="Microsoft Sans Serif"/>
              </a:rPr>
              <a:t>a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85">
                <a:latin typeface="Microsoft Sans Serif"/>
                <a:cs typeface="Microsoft Sans Serif"/>
              </a:rPr>
              <a:t>result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220">
                <a:latin typeface="Microsoft Sans Serif"/>
                <a:cs typeface="Microsoft Sans Serif"/>
              </a:rPr>
              <a:t>to </a:t>
            </a:r>
            <a:r>
              <a:rPr dirty="0" sz="2800" spc="125">
                <a:latin typeface="Microsoft Sans Serif"/>
                <a:cs typeface="Microsoft Sans Serif"/>
              </a:rPr>
              <a:t>the point </a:t>
            </a:r>
            <a:r>
              <a:rPr dirty="0" sz="2800" spc="65">
                <a:latin typeface="Microsoft Sans Serif"/>
                <a:cs typeface="Microsoft Sans Serif"/>
              </a:rPr>
              <a:t>where </a:t>
            </a:r>
            <a:r>
              <a:rPr dirty="0" sz="2800" spc="200">
                <a:latin typeface="Microsoft Sans Serif"/>
                <a:cs typeface="Microsoft Sans Serif"/>
              </a:rPr>
              <a:t>it </a:t>
            </a:r>
            <a:r>
              <a:rPr dirty="0" sz="2800" spc="-45">
                <a:latin typeface="Microsoft Sans Serif"/>
                <a:cs typeface="Microsoft Sans Serif"/>
              </a:rPr>
              <a:t>is </a:t>
            </a:r>
            <a:r>
              <a:rPr dirty="0" sz="2800" spc="5">
                <a:latin typeface="Microsoft Sans Serif"/>
                <a:cs typeface="Microsoft Sans Serif"/>
              </a:rPr>
              <a:t>called. </a:t>
            </a:r>
            <a:r>
              <a:rPr dirty="0" sz="2800" spc="-30">
                <a:latin typeface="Microsoft Sans Serif"/>
                <a:cs typeface="Microsoft Sans Serif"/>
              </a:rPr>
              <a:t>The </a:t>
            </a:r>
            <a:r>
              <a:rPr dirty="0" sz="2800" spc="120">
                <a:latin typeface="Microsoft Sans Serif"/>
                <a:cs typeface="Microsoft Sans Serif"/>
              </a:rPr>
              <a:t>return </a:t>
            </a:r>
            <a:r>
              <a:rPr dirty="0" sz="2800" spc="125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k</a:t>
            </a:r>
            <a:r>
              <a:rPr dirty="0" sz="2800" spc="-5">
                <a:latin typeface="Microsoft Sans Serif"/>
                <a:cs typeface="Microsoft Sans Serif"/>
              </a:rPr>
              <a:t>e</a:t>
            </a:r>
            <a:r>
              <a:rPr dirty="0" sz="2800" spc="-15">
                <a:latin typeface="Microsoft Sans Serif"/>
                <a:cs typeface="Microsoft Sans Serif"/>
              </a:rPr>
              <a:t>y</a:t>
            </a:r>
            <a:r>
              <a:rPr dirty="0" sz="2800" spc="150">
                <a:latin typeface="Microsoft Sans Serif"/>
                <a:cs typeface="Microsoft Sans Serif"/>
              </a:rPr>
              <a:t>w</a:t>
            </a:r>
            <a:r>
              <a:rPr dirty="0" sz="2800" spc="75">
                <a:latin typeface="Microsoft Sans Serif"/>
                <a:cs typeface="Microsoft Sans Serif"/>
              </a:rPr>
              <a:t>o</a:t>
            </a:r>
            <a:r>
              <a:rPr dirty="0" sz="2800" spc="120">
                <a:latin typeface="Microsoft Sans Serif"/>
                <a:cs typeface="Microsoft Sans Serif"/>
              </a:rPr>
              <a:t>rd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45">
                <a:latin typeface="Microsoft Sans Serif"/>
                <a:cs typeface="Microsoft Sans Serif"/>
              </a:rPr>
              <a:t>is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55">
                <a:latin typeface="Microsoft Sans Serif"/>
                <a:cs typeface="Microsoft Sans Serif"/>
              </a:rPr>
              <a:t>u</a:t>
            </a:r>
            <a:r>
              <a:rPr dirty="0" sz="2800" spc="-60">
                <a:latin typeface="Microsoft Sans Serif"/>
                <a:cs typeface="Microsoft Sans Serif"/>
              </a:rPr>
              <a:t>s</a:t>
            </a:r>
            <a:r>
              <a:rPr dirty="0" sz="2800" spc="-5">
                <a:latin typeface="Microsoft Sans Serif"/>
                <a:cs typeface="Microsoft Sans Serif"/>
              </a:rPr>
              <a:t>e</a:t>
            </a:r>
            <a:r>
              <a:rPr dirty="0" sz="2800" spc="90">
                <a:latin typeface="Microsoft Sans Serif"/>
                <a:cs typeface="Microsoft Sans Serif"/>
              </a:rPr>
              <a:t>d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335">
                <a:latin typeface="Microsoft Sans Serif"/>
                <a:cs typeface="Microsoft Sans Serif"/>
              </a:rPr>
              <a:t>t</a:t>
            </a:r>
            <a:r>
              <a:rPr dirty="0" sz="2800" spc="90">
                <a:latin typeface="Microsoft Sans Serif"/>
                <a:cs typeface="Microsoft Sans Serif"/>
              </a:rPr>
              <a:t>o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75">
                <a:latin typeface="Microsoft Sans Serif"/>
                <a:cs typeface="Microsoft Sans Serif"/>
              </a:rPr>
              <a:t>re</a:t>
            </a:r>
            <a:r>
              <a:rPr dirty="0" sz="2800" spc="335">
                <a:latin typeface="Microsoft Sans Serif"/>
                <a:cs typeface="Microsoft Sans Serif"/>
              </a:rPr>
              <a:t>t</a:t>
            </a:r>
            <a:r>
              <a:rPr dirty="0" sz="2800" spc="80">
                <a:latin typeface="Microsoft Sans Serif"/>
                <a:cs typeface="Microsoft Sans Serif"/>
              </a:rPr>
              <a:t>urn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100">
                <a:latin typeface="Microsoft Sans Serif"/>
                <a:cs typeface="Microsoft Sans Serif"/>
              </a:rPr>
              <a:t>a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v</a:t>
            </a:r>
            <a:r>
              <a:rPr dirty="0" sz="2800" spc="-95">
                <a:latin typeface="Microsoft Sans Serif"/>
                <a:cs typeface="Microsoft Sans Serif"/>
              </a:rPr>
              <a:t>a</a:t>
            </a:r>
            <a:r>
              <a:rPr dirty="0" sz="2800" spc="114">
                <a:latin typeface="Microsoft Sans Serif"/>
                <a:cs typeface="Microsoft Sans Serif"/>
              </a:rPr>
              <a:t>l</a:t>
            </a:r>
            <a:r>
              <a:rPr dirty="0" sz="2800" spc="25">
                <a:latin typeface="Microsoft Sans Serif"/>
                <a:cs typeface="Microsoft Sans Serif"/>
              </a:rPr>
              <a:t>u</a:t>
            </a:r>
            <a:r>
              <a:rPr dirty="0" sz="2800" spc="15">
                <a:latin typeface="Microsoft Sans Serif"/>
                <a:cs typeface="Microsoft Sans Serif"/>
              </a:rPr>
              <a:t>e</a:t>
            </a:r>
            <a:r>
              <a:rPr dirty="0" sz="2800" spc="-90"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  <a:p>
            <a:pPr marL="355600" marR="1016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30">
                <a:latin typeface="Microsoft Sans Serif"/>
                <a:cs typeface="Microsoft Sans Serif"/>
              </a:rPr>
              <a:t>The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20">
                <a:latin typeface="Microsoft Sans Serif"/>
                <a:cs typeface="Microsoft Sans Serif"/>
              </a:rPr>
              <a:t>return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00">
                <a:latin typeface="Microsoft Sans Serif"/>
                <a:cs typeface="Microsoft Sans Serif"/>
              </a:rPr>
              <a:t>statement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45">
                <a:latin typeface="Microsoft Sans Serif"/>
                <a:cs typeface="Microsoft Sans Serif"/>
              </a:rPr>
              <a:t>is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70">
                <a:latin typeface="Microsoft Sans Serif"/>
                <a:cs typeface="Microsoft Sans Serif"/>
              </a:rPr>
              <a:t>optional.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15">
                <a:latin typeface="Microsoft Sans Serif"/>
                <a:cs typeface="Microsoft Sans Serif"/>
              </a:rPr>
              <a:t>A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100">
                <a:latin typeface="Microsoft Sans Serif"/>
                <a:cs typeface="Microsoft Sans Serif"/>
              </a:rPr>
              <a:t>function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-55">
                <a:latin typeface="Microsoft Sans Serif"/>
                <a:cs typeface="Microsoft Sans Serif"/>
              </a:rPr>
              <a:t>can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-15">
                <a:latin typeface="Microsoft Sans Serif"/>
                <a:cs typeface="Microsoft Sans Serif"/>
              </a:rPr>
              <a:t>have </a:t>
            </a:r>
            <a:r>
              <a:rPr dirty="0" sz="2800" spc="60">
                <a:latin typeface="Microsoft Sans Serif"/>
                <a:cs typeface="Microsoft Sans Serif"/>
              </a:rPr>
              <a:t>only </a:t>
            </a:r>
            <a:r>
              <a:rPr dirty="0" sz="2800" spc="45">
                <a:latin typeface="Microsoft Sans Serif"/>
                <a:cs typeface="Microsoft Sans Serif"/>
              </a:rPr>
              <a:t>one </a:t>
            </a:r>
            <a:r>
              <a:rPr dirty="0" sz="2800" spc="120">
                <a:latin typeface="Microsoft Sans Serif"/>
                <a:cs typeface="Microsoft Sans Serif"/>
              </a:rPr>
              <a:t>return </a:t>
            </a:r>
            <a:r>
              <a:rPr dirty="0" sz="2800" spc="80">
                <a:latin typeface="Microsoft Sans Serif"/>
                <a:cs typeface="Microsoft Sans Serif"/>
              </a:rPr>
              <a:t>statement. </a:t>
            </a:r>
            <a:r>
              <a:rPr dirty="0" sz="2800" spc="-30">
                <a:latin typeface="Microsoft Sans Serif"/>
                <a:cs typeface="Microsoft Sans Serif"/>
              </a:rPr>
              <a:t>The </a:t>
            </a:r>
            <a:r>
              <a:rPr dirty="0" sz="2800" spc="25">
                <a:latin typeface="Microsoft Sans Serif"/>
                <a:cs typeface="Microsoft Sans Serif"/>
              </a:rPr>
              <a:t>syntax </a:t>
            </a:r>
            <a:r>
              <a:rPr dirty="0" sz="2800" spc="-50">
                <a:latin typeface="Microsoft Sans Serif"/>
                <a:cs typeface="Microsoft Sans Serif"/>
              </a:rPr>
              <a:t>is </a:t>
            </a:r>
            <a:r>
              <a:rPr dirty="0" sz="2800" spc="-45">
                <a:latin typeface="Microsoft Sans Serif"/>
                <a:cs typeface="Microsoft Sans Serif"/>
              </a:rPr>
              <a:t> </a:t>
            </a:r>
            <a:r>
              <a:rPr dirty="0" sz="2800" spc="30">
                <a:latin typeface="Microsoft Sans Serif"/>
                <a:cs typeface="Microsoft Sans Serif"/>
              </a:rPr>
              <a:t>given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below.</a:t>
            </a:r>
            <a:endParaRPr sz="28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1996" y="3989171"/>
            <a:ext cx="7066280" cy="2707640"/>
            <a:chOff x="71996" y="3989171"/>
            <a:chExt cx="7066280" cy="270764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6" y="6192354"/>
              <a:ext cx="1799996" cy="5039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43998" y="3989171"/>
              <a:ext cx="3393719" cy="2490470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2573020" algn="l"/>
              </a:tabLst>
            </a:pPr>
            <a:r>
              <a:rPr dirty="0" spc="-275"/>
              <a:t>F</a:t>
            </a:r>
            <a:r>
              <a:rPr dirty="0" spc="60"/>
              <a:t>u</a:t>
            </a:r>
            <a:r>
              <a:rPr dirty="0" spc="50"/>
              <a:t>n</a:t>
            </a:r>
            <a:r>
              <a:rPr dirty="0" spc="-130"/>
              <a:t>c</a:t>
            </a:r>
            <a:r>
              <a:rPr dirty="0" spc="215"/>
              <a:t>tio</a:t>
            </a:r>
            <a:r>
              <a:rPr dirty="0" spc="60"/>
              <a:t>n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25"/>
              <a:t>A</a:t>
            </a:r>
            <a:r>
              <a:rPr dirty="0" spc="10"/>
              <a:t>n</a:t>
            </a:r>
            <a:r>
              <a:rPr dirty="0" spc="114"/>
              <a:t>o</a:t>
            </a:r>
            <a:r>
              <a:rPr dirty="0" spc="25"/>
              <a:t>n</a:t>
            </a:r>
            <a:r>
              <a:rPr dirty="0" spc="10"/>
              <a:t>y</a:t>
            </a:r>
            <a:r>
              <a:rPr dirty="0" spc="130"/>
              <a:t>m</a:t>
            </a:r>
            <a:r>
              <a:rPr dirty="0" spc="80"/>
              <a:t>o</a:t>
            </a:r>
            <a:r>
              <a:rPr dirty="0" spc="-70"/>
              <a:t>us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53695" marR="218440" indent="-315595">
              <a:lnSpc>
                <a:spcPct val="1008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353060" algn="l"/>
                <a:tab pos="354330" algn="l"/>
              </a:tabLst>
            </a:pPr>
            <a:r>
              <a:rPr dirty="0" sz="2550" spc="95"/>
              <a:t>Dart</a:t>
            </a:r>
            <a:r>
              <a:rPr dirty="0" sz="2550" spc="-90"/>
              <a:t> </a:t>
            </a:r>
            <a:r>
              <a:rPr dirty="0" sz="2550" spc="-5"/>
              <a:t>also</a:t>
            </a:r>
            <a:r>
              <a:rPr dirty="0" sz="2550" spc="-95"/>
              <a:t> </a:t>
            </a:r>
            <a:r>
              <a:rPr dirty="0" sz="2550" spc="45"/>
              <a:t>provides</a:t>
            </a:r>
            <a:r>
              <a:rPr dirty="0" sz="2550" spc="-90"/>
              <a:t> </a:t>
            </a:r>
            <a:r>
              <a:rPr dirty="0" sz="2550" spc="125"/>
              <a:t>the</a:t>
            </a:r>
            <a:r>
              <a:rPr dirty="0" sz="2550" spc="-100"/>
              <a:t> </a:t>
            </a:r>
            <a:r>
              <a:rPr dirty="0" sz="2550" spc="85"/>
              <a:t>facility</a:t>
            </a:r>
            <a:r>
              <a:rPr dirty="0" sz="2550" spc="-90"/>
              <a:t> </a:t>
            </a:r>
            <a:r>
              <a:rPr dirty="0" sz="2550" spc="204"/>
              <a:t>to</a:t>
            </a:r>
            <a:r>
              <a:rPr dirty="0" sz="2550" spc="-95"/>
              <a:t> </a:t>
            </a:r>
            <a:r>
              <a:rPr dirty="0" sz="2550" spc="35"/>
              <a:t>specify</a:t>
            </a:r>
            <a:r>
              <a:rPr dirty="0" sz="2550" spc="-100"/>
              <a:t> </a:t>
            </a:r>
            <a:r>
              <a:rPr dirty="0" sz="2550" spc="-80"/>
              <a:t>a</a:t>
            </a:r>
            <a:r>
              <a:rPr dirty="0" sz="2550" spc="-85"/>
              <a:t> </a:t>
            </a:r>
            <a:r>
              <a:rPr dirty="0" sz="2550" spc="-10"/>
              <a:t>nameless </a:t>
            </a:r>
            <a:r>
              <a:rPr dirty="0" sz="2550" spc="-660"/>
              <a:t> </a:t>
            </a:r>
            <a:r>
              <a:rPr dirty="0" sz="2550" spc="285"/>
              <a:t>f</a:t>
            </a:r>
            <a:r>
              <a:rPr dirty="0" sz="2550" spc="45"/>
              <a:t>u</a:t>
            </a:r>
            <a:r>
              <a:rPr dirty="0" sz="2550" spc="55"/>
              <a:t>n</a:t>
            </a:r>
            <a:r>
              <a:rPr dirty="0" sz="2550" spc="-80"/>
              <a:t>c</a:t>
            </a:r>
            <a:r>
              <a:rPr dirty="0" sz="2550" spc="320"/>
              <a:t>t</a:t>
            </a:r>
            <a:r>
              <a:rPr dirty="0" sz="2550" spc="45"/>
              <a:t>i</a:t>
            </a:r>
            <a:r>
              <a:rPr dirty="0" sz="2550" spc="105"/>
              <a:t>o</a:t>
            </a:r>
            <a:r>
              <a:rPr dirty="0" sz="2550" spc="55"/>
              <a:t>n</a:t>
            </a:r>
            <a:r>
              <a:rPr dirty="0" sz="2550" spc="-95"/>
              <a:t> </a:t>
            </a:r>
            <a:r>
              <a:rPr dirty="0" sz="2550" spc="120"/>
              <a:t>or</a:t>
            </a:r>
            <a:r>
              <a:rPr dirty="0" sz="2550" spc="-90"/>
              <a:t> </a:t>
            </a:r>
            <a:r>
              <a:rPr dirty="0" sz="2550" spc="285"/>
              <a:t>f</a:t>
            </a:r>
            <a:r>
              <a:rPr dirty="0" sz="2550" spc="45"/>
              <a:t>u</a:t>
            </a:r>
            <a:r>
              <a:rPr dirty="0" sz="2550" spc="55"/>
              <a:t>n</a:t>
            </a:r>
            <a:r>
              <a:rPr dirty="0" sz="2550" spc="-80"/>
              <a:t>c</a:t>
            </a:r>
            <a:r>
              <a:rPr dirty="0" sz="2550" spc="320"/>
              <a:t>t</a:t>
            </a:r>
            <a:r>
              <a:rPr dirty="0" sz="2550" spc="45"/>
              <a:t>i</a:t>
            </a:r>
            <a:r>
              <a:rPr dirty="0" sz="2550" spc="105"/>
              <a:t>o</a:t>
            </a:r>
            <a:r>
              <a:rPr dirty="0" sz="2550" spc="55"/>
              <a:t>n</a:t>
            </a:r>
            <a:r>
              <a:rPr dirty="0" sz="2550" spc="-95"/>
              <a:t> </a:t>
            </a:r>
            <a:r>
              <a:rPr dirty="0" sz="2550" spc="170"/>
              <a:t>w</a:t>
            </a:r>
            <a:r>
              <a:rPr dirty="0" sz="2550" spc="35"/>
              <a:t>i</a:t>
            </a:r>
            <a:r>
              <a:rPr dirty="0" sz="2550" spc="330"/>
              <a:t>t</a:t>
            </a:r>
            <a:r>
              <a:rPr dirty="0" sz="2550" spc="35"/>
              <a:t>h</a:t>
            </a:r>
            <a:r>
              <a:rPr dirty="0" sz="2550" spc="85"/>
              <a:t>o</a:t>
            </a:r>
            <a:r>
              <a:rPr dirty="0" sz="2550" spc="55"/>
              <a:t>u</a:t>
            </a:r>
            <a:r>
              <a:rPr dirty="0" sz="2550" spc="325"/>
              <a:t>t</a:t>
            </a:r>
            <a:r>
              <a:rPr dirty="0" sz="2550" spc="-90"/>
              <a:t> </a:t>
            </a:r>
            <a:r>
              <a:rPr dirty="0" sz="2550" spc="-80"/>
              <a:t>a</a:t>
            </a:r>
            <a:r>
              <a:rPr dirty="0" sz="2550" spc="-90"/>
              <a:t> </a:t>
            </a:r>
            <a:r>
              <a:rPr dirty="0" sz="2550" spc="55"/>
              <a:t>n</a:t>
            </a:r>
            <a:r>
              <a:rPr dirty="0" sz="2550" spc="-85"/>
              <a:t>a</a:t>
            </a:r>
            <a:r>
              <a:rPr dirty="0" sz="2550" spc="80"/>
              <a:t>m</a:t>
            </a:r>
            <a:r>
              <a:rPr dirty="0" sz="2550" spc="-30"/>
              <a:t>e.</a:t>
            </a:r>
            <a:r>
              <a:rPr dirty="0" sz="2550" spc="-90"/>
              <a:t> </a:t>
            </a:r>
            <a:r>
              <a:rPr dirty="0" sz="2550" spc="-100"/>
              <a:t>T</a:t>
            </a:r>
            <a:r>
              <a:rPr dirty="0" sz="2550" spc="35"/>
              <a:t>h</a:t>
            </a:r>
            <a:r>
              <a:rPr dirty="0" sz="2550" spc="-30"/>
              <a:t>is</a:t>
            </a:r>
            <a:r>
              <a:rPr dirty="0" sz="2550" spc="-105"/>
              <a:t> </a:t>
            </a:r>
            <a:r>
              <a:rPr dirty="0" sz="2550" spc="330"/>
              <a:t>t</a:t>
            </a:r>
            <a:r>
              <a:rPr dirty="0" sz="2550" spc="-10"/>
              <a:t>y</a:t>
            </a:r>
            <a:r>
              <a:rPr dirty="0" sz="2550" spc="90"/>
              <a:t>p</a:t>
            </a:r>
            <a:r>
              <a:rPr dirty="0" sz="2550" spc="15"/>
              <a:t>e</a:t>
            </a:r>
            <a:r>
              <a:rPr dirty="0" sz="2550" spc="-90"/>
              <a:t> </a:t>
            </a:r>
            <a:r>
              <a:rPr dirty="0" sz="2550" spc="85"/>
              <a:t>o</a:t>
            </a:r>
            <a:r>
              <a:rPr dirty="0" sz="2550" spc="275"/>
              <a:t>f  </a:t>
            </a:r>
            <a:r>
              <a:rPr dirty="0" sz="2550" spc="285"/>
              <a:t>f</a:t>
            </a:r>
            <a:r>
              <a:rPr dirty="0" sz="2550" spc="45"/>
              <a:t>u</a:t>
            </a:r>
            <a:r>
              <a:rPr dirty="0" sz="2550" spc="55"/>
              <a:t>n</a:t>
            </a:r>
            <a:r>
              <a:rPr dirty="0" sz="2550" spc="-80"/>
              <a:t>c</a:t>
            </a:r>
            <a:r>
              <a:rPr dirty="0" sz="2550" spc="320"/>
              <a:t>t</a:t>
            </a:r>
            <a:r>
              <a:rPr dirty="0" sz="2550" spc="45"/>
              <a:t>i</a:t>
            </a:r>
            <a:r>
              <a:rPr dirty="0" sz="2550" spc="105"/>
              <a:t>o</a:t>
            </a:r>
            <a:r>
              <a:rPr dirty="0" sz="2550" spc="55"/>
              <a:t>n</a:t>
            </a:r>
            <a:r>
              <a:rPr dirty="0" sz="2550" spc="-95"/>
              <a:t> </a:t>
            </a:r>
            <a:r>
              <a:rPr dirty="0" sz="2550" spc="-30"/>
              <a:t>is</a:t>
            </a:r>
            <a:r>
              <a:rPr dirty="0" sz="2550" spc="-95"/>
              <a:t> </a:t>
            </a:r>
            <a:r>
              <a:rPr dirty="0" sz="2550" spc="70"/>
              <a:t>k</a:t>
            </a:r>
            <a:r>
              <a:rPr dirty="0" sz="2550" spc="45"/>
              <a:t>n</a:t>
            </a:r>
            <a:r>
              <a:rPr dirty="0" sz="2550" spc="85"/>
              <a:t>o</a:t>
            </a:r>
            <a:r>
              <a:rPr dirty="0" sz="2550" spc="145"/>
              <a:t>w</a:t>
            </a:r>
            <a:r>
              <a:rPr dirty="0" sz="2550" spc="55"/>
              <a:t>n</a:t>
            </a:r>
            <a:r>
              <a:rPr dirty="0" sz="2550" spc="-85"/>
              <a:t> </a:t>
            </a:r>
            <a:r>
              <a:rPr dirty="0" sz="2550" spc="-85"/>
              <a:t>a</a:t>
            </a:r>
            <a:r>
              <a:rPr dirty="0" sz="2550" spc="-130"/>
              <a:t>s</a:t>
            </a:r>
            <a:r>
              <a:rPr dirty="0" sz="2550" spc="-95"/>
              <a:t> </a:t>
            </a:r>
            <a:r>
              <a:rPr dirty="0" sz="2550" spc="-85"/>
              <a:t>a</a:t>
            </a:r>
            <a:r>
              <a:rPr dirty="0" sz="2550" spc="55"/>
              <a:t>n</a:t>
            </a:r>
            <a:r>
              <a:rPr dirty="0" sz="2550" spc="-85"/>
              <a:t> </a:t>
            </a:r>
            <a:r>
              <a:rPr dirty="0" sz="2550" spc="-85"/>
              <a:t>a</a:t>
            </a:r>
            <a:r>
              <a:rPr dirty="0" sz="2550" spc="55"/>
              <a:t>n</a:t>
            </a:r>
            <a:r>
              <a:rPr dirty="0" sz="2550" spc="85"/>
              <a:t>o</a:t>
            </a:r>
            <a:r>
              <a:rPr dirty="0" sz="2550" spc="55"/>
              <a:t>n</a:t>
            </a:r>
            <a:r>
              <a:rPr dirty="0" sz="2550" spc="-10"/>
              <a:t>y</a:t>
            </a:r>
            <a:r>
              <a:rPr dirty="0" sz="2550" spc="80"/>
              <a:t>m</a:t>
            </a:r>
            <a:r>
              <a:rPr dirty="0" sz="2550" spc="85"/>
              <a:t>o</a:t>
            </a:r>
            <a:r>
              <a:rPr dirty="0" sz="2550" spc="45"/>
              <a:t>u</a:t>
            </a:r>
            <a:r>
              <a:rPr dirty="0" sz="2550" spc="-130"/>
              <a:t>s</a:t>
            </a:r>
            <a:r>
              <a:rPr dirty="0" sz="2550" spc="-95"/>
              <a:t> </a:t>
            </a:r>
            <a:r>
              <a:rPr dirty="0" sz="2550" spc="285"/>
              <a:t>f</a:t>
            </a:r>
            <a:r>
              <a:rPr dirty="0" sz="2550" spc="45"/>
              <a:t>u</a:t>
            </a:r>
            <a:r>
              <a:rPr dirty="0" sz="2550" spc="55"/>
              <a:t>n</a:t>
            </a:r>
            <a:r>
              <a:rPr dirty="0" sz="2550" spc="-80"/>
              <a:t>c</a:t>
            </a:r>
            <a:r>
              <a:rPr dirty="0" sz="2550" spc="320"/>
              <a:t>t</a:t>
            </a:r>
            <a:r>
              <a:rPr dirty="0" sz="2550" spc="45"/>
              <a:t>i</a:t>
            </a:r>
            <a:r>
              <a:rPr dirty="0" sz="2550" spc="105"/>
              <a:t>o</a:t>
            </a:r>
            <a:r>
              <a:rPr dirty="0" sz="2550" spc="55"/>
              <a:t>n</a:t>
            </a:r>
            <a:r>
              <a:rPr dirty="0" sz="2550" spc="-75"/>
              <a:t>,  </a:t>
            </a:r>
            <a:r>
              <a:rPr dirty="0" sz="2550" spc="20"/>
              <a:t>lambda,</a:t>
            </a:r>
            <a:r>
              <a:rPr dirty="0" sz="2550" spc="-95"/>
              <a:t> </a:t>
            </a:r>
            <a:r>
              <a:rPr dirty="0" sz="2550" spc="114"/>
              <a:t>or</a:t>
            </a:r>
            <a:r>
              <a:rPr dirty="0" sz="2550" spc="-85"/>
              <a:t> </a:t>
            </a:r>
            <a:r>
              <a:rPr dirty="0" sz="2550" spc="15"/>
              <a:t>closure.</a:t>
            </a:r>
            <a:endParaRPr sz="2550"/>
          </a:p>
          <a:p>
            <a:pPr marL="353695" marR="5080" indent="-315595">
              <a:lnSpc>
                <a:spcPct val="100899"/>
              </a:lnSpc>
              <a:spcBef>
                <a:spcPts val="720"/>
              </a:spcBef>
              <a:buClr>
                <a:srgbClr val="6697CC"/>
              </a:buClr>
              <a:buFont typeface="Arial MT"/>
              <a:buChar char="•"/>
              <a:tabLst>
                <a:tab pos="353060" algn="l"/>
                <a:tab pos="354330" algn="l"/>
              </a:tabLst>
            </a:pPr>
            <a:r>
              <a:rPr dirty="0" sz="2550" spc="-10"/>
              <a:t>A</a:t>
            </a:r>
            <a:r>
              <a:rPr dirty="0" sz="2550" spc="55"/>
              <a:t>n</a:t>
            </a:r>
            <a:r>
              <a:rPr dirty="0" sz="2550" spc="-85"/>
              <a:t> </a:t>
            </a:r>
            <a:r>
              <a:rPr dirty="0" sz="2550" spc="-85"/>
              <a:t>a</a:t>
            </a:r>
            <a:r>
              <a:rPr dirty="0" sz="2550" spc="55"/>
              <a:t>n</a:t>
            </a:r>
            <a:r>
              <a:rPr dirty="0" sz="2550" spc="85"/>
              <a:t>o</a:t>
            </a:r>
            <a:r>
              <a:rPr dirty="0" sz="2550" spc="55"/>
              <a:t>n</a:t>
            </a:r>
            <a:r>
              <a:rPr dirty="0" sz="2550" spc="-10"/>
              <a:t>y</a:t>
            </a:r>
            <a:r>
              <a:rPr dirty="0" sz="2550" spc="80"/>
              <a:t>m</a:t>
            </a:r>
            <a:r>
              <a:rPr dirty="0" sz="2550" spc="85"/>
              <a:t>o</a:t>
            </a:r>
            <a:r>
              <a:rPr dirty="0" sz="2550" spc="45"/>
              <a:t>u</a:t>
            </a:r>
            <a:r>
              <a:rPr dirty="0" sz="2550" spc="-130"/>
              <a:t>s</a:t>
            </a:r>
            <a:r>
              <a:rPr dirty="0" sz="2550" spc="-95"/>
              <a:t> </a:t>
            </a:r>
            <a:r>
              <a:rPr dirty="0" sz="2550" spc="285"/>
              <a:t>f</a:t>
            </a:r>
            <a:r>
              <a:rPr dirty="0" sz="2550" spc="55"/>
              <a:t>u</a:t>
            </a:r>
            <a:r>
              <a:rPr dirty="0" sz="2550" spc="45"/>
              <a:t>n</a:t>
            </a:r>
            <a:r>
              <a:rPr dirty="0" sz="2550" spc="-80"/>
              <a:t>c</a:t>
            </a:r>
            <a:r>
              <a:rPr dirty="0" sz="2550" spc="320"/>
              <a:t>t</a:t>
            </a:r>
            <a:r>
              <a:rPr dirty="0" sz="2550" spc="45"/>
              <a:t>i</a:t>
            </a:r>
            <a:r>
              <a:rPr dirty="0" sz="2550" spc="105"/>
              <a:t>o</a:t>
            </a:r>
            <a:r>
              <a:rPr dirty="0" sz="2550" spc="55"/>
              <a:t>n</a:t>
            </a:r>
            <a:r>
              <a:rPr dirty="0" sz="2550" spc="-85"/>
              <a:t> </a:t>
            </a:r>
            <a:r>
              <a:rPr dirty="0" sz="2550" spc="90"/>
              <a:t>b</a:t>
            </a:r>
            <a:r>
              <a:rPr dirty="0" sz="2550" spc="30"/>
              <a:t>e</a:t>
            </a:r>
            <a:r>
              <a:rPr dirty="0" sz="2550" spc="20"/>
              <a:t>h</a:t>
            </a:r>
            <a:r>
              <a:rPr dirty="0" sz="2550" spc="-75"/>
              <a:t>a</a:t>
            </a:r>
            <a:r>
              <a:rPr dirty="0" sz="2550"/>
              <a:t>v</a:t>
            </a:r>
            <a:r>
              <a:rPr dirty="0" sz="2550" spc="-55"/>
              <a:t>es</a:t>
            </a:r>
            <a:r>
              <a:rPr dirty="0" sz="2550" spc="-95"/>
              <a:t> </a:t>
            </a:r>
            <a:r>
              <a:rPr dirty="0" sz="2550" spc="320"/>
              <a:t>t</a:t>
            </a:r>
            <a:r>
              <a:rPr dirty="0" sz="2550" spc="35"/>
              <a:t>h</a:t>
            </a:r>
            <a:r>
              <a:rPr dirty="0" sz="2550" spc="15"/>
              <a:t>e</a:t>
            </a:r>
            <a:r>
              <a:rPr dirty="0" sz="2550" spc="-90"/>
              <a:t> </a:t>
            </a:r>
            <a:r>
              <a:rPr dirty="0" sz="2550" spc="-140"/>
              <a:t>s</a:t>
            </a:r>
            <a:r>
              <a:rPr dirty="0" sz="2550" spc="-75"/>
              <a:t>a</a:t>
            </a:r>
            <a:r>
              <a:rPr dirty="0" sz="2550" spc="80"/>
              <a:t>m</a:t>
            </a:r>
            <a:r>
              <a:rPr dirty="0" sz="2550" spc="15"/>
              <a:t>e</a:t>
            </a:r>
            <a:r>
              <a:rPr dirty="0" sz="2550" spc="-100"/>
              <a:t> </a:t>
            </a:r>
            <a:r>
              <a:rPr dirty="0" sz="2550" spc="-75"/>
              <a:t>a</a:t>
            </a:r>
            <a:r>
              <a:rPr dirty="0" sz="2550" spc="-130"/>
              <a:t>s</a:t>
            </a:r>
            <a:r>
              <a:rPr dirty="0" sz="2550" spc="-105"/>
              <a:t> </a:t>
            </a:r>
            <a:r>
              <a:rPr dirty="0" sz="2550" spc="-50"/>
              <a:t>a  </a:t>
            </a:r>
            <a:r>
              <a:rPr dirty="0" sz="2550" spc="145"/>
              <a:t>r</a:t>
            </a:r>
            <a:r>
              <a:rPr dirty="0" sz="2550" spc="40"/>
              <a:t>e</a:t>
            </a:r>
            <a:r>
              <a:rPr dirty="0" sz="2550" spc="30"/>
              <a:t>g</a:t>
            </a:r>
            <a:r>
              <a:rPr dirty="0" sz="2550" spc="55"/>
              <a:t>u</a:t>
            </a:r>
            <a:r>
              <a:rPr dirty="0" sz="2550" spc="114"/>
              <a:t>l</a:t>
            </a:r>
            <a:r>
              <a:rPr dirty="0" sz="2550" spc="-85"/>
              <a:t>a</a:t>
            </a:r>
            <a:r>
              <a:rPr dirty="0" sz="2550" spc="140"/>
              <a:t>r</a:t>
            </a:r>
            <a:r>
              <a:rPr dirty="0" sz="2550" spc="-95"/>
              <a:t> </a:t>
            </a:r>
            <a:r>
              <a:rPr dirty="0" sz="2550" spc="285"/>
              <a:t>f</a:t>
            </a:r>
            <a:r>
              <a:rPr dirty="0" sz="2550" spc="55"/>
              <a:t>u</a:t>
            </a:r>
            <a:r>
              <a:rPr dirty="0" sz="2550" spc="45"/>
              <a:t>n</a:t>
            </a:r>
            <a:r>
              <a:rPr dirty="0" sz="2550" spc="-80"/>
              <a:t>c</a:t>
            </a:r>
            <a:r>
              <a:rPr dirty="0" sz="2550" spc="330"/>
              <a:t>t</a:t>
            </a:r>
            <a:r>
              <a:rPr dirty="0" sz="2550" spc="50"/>
              <a:t>i</a:t>
            </a:r>
            <a:r>
              <a:rPr dirty="0" sz="2550" spc="75"/>
              <a:t>o</a:t>
            </a:r>
            <a:r>
              <a:rPr dirty="0" sz="2550" spc="65"/>
              <a:t>n</a:t>
            </a:r>
            <a:r>
              <a:rPr dirty="0" sz="2550" spc="-80"/>
              <a:t>,</a:t>
            </a:r>
            <a:r>
              <a:rPr dirty="0" sz="2550" spc="-95"/>
              <a:t> </a:t>
            </a:r>
            <a:r>
              <a:rPr dirty="0" sz="2550" spc="95"/>
              <a:t>b</a:t>
            </a:r>
            <a:r>
              <a:rPr dirty="0" sz="2550" spc="45"/>
              <a:t>u</a:t>
            </a:r>
            <a:r>
              <a:rPr dirty="0" sz="2550" spc="325"/>
              <a:t>t</a:t>
            </a:r>
            <a:r>
              <a:rPr dirty="0" sz="2550" spc="-90"/>
              <a:t> </a:t>
            </a:r>
            <a:r>
              <a:rPr dirty="0" sz="2550" spc="195"/>
              <a:t>it</a:t>
            </a:r>
            <a:r>
              <a:rPr dirty="0" sz="2550" spc="-90"/>
              <a:t> </a:t>
            </a:r>
            <a:r>
              <a:rPr dirty="0" sz="2550" spc="90"/>
              <a:t>d</a:t>
            </a:r>
            <a:r>
              <a:rPr dirty="0" sz="2550" spc="-5"/>
              <a:t>oes</a:t>
            </a:r>
            <a:r>
              <a:rPr dirty="0" sz="2550" spc="-105"/>
              <a:t> </a:t>
            </a:r>
            <a:r>
              <a:rPr dirty="0" sz="2550" spc="55"/>
              <a:t>n</a:t>
            </a:r>
            <a:r>
              <a:rPr dirty="0" sz="2550" spc="85"/>
              <a:t>o</a:t>
            </a:r>
            <a:r>
              <a:rPr dirty="0" sz="2550" spc="325"/>
              <a:t>t</a:t>
            </a:r>
            <a:r>
              <a:rPr dirty="0" sz="2550" spc="-90"/>
              <a:t> </a:t>
            </a:r>
            <a:r>
              <a:rPr dirty="0" sz="2550" spc="35"/>
              <a:t>h</a:t>
            </a:r>
            <a:r>
              <a:rPr dirty="0" sz="2550" spc="-75"/>
              <a:t>a</a:t>
            </a:r>
            <a:r>
              <a:rPr dirty="0" sz="2550"/>
              <a:t>v</a:t>
            </a:r>
            <a:r>
              <a:rPr dirty="0" sz="2550" spc="15"/>
              <a:t>e</a:t>
            </a:r>
            <a:r>
              <a:rPr dirty="0" sz="2550" spc="-90"/>
              <a:t> </a:t>
            </a:r>
            <a:r>
              <a:rPr dirty="0" sz="2550" spc="-80"/>
              <a:t>a</a:t>
            </a:r>
            <a:r>
              <a:rPr dirty="0" sz="2550" spc="-90"/>
              <a:t> </a:t>
            </a:r>
            <a:r>
              <a:rPr dirty="0" sz="2550" spc="55"/>
              <a:t>n</a:t>
            </a:r>
            <a:r>
              <a:rPr dirty="0" sz="2550" spc="-85"/>
              <a:t>a</a:t>
            </a:r>
            <a:r>
              <a:rPr dirty="0" sz="2550" spc="80"/>
              <a:t>m</a:t>
            </a:r>
            <a:r>
              <a:rPr dirty="0" sz="2550" spc="15"/>
              <a:t>e</a:t>
            </a:r>
            <a:r>
              <a:rPr dirty="0" sz="2550" spc="-90"/>
              <a:t> </a:t>
            </a:r>
            <a:r>
              <a:rPr dirty="0" sz="2550" spc="145"/>
              <a:t>w</a:t>
            </a:r>
            <a:r>
              <a:rPr dirty="0" sz="2550" spc="175"/>
              <a:t>i</a:t>
            </a:r>
            <a:r>
              <a:rPr dirty="0" sz="2550" spc="210"/>
              <a:t>t</a:t>
            </a:r>
            <a:r>
              <a:rPr dirty="0" sz="2550" spc="45"/>
              <a:t>h</a:t>
            </a:r>
            <a:r>
              <a:rPr dirty="0" sz="2550" spc="-95"/>
              <a:t> </a:t>
            </a:r>
            <a:r>
              <a:rPr dirty="0" sz="2550" spc="175"/>
              <a:t>i</a:t>
            </a:r>
            <a:r>
              <a:rPr dirty="0" sz="2550" spc="210"/>
              <a:t>t</a:t>
            </a:r>
            <a:r>
              <a:rPr dirty="0" sz="2550" spc="-75"/>
              <a:t>.  </a:t>
            </a:r>
            <a:r>
              <a:rPr dirty="0" sz="2550" spc="155"/>
              <a:t>It</a:t>
            </a:r>
            <a:r>
              <a:rPr dirty="0" sz="2550" spc="-90"/>
              <a:t> </a:t>
            </a:r>
            <a:r>
              <a:rPr dirty="0" sz="2550" spc="-35"/>
              <a:t>can</a:t>
            </a:r>
            <a:r>
              <a:rPr dirty="0" sz="2550" spc="-85"/>
              <a:t> </a:t>
            </a:r>
            <a:r>
              <a:rPr dirty="0" sz="2550" spc="-5"/>
              <a:t>have</a:t>
            </a:r>
            <a:r>
              <a:rPr dirty="0" sz="2550" spc="-85"/>
              <a:t> </a:t>
            </a:r>
            <a:r>
              <a:rPr dirty="0" sz="2550" spc="45"/>
              <a:t>zero</a:t>
            </a:r>
            <a:r>
              <a:rPr dirty="0" sz="2550" spc="-95"/>
              <a:t> </a:t>
            </a:r>
            <a:r>
              <a:rPr dirty="0" sz="2550" spc="114"/>
              <a:t>or</a:t>
            </a:r>
            <a:r>
              <a:rPr dirty="0" sz="2550" spc="-85"/>
              <a:t> </a:t>
            </a:r>
            <a:r>
              <a:rPr dirty="0" sz="2550" spc="-10"/>
              <a:t>any</a:t>
            </a:r>
            <a:r>
              <a:rPr dirty="0" sz="2550" spc="-90"/>
              <a:t> </a:t>
            </a:r>
            <a:r>
              <a:rPr dirty="0" sz="2550" spc="70"/>
              <a:t>number</a:t>
            </a:r>
            <a:r>
              <a:rPr dirty="0" sz="2550" spc="-95"/>
              <a:t> </a:t>
            </a:r>
            <a:r>
              <a:rPr dirty="0" sz="2550" spc="190"/>
              <a:t>of</a:t>
            </a:r>
            <a:r>
              <a:rPr dirty="0" sz="2550" spc="-90"/>
              <a:t> </a:t>
            </a:r>
            <a:r>
              <a:rPr dirty="0" sz="2550" spc="55"/>
              <a:t>arguments</a:t>
            </a:r>
            <a:r>
              <a:rPr dirty="0" sz="2550" spc="-90"/>
              <a:t> </a:t>
            </a:r>
            <a:r>
              <a:rPr dirty="0" sz="2550" spc="145"/>
              <a:t>with</a:t>
            </a:r>
            <a:r>
              <a:rPr dirty="0" sz="2550" spc="-100"/>
              <a:t> </a:t>
            </a:r>
            <a:r>
              <a:rPr dirty="0" sz="2550" spc="-10"/>
              <a:t>an </a:t>
            </a:r>
            <a:r>
              <a:rPr dirty="0" sz="2550" spc="-660"/>
              <a:t> </a:t>
            </a:r>
            <a:r>
              <a:rPr dirty="0" sz="2550" spc="90"/>
              <a:t>optional</a:t>
            </a:r>
            <a:r>
              <a:rPr dirty="0" sz="2550" spc="-105"/>
              <a:t> </a:t>
            </a:r>
            <a:r>
              <a:rPr dirty="0" sz="2550" spc="105"/>
              <a:t>type</a:t>
            </a:r>
            <a:r>
              <a:rPr dirty="0" sz="2550" spc="-100"/>
              <a:t> </a:t>
            </a:r>
            <a:r>
              <a:rPr dirty="0" sz="2550" spc="75"/>
              <a:t>annotation.</a:t>
            </a:r>
            <a:endParaRPr sz="2550"/>
          </a:p>
          <a:p>
            <a:pPr marL="353695" marR="48895" indent="-315595">
              <a:lnSpc>
                <a:spcPct val="100600"/>
              </a:lnSpc>
              <a:spcBef>
                <a:spcPts val="745"/>
              </a:spcBef>
              <a:buClr>
                <a:srgbClr val="6697CC"/>
              </a:buClr>
              <a:buFont typeface="Arial MT"/>
              <a:buChar char="•"/>
              <a:tabLst>
                <a:tab pos="353060" algn="l"/>
                <a:tab pos="354330" algn="l"/>
              </a:tabLst>
            </a:pPr>
            <a:r>
              <a:rPr dirty="0" sz="2550"/>
              <a:t>We</a:t>
            </a:r>
            <a:r>
              <a:rPr dirty="0" sz="2550" spc="-90"/>
              <a:t> </a:t>
            </a:r>
            <a:r>
              <a:rPr dirty="0" sz="2550" spc="-35"/>
              <a:t>can</a:t>
            </a:r>
            <a:r>
              <a:rPr dirty="0" sz="2550" spc="-95"/>
              <a:t> </a:t>
            </a:r>
            <a:r>
              <a:rPr dirty="0" sz="2550" spc="-30"/>
              <a:t>assign</a:t>
            </a:r>
            <a:r>
              <a:rPr dirty="0" sz="2550" spc="-85"/>
              <a:t> </a:t>
            </a:r>
            <a:r>
              <a:rPr dirty="0" sz="2550" spc="125"/>
              <a:t>the</a:t>
            </a:r>
            <a:r>
              <a:rPr dirty="0" sz="2550" spc="-90"/>
              <a:t> </a:t>
            </a:r>
            <a:r>
              <a:rPr dirty="0" sz="2550" spc="20"/>
              <a:t>anonymous</a:t>
            </a:r>
            <a:r>
              <a:rPr dirty="0" sz="2550" spc="-90"/>
              <a:t> </a:t>
            </a:r>
            <a:r>
              <a:rPr dirty="0" sz="2550" spc="105"/>
              <a:t>function</a:t>
            </a:r>
            <a:r>
              <a:rPr dirty="0" sz="2550" spc="-95"/>
              <a:t> </a:t>
            </a:r>
            <a:r>
              <a:rPr dirty="0" sz="2550" spc="204"/>
              <a:t>to</a:t>
            </a:r>
            <a:r>
              <a:rPr dirty="0" sz="2550" spc="-100"/>
              <a:t> </a:t>
            </a:r>
            <a:r>
              <a:rPr dirty="0" sz="2550" spc="-80"/>
              <a:t>a</a:t>
            </a:r>
            <a:r>
              <a:rPr dirty="0" sz="2550" spc="-85"/>
              <a:t> </a:t>
            </a:r>
            <a:r>
              <a:rPr dirty="0" sz="2550" spc="20"/>
              <a:t>variable, </a:t>
            </a:r>
            <a:r>
              <a:rPr dirty="0" sz="2550" spc="-660"/>
              <a:t> </a:t>
            </a:r>
            <a:r>
              <a:rPr dirty="0" sz="2550" spc="-85"/>
              <a:t>a</a:t>
            </a:r>
            <a:r>
              <a:rPr dirty="0" sz="2550" spc="55"/>
              <a:t>n</a:t>
            </a:r>
            <a:r>
              <a:rPr dirty="0" sz="2550" spc="95"/>
              <a:t>d</a:t>
            </a:r>
            <a:r>
              <a:rPr dirty="0" sz="2550" spc="-90"/>
              <a:t> </a:t>
            </a:r>
            <a:r>
              <a:rPr dirty="0" sz="2550" spc="320"/>
              <a:t>t</a:t>
            </a:r>
            <a:r>
              <a:rPr dirty="0" sz="2550" spc="40"/>
              <a:t>hen</a:t>
            </a:r>
            <a:r>
              <a:rPr dirty="0" sz="2550" spc="-95"/>
              <a:t> </a:t>
            </a:r>
            <a:r>
              <a:rPr dirty="0" sz="2550" spc="145"/>
              <a:t>w</a:t>
            </a:r>
            <a:r>
              <a:rPr dirty="0" sz="2550" spc="15"/>
              <a:t>e</a:t>
            </a:r>
            <a:r>
              <a:rPr dirty="0" sz="2550" spc="-90"/>
              <a:t> </a:t>
            </a:r>
            <a:r>
              <a:rPr dirty="0" sz="2550" spc="-80"/>
              <a:t>c</a:t>
            </a:r>
            <a:r>
              <a:rPr dirty="0" sz="2550" spc="-85"/>
              <a:t>a</a:t>
            </a:r>
            <a:r>
              <a:rPr dirty="0" sz="2550" spc="55"/>
              <a:t>n</a:t>
            </a:r>
            <a:r>
              <a:rPr dirty="0" sz="2550" spc="-85"/>
              <a:t> </a:t>
            </a:r>
            <a:r>
              <a:rPr dirty="0" sz="2550" spc="135"/>
              <a:t>r</a:t>
            </a:r>
            <a:r>
              <a:rPr dirty="0" sz="2550" spc="225"/>
              <a:t>e</a:t>
            </a:r>
            <a:r>
              <a:rPr dirty="0" sz="2550" spc="114"/>
              <a:t>t</a:t>
            </a:r>
            <a:r>
              <a:rPr dirty="0" sz="2550" spc="135"/>
              <a:t>r</a:t>
            </a:r>
            <a:r>
              <a:rPr dirty="0" sz="2550" spc="30"/>
              <a:t>ie</a:t>
            </a:r>
            <a:r>
              <a:rPr dirty="0" sz="2550" spc="25"/>
              <a:t>v</a:t>
            </a:r>
            <a:r>
              <a:rPr dirty="0" sz="2550" spc="15"/>
              <a:t>e</a:t>
            </a:r>
            <a:r>
              <a:rPr dirty="0" sz="2550" spc="-90"/>
              <a:t> </a:t>
            </a:r>
            <a:r>
              <a:rPr dirty="0" sz="2550" spc="85"/>
              <a:t>o</a:t>
            </a:r>
            <a:r>
              <a:rPr dirty="0" sz="2550" spc="140"/>
              <a:t>r</a:t>
            </a:r>
            <a:r>
              <a:rPr dirty="0" sz="2550" spc="-85"/>
              <a:t> </a:t>
            </a:r>
            <a:r>
              <a:rPr dirty="0" sz="2550" spc="-85"/>
              <a:t>a</a:t>
            </a:r>
            <a:r>
              <a:rPr dirty="0" sz="2550" spc="-80"/>
              <a:t>cc</a:t>
            </a:r>
            <a:r>
              <a:rPr dirty="0" sz="2550" spc="-60"/>
              <a:t>e</a:t>
            </a:r>
            <a:r>
              <a:rPr dirty="0" sz="2550" spc="-65"/>
              <a:t>s</a:t>
            </a:r>
            <a:r>
              <a:rPr dirty="0" sz="2550" spc="-130"/>
              <a:t>s</a:t>
            </a:r>
            <a:r>
              <a:rPr dirty="0" sz="2550" spc="-95"/>
              <a:t> </a:t>
            </a:r>
            <a:r>
              <a:rPr dirty="0" sz="2550" spc="320"/>
              <a:t>t</a:t>
            </a:r>
            <a:r>
              <a:rPr dirty="0" sz="2550" spc="30"/>
              <a:t>he</a:t>
            </a:r>
            <a:r>
              <a:rPr dirty="0" sz="2550" spc="-90"/>
              <a:t> </a:t>
            </a:r>
            <a:r>
              <a:rPr dirty="0" sz="2550"/>
              <a:t>v</a:t>
            </a:r>
            <a:r>
              <a:rPr dirty="0" sz="2550" spc="-85"/>
              <a:t>a</a:t>
            </a:r>
            <a:r>
              <a:rPr dirty="0" sz="2550" spc="114"/>
              <a:t>l</a:t>
            </a:r>
            <a:r>
              <a:rPr dirty="0" sz="2550" spc="45"/>
              <a:t>u</a:t>
            </a:r>
            <a:r>
              <a:rPr dirty="0" sz="2550" spc="15"/>
              <a:t>e</a:t>
            </a:r>
            <a:r>
              <a:rPr dirty="0" sz="2550" spc="-90"/>
              <a:t> </a:t>
            </a:r>
            <a:r>
              <a:rPr dirty="0" sz="2550" spc="85"/>
              <a:t>o</a:t>
            </a:r>
            <a:r>
              <a:rPr dirty="0" sz="2550" spc="280"/>
              <a:t>f</a:t>
            </a:r>
            <a:r>
              <a:rPr dirty="0" sz="2550" spc="-85"/>
              <a:t> </a:t>
            </a:r>
            <a:r>
              <a:rPr dirty="0" sz="2550" spc="320"/>
              <a:t>t</a:t>
            </a:r>
            <a:r>
              <a:rPr dirty="0" sz="2550" spc="35"/>
              <a:t>h</a:t>
            </a:r>
            <a:r>
              <a:rPr dirty="0" sz="2550" spc="10"/>
              <a:t>e  </a:t>
            </a:r>
            <a:r>
              <a:rPr dirty="0" sz="2550" spc="25"/>
              <a:t>closure</a:t>
            </a:r>
            <a:r>
              <a:rPr dirty="0" sz="2550" spc="-90"/>
              <a:t> </a:t>
            </a:r>
            <a:r>
              <a:rPr dirty="0" sz="2550" spc="-5"/>
              <a:t>based</a:t>
            </a:r>
            <a:r>
              <a:rPr dirty="0" sz="2550" spc="-100"/>
              <a:t> </a:t>
            </a:r>
            <a:r>
              <a:rPr dirty="0" sz="2550" spc="75"/>
              <a:t>on</a:t>
            </a:r>
            <a:r>
              <a:rPr dirty="0" sz="2550" spc="-95"/>
              <a:t> </a:t>
            </a:r>
            <a:r>
              <a:rPr dirty="0" sz="2550" spc="95"/>
              <a:t>our</a:t>
            </a:r>
            <a:r>
              <a:rPr dirty="0" sz="2550" spc="-90"/>
              <a:t> </a:t>
            </a:r>
            <a:r>
              <a:rPr dirty="0" sz="2550" spc="75"/>
              <a:t>requirement.</a:t>
            </a:r>
            <a:endParaRPr sz="25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2573020" algn="l"/>
              </a:tabLst>
            </a:pPr>
            <a:r>
              <a:rPr dirty="0" spc="-275"/>
              <a:t>F</a:t>
            </a:r>
            <a:r>
              <a:rPr dirty="0" spc="60"/>
              <a:t>u</a:t>
            </a:r>
            <a:r>
              <a:rPr dirty="0" spc="50"/>
              <a:t>n</a:t>
            </a:r>
            <a:r>
              <a:rPr dirty="0" spc="-130"/>
              <a:t>c</a:t>
            </a:r>
            <a:r>
              <a:rPr dirty="0" spc="215"/>
              <a:t>tio</a:t>
            </a:r>
            <a:r>
              <a:rPr dirty="0" spc="60"/>
              <a:t>n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25"/>
              <a:t>A</a:t>
            </a:r>
            <a:r>
              <a:rPr dirty="0" spc="10"/>
              <a:t>n</a:t>
            </a:r>
            <a:r>
              <a:rPr dirty="0" spc="114"/>
              <a:t>o</a:t>
            </a:r>
            <a:r>
              <a:rPr dirty="0" spc="25"/>
              <a:t>n</a:t>
            </a:r>
            <a:r>
              <a:rPr dirty="0" spc="10"/>
              <a:t>y</a:t>
            </a:r>
            <a:r>
              <a:rPr dirty="0" spc="130"/>
              <a:t>m</a:t>
            </a:r>
            <a:r>
              <a:rPr dirty="0" spc="80"/>
              <a:t>o</a:t>
            </a:r>
            <a:r>
              <a:rPr dirty="0" spc="-70"/>
              <a:t>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947659" cy="3839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3535">
              <a:lnSpc>
                <a:spcPct val="99800"/>
              </a:lnSpc>
              <a:spcBef>
                <a:spcPts val="10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10">
                <a:latin typeface="Microsoft Sans Serif"/>
                <a:cs typeface="Microsoft Sans Serif"/>
              </a:rPr>
              <a:t>An </a:t>
            </a:r>
            <a:r>
              <a:rPr dirty="0" sz="2800" spc="20">
                <a:latin typeface="Microsoft Sans Serif"/>
                <a:cs typeface="Microsoft Sans Serif"/>
              </a:rPr>
              <a:t>Anonymous </a:t>
            </a:r>
            <a:r>
              <a:rPr dirty="0" sz="2800" spc="105">
                <a:latin typeface="Microsoft Sans Serif"/>
                <a:cs typeface="Microsoft Sans Serif"/>
              </a:rPr>
              <a:t>function </a:t>
            </a:r>
            <a:r>
              <a:rPr dirty="0" sz="2800" spc="30">
                <a:latin typeface="Microsoft Sans Serif"/>
                <a:cs typeface="Microsoft Sans Serif"/>
              </a:rPr>
              <a:t>contains </a:t>
            </a:r>
            <a:r>
              <a:rPr dirty="0" sz="2800" spc="-25">
                <a:latin typeface="Microsoft Sans Serif"/>
                <a:cs typeface="Microsoft Sans Serif"/>
              </a:rPr>
              <a:t>an </a:t>
            </a:r>
            <a:r>
              <a:rPr dirty="0" sz="2800" spc="-20">
                <a:latin typeface="Microsoft Sans Serif"/>
                <a:cs typeface="Microsoft Sans Serif"/>
              </a:rPr>
              <a:t> </a:t>
            </a:r>
            <a:r>
              <a:rPr dirty="0" sz="2800" spc="70">
                <a:latin typeface="Microsoft Sans Serif"/>
                <a:cs typeface="Microsoft Sans Serif"/>
              </a:rPr>
              <a:t>independent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45">
                <a:latin typeface="Microsoft Sans Serif"/>
                <a:cs typeface="Microsoft Sans Serif"/>
              </a:rPr>
              <a:t>block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195">
                <a:latin typeface="Microsoft Sans Serif"/>
                <a:cs typeface="Microsoft Sans Serif"/>
              </a:rPr>
              <a:t>of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10">
                <a:latin typeface="Microsoft Sans Serif"/>
                <a:cs typeface="Microsoft Sans Serif"/>
              </a:rPr>
              <a:t>code,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and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55">
                <a:latin typeface="Microsoft Sans Serif"/>
                <a:cs typeface="Microsoft Sans Serif"/>
              </a:rPr>
              <a:t>that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55">
                <a:latin typeface="Microsoft Sans Serif"/>
                <a:cs typeface="Microsoft Sans Serif"/>
              </a:rPr>
              <a:t>can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45">
                <a:latin typeface="Microsoft Sans Serif"/>
                <a:cs typeface="Microsoft Sans Serif"/>
              </a:rPr>
              <a:t>be </a:t>
            </a:r>
            <a:r>
              <a:rPr dirty="0" sz="2800" spc="-725">
                <a:latin typeface="Microsoft Sans Serif"/>
                <a:cs typeface="Microsoft Sans Serif"/>
              </a:rPr>
              <a:t> </a:t>
            </a:r>
            <a:r>
              <a:rPr dirty="0" sz="2800" spc="-40">
                <a:latin typeface="Microsoft Sans Serif"/>
                <a:cs typeface="Microsoft Sans Serif"/>
              </a:rPr>
              <a:t>passed </a:t>
            </a:r>
            <a:r>
              <a:rPr dirty="0" sz="2800" spc="50">
                <a:latin typeface="Microsoft Sans Serif"/>
                <a:cs typeface="Microsoft Sans Serif"/>
              </a:rPr>
              <a:t>around </a:t>
            </a:r>
            <a:r>
              <a:rPr dirty="0" sz="2800" spc="60">
                <a:latin typeface="Microsoft Sans Serif"/>
                <a:cs typeface="Microsoft Sans Serif"/>
              </a:rPr>
              <a:t>in </a:t>
            </a:r>
            <a:r>
              <a:rPr dirty="0" sz="2800" spc="95">
                <a:latin typeface="Microsoft Sans Serif"/>
                <a:cs typeface="Microsoft Sans Serif"/>
              </a:rPr>
              <a:t>our </a:t>
            </a:r>
            <a:r>
              <a:rPr dirty="0" sz="2800" spc="15">
                <a:latin typeface="Microsoft Sans Serif"/>
                <a:cs typeface="Microsoft Sans Serif"/>
              </a:rPr>
              <a:t>code </a:t>
            </a:r>
            <a:r>
              <a:rPr dirty="0" sz="2800" spc="-130">
                <a:latin typeface="Microsoft Sans Serif"/>
                <a:cs typeface="Microsoft Sans Serif"/>
              </a:rPr>
              <a:t>as </a:t>
            </a:r>
            <a:r>
              <a:rPr dirty="0" sz="2800" spc="100">
                <a:latin typeface="Microsoft Sans Serif"/>
                <a:cs typeface="Microsoft Sans Serif"/>
              </a:rPr>
              <a:t>function </a:t>
            </a:r>
            <a:r>
              <a:rPr dirty="0" sz="2800" spc="105">
                <a:latin typeface="Microsoft Sans Serif"/>
                <a:cs typeface="Microsoft Sans Serif"/>
              </a:rPr>
              <a:t> </a:t>
            </a:r>
            <a:r>
              <a:rPr dirty="0" sz="2800" spc="80">
                <a:latin typeface="Microsoft Sans Serif"/>
                <a:cs typeface="Microsoft Sans Serif"/>
              </a:rPr>
              <a:t>p</a:t>
            </a:r>
            <a:r>
              <a:rPr dirty="0" sz="2800" spc="-95">
                <a:latin typeface="Microsoft Sans Serif"/>
                <a:cs typeface="Microsoft Sans Serif"/>
              </a:rPr>
              <a:t>a</a:t>
            </a:r>
            <a:r>
              <a:rPr dirty="0" sz="2800" spc="15">
                <a:latin typeface="Microsoft Sans Serif"/>
                <a:cs typeface="Microsoft Sans Serif"/>
              </a:rPr>
              <a:t>r</a:t>
            </a:r>
            <a:r>
              <a:rPr dirty="0" sz="2800" spc="25">
                <a:latin typeface="Microsoft Sans Serif"/>
                <a:cs typeface="Microsoft Sans Serif"/>
              </a:rPr>
              <a:t>a</a:t>
            </a:r>
            <a:r>
              <a:rPr dirty="0" sz="2800" spc="50">
                <a:latin typeface="Microsoft Sans Serif"/>
                <a:cs typeface="Microsoft Sans Serif"/>
              </a:rPr>
              <a:t>m</a:t>
            </a:r>
            <a:r>
              <a:rPr dirty="0" sz="2800" spc="20">
                <a:latin typeface="Microsoft Sans Serif"/>
                <a:cs typeface="Microsoft Sans Serif"/>
              </a:rPr>
              <a:t>e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-5">
                <a:latin typeface="Microsoft Sans Serif"/>
                <a:cs typeface="Microsoft Sans Serif"/>
              </a:rPr>
              <a:t>e</a:t>
            </a:r>
            <a:r>
              <a:rPr dirty="0" sz="2800" spc="-35">
                <a:latin typeface="Microsoft Sans Serif"/>
                <a:cs typeface="Microsoft Sans Serif"/>
              </a:rPr>
              <a:t>rs.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135">
                <a:latin typeface="Microsoft Sans Serif"/>
                <a:cs typeface="Microsoft Sans Serif"/>
              </a:rPr>
              <a:t>T</a:t>
            </a:r>
            <a:r>
              <a:rPr dirty="0" sz="2800" spc="20">
                <a:latin typeface="Microsoft Sans Serif"/>
                <a:cs typeface="Microsoft Sans Serif"/>
              </a:rPr>
              <a:t>he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80">
                <a:latin typeface="Microsoft Sans Serif"/>
                <a:cs typeface="Microsoft Sans Serif"/>
              </a:rPr>
              <a:t>s</a:t>
            </a:r>
            <a:r>
              <a:rPr dirty="0" sz="2800" spc="-85">
                <a:latin typeface="Microsoft Sans Serif"/>
                <a:cs typeface="Microsoft Sans Serif"/>
              </a:rPr>
              <a:t>y</a:t>
            </a:r>
            <a:r>
              <a:rPr dirty="0" sz="2800" spc="265">
                <a:latin typeface="Microsoft Sans Serif"/>
                <a:cs typeface="Microsoft Sans Serif"/>
              </a:rPr>
              <a:t>n</a:t>
            </a:r>
            <a:r>
              <a:rPr dirty="0" sz="2800" spc="120">
                <a:latin typeface="Microsoft Sans Serif"/>
                <a:cs typeface="Microsoft Sans Serif"/>
              </a:rPr>
              <a:t>t</a:t>
            </a:r>
            <a:r>
              <a:rPr dirty="0" sz="2800" spc="-95">
                <a:latin typeface="Microsoft Sans Serif"/>
                <a:cs typeface="Microsoft Sans Serif"/>
              </a:rPr>
              <a:t>a</a:t>
            </a:r>
            <a:r>
              <a:rPr dirty="0" sz="2800" spc="30">
                <a:latin typeface="Microsoft Sans Serif"/>
                <a:cs typeface="Microsoft Sans Serif"/>
              </a:rPr>
              <a:t>x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i</a:t>
            </a:r>
            <a:r>
              <a:rPr dirty="0" sz="2800" spc="-155">
                <a:latin typeface="Microsoft Sans Serif"/>
                <a:cs typeface="Microsoft Sans Serif"/>
              </a:rPr>
              <a:t>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105">
                <a:latin typeface="Microsoft Sans Serif"/>
                <a:cs typeface="Microsoft Sans Serif"/>
              </a:rPr>
              <a:t>a</a:t>
            </a:r>
            <a:r>
              <a:rPr dirty="0" sz="2800" spc="-155">
                <a:latin typeface="Microsoft Sans Serif"/>
                <a:cs typeface="Microsoft Sans Serif"/>
              </a:rPr>
              <a:t>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30">
                <a:latin typeface="Microsoft Sans Serif"/>
                <a:cs typeface="Microsoft Sans Serif"/>
              </a:rPr>
              <a:t>f</a:t>
            </a:r>
            <a:r>
              <a:rPr dirty="0" sz="2800" spc="250">
                <a:latin typeface="Microsoft Sans Serif"/>
                <a:cs typeface="Microsoft Sans Serif"/>
              </a:rPr>
              <a:t>o</a:t>
            </a:r>
            <a:r>
              <a:rPr dirty="0" sz="2800" spc="125">
                <a:latin typeface="Microsoft Sans Serif"/>
                <a:cs typeface="Microsoft Sans Serif"/>
              </a:rPr>
              <a:t>ll</a:t>
            </a:r>
            <a:r>
              <a:rPr dirty="0" sz="2800" spc="75">
                <a:latin typeface="Microsoft Sans Serif"/>
                <a:cs typeface="Microsoft Sans Serif"/>
              </a:rPr>
              <a:t>o</a:t>
            </a:r>
            <a:r>
              <a:rPr dirty="0" sz="2800" spc="150">
                <a:latin typeface="Microsoft Sans Serif"/>
                <a:cs typeface="Microsoft Sans Serif"/>
              </a:rPr>
              <a:t>w</a:t>
            </a:r>
            <a:r>
              <a:rPr dirty="0" sz="2800" spc="-165">
                <a:latin typeface="Microsoft Sans Serif"/>
                <a:cs typeface="Microsoft Sans Serif"/>
              </a:rPr>
              <a:t>s</a:t>
            </a:r>
            <a:r>
              <a:rPr dirty="0" sz="2800" spc="-90"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  <a:p>
            <a:pPr marL="355600" marR="4791075">
              <a:lnSpc>
                <a:spcPct val="123500"/>
              </a:lnSpc>
            </a:pPr>
            <a:r>
              <a:rPr dirty="0" sz="2800" spc="-25">
                <a:latin typeface="Microsoft Sans Serif"/>
                <a:cs typeface="Microsoft Sans Serif"/>
              </a:rPr>
              <a:t>Syntax: </a:t>
            </a:r>
            <a:r>
              <a:rPr dirty="0" sz="2800" spc="-20">
                <a:latin typeface="Microsoft Sans Serif"/>
                <a:cs typeface="Microsoft Sans Serif"/>
              </a:rPr>
              <a:t> </a:t>
            </a:r>
            <a:r>
              <a:rPr dirty="0" sz="2800" spc="45">
                <a:latin typeface="Microsoft Sans Serif"/>
                <a:cs typeface="Microsoft Sans Serif"/>
              </a:rPr>
              <a:t>(parameter_list)</a:t>
            </a:r>
            <a:r>
              <a:rPr dirty="0" sz="2800" spc="-160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{</a:t>
            </a:r>
            <a:endParaRPr sz="2800">
              <a:latin typeface="Microsoft Sans Serif"/>
              <a:cs typeface="Microsoft Sans Serif"/>
            </a:endParaRPr>
          </a:p>
          <a:p>
            <a:pPr marL="601980">
              <a:lnSpc>
                <a:spcPct val="100000"/>
              </a:lnSpc>
              <a:spcBef>
                <a:spcPts val="800"/>
              </a:spcBef>
            </a:pPr>
            <a:r>
              <a:rPr dirty="0" sz="2800" spc="55">
                <a:latin typeface="Microsoft Sans Serif"/>
                <a:cs typeface="Microsoft Sans Serif"/>
              </a:rPr>
              <a:t>statement(s)</a:t>
            </a:r>
            <a:endParaRPr sz="28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790"/>
              </a:spcBef>
            </a:pPr>
            <a:r>
              <a:rPr dirty="0" sz="2800" spc="-5">
                <a:latin typeface="Microsoft Sans Serif"/>
                <a:cs typeface="Microsoft Sans Serif"/>
              </a:rPr>
              <a:t>}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2573020" algn="l"/>
              </a:tabLst>
            </a:pPr>
            <a:r>
              <a:rPr dirty="0" spc="-275"/>
              <a:t>F</a:t>
            </a:r>
            <a:r>
              <a:rPr dirty="0" spc="60"/>
              <a:t>u</a:t>
            </a:r>
            <a:r>
              <a:rPr dirty="0" spc="50"/>
              <a:t>n</a:t>
            </a:r>
            <a:r>
              <a:rPr dirty="0" spc="-130"/>
              <a:t>c</a:t>
            </a:r>
            <a:r>
              <a:rPr dirty="0" spc="215"/>
              <a:t>tio</a:t>
            </a:r>
            <a:r>
              <a:rPr dirty="0" spc="60"/>
              <a:t>n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25"/>
              <a:t>A</a:t>
            </a:r>
            <a:r>
              <a:rPr dirty="0" spc="10"/>
              <a:t>n</a:t>
            </a:r>
            <a:r>
              <a:rPr dirty="0" spc="114"/>
              <a:t>o</a:t>
            </a:r>
            <a:r>
              <a:rPr dirty="0" spc="25"/>
              <a:t>n</a:t>
            </a:r>
            <a:r>
              <a:rPr dirty="0" spc="10"/>
              <a:t>y</a:t>
            </a:r>
            <a:r>
              <a:rPr dirty="0" spc="130"/>
              <a:t>m</a:t>
            </a:r>
            <a:r>
              <a:rPr dirty="0" spc="80"/>
              <a:t>o</a:t>
            </a:r>
            <a:r>
              <a:rPr dirty="0" spc="-70"/>
              <a:t>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417436"/>
            <a:ext cx="6769734" cy="371602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2800" spc="55">
                <a:latin typeface="Microsoft Sans Serif"/>
                <a:cs typeface="Microsoft Sans Serif"/>
              </a:rPr>
              <a:t>void</a:t>
            </a:r>
            <a:r>
              <a:rPr dirty="0" sz="2800" spc="-125">
                <a:latin typeface="Microsoft Sans Serif"/>
                <a:cs typeface="Microsoft Sans Serif"/>
              </a:rPr>
              <a:t> </a:t>
            </a:r>
            <a:r>
              <a:rPr dirty="0" sz="2800" spc="5">
                <a:latin typeface="Microsoft Sans Serif"/>
                <a:cs typeface="Microsoft Sans Serif"/>
              </a:rPr>
              <a:t>main()</a:t>
            </a:r>
            <a:r>
              <a:rPr dirty="0" sz="2800" spc="-130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{</a:t>
            </a:r>
            <a:endParaRPr sz="2800">
              <a:latin typeface="Microsoft Sans Serif"/>
              <a:cs typeface="Microsoft Sans Serif"/>
            </a:endParaRPr>
          </a:p>
          <a:p>
            <a:pPr marL="175895" marR="5080">
              <a:lnSpc>
                <a:spcPct val="123500"/>
              </a:lnSpc>
            </a:pPr>
            <a:r>
              <a:rPr dirty="0" sz="2800" spc="15">
                <a:latin typeface="Microsoft Sans Serif"/>
                <a:cs typeface="Microsoft Sans Serif"/>
              </a:rPr>
              <a:t>var </a:t>
            </a:r>
            <a:r>
              <a:rPr dirty="0" sz="2800" spc="95">
                <a:latin typeface="Microsoft Sans Serif"/>
                <a:cs typeface="Microsoft Sans Serif"/>
              </a:rPr>
              <a:t>list </a:t>
            </a:r>
            <a:r>
              <a:rPr dirty="0" sz="2800" spc="-60">
                <a:latin typeface="Microsoft Sans Serif"/>
                <a:cs typeface="Microsoft Sans Serif"/>
              </a:rPr>
              <a:t>= </a:t>
            </a:r>
            <a:r>
              <a:rPr dirty="0" sz="2800" spc="20">
                <a:latin typeface="Microsoft Sans Serif"/>
                <a:cs typeface="Microsoft Sans Serif"/>
              </a:rPr>
              <a:t>["Ram","Raj","Rani","Ritu"]; </a:t>
            </a:r>
            <a:r>
              <a:rPr dirty="0" sz="2800" spc="25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print("Example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190">
                <a:latin typeface="Microsoft Sans Serif"/>
                <a:cs typeface="Microsoft Sans Serif"/>
              </a:rPr>
              <a:t>of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0">
                <a:latin typeface="Microsoft Sans Serif"/>
                <a:cs typeface="Microsoft Sans Serif"/>
              </a:rPr>
              <a:t>anonymous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80">
                <a:latin typeface="Microsoft Sans Serif"/>
                <a:cs typeface="Microsoft Sans Serif"/>
              </a:rPr>
              <a:t>function");</a:t>
            </a:r>
            <a:endParaRPr sz="2800">
              <a:latin typeface="Microsoft Sans Serif"/>
              <a:cs typeface="Microsoft Sans Serif"/>
            </a:endParaRPr>
          </a:p>
          <a:p>
            <a:pPr marL="506095" marR="606425" indent="-330200">
              <a:lnSpc>
                <a:spcPct val="123500"/>
              </a:lnSpc>
              <a:spcBef>
                <a:spcPts val="5"/>
              </a:spcBef>
            </a:pPr>
            <a:r>
              <a:rPr dirty="0" sz="2800" spc="40">
                <a:latin typeface="Microsoft Sans Serif"/>
                <a:cs typeface="Microsoft Sans Serif"/>
              </a:rPr>
              <a:t>list.forEach((item) </a:t>
            </a:r>
            <a:r>
              <a:rPr dirty="0" sz="2800" spc="-5">
                <a:latin typeface="Microsoft Sans Serif"/>
                <a:cs typeface="Microsoft Sans Serif"/>
              </a:rPr>
              <a:t>{ </a:t>
            </a:r>
            <a:r>
              <a:rPr dirty="0" sz="2800">
                <a:latin typeface="Microsoft Sans Serif"/>
                <a:cs typeface="Microsoft Sans Serif"/>
              </a:rPr>
              <a:t> </a:t>
            </a:r>
            <a:r>
              <a:rPr dirty="0" sz="2800" spc="65">
                <a:latin typeface="Microsoft Sans Serif"/>
                <a:cs typeface="Microsoft Sans Serif"/>
              </a:rPr>
              <a:t>print('${list.indexOf(item)}: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$item');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800" spc="-45">
                <a:latin typeface="Microsoft Sans Serif"/>
                <a:cs typeface="Microsoft Sans Serif"/>
              </a:rPr>
              <a:t>});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800" spc="-5">
                <a:latin typeface="Microsoft Sans Serif"/>
                <a:cs typeface="Microsoft Sans Serif"/>
              </a:rPr>
              <a:t>}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88999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4">
                <a:moveTo>
                  <a:pt x="9143631" y="0"/>
                </a:moveTo>
                <a:lnTo>
                  <a:pt x="0" y="0"/>
                </a:lnTo>
                <a:lnTo>
                  <a:pt x="0" y="216001"/>
                </a:lnTo>
                <a:lnTo>
                  <a:pt x="9143631" y="216001"/>
                </a:lnTo>
                <a:lnTo>
                  <a:pt x="9143631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252361"/>
                </a:moveTo>
                <a:lnTo>
                  <a:pt x="0" y="0"/>
                </a:ln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81821" y="5403999"/>
            <a:ext cx="3868420" cy="9601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23850">
              <a:lnSpc>
                <a:spcPct val="127800"/>
              </a:lnSpc>
              <a:spcBef>
                <a:spcPts val="95"/>
              </a:spcBef>
            </a:pPr>
            <a:r>
              <a:rPr dirty="0" sz="2400" b="1">
                <a:solidFill>
                  <a:srgbClr val="0000FF"/>
                </a:solidFill>
                <a:latin typeface="Courier New"/>
                <a:cs typeface="Courier New"/>
                <a:hlinkClick r:id="rId2"/>
              </a:rPr>
              <a:t>contact@mitu.co.in </a:t>
            </a:r>
            <a:r>
              <a:rPr dirty="0" sz="2400" spc="5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2400" spc="-5" b="1">
                <a:solidFill>
                  <a:srgbClr val="0000FF"/>
                </a:solidFill>
                <a:latin typeface="Courier New"/>
                <a:cs typeface="Courier New"/>
                <a:hlinkClick r:id="rId3"/>
              </a:rPr>
              <a:t>tushar@tusharkute.com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089025"/>
          </a:xfrm>
          <a:prstGeom prst="rect"/>
          <a:solidFill>
            <a:srgbClr val="7E7E7E"/>
          </a:solidFill>
        </p:spPr>
        <p:txBody>
          <a:bodyPr wrap="square" lIns="0" tIns="347980" rIns="0" bIns="0" rtlCol="0" vert="horz">
            <a:spAutoFit/>
          </a:bodyPr>
          <a:lstStyle/>
          <a:p>
            <a:pPr algn="ctr" marR="402590">
              <a:lnSpc>
                <a:spcPct val="100000"/>
              </a:lnSpc>
              <a:spcBef>
                <a:spcPts val="2740"/>
              </a:spcBef>
            </a:pPr>
            <a:r>
              <a:rPr dirty="0" spc="-25"/>
              <a:t>Thank</a:t>
            </a:r>
            <a:r>
              <a:rPr dirty="0" spc="-150"/>
              <a:t> </a:t>
            </a:r>
            <a:r>
              <a:rPr dirty="0" spc="55"/>
              <a:t>you</a:t>
            </a:r>
          </a:p>
        </p:txBody>
      </p:sp>
      <p:sp>
        <p:nvSpPr>
          <p:cNvPr id="6" name="object 6"/>
          <p:cNvSpPr/>
          <p:nvPr/>
        </p:nvSpPr>
        <p:spPr>
          <a:xfrm>
            <a:off x="36360" y="1368005"/>
            <a:ext cx="9000490" cy="432434"/>
          </a:xfrm>
          <a:custGeom>
            <a:avLst/>
            <a:gdLst/>
            <a:ahLst/>
            <a:cxnLst/>
            <a:rect l="l" t="t" r="r" b="b"/>
            <a:pathLst>
              <a:path w="9000490" h="432435">
                <a:moveTo>
                  <a:pt x="8999994" y="0"/>
                </a:moveTo>
                <a:lnTo>
                  <a:pt x="0" y="0"/>
                </a:lnTo>
                <a:lnTo>
                  <a:pt x="0" y="431990"/>
                </a:lnTo>
                <a:lnTo>
                  <a:pt x="4500003" y="431990"/>
                </a:lnTo>
                <a:lnTo>
                  <a:pt x="8999994" y="431990"/>
                </a:lnTo>
                <a:lnTo>
                  <a:pt x="899999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6360" y="1368005"/>
            <a:ext cx="9000490" cy="432434"/>
          </a:xfrm>
          <a:prstGeom prst="rect">
            <a:avLst/>
          </a:prstGeom>
          <a:ln w="3175">
            <a:solidFill>
              <a:srgbClr val="FFD21F"/>
            </a:solidFill>
          </a:ln>
        </p:spPr>
        <p:txBody>
          <a:bodyPr wrap="square" lIns="0" tIns="1092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60"/>
              </a:spcBef>
            </a:pPr>
            <a:r>
              <a:rPr dirty="0" sz="1400" spc="-45" i="1">
                <a:latin typeface="Arial"/>
                <a:cs typeface="Arial"/>
              </a:rPr>
              <a:t>This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spc="10" i="1">
                <a:latin typeface="Arial"/>
                <a:cs typeface="Arial"/>
              </a:rPr>
              <a:t>presentation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45" i="1">
                <a:latin typeface="Arial"/>
                <a:cs typeface="Arial"/>
              </a:rPr>
              <a:t>is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created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25" i="1">
                <a:latin typeface="Arial"/>
                <a:cs typeface="Arial"/>
              </a:rPr>
              <a:t>using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spc="5" i="1">
                <a:latin typeface="Arial"/>
                <a:cs typeface="Arial"/>
              </a:rPr>
              <a:t>LibreOffice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spc="-45" i="1">
                <a:latin typeface="Arial"/>
                <a:cs typeface="Arial"/>
              </a:rPr>
              <a:t>Impress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20" i="1">
                <a:latin typeface="Arial"/>
                <a:cs typeface="Arial"/>
              </a:rPr>
              <a:t>5.1.6.2,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35" i="1">
                <a:latin typeface="Arial"/>
                <a:cs typeface="Arial"/>
              </a:rPr>
              <a:t>can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spc="-30" i="1">
                <a:latin typeface="Arial"/>
                <a:cs typeface="Arial"/>
              </a:rPr>
              <a:t>be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spc="-50" i="1">
                <a:latin typeface="Arial"/>
                <a:cs typeface="Arial"/>
              </a:rPr>
              <a:t>used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15" i="1">
                <a:latin typeface="Arial"/>
                <a:cs typeface="Arial"/>
              </a:rPr>
              <a:t>freely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spc="-70" i="1">
                <a:latin typeface="Arial"/>
                <a:cs typeface="Arial"/>
              </a:rPr>
              <a:t>as</a:t>
            </a:r>
            <a:r>
              <a:rPr dirty="0" sz="1400" spc="-75" i="1">
                <a:latin typeface="Arial"/>
                <a:cs typeface="Arial"/>
              </a:rPr>
              <a:t> </a:t>
            </a:r>
            <a:r>
              <a:rPr dirty="0" sz="1400" spc="-5" i="1">
                <a:latin typeface="Arial"/>
                <a:cs typeface="Arial"/>
              </a:rPr>
              <a:t>per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spc="-100" i="1">
                <a:latin typeface="Arial"/>
                <a:cs typeface="Arial"/>
              </a:rPr>
              <a:t>GNU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30" i="1">
                <a:latin typeface="Arial"/>
                <a:cs typeface="Arial"/>
              </a:rPr>
              <a:t>General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15" i="1">
                <a:latin typeface="Arial"/>
                <a:cs typeface="Arial"/>
              </a:rPr>
              <a:t>Public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spc="-50" i="1">
                <a:latin typeface="Arial"/>
                <a:cs typeface="Arial"/>
              </a:rPr>
              <a:t>License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08363" y="4176001"/>
            <a:ext cx="3384550" cy="1080135"/>
          </a:xfrm>
          <a:custGeom>
            <a:avLst/>
            <a:gdLst/>
            <a:ahLst/>
            <a:cxnLst/>
            <a:rect l="l" t="t" r="r" b="b"/>
            <a:pathLst>
              <a:path w="3384550" h="1080135">
                <a:moveTo>
                  <a:pt x="3383991" y="0"/>
                </a:moveTo>
                <a:lnTo>
                  <a:pt x="0" y="0"/>
                </a:lnTo>
                <a:lnTo>
                  <a:pt x="0" y="1079995"/>
                </a:lnTo>
                <a:lnTo>
                  <a:pt x="1691995" y="1079995"/>
                </a:lnTo>
                <a:lnTo>
                  <a:pt x="3383991" y="1079995"/>
                </a:lnTo>
                <a:lnTo>
                  <a:pt x="3383991" y="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808363" y="4176001"/>
            <a:ext cx="3384550" cy="1080135"/>
          </a:xfrm>
          <a:prstGeom prst="rect">
            <a:avLst/>
          </a:prstGeom>
          <a:ln w="3175">
            <a:solidFill>
              <a:srgbClr val="3364A3"/>
            </a:solidFill>
          </a:ln>
        </p:spPr>
        <p:txBody>
          <a:bodyPr wrap="square" lIns="0" tIns="128270" rIns="0" bIns="0" rtlCol="0" vert="horz">
            <a:spAutoFit/>
          </a:bodyPr>
          <a:lstStyle/>
          <a:p>
            <a:pPr algn="ctr" marL="537845" marR="531495">
              <a:lnSpc>
                <a:spcPct val="100000"/>
              </a:lnSpc>
              <a:spcBef>
                <a:spcPts val="1010"/>
              </a:spcBef>
            </a:pPr>
            <a:r>
              <a:rPr dirty="0" sz="1800" spc="10" b="1">
                <a:latin typeface="Arial"/>
                <a:cs typeface="Arial"/>
              </a:rPr>
              <a:t>Web </a:t>
            </a:r>
            <a:r>
              <a:rPr dirty="0" sz="1800" spc="-40" b="1">
                <a:latin typeface="Arial"/>
                <a:cs typeface="Arial"/>
              </a:rPr>
              <a:t>Resources 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spc="55">
                <a:latin typeface="Microsoft Sans Serif"/>
                <a:cs typeface="Microsoft Sans Serif"/>
              </a:rPr>
              <a:t>https://mitu.co.in </a:t>
            </a:r>
            <a:r>
              <a:rPr dirty="0" sz="1800" spc="60">
                <a:latin typeface="Microsoft Sans Serif"/>
                <a:cs typeface="Microsoft Sans Serif"/>
              </a:rPr>
              <a:t> </a:t>
            </a:r>
            <a:r>
              <a:rPr dirty="0" sz="1800" spc="165">
                <a:latin typeface="Microsoft Sans Serif"/>
                <a:cs typeface="Microsoft Sans Serif"/>
                <a:hlinkClick r:id="rId4"/>
              </a:rPr>
              <a:t>h</a:t>
            </a:r>
            <a:r>
              <a:rPr dirty="0" sz="1800" spc="75">
                <a:latin typeface="Microsoft Sans Serif"/>
                <a:cs typeface="Microsoft Sans Serif"/>
                <a:hlinkClick r:id="rId4"/>
              </a:rPr>
              <a:t>t</a:t>
            </a:r>
            <a:r>
              <a:rPr dirty="0" sz="1800" spc="215">
                <a:latin typeface="Microsoft Sans Serif"/>
                <a:cs typeface="Microsoft Sans Serif"/>
                <a:hlinkClick r:id="rId4"/>
              </a:rPr>
              <a:t>t</a:t>
            </a:r>
            <a:r>
              <a:rPr dirty="0" sz="1800" spc="40">
                <a:latin typeface="Microsoft Sans Serif"/>
                <a:cs typeface="Microsoft Sans Serif"/>
                <a:hlinkClick r:id="rId4"/>
              </a:rPr>
              <a:t>p</a:t>
            </a:r>
            <a:r>
              <a:rPr dirty="0" sz="1800" spc="-55">
                <a:latin typeface="Microsoft Sans Serif"/>
                <a:cs typeface="Microsoft Sans Serif"/>
                <a:hlinkClick r:id="rId4"/>
              </a:rPr>
              <a:t>:</a:t>
            </a:r>
            <a:r>
              <a:rPr dirty="0" sz="1800" spc="185">
                <a:latin typeface="Microsoft Sans Serif"/>
                <a:cs typeface="Microsoft Sans Serif"/>
                <a:hlinkClick r:id="rId4"/>
              </a:rPr>
              <a:t>/</a:t>
            </a:r>
            <a:r>
              <a:rPr dirty="0" sz="1800" spc="195">
                <a:latin typeface="Microsoft Sans Serif"/>
                <a:cs typeface="Microsoft Sans Serif"/>
                <a:hlinkClick r:id="rId4"/>
              </a:rPr>
              <a:t>/</a:t>
            </a:r>
            <a:r>
              <a:rPr dirty="0" sz="1800" spc="215">
                <a:latin typeface="Microsoft Sans Serif"/>
                <a:cs typeface="Microsoft Sans Serif"/>
                <a:hlinkClick r:id="rId4"/>
              </a:rPr>
              <a:t>t</a:t>
            </a:r>
            <a:r>
              <a:rPr dirty="0" sz="1800" spc="25">
                <a:latin typeface="Microsoft Sans Serif"/>
                <a:cs typeface="Microsoft Sans Serif"/>
                <a:hlinkClick r:id="rId4"/>
              </a:rPr>
              <a:t>u</a:t>
            </a:r>
            <a:r>
              <a:rPr dirty="0" sz="1800" spc="-95">
                <a:latin typeface="Microsoft Sans Serif"/>
                <a:cs typeface="Microsoft Sans Serif"/>
                <a:hlinkClick r:id="rId4"/>
              </a:rPr>
              <a:t>s</a:t>
            </a:r>
            <a:r>
              <a:rPr dirty="0" sz="1800" spc="-20">
                <a:latin typeface="Microsoft Sans Serif"/>
                <a:cs typeface="Microsoft Sans Serif"/>
                <a:hlinkClick r:id="rId4"/>
              </a:rPr>
              <a:t>h</a:t>
            </a:r>
            <a:r>
              <a:rPr dirty="0" sz="1800" spc="-30">
                <a:latin typeface="Microsoft Sans Serif"/>
                <a:cs typeface="Microsoft Sans Serif"/>
                <a:hlinkClick r:id="rId4"/>
              </a:rPr>
              <a:t>a</a:t>
            </a:r>
            <a:r>
              <a:rPr dirty="0" sz="1800" spc="95">
                <a:latin typeface="Microsoft Sans Serif"/>
                <a:cs typeface="Microsoft Sans Serif"/>
                <a:hlinkClick r:id="rId4"/>
              </a:rPr>
              <a:t>r</a:t>
            </a:r>
            <a:r>
              <a:rPr dirty="0" sz="1800" spc="30">
                <a:latin typeface="Microsoft Sans Serif"/>
                <a:cs typeface="Microsoft Sans Serif"/>
                <a:hlinkClick r:id="rId4"/>
              </a:rPr>
              <a:t>k</a:t>
            </a:r>
            <a:r>
              <a:rPr dirty="0" sz="1800" spc="30">
                <a:latin typeface="Microsoft Sans Serif"/>
                <a:cs typeface="Microsoft Sans Serif"/>
                <a:hlinkClick r:id="rId4"/>
              </a:rPr>
              <a:t>u</a:t>
            </a:r>
            <a:r>
              <a:rPr dirty="0" sz="1800" spc="215">
                <a:latin typeface="Microsoft Sans Serif"/>
                <a:cs typeface="Microsoft Sans Serif"/>
                <a:hlinkClick r:id="rId4"/>
              </a:rPr>
              <a:t>t</a:t>
            </a:r>
            <a:r>
              <a:rPr dirty="0" sz="1800" spc="5">
                <a:latin typeface="Microsoft Sans Serif"/>
                <a:cs typeface="Microsoft Sans Serif"/>
                <a:hlinkClick r:id="rId4"/>
              </a:rPr>
              <a:t>e</a:t>
            </a:r>
            <a:r>
              <a:rPr dirty="0" sz="1800" spc="-65">
                <a:latin typeface="Microsoft Sans Serif"/>
                <a:cs typeface="Microsoft Sans Serif"/>
                <a:hlinkClick r:id="rId4"/>
              </a:rPr>
              <a:t>.</a:t>
            </a:r>
            <a:r>
              <a:rPr dirty="0" sz="1800" spc="-65">
                <a:latin typeface="Microsoft Sans Serif"/>
                <a:cs typeface="Microsoft Sans Serif"/>
                <a:hlinkClick r:id="rId4"/>
              </a:rPr>
              <a:t>c</a:t>
            </a:r>
            <a:r>
              <a:rPr dirty="0" sz="1800" spc="65">
                <a:latin typeface="Microsoft Sans Serif"/>
                <a:cs typeface="Microsoft Sans Serif"/>
                <a:hlinkClick r:id="rId4"/>
              </a:rPr>
              <a:t>o</a:t>
            </a:r>
            <a:r>
              <a:rPr dirty="0" sz="1800" spc="50">
                <a:latin typeface="Microsoft Sans Serif"/>
                <a:cs typeface="Microsoft Sans Serif"/>
                <a:hlinkClick r:id="rId4"/>
              </a:rPr>
              <a:t>m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9633" y="3161157"/>
            <a:ext cx="1494713" cy="25848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6033" y="2225878"/>
            <a:ext cx="706323" cy="70632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84361" y="2231644"/>
            <a:ext cx="959764" cy="72000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114537" y="3182657"/>
            <a:ext cx="15443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90">
                <a:solidFill>
                  <a:srgbClr val="3C5997"/>
                </a:solidFill>
                <a:latin typeface="Trebuchet MS"/>
                <a:cs typeface="Trebuchet MS"/>
              </a:rPr>
              <a:t>/</a:t>
            </a:r>
            <a:r>
              <a:rPr dirty="0" sz="1400" spc="204">
                <a:solidFill>
                  <a:srgbClr val="3C5997"/>
                </a:solidFill>
                <a:latin typeface="Trebuchet MS"/>
                <a:cs typeface="Trebuchet MS"/>
              </a:rPr>
              <a:t>m</a:t>
            </a:r>
            <a:r>
              <a:rPr dirty="0" sz="1400" spc="25">
                <a:solidFill>
                  <a:srgbClr val="3C5997"/>
                </a:solidFill>
                <a:latin typeface="Trebuchet MS"/>
                <a:cs typeface="Trebuchet MS"/>
              </a:rPr>
              <a:t>I</a:t>
            </a:r>
            <a:r>
              <a:rPr dirty="0" sz="1400" spc="30">
                <a:solidFill>
                  <a:srgbClr val="3C5997"/>
                </a:solidFill>
                <a:latin typeface="Trebuchet MS"/>
                <a:cs typeface="Trebuchet MS"/>
              </a:rPr>
              <a:t>T</a:t>
            </a:r>
            <a:r>
              <a:rPr dirty="0" sz="1400" spc="120">
                <a:solidFill>
                  <a:srgbClr val="3C5997"/>
                </a:solidFill>
                <a:latin typeface="Trebuchet MS"/>
                <a:cs typeface="Trebuchet MS"/>
              </a:rPr>
              <a:t>u</a:t>
            </a:r>
            <a:r>
              <a:rPr dirty="0" sz="1400" spc="215">
                <a:solidFill>
                  <a:srgbClr val="3C5997"/>
                </a:solidFill>
                <a:latin typeface="Trebuchet MS"/>
                <a:cs typeface="Trebuchet MS"/>
              </a:rPr>
              <a:t>S</a:t>
            </a:r>
            <a:r>
              <a:rPr dirty="0" sz="1400" spc="105">
                <a:solidFill>
                  <a:srgbClr val="3C5997"/>
                </a:solidFill>
                <a:latin typeface="Trebuchet MS"/>
                <a:cs typeface="Trebuchet MS"/>
              </a:rPr>
              <a:t>k</a:t>
            </a:r>
            <a:r>
              <a:rPr dirty="0" sz="1400" spc="-15">
                <a:solidFill>
                  <a:srgbClr val="3C5997"/>
                </a:solidFill>
                <a:latin typeface="Trebuchet MS"/>
                <a:cs typeface="Trebuchet MS"/>
              </a:rPr>
              <a:t>i</a:t>
            </a:r>
            <a:r>
              <a:rPr dirty="0" sz="1400" spc="-15">
                <a:solidFill>
                  <a:srgbClr val="3C5997"/>
                </a:solidFill>
                <a:latin typeface="Trebuchet MS"/>
                <a:cs typeface="Trebuchet MS"/>
              </a:rPr>
              <a:t>l</a:t>
            </a:r>
            <a:r>
              <a:rPr dirty="0" sz="1400" spc="-25">
                <a:solidFill>
                  <a:srgbClr val="3C5997"/>
                </a:solidFill>
                <a:latin typeface="Trebuchet MS"/>
                <a:cs typeface="Trebuchet MS"/>
              </a:rPr>
              <a:t>l</a:t>
            </a:r>
            <a:r>
              <a:rPr dirty="0" sz="1400" spc="114">
                <a:solidFill>
                  <a:srgbClr val="3C5997"/>
                </a:solidFill>
                <a:latin typeface="Trebuchet MS"/>
                <a:cs typeface="Trebuchet MS"/>
              </a:rPr>
              <a:t>o</a:t>
            </a:r>
            <a:r>
              <a:rPr dirty="0" sz="1400" spc="-25">
                <a:solidFill>
                  <a:srgbClr val="3C5997"/>
                </a:solidFill>
                <a:latin typeface="Trebuchet MS"/>
                <a:cs typeface="Trebuchet MS"/>
              </a:rPr>
              <a:t>l</a:t>
            </a:r>
            <a:r>
              <a:rPr dirty="0" sz="1400" spc="114">
                <a:solidFill>
                  <a:srgbClr val="3C5997"/>
                </a:solidFill>
                <a:latin typeface="Trebuchet MS"/>
                <a:cs typeface="Trebuchet MS"/>
              </a:rPr>
              <a:t>o</a:t>
            </a:r>
            <a:r>
              <a:rPr dirty="0" sz="1400" spc="175">
                <a:solidFill>
                  <a:srgbClr val="3C5997"/>
                </a:solidFill>
                <a:latin typeface="Trebuchet MS"/>
                <a:cs typeface="Trebuchet MS"/>
              </a:rPr>
              <a:t>g</a:t>
            </a:r>
            <a:r>
              <a:rPr dirty="0" sz="1400" spc="-5">
                <a:solidFill>
                  <a:srgbClr val="3C5997"/>
                </a:solidFill>
                <a:latin typeface="Trebuchet MS"/>
                <a:cs typeface="Trebuchet MS"/>
              </a:rPr>
              <a:t>i</a:t>
            </a:r>
            <a:r>
              <a:rPr dirty="0" sz="1400" spc="90">
                <a:solidFill>
                  <a:srgbClr val="3C5997"/>
                </a:solidFill>
                <a:latin typeface="Trebuchet MS"/>
                <a:cs typeface="Trebuchet MS"/>
              </a:rPr>
              <a:t>e</a:t>
            </a:r>
            <a:r>
              <a:rPr dirty="0" sz="1400" spc="160">
                <a:solidFill>
                  <a:srgbClr val="3C5997"/>
                </a:solidFill>
                <a:latin typeface="Trebuchet MS"/>
                <a:cs typeface="Trebuchet MS"/>
              </a:rPr>
              <a:t>s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84357" y="2188806"/>
            <a:ext cx="791997" cy="79307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023258" y="3129381"/>
            <a:ext cx="12592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45">
                <a:solidFill>
                  <a:srgbClr val="2CA9E0"/>
                </a:solidFill>
                <a:latin typeface="Microsoft Sans Serif"/>
                <a:cs typeface="Microsoft Sans Serif"/>
              </a:rPr>
              <a:t>@m</a:t>
            </a:r>
            <a:r>
              <a:rPr dirty="0" sz="1500" spc="5">
                <a:solidFill>
                  <a:srgbClr val="2CA9E0"/>
                </a:solidFill>
                <a:latin typeface="Microsoft Sans Serif"/>
                <a:cs typeface="Microsoft Sans Serif"/>
              </a:rPr>
              <a:t>i</a:t>
            </a:r>
            <a:r>
              <a:rPr dirty="0" sz="1500" spc="145">
                <a:solidFill>
                  <a:srgbClr val="2CA9E0"/>
                </a:solidFill>
                <a:latin typeface="Microsoft Sans Serif"/>
                <a:cs typeface="Microsoft Sans Serif"/>
              </a:rPr>
              <a:t>t</a:t>
            </a:r>
            <a:r>
              <a:rPr dirty="0" sz="1500" spc="30">
                <a:solidFill>
                  <a:srgbClr val="2CA9E0"/>
                </a:solidFill>
                <a:latin typeface="Microsoft Sans Serif"/>
                <a:cs typeface="Microsoft Sans Serif"/>
              </a:rPr>
              <a:t>u_</a:t>
            </a:r>
            <a:r>
              <a:rPr dirty="0" sz="1500" spc="25">
                <a:solidFill>
                  <a:srgbClr val="2CA9E0"/>
                </a:solidFill>
                <a:latin typeface="Microsoft Sans Serif"/>
                <a:cs typeface="Microsoft Sans Serif"/>
              </a:rPr>
              <a:t>g</a:t>
            </a:r>
            <a:r>
              <a:rPr dirty="0" sz="1500" spc="75">
                <a:solidFill>
                  <a:srgbClr val="2CA9E0"/>
                </a:solidFill>
                <a:latin typeface="Microsoft Sans Serif"/>
                <a:cs typeface="Microsoft Sans Serif"/>
              </a:rPr>
              <a:t>r</a:t>
            </a:r>
            <a:r>
              <a:rPr dirty="0" sz="1500" spc="75">
                <a:solidFill>
                  <a:srgbClr val="2CA9E0"/>
                </a:solidFill>
                <a:latin typeface="Microsoft Sans Serif"/>
                <a:cs typeface="Microsoft Sans Serif"/>
              </a:rPr>
              <a:t>o</a:t>
            </a:r>
            <a:r>
              <a:rPr dirty="0" sz="1500" spc="85">
                <a:solidFill>
                  <a:srgbClr val="2CA9E0"/>
                </a:solidFill>
                <a:latin typeface="Microsoft Sans Serif"/>
                <a:cs typeface="Microsoft Sans Serif"/>
              </a:rPr>
              <a:t>up</a:t>
            </a:r>
            <a:endParaRPr sz="1500">
              <a:latin typeface="Microsoft Sans Serif"/>
              <a:cs typeface="Microsoft Sans Serif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84354" y="2294280"/>
            <a:ext cx="657364" cy="65736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951054" y="3357981"/>
            <a:ext cx="10071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solidFill>
                  <a:srgbClr val="2CA9E0"/>
                </a:solidFill>
                <a:latin typeface="Microsoft Sans Serif"/>
                <a:cs typeface="Microsoft Sans Serif"/>
              </a:rPr>
              <a:t>skillologies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17425" y="3129381"/>
            <a:ext cx="32067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11960" algn="l"/>
              </a:tabLst>
            </a:pPr>
            <a:r>
              <a:rPr dirty="0" sz="1500" spc="85">
                <a:solidFill>
                  <a:srgbClr val="2CA9E0"/>
                </a:solidFill>
                <a:latin typeface="Microsoft Sans Serif"/>
                <a:cs typeface="Microsoft Sans Serif"/>
              </a:rPr>
              <a:t>/company/mitu-	</a:t>
            </a:r>
            <a:r>
              <a:rPr dirty="0" baseline="3703" sz="2250" spc="37">
                <a:solidFill>
                  <a:srgbClr val="FF3333"/>
                </a:solidFill>
                <a:latin typeface="Microsoft Sans Serif"/>
                <a:cs typeface="Microsoft Sans Serif"/>
              </a:rPr>
              <a:t>MITUSkillologies</a:t>
            </a:r>
            <a:endParaRPr baseline="3703" sz="2250">
              <a:latin typeface="Microsoft Sans Serif"/>
              <a:cs typeface="Microsoft Sans Serif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740357" y="2268359"/>
            <a:ext cx="1120317" cy="6112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Presentation Magazine</dc:creator>
  <dc:title>Formal Powerpoint presentation</dc:title>
  <dcterms:created xsi:type="dcterms:W3CDTF">2024-08-27T02:03:33Z</dcterms:created>
  <dcterms:modified xsi:type="dcterms:W3CDTF">2024-08-27T02:03:33Z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2022-04-05T00:00:00Z</vt:filetime>
  </property>
  <property fmtid="{D5CDD505-2E9C-101B-9397-08002B2CF9AE}" pid="3" name="Creator">
    <vt:lpwstr>Impress</vt:lpwstr>
  </property>
  <property fmtid="{D5CDD505-2E9C-101B-9397-08002B2CF9AE}" pid="4" name="LastSaved">
    <vt:filetime>2022-04-05T00:00:00Z</vt:filetime>
  </property>
</Properties>
</file>