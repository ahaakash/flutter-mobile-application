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rgbClr val="24579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24579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24579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937228" y="2461779"/>
            <a:ext cx="8846819" cy="7564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24579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6142" y="354199"/>
            <a:ext cx="16605320" cy="1661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rgbClr val="24579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88755" y="3327930"/>
            <a:ext cx="12926588" cy="6068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.png"/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6142" y="354199"/>
            <a:ext cx="16605320" cy="1657985"/>
          </a:xfrm>
          <a:prstGeom prst="rect">
            <a:avLst/>
          </a:prstGeom>
        </p:spPr>
        <p:txBody>
          <a:bodyPr vert="horz" wrap="square" lIns="0" tIns="596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000000"/>
                </a:solidFill>
              </a:rPr>
              <a:t>Mobile</a:t>
            </a:r>
            <a:r>
              <a:rPr spc="-5" dirty="0">
                <a:solidFill>
                  <a:srgbClr val="000000"/>
                </a:solidFill>
              </a:rPr>
              <a:t>  </a:t>
            </a:r>
            <a:r>
              <a:rPr dirty="0">
                <a:solidFill>
                  <a:srgbClr val="000000"/>
                </a:solidFill>
              </a:rPr>
              <a:t>Application </a:t>
            </a:r>
            <a:r>
              <a:rPr spc="-10" dirty="0">
                <a:solidFill>
                  <a:srgbClr val="000000"/>
                </a:solidFill>
              </a:rPr>
              <a:t>Development</a:t>
            </a:r>
            <a:endParaRPr spc="-10" dirty="0">
              <a:solidFill>
                <a:srgbClr val="00000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86678" y="3214142"/>
            <a:ext cx="1482677" cy="148267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69980" y="10829273"/>
            <a:ext cx="153670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2018665" y="5510490"/>
            <a:ext cx="16262985" cy="38779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Presented By: </a:t>
            </a:r>
            <a:endParaRPr lang="en-US" sz="48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en-US" sz="48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5400" b="1" dirty="0">
                <a:solidFill>
                  <a:schemeClr val="tx1"/>
                </a:solidFill>
                <a:latin typeface="Georgia" panose="02040502050405020303" pitchFamily="18" charset="0"/>
              </a:rPr>
              <a:t>Rakib Hossen </a:t>
            </a:r>
            <a:endParaRPr lang="en-US" sz="5400" b="1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Assistant Professor</a:t>
            </a:r>
            <a:endParaRPr lang="en-US" sz="48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Dept. of Cyber Security Engineering (</a:t>
            </a:r>
            <a:r>
              <a:rPr lang="en-US" sz="4800" dirty="0" err="1">
                <a:solidFill>
                  <a:schemeClr val="tx1"/>
                </a:solidFill>
                <a:latin typeface="Georgia" panose="02040502050405020303" pitchFamily="18" charset="0"/>
              </a:rPr>
              <a:t>CySE</a:t>
            </a: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), </a:t>
            </a:r>
            <a:r>
              <a:rPr lang="en-US" sz="4800" dirty="0" smtClean="0">
                <a:solidFill>
                  <a:schemeClr val="tx1"/>
                </a:solidFill>
                <a:latin typeface="Georgia" panose="02040502050405020303" pitchFamily="18" charset="0"/>
              </a:rPr>
              <a:t>UFTB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7176" y="0"/>
              <a:ext cx="6971096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87195">
              <a:lnSpc>
                <a:spcPct val="100000"/>
              </a:lnSpc>
              <a:spcBef>
                <a:spcPts val="125"/>
              </a:spcBef>
            </a:pPr>
            <a:r>
              <a:rPr dirty="0"/>
              <a:t>Dart</a:t>
            </a:r>
            <a:r>
              <a:rPr spc="5" dirty="0"/>
              <a:t> </a:t>
            </a:r>
            <a:r>
              <a:rPr spc="-10" dirty="0"/>
              <a:t>Function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1076272" y="2382200"/>
            <a:ext cx="17950815" cy="81680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85"/>
              </a:spcBef>
            </a:pPr>
            <a:r>
              <a:rPr sz="4450" dirty="0">
                <a:latin typeface="Times New Roman" panose="02020603050405020304"/>
                <a:cs typeface="Times New Roman" panose="02020603050405020304"/>
              </a:rPr>
              <a:t>Dart</a:t>
            </a:r>
            <a:r>
              <a:rPr sz="4450" spc="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445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445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445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set</a:t>
            </a:r>
            <a:r>
              <a:rPr sz="4450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445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codes</a:t>
            </a:r>
            <a:r>
              <a:rPr sz="4450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445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together</a:t>
            </a:r>
            <a:r>
              <a:rPr sz="445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perform</a:t>
            </a:r>
            <a:r>
              <a:rPr sz="445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445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specific</a:t>
            </a:r>
            <a:r>
              <a:rPr sz="4450" spc="2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task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.</a:t>
            </a:r>
            <a:r>
              <a:rPr sz="445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445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445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20" dirty="0">
                <a:latin typeface="Times New Roman" panose="02020603050405020304"/>
                <a:cs typeface="Times New Roman" panose="02020603050405020304"/>
              </a:rPr>
              <a:t>used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4450" spc="5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break</a:t>
            </a:r>
            <a:r>
              <a:rPr sz="4450" spc="4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spc="5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large</a:t>
            </a:r>
            <a:r>
              <a:rPr sz="4450" spc="4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4450" spc="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4450" spc="4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smaller</a:t>
            </a:r>
            <a:r>
              <a:rPr sz="4450" spc="4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modules</a:t>
            </a:r>
            <a:r>
              <a:rPr sz="4450" spc="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450" spc="4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reuse</a:t>
            </a:r>
            <a:r>
              <a:rPr sz="4450" spc="5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4450" spc="5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4450" spc="4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needed.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Functions</a:t>
            </a:r>
            <a:r>
              <a:rPr sz="445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make</a:t>
            </a:r>
            <a:r>
              <a:rPr sz="445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445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445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readable</a:t>
            </a:r>
            <a:r>
              <a:rPr sz="4450" spc="6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450" spc="6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easy</a:t>
            </a:r>
            <a:r>
              <a:rPr sz="4450" spc="7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4450" spc="6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debug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.</a:t>
            </a:r>
            <a:r>
              <a:rPr sz="445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445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improves</a:t>
            </a:r>
            <a:r>
              <a:rPr sz="445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modular</a:t>
            </a:r>
            <a:r>
              <a:rPr sz="44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approach</a:t>
            </a:r>
            <a:r>
              <a:rPr sz="44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4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enhances</a:t>
            </a:r>
            <a:r>
              <a:rPr sz="44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44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reusability.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577215" indent="-564515">
              <a:lnSpc>
                <a:spcPct val="100000"/>
              </a:lnSpc>
              <a:spcBef>
                <a:spcPts val="5"/>
              </a:spcBef>
              <a:buSzPct val="89000"/>
              <a:buFont typeface="Wingdings" panose="05000000000000000000"/>
              <a:buChar char=""/>
              <a:tabLst>
                <a:tab pos="577215" algn="l"/>
              </a:tabLst>
            </a:pPr>
            <a:r>
              <a:rPr sz="4450" dirty="0">
                <a:latin typeface="Times New Roman" panose="02020603050405020304"/>
                <a:cs typeface="Times New Roman" panose="02020603050405020304"/>
              </a:rPr>
              <a:t>Advantages</a:t>
            </a:r>
            <a:r>
              <a:rPr sz="44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44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Functions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577850" indent="-565150">
              <a:lnSpc>
                <a:spcPct val="100000"/>
              </a:lnSpc>
              <a:buSzPct val="89000"/>
              <a:buFont typeface="Arial MT"/>
              <a:buChar char="•"/>
              <a:tabLst>
                <a:tab pos="577850" algn="l"/>
              </a:tabLst>
            </a:pPr>
            <a:r>
              <a:rPr sz="445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44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increases</a:t>
            </a:r>
            <a:r>
              <a:rPr sz="44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module</a:t>
            </a:r>
            <a:r>
              <a:rPr sz="4450" spc="-3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approach</a:t>
            </a:r>
            <a:r>
              <a:rPr sz="4450" spc="-3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44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solve</a:t>
            </a:r>
            <a:r>
              <a:rPr sz="44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problems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577850" indent="-565150">
              <a:lnSpc>
                <a:spcPct val="100000"/>
              </a:lnSpc>
              <a:spcBef>
                <a:spcPts val="25"/>
              </a:spcBef>
              <a:buSzPct val="89000"/>
              <a:buFont typeface="Arial MT"/>
              <a:buChar char="•"/>
              <a:tabLst>
                <a:tab pos="577850" algn="l"/>
              </a:tabLst>
            </a:pPr>
            <a:r>
              <a:rPr sz="445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44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enhances</a:t>
            </a:r>
            <a:r>
              <a:rPr sz="44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25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re-</a:t>
            </a:r>
            <a:r>
              <a:rPr sz="44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usability</a:t>
            </a:r>
            <a:r>
              <a:rPr sz="4450" spc="-35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44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program.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577850" indent="-565150">
              <a:lnSpc>
                <a:spcPts val="5310"/>
              </a:lnSpc>
              <a:spcBef>
                <a:spcPts val="20"/>
              </a:spcBef>
              <a:buSzPct val="89000"/>
              <a:buFont typeface="Arial MT"/>
              <a:buChar char="•"/>
              <a:tabLst>
                <a:tab pos="577850" algn="l"/>
              </a:tabLst>
            </a:pPr>
            <a:r>
              <a:rPr sz="4450" dirty="0"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44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44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do</a:t>
            </a:r>
            <a:r>
              <a:rPr sz="44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coupling</a:t>
            </a:r>
            <a:r>
              <a:rPr sz="44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44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 programs.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577850" indent="-565150">
              <a:lnSpc>
                <a:spcPts val="5310"/>
              </a:lnSpc>
              <a:buSzPct val="89000"/>
              <a:buFont typeface="Arial MT"/>
              <a:buChar char="•"/>
              <a:tabLst>
                <a:tab pos="577850" algn="l"/>
              </a:tabLst>
            </a:pPr>
            <a:r>
              <a:rPr sz="445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44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optimizes</a:t>
            </a:r>
            <a:r>
              <a:rPr sz="4450" spc="-4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code.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577850" indent="-565150">
              <a:lnSpc>
                <a:spcPct val="100000"/>
              </a:lnSpc>
              <a:spcBef>
                <a:spcPts val="25"/>
              </a:spcBef>
              <a:buSzPct val="89000"/>
              <a:buFont typeface="Arial MT"/>
              <a:buChar char="•"/>
              <a:tabLst>
                <a:tab pos="577850" algn="l"/>
              </a:tabLst>
            </a:pPr>
            <a:r>
              <a:rPr sz="445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44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makes</a:t>
            </a:r>
            <a:r>
              <a:rPr sz="44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debugging</a:t>
            </a:r>
            <a:r>
              <a:rPr sz="4450" spc="-2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easier.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577850" indent="-565150">
              <a:lnSpc>
                <a:spcPct val="100000"/>
              </a:lnSpc>
              <a:buSzPct val="89000"/>
              <a:buFont typeface="Arial MT"/>
              <a:buChar char="•"/>
              <a:tabLst>
                <a:tab pos="577850" algn="l"/>
              </a:tabLst>
            </a:pPr>
            <a:r>
              <a:rPr sz="445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44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makes</a:t>
            </a:r>
            <a:r>
              <a:rPr sz="44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development</a:t>
            </a:r>
            <a:r>
              <a:rPr sz="44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easy</a:t>
            </a:r>
            <a:r>
              <a:rPr sz="44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4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creates</a:t>
            </a:r>
            <a:r>
              <a:rPr sz="44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less</a:t>
            </a:r>
            <a:r>
              <a:rPr sz="4450" spc="-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complexity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445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8781" y="0"/>
              <a:ext cx="8438695" cy="21938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54" rIns="0" bIns="0" rtlCol="0">
            <a:spAutoFit/>
          </a:bodyPr>
          <a:lstStyle/>
          <a:p>
            <a:pPr marL="495300">
              <a:lnSpc>
                <a:spcPct val="100000"/>
              </a:lnSpc>
              <a:spcBef>
                <a:spcPts val="115"/>
              </a:spcBef>
            </a:pPr>
            <a:r>
              <a:rPr sz="6250" dirty="0"/>
              <a:t>Defining</a:t>
            </a:r>
            <a:r>
              <a:rPr sz="6250" spc="-30" dirty="0"/>
              <a:t> </a:t>
            </a:r>
            <a:r>
              <a:rPr sz="6250" dirty="0"/>
              <a:t>a</a:t>
            </a:r>
            <a:r>
              <a:rPr sz="6250" spc="-15" dirty="0"/>
              <a:t> </a:t>
            </a:r>
            <a:r>
              <a:rPr sz="6250" spc="-10" dirty="0"/>
              <a:t>Function</a:t>
            </a:r>
            <a:endParaRPr sz="6250"/>
          </a:p>
        </p:txBody>
      </p:sp>
      <p:sp>
        <p:nvSpPr>
          <p:cNvPr id="7" name="object 7"/>
          <p:cNvSpPr txBox="1"/>
          <p:nvPr/>
        </p:nvSpPr>
        <p:spPr>
          <a:xfrm>
            <a:off x="1076272" y="2753289"/>
            <a:ext cx="9237345" cy="743902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 algn="just">
              <a:lnSpc>
                <a:spcPts val="4450"/>
              </a:lnSpc>
              <a:spcBef>
                <a:spcPts val="660"/>
              </a:spcBef>
            </a:pPr>
            <a:r>
              <a:rPr sz="41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4100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410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41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41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defined</a:t>
            </a:r>
            <a:r>
              <a:rPr sz="410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410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providing</a:t>
            </a:r>
            <a:r>
              <a:rPr sz="410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0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name</a:t>
            </a:r>
            <a:r>
              <a:rPr sz="4100" spc="6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4100" spc="6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100" spc="6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4100" spc="6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4100" spc="6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100" spc="6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00" spc="-10" dirty="0">
                <a:latin typeface="Times New Roman" panose="02020603050405020304"/>
                <a:cs typeface="Times New Roman" panose="02020603050405020304"/>
              </a:rPr>
              <a:t>appropriate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parameter</a:t>
            </a:r>
            <a:r>
              <a:rPr sz="4100" spc="50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100" spc="509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4100" spc="509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type.</a:t>
            </a:r>
            <a:r>
              <a:rPr sz="4100" spc="509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4100" spc="509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100" spc="-10" dirty="0">
                <a:latin typeface="Times New Roman" panose="02020603050405020304"/>
                <a:cs typeface="Times New Roman" panose="02020603050405020304"/>
              </a:rPr>
              <a:t>function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contains</a:t>
            </a:r>
            <a:r>
              <a:rPr sz="4100" spc="33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4100" spc="34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set</a:t>
            </a:r>
            <a:r>
              <a:rPr sz="4100" spc="34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4100" spc="33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statements</a:t>
            </a:r>
            <a:r>
              <a:rPr sz="4100" spc="34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which</a:t>
            </a:r>
            <a:r>
              <a:rPr sz="4100" spc="33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100" spc="-25" dirty="0">
                <a:latin typeface="Times New Roman" panose="02020603050405020304"/>
                <a:cs typeface="Times New Roman" panose="02020603050405020304"/>
              </a:rPr>
              <a:t>are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called</a:t>
            </a:r>
            <a:r>
              <a:rPr sz="41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0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4100" spc="-10" dirty="0">
                <a:latin typeface="Times New Roman" panose="02020603050405020304"/>
                <a:cs typeface="Times New Roman" panose="02020603050405020304"/>
              </a:rPr>
              <a:t> body.</a:t>
            </a:r>
            <a:endParaRPr sz="41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660"/>
              </a:spcBef>
            </a:pPr>
            <a:endParaRPr sz="41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4685"/>
              </a:lnSpc>
            </a:pPr>
            <a:r>
              <a:rPr sz="4100" spc="-10" dirty="0">
                <a:latin typeface="Times New Roman" panose="02020603050405020304"/>
                <a:cs typeface="Times New Roman" panose="02020603050405020304"/>
              </a:rPr>
              <a:t>Syntax:</a:t>
            </a:r>
            <a:endParaRPr sz="41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4450"/>
              </a:lnSpc>
            </a:pPr>
            <a:r>
              <a:rPr sz="41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return_type</a:t>
            </a:r>
            <a:r>
              <a:rPr sz="410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func_name</a:t>
            </a:r>
            <a:r>
              <a:rPr sz="41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(parameter_list):</a:t>
            </a:r>
            <a:endParaRPr sz="41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4450"/>
              </a:lnSpc>
            </a:pPr>
            <a:r>
              <a:rPr sz="4100" spc="-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sz="4100">
              <a:latin typeface="Times New Roman" panose="02020603050405020304"/>
              <a:cs typeface="Times New Roman" panose="02020603050405020304"/>
            </a:endParaRPr>
          </a:p>
          <a:p>
            <a:pPr marL="405130" marR="5842000" indent="130810">
              <a:lnSpc>
                <a:spcPts val="4450"/>
              </a:lnSpc>
              <a:spcBef>
                <a:spcPts val="310"/>
              </a:spcBef>
            </a:pPr>
            <a:r>
              <a:rPr sz="41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//statement(s) </a:t>
            </a:r>
            <a:r>
              <a:rPr sz="41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41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value;</a:t>
            </a:r>
            <a:endParaRPr sz="41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4385"/>
              </a:lnSpc>
            </a:pPr>
            <a:r>
              <a:rPr sz="4100" spc="-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endParaRPr sz="41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625719" y="2710568"/>
            <a:ext cx="9201150" cy="7752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general syntax of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defining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function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389255" marR="5080">
              <a:lnSpc>
                <a:spcPct val="130000"/>
              </a:lnSpc>
              <a:spcBef>
                <a:spcPts val="2960"/>
              </a:spcBef>
            </a:pPr>
            <a:r>
              <a:rPr sz="3600" b="1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return_type</a:t>
            </a:r>
            <a:r>
              <a:rPr sz="3600" b="1" spc="-2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3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3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3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3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3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type</a:t>
            </a:r>
            <a:r>
              <a:rPr sz="3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3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3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void,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integer,</a:t>
            </a:r>
            <a:r>
              <a:rPr sz="33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float,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etc.</a:t>
            </a:r>
            <a:r>
              <a:rPr sz="33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33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type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must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matched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returned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value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function.</a:t>
            </a:r>
            <a:r>
              <a:rPr sz="3300" spc="8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func_name</a:t>
            </a:r>
            <a:r>
              <a:rPr sz="3600" b="1" spc="-25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3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should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appropriate</a:t>
            </a:r>
            <a:r>
              <a:rPr sz="33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valid identifier.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389255">
              <a:lnSpc>
                <a:spcPct val="100000"/>
              </a:lnSpc>
              <a:spcBef>
                <a:spcPts val="1265"/>
              </a:spcBef>
            </a:pPr>
            <a:r>
              <a:rPr sz="3600" b="1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parameter_list</a:t>
            </a:r>
            <a:r>
              <a:rPr sz="3600" b="1" spc="-2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3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3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denotes</a:t>
            </a:r>
            <a:r>
              <a:rPr sz="3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list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-25" dirty="0">
                <a:latin typeface="Times New Roman" panose="02020603050405020304"/>
                <a:cs typeface="Times New Roman" panose="02020603050405020304"/>
              </a:rPr>
              <a:t>the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389255" marR="612140">
              <a:lnSpc>
                <a:spcPct val="131000"/>
              </a:lnSpc>
              <a:spcBef>
                <a:spcPts val="35"/>
              </a:spcBef>
            </a:pPr>
            <a:r>
              <a:rPr sz="3300" dirty="0">
                <a:latin typeface="Times New Roman" panose="02020603050405020304"/>
                <a:cs typeface="Times New Roman" panose="02020603050405020304"/>
              </a:rPr>
              <a:t>parameters,</a:t>
            </a:r>
            <a:r>
              <a:rPr sz="33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which</a:t>
            </a:r>
            <a:r>
              <a:rPr sz="33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3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necessary</a:t>
            </a:r>
            <a:r>
              <a:rPr sz="33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33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33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called</a:t>
            </a:r>
            <a:r>
              <a:rPr sz="3300" spc="-50" dirty="0">
                <a:latin typeface="Times New Roman" panose="02020603050405020304"/>
                <a:cs typeface="Times New Roman" panose="02020603050405020304"/>
              </a:rPr>
              <a:t> a 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function.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389255" marR="727710">
              <a:lnSpc>
                <a:spcPct val="129000"/>
              </a:lnSpc>
              <a:spcBef>
                <a:spcPts val="40"/>
              </a:spcBef>
            </a:pPr>
            <a:r>
              <a:rPr sz="3600" b="1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3600" b="1" spc="-25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value</a:t>
            </a:r>
            <a:r>
              <a:rPr sz="3600" b="1" spc="-3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3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3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returns</a:t>
            </a:r>
            <a:r>
              <a:rPr sz="3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3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value</a:t>
            </a:r>
            <a:r>
              <a:rPr sz="3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after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complete</a:t>
            </a:r>
            <a:r>
              <a:rPr sz="3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its</a:t>
            </a:r>
            <a:r>
              <a:rPr sz="3300" spc="-10" dirty="0">
                <a:latin typeface="Times New Roman" panose="02020603050405020304"/>
                <a:cs typeface="Times New Roman" panose="02020603050405020304"/>
              </a:rPr>
              <a:t> execution.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8781" y="0"/>
              <a:ext cx="7951171" cy="21938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54" rIns="0" bIns="0" rtlCol="0">
            <a:spAutoFit/>
          </a:bodyPr>
          <a:lstStyle/>
          <a:p>
            <a:pPr marL="495300">
              <a:lnSpc>
                <a:spcPct val="100000"/>
              </a:lnSpc>
              <a:spcBef>
                <a:spcPts val="115"/>
              </a:spcBef>
            </a:pPr>
            <a:r>
              <a:rPr sz="6250" dirty="0"/>
              <a:t>Calling</a:t>
            </a:r>
            <a:r>
              <a:rPr sz="6250" spc="-15" dirty="0"/>
              <a:t> </a:t>
            </a:r>
            <a:r>
              <a:rPr sz="6250" dirty="0"/>
              <a:t>a</a:t>
            </a:r>
            <a:r>
              <a:rPr sz="6250" spc="-15" dirty="0"/>
              <a:t> </a:t>
            </a:r>
            <a:r>
              <a:rPr sz="6250" spc="-10" dirty="0"/>
              <a:t>Function</a:t>
            </a:r>
            <a:endParaRPr sz="6250"/>
          </a:p>
        </p:txBody>
      </p:sp>
      <p:sp>
        <p:nvSpPr>
          <p:cNvPr id="7" name="object 7"/>
          <p:cNvSpPr txBox="1"/>
          <p:nvPr/>
        </p:nvSpPr>
        <p:spPr>
          <a:xfrm>
            <a:off x="1076272" y="2814439"/>
            <a:ext cx="9237345" cy="54565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sz="3950" dirty="0">
                <a:latin typeface="Times New Roman" panose="02020603050405020304"/>
                <a:cs typeface="Times New Roman" panose="02020603050405020304"/>
              </a:rPr>
              <a:t>After</a:t>
            </a:r>
            <a:r>
              <a:rPr sz="3950" spc="16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creating</a:t>
            </a:r>
            <a:r>
              <a:rPr sz="3950" spc="17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950" spc="17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function,</a:t>
            </a:r>
            <a:r>
              <a:rPr sz="3950" spc="17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3950" spc="17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3950" spc="17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call</a:t>
            </a:r>
            <a:r>
              <a:rPr sz="3950" spc="17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spc="-2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invoke</a:t>
            </a:r>
            <a:r>
              <a:rPr sz="395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95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defined</a:t>
            </a:r>
            <a:r>
              <a:rPr sz="395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395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inside</a:t>
            </a:r>
            <a:r>
              <a:rPr sz="395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95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main()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395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body.</a:t>
            </a:r>
            <a:r>
              <a:rPr sz="3950" spc="3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95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395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950" spc="3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invoked</a:t>
            </a:r>
            <a:r>
              <a:rPr sz="395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simply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its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name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parameter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list, if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spc="-20" dirty="0">
                <a:latin typeface="Times New Roman" panose="02020603050405020304"/>
                <a:cs typeface="Times New Roman" panose="02020603050405020304"/>
              </a:rPr>
              <a:t>any.</a:t>
            </a:r>
            <a:endParaRPr sz="3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3950">
              <a:latin typeface="Times New Roman" panose="02020603050405020304"/>
              <a:cs typeface="Times New Roman" panose="02020603050405020304"/>
            </a:endParaRPr>
          </a:p>
          <a:p>
            <a:pPr marL="12700" marR="3400425">
              <a:lnSpc>
                <a:spcPct val="101000"/>
              </a:lnSpc>
            </a:pP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Syntax: </a:t>
            </a:r>
            <a:r>
              <a:rPr sz="395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fun_name(&lt;argument_list&gt;); </a:t>
            </a:r>
            <a:r>
              <a:rPr sz="3950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endParaRPr sz="3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4690"/>
              </a:lnSpc>
            </a:pPr>
            <a:r>
              <a:rPr sz="39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variable</a:t>
            </a:r>
            <a:r>
              <a:rPr sz="395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3950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function_name(argument);</a:t>
            </a:r>
            <a:endParaRPr sz="395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625719" y="2816114"/>
            <a:ext cx="7856220" cy="50063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void</a:t>
            </a:r>
            <a:r>
              <a:rPr sz="3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main(){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394460" marR="3723005" indent="-1036955">
              <a:lnSpc>
                <a:spcPts val="4370"/>
              </a:lnSpc>
              <a:spcBef>
                <a:spcPts val="140"/>
              </a:spcBef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int sum(int</a:t>
            </a:r>
            <a:r>
              <a:rPr sz="3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a, int</a:t>
            </a:r>
            <a:r>
              <a:rPr sz="3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b){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3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result;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result</a:t>
            </a:r>
            <a:r>
              <a:rPr sz="3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3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a+b;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 result;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4150"/>
              </a:lnSpc>
            </a:pP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var</a:t>
            </a:r>
            <a:r>
              <a:rPr sz="3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3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sum(30,20);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print("The</a:t>
            </a:r>
            <a:r>
              <a:rPr sz="3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sum of</a:t>
            </a:r>
            <a:r>
              <a:rPr sz="3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two numbers is: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${c}");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2352675"/>
            <a:chOff x="0" y="0"/>
            <a:chExt cx="20104100" cy="235267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2870" y="0"/>
              <a:ext cx="17857466" cy="21938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33"/>
              <a:ext cx="20104098" cy="20348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54" rIns="0" bIns="0" rtlCol="0">
            <a:spAutoFit/>
          </a:bodyPr>
          <a:lstStyle/>
          <a:p>
            <a:pPr marL="320040">
              <a:lnSpc>
                <a:spcPct val="100000"/>
              </a:lnSpc>
              <a:spcBef>
                <a:spcPts val="115"/>
              </a:spcBef>
            </a:pPr>
            <a:r>
              <a:rPr sz="6250" dirty="0"/>
              <a:t>Function</a:t>
            </a:r>
            <a:r>
              <a:rPr sz="6250" spc="-35" dirty="0"/>
              <a:t> </a:t>
            </a:r>
            <a:r>
              <a:rPr sz="6250" dirty="0"/>
              <a:t>with</a:t>
            </a:r>
            <a:r>
              <a:rPr sz="6250" spc="-35" dirty="0"/>
              <a:t> </a:t>
            </a:r>
            <a:r>
              <a:rPr sz="6250" dirty="0"/>
              <a:t>No</a:t>
            </a:r>
            <a:r>
              <a:rPr sz="6250" spc="-30" dirty="0"/>
              <a:t> </a:t>
            </a:r>
            <a:r>
              <a:rPr sz="6250" dirty="0"/>
              <a:t>Parameter</a:t>
            </a:r>
            <a:r>
              <a:rPr sz="6250" spc="-35" dirty="0"/>
              <a:t> </a:t>
            </a:r>
            <a:r>
              <a:rPr sz="6250" dirty="0"/>
              <a:t>and</a:t>
            </a:r>
            <a:r>
              <a:rPr sz="6250" spc="-30" dirty="0"/>
              <a:t> </a:t>
            </a:r>
            <a:r>
              <a:rPr sz="6250" dirty="0"/>
              <a:t>Return</a:t>
            </a:r>
            <a:r>
              <a:rPr sz="6250" spc="-35" dirty="0"/>
              <a:t> </a:t>
            </a:r>
            <a:r>
              <a:rPr sz="6250" spc="-20" dirty="0"/>
              <a:t>Value</a:t>
            </a:r>
            <a:endParaRPr sz="6250"/>
          </a:p>
        </p:txBody>
      </p:sp>
      <p:sp>
        <p:nvSpPr>
          <p:cNvPr id="7" name="object 7"/>
          <p:cNvSpPr txBox="1"/>
          <p:nvPr/>
        </p:nvSpPr>
        <p:spPr>
          <a:xfrm>
            <a:off x="8403273" y="4176491"/>
            <a:ext cx="1910714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function</a:t>
            </a:r>
            <a:endParaRPr sz="4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6272" y="2814438"/>
            <a:ext cx="9237345" cy="606615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80"/>
              </a:spcBef>
            </a:pPr>
            <a:r>
              <a:rPr sz="445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4450" spc="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4450" spc="3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discussed</a:t>
            </a:r>
            <a:r>
              <a:rPr sz="4450" spc="3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earlier,</a:t>
            </a:r>
            <a:r>
              <a:rPr sz="445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parameters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4450" spc="8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optional</a:t>
            </a:r>
            <a:r>
              <a:rPr sz="4450" spc="9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4450" spc="9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pass</a:t>
            </a:r>
            <a:r>
              <a:rPr sz="4450" spc="9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while</a:t>
            </a:r>
            <a:r>
              <a:rPr sz="4450" spc="9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defining</a:t>
            </a:r>
            <a:r>
              <a:rPr sz="4450" spc="9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spc="-5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function.</a:t>
            </a:r>
            <a:r>
              <a:rPr sz="4450" spc="53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4450" spc="54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4450" spc="54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create</a:t>
            </a:r>
            <a:r>
              <a:rPr sz="4450" spc="54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450" spc="-60" dirty="0">
                <a:latin typeface="Times New Roman" panose="02020603050405020304"/>
                <a:cs typeface="Times New Roman" panose="02020603050405020304"/>
              </a:rPr>
              <a:t>a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20"/>
              </a:spcBef>
            </a:pPr>
            <a:r>
              <a:rPr sz="4450" dirty="0">
                <a:latin typeface="Times New Roman" panose="02020603050405020304"/>
                <a:cs typeface="Times New Roman" panose="02020603050405020304"/>
              </a:rPr>
              <a:t>without</a:t>
            </a:r>
            <a:r>
              <a:rPr sz="44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parameter</a:t>
            </a:r>
            <a:r>
              <a:rPr sz="44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44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value.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4305"/>
              </a:lnSpc>
              <a:spcBef>
                <a:spcPts val="45"/>
              </a:spcBef>
            </a:pP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Syntax: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4305"/>
              </a:lnSpc>
            </a:pPr>
            <a:r>
              <a:rPr sz="36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return_type</a:t>
            </a:r>
            <a:r>
              <a:rPr sz="3600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func_name()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3600" spc="-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818515" marR="5697220">
              <a:lnSpc>
                <a:spcPct val="101000"/>
              </a:lnSpc>
              <a:spcBef>
                <a:spcPts val="5"/>
              </a:spcBef>
            </a:pPr>
            <a:r>
              <a:rPr sz="36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//Statement(s); </a:t>
            </a:r>
            <a:r>
              <a:rPr sz="36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36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value;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3600" spc="-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625719" y="2814439"/>
            <a:ext cx="262699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dirty="0">
                <a:latin typeface="Times New Roman" panose="02020603050405020304"/>
                <a:cs typeface="Times New Roman" panose="02020603050405020304"/>
              </a:rPr>
              <a:t>void 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main(){</a:t>
            </a:r>
            <a:endParaRPr sz="3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25719" y="4030736"/>
            <a:ext cx="8165465" cy="3644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4715"/>
              </a:lnSpc>
              <a:spcBef>
                <a:spcPts val="105"/>
              </a:spcBef>
            </a:pPr>
            <a:r>
              <a:rPr sz="3950" dirty="0">
                <a:latin typeface="Times New Roman" panose="02020603050405020304"/>
                <a:cs typeface="Times New Roman" panose="02020603050405020304"/>
              </a:rPr>
              <a:t>String</a:t>
            </a:r>
            <a:r>
              <a:rPr sz="39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greetings(){</a:t>
            </a:r>
            <a:endParaRPr sz="3950">
              <a:latin typeface="Times New Roman" panose="02020603050405020304"/>
              <a:cs typeface="Times New Roman" panose="02020603050405020304"/>
            </a:endParaRPr>
          </a:p>
          <a:p>
            <a:pPr marL="389255">
              <a:lnSpc>
                <a:spcPts val="4715"/>
              </a:lnSpc>
            </a:pPr>
            <a:r>
              <a:rPr sz="395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39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"Welcome</a:t>
            </a:r>
            <a:r>
              <a:rPr sz="39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9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BDU";</a:t>
            </a:r>
            <a:endParaRPr sz="3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4715"/>
              </a:lnSpc>
              <a:spcBef>
                <a:spcPts val="50"/>
              </a:spcBef>
            </a:pPr>
            <a:r>
              <a:rPr sz="395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395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4790"/>
              </a:lnSpc>
              <a:spcBef>
                <a:spcPts val="90"/>
              </a:spcBef>
            </a:pPr>
            <a:r>
              <a:rPr sz="3950" dirty="0">
                <a:latin typeface="Times New Roman" panose="02020603050405020304"/>
                <a:cs typeface="Times New Roman" panose="02020603050405020304"/>
              </a:rPr>
              <a:t>//</a:t>
            </a:r>
            <a:r>
              <a:rPr sz="39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Calling</a:t>
            </a:r>
            <a:r>
              <a:rPr sz="39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39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inside</a:t>
            </a:r>
            <a:r>
              <a:rPr sz="39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print</a:t>
            </a:r>
            <a:r>
              <a:rPr sz="39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statement </a:t>
            </a:r>
            <a:r>
              <a:rPr sz="395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print(greetings());</a:t>
            </a:r>
            <a:endParaRPr sz="3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4620"/>
              </a:lnSpc>
            </a:pPr>
            <a:r>
              <a:rPr sz="395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39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2352675"/>
            <a:chOff x="0" y="0"/>
            <a:chExt cx="20104100" cy="235267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2870" y="0"/>
              <a:ext cx="17857466" cy="21938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33"/>
              <a:ext cx="20104098" cy="20348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54" rIns="0" bIns="0" rtlCol="0">
            <a:spAutoFit/>
          </a:bodyPr>
          <a:lstStyle/>
          <a:p>
            <a:pPr marL="320040">
              <a:lnSpc>
                <a:spcPct val="100000"/>
              </a:lnSpc>
              <a:spcBef>
                <a:spcPts val="115"/>
              </a:spcBef>
            </a:pPr>
            <a:r>
              <a:rPr sz="6250" dirty="0"/>
              <a:t>Function</a:t>
            </a:r>
            <a:r>
              <a:rPr sz="6250" spc="-35" dirty="0"/>
              <a:t> </a:t>
            </a:r>
            <a:r>
              <a:rPr sz="6250" dirty="0"/>
              <a:t>with</a:t>
            </a:r>
            <a:r>
              <a:rPr sz="6250" spc="-35" dirty="0"/>
              <a:t> </a:t>
            </a:r>
            <a:r>
              <a:rPr sz="6250" dirty="0"/>
              <a:t>No</a:t>
            </a:r>
            <a:r>
              <a:rPr sz="6250" spc="-30" dirty="0"/>
              <a:t> </a:t>
            </a:r>
            <a:r>
              <a:rPr sz="6250" dirty="0"/>
              <a:t>Parameter</a:t>
            </a:r>
            <a:r>
              <a:rPr sz="6250" spc="-35" dirty="0"/>
              <a:t> </a:t>
            </a:r>
            <a:r>
              <a:rPr sz="6250" dirty="0"/>
              <a:t>and</a:t>
            </a:r>
            <a:r>
              <a:rPr sz="6250" spc="-30" dirty="0"/>
              <a:t> </a:t>
            </a:r>
            <a:r>
              <a:rPr sz="6250" dirty="0"/>
              <a:t>Return</a:t>
            </a:r>
            <a:r>
              <a:rPr sz="6250" spc="-35" dirty="0"/>
              <a:t> </a:t>
            </a:r>
            <a:r>
              <a:rPr sz="6250" spc="-20" dirty="0"/>
              <a:t>Value</a:t>
            </a:r>
            <a:endParaRPr sz="6250"/>
          </a:p>
        </p:txBody>
      </p:sp>
      <p:sp>
        <p:nvSpPr>
          <p:cNvPr id="7" name="object 7"/>
          <p:cNvSpPr txBox="1"/>
          <p:nvPr/>
        </p:nvSpPr>
        <p:spPr>
          <a:xfrm>
            <a:off x="1076272" y="5830053"/>
            <a:ext cx="8154670" cy="184531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60"/>
              </a:spcBef>
            </a:pPr>
            <a:r>
              <a:rPr sz="3950" dirty="0"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3950" spc="6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3950" spc="6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creating</a:t>
            </a:r>
            <a:r>
              <a:rPr sz="3950" spc="6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950" spc="6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3950" spc="6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950" spc="6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find</a:t>
            </a:r>
            <a:r>
              <a:rPr sz="3950" spc="6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given</a:t>
            </a:r>
            <a:r>
              <a:rPr sz="3950" spc="27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3950" spc="28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950" spc="28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even</a:t>
            </a:r>
            <a:r>
              <a:rPr sz="3950" spc="28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3950" spc="28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odd.</a:t>
            </a:r>
            <a:r>
              <a:rPr sz="3950" spc="28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Let's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understand</a:t>
            </a:r>
            <a:r>
              <a:rPr sz="39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9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following</a:t>
            </a:r>
            <a:r>
              <a:rPr sz="39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example.</a:t>
            </a:r>
            <a:endParaRPr sz="395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625719" y="2816114"/>
            <a:ext cx="3957320" cy="16865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void</a:t>
            </a:r>
            <a:r>
              <a:rPr sz="3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main()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42570">
              <a:lnSpc>
                <a:spcPct val="100000"/>
              </a:lnSpc>
              <a:spcBef>
                <a:spcPts val="50"/>
              </a:spcBef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void</a:t>
            </a:r>
            <a:r>
              <a:rPr sz="3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number(int 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n){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92696" y="5035104"/>
            <a:ext cx="7412355" cy="33426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4305"/>
              </a:lnSpc>
              <a:spcBef>
                <a:spcPts val="125"/>
              </a:spcBef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if (n%2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==0){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934085">
              <a:lnSpc>
                <a:spcPts val="4305"/>
              </a:lnSpc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print("The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given number</a:t>
            </a:r>
            <a:r>
              <a:rPr sz="3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even");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42570">
              <a:lnSpc>
                <a:spcPct val="100000"/>
              </a:lnSpc>
              <a:spcBef>
                <a:spcPts val="35"/>
              </a:spcBef>
            </a:pP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else 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818515">
              <a:lnSpc>
                <a:spcPct val="100000"/>
              </a:lnSpc>
              <a:spcBef>
                <a:spcPts val="55"/>
              </a:spcBef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print("The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given number</a:t>
            </a:r>
            <a:r>
              <a:rPr sz="3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odd");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635">
              <a:lnSpc>
                <a:spcPct val="100000"/>
              </a:lnSpc>
              <a:spcBef>
                <a:spcPts val="55"/>
              </a:spcBef>
            </a:pP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25719" y="8344741"/>
            <a:ext cx="2673350" cy="16865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358140">
              <a:lnSpc>
                <a:spcPct val="100000"/>
              </a:lnSpc>
              <a:spcBef>
                <a:spcPts val="35"/>
              </a:spcBef>
            </a:pPr>
            <a:r>
              <a:rPr sz="36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number(20);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2352675"/>
            <a:chOff x="0" y="0"/>
            <a:chExt cx="20104100" cy="235267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4015" y="0"/>
              <a:ext cx="10780823" cy="21938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33"/>
              <a:ext cx="20104098" cy="20348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54" rIns="0" bIns="0" rtlCol="0">
            <a:spAutoFit/>
          </a:bodyPr>
          <a:lstStyle/>
          <a:p>
            <a:pPr marL="541020">
              <a:lnSpc>
                <a:spcPct val="100000"/>
              </a:lnSpc>
              <a:spcBef>
                <a:spcPts val="115"/>
              </a:spcBef>
            </a:pPr>
            <a:r>
              <a:rPr sz="6250" dirty="0"/>
              <a:t>Dart</a:t>
            </a:r>
            <a:r>
              <a:rPr sz="6250" spc="-35" dirty="0"/>
              <a:t> </a:t>
            </a:r>
            <a:r>
              <a:rPr sz="6250" dirty="0"/>
              <a:t>Anonymous</a:t>
            </a:r>
            <a:r>
              <a:rPr sz="6250" spc="-30" dirty="0"/>
              <a:t> </a:t>
            </a:r>
            <a:r>
              <a:rPr sz="6250" spc="-10" dirty="0"/>
              <a:t>Function</a:t>
            </a:r>
            <a:endParaRPr sz="6250"/>
          </a:p>
        </p:txBody>
      </p:sp>
      <p:sp>
        <p:nvSpPr>
          <p:cNvPr id="7" name="object 7"/>
          <p:cNvSpPr txBox="1"/>
          <p:nvPr/>
        </p:nvSpPr>
        <p:spPr>
          <a:xfrm>
            <a:off x="382576" y="2814439"/>
            <a:ext cx="9507855" cy="726820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85"/>
              </a:spcBef>
            </a:pPr>
            <a:r>
              <a:rPr sz="3950" dirty="0">
                <a:latin typeface="Times New Roman" panose="02020603050405020304"/>
                <a:cs typeface="Times New Roman" panose="02020603050405020304"/>
              </a:rPr>
              <a:t>Dart</a:t>
            </a:r>
            <a:r>
              <a:rPr sz="3950" spc="9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also</a:t>
            </a:r>
            <a:r>
              <a:rPr sz="3950" spc="10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3950" spc="9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950" spc="10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facility</a:t>
            </a:r>
            <a:r>
              <a:rPr sz="3950" spc="10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950" spc="10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specify</a:t>
            </a:r>
            <a:r>
              <a:rPr sz="3950" spc="10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spc="-5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nameless</a:t>
            </a:r>
            <a:r>
              <a:rPr sz="395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395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3950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3950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without</a:t>
            </a:r>
            <a:r>
              <a:rPr sz="3950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950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name.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3950" spc="540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type</a:t>
            </a:r>
            <a:r>
              <a:rPr sz="3950" spc="545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950" spc="540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3950" spc="545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950" spc="540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known</a:t>
            </a:r>
            <a:r>
              <a:rPr sz="3950" spc="545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3950" spc="-25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395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b="1" dirty="0">
                <a:latin typeface="Times New Roman" panose="02020603050405020304"/>
                <a:cs typeface="Times New Roman" panose="02020603050405020304"/>
              </a:rPr>
              <a:t>anonymous</a:t>
            </a:r>
            <a:r>
              <a:rPr sz="3950" b="1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b="1" dirty="0">
                <a:latin typeface="Times New Roman" panose="02020603050405020304"/>
                <a:cs typeface="Times New Roman" panose="02020603050405020304"/>
              </a:rPr>
              <a:t>function,</a:t>
            </a:r>
            <a:r>
              <a:rPr sz="3950" b="1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b="1" dirty="0">
                <a:latin typeface="Times New Roman" panose="02020603050405020304"/>
                <a:cs typeface="Times New Roman" panose="02020603050405020304"/>
              </a:rPr>
              <a:t>lambda,</a:t>
            </a:r>
            <a:r>
              <a:rPr sz="3950" b="1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b="1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3950" b="1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b="1" spc="-10" dirty="0">
                <a:latin typeface="Times New Roman" panose="02020603050405020304"/>
                <a:cs typeface="Times New Roman" panose="02020603050405020304"/>
              </a:rPr>
              <a:t>closure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.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395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anonymous</a:t>
            </a:r>
            <a:r>
              <a:rPr sz="395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395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behaves</a:t>
            </a:r>
            <a:r>
              <a:rPr sz="395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95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same</a:t>
            </a:r>
            <a:r>
              <a:rPr sz="395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395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spc="-5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regular</a:t>
            </a:r>
            <a:r>
              <a:rPr sz="3950" spc="4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function,</a:t>
            </a:r>
            <a:r>
              <a:rPr sz="3950" spc="4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but</a:t>
            </a:r>
            <a:r>
              <a:rPr sz="3950" spc="4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3950" spc="4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does</a:t>
            </a:r>
            <a:r>
              <a:rPr sz="3950" spc="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3950" spc="4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have</a:t>
            </a:r>
            <a:r>
              <a:rPr sz="3950" spc="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950" spc="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spc="-20" dirty="0">
                <a:latin typeface="Times New Roman" panose="02020603050405020304"/>
                <a:cs typeface="Times New Roman" panose="02020603050405020304"/>
              </a:rPr>
              <a:t>name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950" spc="9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it.</a:t>
            </a:r>
            <a:r>
              <a:rPr sz="3950" spc="9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3950" spc="9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3950" spc="9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have</a:t>
            </a:r>
            <a:r>
              <a:rPr sz="3950" spc="9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zero</a:t>
            </a:r>
            <a:r>
              <a:rPr sz="3950" spc="98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3950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3950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9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number  </a:t>
            </a:r>
            <a:r>
              <a:rPr sz="3950" spc="-2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39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arguments</a:t>
            </a:r>
            <a:r>
              <a:rPr sz="395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9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39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optional</a:t>
            </a:r>
            <a:r>
              <a:rPr sz="39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dirty="0">
                <a:latin typeface="Times New Roman" panose="02020603050405020304"/>
                <a:cs typeface="Times New Roman" panose="02020603050405020304"/>
              </a:rPr>
              <a:t>type</a:t>
            </a:r>
            <a:r>
              <a:rPr sz="39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annotation.</a:t>
            </a:r>
            <a:endParaRPr sz="3950">
              <a:latin typeface="Times New Roman" panose="02020603050405020304"/>
              <a:cs typeface="Times New Roman" panose="02020603050405020304"/>
            </a:endParaRPr>
          </a:p>
          <a:p>
            <a:pPr marL="263525" marR="5659120" indent="-251460" algn="just">
              <a:lnSpc>
                <a:spcPts val="4790"/>
              </a:lnSpc>
              <a:spcBef>
                <a:spcPts val="70"/>
              </a:spcBef>
            </a:pP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Syntax: </a:t>
            </a:r>
            <a:r>
              <a:rPr sz="39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(parameter_list)</a:t>
            </a:r>
            <a:r>
              <a:rPr sz="3950" spc="-6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50" spc="-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sz="3950">
              <a:latin typeface="Times New Roman" panose="02020603050405020304"/>
              <a:cs typeface="Times New Roman" panose="02020603050405020304"/>
            </a:endParaRPr>
          </a:p>
          <a:p>
            <a:pPr marL="1520190">
              <a:lnSpc>
                <a:spcPts val="4520"/>
              </a:lnSpc>
            </a:pPr>
            <a:r>
              <a:rPr sz="395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statement(s)</a:t>
            </a:r>
            <a:endParaRPr sz="3950">
              <a:latin typeface="Times New Roman" panose="02020603050405020304"/>
              <a:cs typeface="Times New Roman" panose="02020603050405020304"/>
            </a:endParaRPr>
          </a:p>
          <a:p>
            <a:pPr marL="389255">
              <a:lnSpc>
                <a:spcPct val="100000"/>
              </a:lnSpc>
              <a:spcBef>
                <a:spcPts val="50"/>
              </a:spcBef>
            </a:pPr>
            <a:r>
              <a:rPr sz="3950" spc="-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endParaRPr sz="395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625719" y="2814438"/>
            <a:ext cx="9192895" cy="477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dirty="0">
                <a:latin typeface="Times New Roman" panose="02020603050405020304"/>
                <a:cs typeface="Times New Roman" panose="02020603050405020304"/>
              </a:rPr>
              <a:t>void</a:t>
            </a:r>
            <a:r>
              <a:rPr sz="44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main()</a:t>
            </a:r>
            <a:r>
              <a:rPr sz="44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295275">
              <a:lnSpc>
                <a:spcPct val="100000"/>
              </a:lnSpc>
              <a:spcBef>
                <a:spcPts val="25"/>
              </a:spcBef>
            </a:pPr>
            <a:r>
              <a:rPr sz="4450" dirty="0">
                <a:latin typeface="Times New Roman" panose="02020603050405020304"/>
                <a:cs typeface="Times New Roman" panose="02020603050405020304"/>
              </a:rPr>
              <a:t>var</a:t>
            </a:r>
            <a:r>
              <a:rPr sz="44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list</a:t>
            </a:r>
            <a:r>
              <a:rPr sz="44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44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["James","Patrick","Mathew"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,"Tom"];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12700" marR="5080" indent="282575">
              <a:lnSpc>
                <a:spcPts val="5260"/>
              </a:lnSpc>
              <a:spcBef>
                <a:spcPts val="265"/>
              </a:spcBef>
            </a:pPr>
            <a:r>
              <a:rPr sz="4450" dirty="0">
                <a:latin typeface="Times New Roman" panose="02020603050405020304"/>
                <a:cs typeface="Times New Roman" panose="02020603050405020304"/>
              </a:rPr>
              <a:t>print("Example</a:t>
            </a:r>
            <a:r>
              <a:rPr sz="44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44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anonymous</a:t>
            </a:r>
            <a:r>
              <a:rPr sz="44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function </a:t>
            </a:r>
            <a:r>
              <a:rPr sz="4450" spc="-25" dirty="0">
                <a:latin typeface="Times New Roman" panose="02020603050405020304"/>
                <a:cs typeface="Times New Roman" panose="02020603050405020304"/>
              </a:rPr>
              <a:t>");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860425" marR="38735" indent="-565785">
              <a:lnSpc>
                <a:spcPts val="5360"/>
              </a:lnSpc>
            </a:pPr>
            <a:r>
              <a:rPr sz="44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list.forEach((item)</a:t>
            </a:r>
            <a:r>
              <a:rPr sz="4450" spc="-22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{ </a:t>
            </a:r>
            <a:r>
              <a:rPr sz="445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print('${list.indexOf(item)}:</a:t>
            </a:r>
            <a:r>
              <a:rPr sz="4450" spc="-5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$item');</a:t>
            </a:r>
            <a:endParaRPr sz="4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25719" y="8250084"/>
            <a:ext cx="641985" cy="1372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300"/>
              </a:lnSpc>
              <a:spcBef>
                <a:spcPts val="100"/>
              </a:spcBef>
            </a:pPr>
            <a:r>
              <a:rPr sz="4450" spc="-25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});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5300"/>
              </a:lnSpc>
            </a:pPr>
            <a:r>
              <a:rPr sz="445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44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3414" y="0"/>
              <a:ext cx="9270503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The main()</a:t>
            </a:r>
            <a:r>
              <a:rPr spc="5" dirty="0"/>
              <a:t> </a:t>
            </a:r>
            <a:r>
              <a:rPr spc="-10" dirty="0"/>
              <a:t>function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217659" y="2450052"/>
            <a:ext cx="10166985" cy="81603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1805" marR="5080" indent="-459740">
              <a:lnSpc>
                <a:spcPct val="150000"/>
              </a:lnSpc>
              <a:spcBef>
                <a:spcPts val="100"/>
              </a:spcBef>
              <a:buClr>
                <a:srgbClr val="245796"/>
              </a:buClr>
              <a:buSzPct val="92000"/>
              <a:buFont typeface="Georgia" panose="02040502050405020303"/>
              <a:buChar char="●"/>
              <a:tabLst>
                <a:tab pos="473075" algn="l"/>
                <a:tab pos="1818005" algn="l"/>
                <a:tab pos="3792220" algn="l"/>
                <a:tab pos="6142990" algn="l"/>
                <a:tab pos="6985000" algn="l"/>
                <a:tab pos="8143240" algn="l"/>
              </a:tabLst>
            </a:pPr>
            <a:r>
              <a:rPr sz="4450" spc="-2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main()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2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2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top-level </a:t>
            </a:r>
            <a:r>
              <a:rPr sz="445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44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44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Dart.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471805" marR="5080" indent="-459740">
              <a:lnSpc>
                <a:spcPts val="8070"/>
              </a:lnSpc>
              <a:spcBef>
                <a:spcPts val="645"/>
              </a:spcBef>
              <a:buClr>
                <a:srgbClr val="245796"/>
              </a:buClr>
              <a:buSzPct val="92000"/>
              <a:buFont typeface="Georgia" panose="02040502050405020303"/>
              <a:buChar char="●"/>
              <a:tabLst>
                <a:tab pos="473075" algn="l"/>
              </a:tabLst>
            </a:pPr>
            <a:r>
              <a:rPr sz="445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4450" spc="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445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most</a:t>
            </a:r>
            <a:r>
              <a:rPr sz="445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important</a:t>
            </a:r>
            <a:r>
              <a:rPr sz="4450" spc="265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450" spc="265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vital</a:t>
            </a:r>
            <a:r>
              <a:rPr sz="4450" spc="265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function </a:t>
            </a:r>
            <a:r>
              <a:rPr sz="445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44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Dart</a:t>
            </a:r>
            <a:r>
              <a:rPr sz="44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programming</a:t>
            </a:r>
            <a:r>
              <a:rPr sz="44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language.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472440" indent="-459740">
              <a:lnSpc>
                <a:spcPct val="100000"/>
              </a:lnSpc>
              <a:spcBef>
                <a:spcPts val="1935"/>
              </a:spcBef>
              <a:buClr>
                <a:srgbClr val="245796"/>
              </a:buClr>
              <a:buSzPct val="92000"/>
              <a:buFont typeface="Georgia" panose="02040502050405020303"/>
              <a:buChar char="●"/>
              <a:tabLst>
                <a:tab pos="472440" algn="l"/>
                <a:tab pos="1586230" algn="l"/>
                <a:tab pos="4017645" algn="l"/>
                <a:tab pos="4723130" algn="l"/>
                <a:tab pos="5647690" algn="l"/>
                <a:tab pos="8959850" algn="l"/>
              </a:tabLst>
            </a:pPr>
            <a:r>
              <a:rPr sz="4450" spc="-2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execution</a:t>
            </a:r>
            <a:r>
              <a:rPr sz="44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2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2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programming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starts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473075">
              <a:lnSpc>
                <a:spcPct val="100000"/>
              </a:lnSpc>
              <a:spcBef>
                <a:spcPts val="2675"/>
              </a:spcBef>
            </a:pPr>
            <a:r>
              <a:rPr sz="445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44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main()</a:t>
            </a:r>
            <a:r>
              <a:rPr sz="4450" spc="-3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4450">
              <a:latin typeface="Times New Roman" panose="02020603050405020304"/>
              <a:cs typeface="Times New Roman" panose="02020603050405020304"/>
            </a:endParaRPr>
          </a:p>
          <a:p>
            <a:pPr marL="471805" marR="5080" indent="-459740">
              <a:lnSpc>
                <a:spcPct val="150000"/>
              </a:lnSpc>
              <a:buClr>
                <a:srgbClr val="245796"/>
              </a:buClr>
              <a:buSzPct val="92000"/>
              <a:buFont typeface="Georgia" panose="02040502050405020303"/>
              <a:buChar char="●"/>
              <a:tabLst>
                <a:tab pos="473075" algn="l"/>
                <a:tab pos="1693545" algn="l"/>
                <a:tab pos="3542665" algn="l"/>
                <a:tab pos="5768975" algn="l"/>
                <a:tab pos="6895465" algn="l"/>
                <a:tab pos="7770495" algn="l"/>
                <a:tab pos="9148445" algn="l"/>
              </a:tabLst>
            </a:pPr>
            <a:r>
              <a:rPr sz="4450" spc="-2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main()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25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2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2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spc="-20" dirty="0">
                <a:latin typeface="Times New Roman" panose="02020603050405020304"/>
                <a:cs typeface="Times New Roman" panose="02020603050405020304"/>
              </a:rPr>
              <a:t>only </a:t>
            </a:r>
            <a:r>
              <a:rPr sz="4450" spc="-2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4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once</a:t>
            </a:r>
            <a:r>
              <a:rPr sz="4450" spc="-15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50" dirty="0">
                <a:latin typeface="Times New Roman" panose="02020603050405020304"/>
                <a:cs typeface="Times New Roman" panose="02020603050405020304"/>
              </a:rPr>
              <a:t>in a </a:t>
            </a:r>
            <a:r>
              <a:rPr sz="445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445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445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329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5"/>
              </a:spcBef>
            </a:pPr>
            <a:r>
              <a:rPr dirty="0"/>
              <a:t>void</a:t>
            </a:r>
            <a:r>
              <a:rPr spc="-20" dirty="0"/>
              <a:t> </a:t>
            </a:r>
            <a:r>
              <a:rPr dirty="0"/>
              <a:t>main()</a:t>
            </a:r>
            <a:r>
              <a:rPr spc="-10" dirty="0"/>
              <a:t> </a:t>
            </a:r>
            <a:r>
              <a:rPr spc="-50" dirty="0">
                <a:solidFill>
                  <a:srgbClr val="000000"/>
                </a:solidFill>
              </a:rPr>
              <a:t>{</a:t>
            </a:r>
            <a:endParaRPr spc="-50" dirty="0">
              <a:solidFill>
                <a:srgbClr val="000000"/>
              </a:solidFill>
            </a:endParaRPr>
          </a:p>
          <a:p>
            <a:pPr marL="1059180" marR="4344035" indent="-785495">
              <a:lnSpc>
                <a:spcPct val="151000"/>
              </a:lnSpc>
            </a:pPr>
            <a:r>
              <a:rPr dirty="0">
                <a:solidFill>
                  <a:srgbClr val="000000"/>
                </a:solidFill>
              </a:rPr>
              <a:t>int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mul(int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a,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int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b){ </a:t>
            </a:r>
            <a:r>
              <a:rPr dirty="0">
                <a:solidFill>
                  <a:srgbClr val="000000"/>
                </a:solidFill>
              </a:rPr>
              <a:t>int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=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a*b; </a:t>
            </a:r>
            <a:r>
              <a:rPr dirty="0">
                <a:solidFill>
                  <a:srgbClr val="000000"/>
                </a:solidFill>
              </a:rPr>
              <a:t>return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c;</a:t>
            </a:r>
            <a:endParaRPr spc="-25" dirty="0">
              <a:solidFill>
                <a:srgbClr val="000000"/>
              </a:solidFill>
            </a:endParaRPr>
          </a:p>
          <a:p>
            <a:pPr marL="12700">
              <a:lnSpc>
                <a:spcPct val="100000"/>
              </a:lnSpc>
              <a:spcBef>
                <a:spcPts val="2500"/>
              </a:spcBef>
            </a:pPr>
            <a:r>
              <a:rPr spc="-50" dirty="0">
                <a:solidFill>
                  <a:srgbClr val="000000"/>
                </a:solidFill>
              </a:rPr>
              <a:t>}</a:t>
            </a:r>
            <a:endParaRPr spc="-50" dirty="0">
              <a:solidFill>
                <a:srgbClr val="000000"/>
              </a:solidFill>
            </a:endParaRPr>
          </a:p>
          <a:p>
            <a:pPr marL="12700">
              <a:lnSpc>
                <a:spcPct val="100000"/>
              </a:lnSpc>
              <a:spcBef>
                <a:spcPts val="2500"/>
              </a:spcBef>
            </a:pPr>
            <a:r>
              <a:rPr dirty="0">
                <a:solidFill>
                  <a:srgbClr val="000000"/>
                </a:solidFill>
              </a:rPr>
              <a:t>print("The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multiplication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two</a:t>
            </a:r>
            <a:r>
              <a:rPr spc="-10" dirty="0">
                <a:solidFill>
                  <a:srgbClr val="000000"/>
                </a:solidFill>
              </a:rPr>
              <a:t> numbers:</a:t>
            </a:r>
            <a:endParaRPr spc="-10" dirty="0">
              <a:solidFill>
                <a:srgbClr val="000000"/>
              </a:solidFill>
            </a:endParaRPr>
          </a:p>
          <a:p>
            <a:pPr marL="143510">
              <a:lnSpc>
                <a:spcPct val="100000"/>
              </a:lnSpc>
              <a:spcBef>
                <a:spcPts val="2500"/>
              </a:spcBef>
            </a:pPr>
            <a:r>
              <a:rPr spc="-10" dirty="0">
                <a:solidFill>
                  <a:srgbClr val="000000"/>
                </a:solidFill>
              </a:rPr>
              <a:t>${mul(10,20)}");</a:t>
            </a:r>
            <a:endParaRPr spc="-10" dirty="0">
              <a:solidFill>
                <a:srgbClr val="000000"/>
              </a:solidFill>
            </a:endParaRPr>
          </a:p>
          <a:p>
            <a:pPr marL="12700">
              <a:lnSpc>
                <a:spcPct val="100000"/>
              </a:lnSpc>
              <a:spcBef>
                <a:spcPts val="2500"/>
              </a:spcBef>
            </a:pPr>
            <a:r>
              <a:rPr spc="-50" dirty="0">
                <a:solidFill>
                  <a:srgbClr val="000000"/>
                </a:solidFill>
              </a:rPr>
              <a:t>}</a:t>
            </a:r>
            <a:endParaRPr spc="-5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3414" y="0"/>
              <a:ext cx="9267990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Function</a:t>
            </a:r>
            <a:r>
              <a:rPr spc="-15" dirty="0"/>
              <a:t> </a:t>
            </a:r>
            <a:r>
              <a:rPr spc="-10" dirty="0"/>
              <a:t>Recursion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1076272" y="2451726"/>
            <a:ext cx="9450070" cy="7399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1805" marR="5715" indent="-459740" algn="just">
              <a:lnSpc>
                <a:spcPct val="150000"/>
              </a:lnSpc>
              <a:spcBef>
                <a:spcPts val="95"/>
              </a:spcBef>
              <a:buSzPct val="89000"/>
              <a:buFont typeface="Georgia" panose="02040502050405020303"/>
              <a:buChar char="●"/>
              <a:tabLst>
                <a:tab pos="473075" algn="l"/>
              </a:tabLst>
            </a:pP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Dart</a:t>
            </a:r>
            <a:r>
              <a:rPr sz="4600" spc="13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Recursion</a:t>
            </a:r>
            <a:r>
              <a:rPr sz="4600" spc="13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4600" spc="13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600" spc="14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method</a:t>
            </a:r>
            <a:r>
              <a:rPr sz="4600" spc="13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where</a:t>
            </a:r>
            <a:r>
              <a:rPr sz="4600" spc="14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spc="-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4600" spc="-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4600" spc="-3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calls</a:t>
            </a:r>
            <a:r>
              <a:rPr sz="4600" spc="-2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itself</a:t>
            </a:r>
            <a:r>
              <a:rPr sz="4600" spc="-15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4600" spc="-15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its</a:t>
            </a:r>
            <a:r>
              <a:rPr sz="4600" spc="-15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subroutine</a:t>
            </a:r>
            <a:r>
              <a:rPr sz="4600" spc="-1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sz="4600">
              <a:latin typeface="Times New Roman" panose="02020603050405020304"/>
              <a:cs typeface="Times New Roman" panose="02020603050405020304"/>
            </a:endParaRPr>
          </a:p>
          <a:p>
            <a:pPr marL="471805" marR="5080" indent="-459740" algn="just">
              <a:lnSpc>
                <a:spcPct val="151000"/>
              </a:lnSpc>
              <a:spcBef>
                <a:spcPts val="15"/>
              </a:spcBef>
              <a:buSzPct val="89000"/>
              <a:buFont typeface="Georgia" panose="02040502050405020303"/>
              <a:buChar char="●"/>
              <a:tabLst>
                <a:tab pos="473075" algn="l"/>
              </a:tabLst>
            </a:pP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4600" spc="62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4600" spc="62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4600" spc="63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4600" spc="62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solve</a:t>
            </a:r>
            <a:r>
              <a:rPr sz="4600" spc="62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4600" spc="62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600" spc="-1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complex </a:t>
            </a:r>
            <a:r>
              <a:rPr sz="4600" spc="-1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4600" spc="-2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by dividing</a:t>
            </a:r>
            <a:r>
              <a:rPr sz="4600" spc="-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4600" spc="-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into </a:t>
            </a:r>
            <a:r>
              <a:rPr sz="460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sub-part.</a:t>
            </a:r>
            <a:endParaRPr sz="4600">
              <a:latin typeface="Times New Roman" panose="02020603050405020304"/>
              <a:cs typeface="Times New Roman" panose="02020603050405020304"/>
            </a:endParaRPr>
          </a:p>
          <a:p>
            <a:pPr marL="471805" marR="5080" indent="-459740" algn="just">
              <a:lnSpc>
                <a:spcPct val="150000"/>
              </a:lnSpc>
              <a:spcBef>
                <a:spcPts val="40"/>
              </a:spcBef>
              <a:buSzPct val="89000"/>
              <a:buFont typeface="Georgia" panose="02040502050405020303"/>
              <a:buChar char="●"/>
              <a:tabLst>
                <a:tab pos="473075" algn="l"/>
              </a:tabLst>
            </a:pP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4600" spc="4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4600" spc="4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which</a:t>
            </a:r>
            <a:r>
              <a:rPr sz="4600" spc="4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4600" spc="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called</a:t>
            </a:r>
            <a:r>
              <a:rPr sz="4600" spc="4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itself</a:t>
            </a:r>
            <a:r>
              <a:rPr sz="4600" spc="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again </a:t>
            </a:r>
            <a:r>
              <a:rPr sz="460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600" spc="22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again</a:t>
            </a:r>
            <a:r>
              <a:rPr sz="4600" spc="22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4600" spc="22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recursively,</a:t>
            </a:r>
            <a:r>
              <a:rPr sz="4600" spc="229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then</a:t>
            </a:r>
            <a:r>
              <a:rPr sz="4600" spc="22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600" spc="-2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this </a:t>
            </a:r>
            <a:r>
              <a:rPr sz="4600" spc="-2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4600" spc="-2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4600" spc="-1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called</a:t>
            </a:r>
            <a:r>
              <a:rPr sz="4600" spc="-1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recursion</a:t>
            </a:r>
            <a:r>
              <a:rPr sz="4600" spc="-1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sz="46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738250" y="2504919"/>
            <a:ext cx="5511165" cy="8489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2056765" indent="-194310">
              <a:lnSpc>
                <a:spcPct val="140000"/>
              </a:lnSpc>
              <a:spcBef>
                <a:spcPts val="100"/>
              </a:spcBef>
            </a:pP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3050" spc="-7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factorial(int</a:t>
            </a:r>
            <a:r>
              <a:rPr sz="3050" spc="-7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num){ </a:t>
            </a: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if(num&lt;=1)</a:t>
            </a:r>
            <a:r>
              <a:rPr sz="3050" spc="-9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787400">
              <a:lnSpc>
                <a:spcPct val="100000"/>
              </a:lnSpc>
              <a:spcBef>
                <a:spcPts val="1445"/>
              </a:spcBef>
            </a:pP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3050" spc="-2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1;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3050" spc="-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206375">
              <a:lnSpc>
                <a:spcPct val="100000"/>
              </a:lnSpc>
              <a:spcBef>
                <a:spcPts val="1465"/>
              </a:spcBef>
            </a:pPr>
            <a:r>
              <a:rPr sz="3050" spc="-1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else{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883920">
              <a:lnSpc>
                <a:spcPct val="100000"/>
              </a:lnSpc>
              <a:spcBef>
                <a:spcPts val="1445"/>
              </a:spcBef>
            </a:pP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3050" spc="-2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num*factorial(num-</a:t>
            </a:r>
            <a:r>
              <a:rPr sz="3050" spc="-2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1);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109220">
              <a:lnSpc>
                <a:spcPct val="100000"/>
              </a:lnSpc>
              <a:spcBef>
                <a:spcPts val="1525"/>
              </a:spcBef>
            </a:pPr>
            <a:r>
              <a:rPr sz="3050" spc="-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3050" spc="-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206375" marR="3303270" indent="-194310">
              <a:lnSpc>
                <a:spcPct val="140000"/>
              </a:lnSpc>
            </a:pP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void</a:t>
            </a:r>
            <a:r>
              <a:rPr sz="3050" spc="-5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main()</a:t>
            </a:r>
            <a:r>
              <a:rPr sz="3050" spc="-4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{ </a:t>
            </a: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var</a:t>
            </a:r>
            <a:r>
              <a:rPr sz="3050" spc="-3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num</a:t>
            </a:r>
            <a:r>
              <a:rPr sz="3050" spc="-3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3050" spc="-2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5;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206375" marR="5080">
              <a:lnSpc>
                <a:spcPct val="140000"/>
              </a:lnSpc>
              <a:spcBef>
                <a:spcPts val="20"/>
              </a:spcBef>
            </a:pP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var</a:t>
            </a:r>
            <a:r>
              <a:rPr sz="3050" spc="-1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fact</a:t>
            </a:r>
            <a:r>
              <a:rPr sz="3050" spc="-1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3050" spc="-1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" dirty="0">
                <a:solidFill>
                  <a:srgbClr val="EE220D"/>
                </a:solidFill>
                <a:latin typeface="Times New Roman" panose="02020603050405020304"/>
                <a:cs typeface="Times New Roman" panose="02020603050405020304"/>
              </a:rPr>
              <a:t>factorial(num); </a:t>
            </a: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print("Factorial</a:t>
            </a:r>
            <a:r>
              <a:rPr sz="3050" spc="-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050" spc="-4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r>
              <a:rPr sz="3050" spc="-4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is:</a:t>
            </a:r>
            <a:r>
              <a:rPr sz="3050" spc="-45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${fact}");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3050" spc="-50" dirty="0">
                <a:solidFill>
                  <a:srgbClr val="245796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3913</Words>
  <Application>WPS Presentation</Application>
  <PresentationFormat>On-screen Show (4:3)</PresentationFormat>
  <Paragraphs>139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Arial MT</vt:lpstr>
      <vt:lpstr>Times New Roman</vt:lpstr>
      <vt:lpstr>Wingdings</vt:lpstr>
      <vt:lpstr>Georgia</vt:lpstr>
      <vt:lpstr>Microsoft YaHei</vt:lpstr>
      <vt:lpstr>Arial Unicode MS</vt:lpstr>
      <vt:lpstr>Calibri</vt:lpstr>
      <vt:lpstr>Georgia</vt:lpstr>
      <vt:lpstr>Office Theme</vt:lpstr>
      <vt:lpstr>Mobile Learning Application Development</vt:lpstr>
      <vt:lpstr>Dart Function</vt:lpstr>
      <vt:lpstr>Defining a Function</vt:lpstr>
      <vt:lpstr>Calling a Function</vt:lpstr>
      <vt:lpstr>Function with No Parameter and Return Value</vt:lpstr>
      <vt:lpstr>Function with No Parameter and Return Value</vt:lpstr>
      <vt:lpstr>Dart Anonymous Function</vt:lpstr>
      <vt:lpstr>The main() function</vt:lpstr>
      <vt:lpstr>Function Recursion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Learning Application Development</dc:title>
  <dc:creator/>
  <cp:lastModifiedBy>User</cp:lastModifiedBy>
  <cp:revision>2</cp:revision>
  <dcterms:created xsi:type="dcterms:W3CDTF">2025-09-05T02:53:32Z</dcterms:created>
  <dcterms:modified xsi:type="dcterms:W3CDTF">2025-09-05T02:53:51Z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2024-09-28T06:00:00Z</vt:filetime>
  </property>
  <property fmtid="{D5CDD505-2E9C-101B-9397-08002B2CF9AE}" pid="3" name="Creator">
    <vt:lpwstr>PowerPoint</vt:lpwstr>
  </property>
  <property fmtid="{D5CDD505-2E9C-101B-9397-08002B2CF9AE}" pid="4" name="LastSaved">
    <vt:filetime>2025-09-05T06:00:00Z</vt:filetime>
  </property>
  <property fmtid="{D5CDD505-2E9C-101B-9397-08002B2CF9AE}" pid="5" name="Producer">
    <vt:lpwstr>macOS Version 14.6.1 (Build 23G93) Quartz PDFContext</vt:lpwstr>
  </property>
  <property fmtid="{D5CDD505-2E9C-101B-9397-08002B2CF9AE}" pid="6" name="ICV">
    <vt:lpwstr>51FE9404F78D42F2A18E88E0050DDFE7_12</vt:lpwstr>
  </property>
  <property fmtid="{D5CDD505-2E9C-101B-9397-08002B2CF9AE}" pid="7" name="KSOProductBuildVer">
    <vt:lpwstr>1033-12.2.0.21931</vt:lpwstr>
  </property>
</Properties>
</file>