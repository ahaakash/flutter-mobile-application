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1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"/>
            <a:ext cx="12192000" cy="12573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8739" y="211836"/>
            <a:ext cx="93281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3556"/>
            <a:ext cx="8408035" cy="9826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07393" y="1304036"/>
            <a:ext cx="10577212" cy="4146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522732"/>
            <a:ext cx="119634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latin typeface="Comic Sans MS" panose="030F0702030302020204" pitchFamily="66" charset="0"/>
              </a:rPr>
              <a:t>Mobile</a:t>
            </a:r>
            <a:r>
              <a:rPr sz="4400" b="1" spc="-140" dirty="0">
                <a:latin typeface="Comic Sans MS" panose="030F0702030302020204" pitchFamily="66" charset="0"/>
              </a:rPr>
              <a:t> </a:t>
            </a:r>
            <a:r>
              <a:rPr sz="4400" b="1" dirty="0">
                <a:latin typeface="Comic Sans MS" panose="030F0702030302020204" pitchFamily="66" charset="0"/>
              </a:rPr>
              <a:t>Learning</a:t>
            </a:r>
            <a:r>
              <a:rPr sz="4400" b="1" spc="-145" dirty="0">
                <a:latin typeface="Comic Sans MS" panose="030F0702030302020204" pitchFamily="66" charset="0"/>
              </a:rPr>
              <a:t> </a:t>
            </a:r>
            <a:r>
              <a:rPr sz="4400" b="1" dirty="0">
                <a:latin typeface="Comic Sans MS" panose="030F0702030302020204" pitchFamily="66" charset="0"/>
              </a:rPr>
              <a:t>Application</a:t>
            </a:r>
            <a:r>
              <a:rPr sz="4400" b="1" spc="-145" dirty="0">
                <a:latin typeface="Comic Sans MS" panose="030F0702030302020204" pitchFamily="66" charset="0"/>
              </a:rPr>
              <a:t> </a:t>
            </a:r>
            <a:r>
              <a:rPr sz="4400" b="1" spc="-10" dirty="0">
                <a:latin typeface="Comic Sans MS" panose="030F0702030302020204" pitchFamily="66" charset="0"/>
              </a:rPr>
              <a:t>Development</a:t>
            </a:r>
            <a:endParaRPr sz="4400" b="1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97993" y="3142488"/>
            <a:ext cx="965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solidFill>
                  <a:srgbClr val="898989"/>
                </a:solidFill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9848" y="2286000"/>
            <a:ext cx="2660904" cy="774191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:lc="http://schemas.openxmlformats.org/drawingml/2006/lockedCanvas" xmlns="" xmlns:a16="http://schemas.microsoft.com/office/drawing/2014/main" id="{751CAEAF-FE33-118E-43C0-622BE178A760}"/>
              </a:ext>
            </a:extLst>
          </p:cNvPr>
          <p:cNvSpPr txBox="1"/>
          <p:nvPr/>
        </p:nvSpPr>
        <p:spPr>
          <a:xfrm>
            <a:off x="228600" y="3705523"/>
            <a:ext cx="1181100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3600" dirty="0">
                <a:solidFill>
                  <a:schemeClr val="tx1"/>
                </a:solidFill>
                <a:latin typeface="Georgia" panose="02040502050405020303" pitchFamily="18" charset="0"/>
              </a:rPr>
              <a:t>Presented By: </a:t>
            </a:r>
          </a:p>
          <a:p>
            <a:pPr marL="0" indent="0" algn="ctr">
              <a:spcBef>
                <a:spcPts val="0"/>
              </a:spcBef>
              <a:buNone/>
            </a:pPr>
            <a:endParaRPr lang="en-US" sz="36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4000" b="1" dirty="0">
                <a:solidFill>
                  <a:schemeClr val="tx1"/>
                </a:solidFill>
                <a:latin typeface="Georgia" panose="02040502050405020303" pitchFamily="18" charset="0"/>
              </a:rPr>
              <a:t>Rakib Hossen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3600" dirty="0">
                <a:solidFill>
                  <a:schemeClr val="tx1"/>
                </a:solidFill>
                <a:latin typeface="Georgia" panose="02040502050405020303" pitchFamily="18" charset="0"/>
              </a:rPr>
              <a:t>Assistant Professor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3600" dirty="0">
                <a:solidFill>
                  <a:schemeClr val="tx1"/>
                </a:solidFill>
                <a:latin typeface="Georgia" panose="02040502050405020303" pitchFamily="18" charset="0"/>
              </a:rPr>
              <a:t>Dept. of Cyber Security Engineering (</a:t>
            </a:r>
            <a:r>
              <a:rPr lang="en-US" sz="3600" dirty="0" err="1">
                <a:solidFill>
                  <a:schemeClr val="tx1"/>
                </a:solidFill>
                <a:latin typeface="Georgia" panose="02040502050405020303" pitchFamily="18" charset="0"/>
              </a:rPr>
              <a:t>CySE</a:t>
            </a:r>
            <a:r>
              <a:rPr lang="en-US" sz="3600" dirty="0">
                <a:solidFill>
                  <a:schemeClr val="tx1"/>
                </a:solidFill>
                <a:latin typeface="Georgia" panose="02040502050405020303" pitchFamily="18" charset="0"/>
              </a:rPr>
              <a:t>), </a:t>
            </a:r>
            <a:r>
              <a:rPr lang="en-US" sz="3600" dirty="0" smtClean="0">
                <a:solidFill>
                  <a:schemeClr val="tx1"/>
                </a:solidFill>
                <a:latin typeface="Georgia" panose="02040502050405020303" pitchFamily="18" charset="0"/>
              </a:rPr>
              <a:t>UFTB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87" y="0"/>
            <a:ext cx="12177712" cy="8309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4000" y="-3556"/>
            <a:ext cx="840803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" algn="ctr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Comic Sans MS" panose="030F0702030302020204" pitchFamily="66" charset="0"/>
                <a:cs typeface="Calibri"/>
              </a:rPr>
              <a:t>Flutter</a:t>
            </a:r>
            <a:r>
              <a:rPr sz="3200" b="1" spc="-120" dirty="0">
                <a:latin typeface="Comic Sans MS" panose="030F0702030302020204" pitchFamily="66" charset="0"/>
                <a:cs typeface="Calibri"/>
              </a:rPr>
              <a:t> </a:t>
            </a:r>
            <a:r>
              <a:rPr sz="3200" b="1" spc="-10" dirty="0">
                <a:latin typeface="Comic Sans MS" panose="030F0702030302020204" pitchFamily="66" charset="0"/>
                <a:cs typeface="Calibri"/>
              </a:rPr>
              <a:t>Widget</a:t>
            </a:r>
            <a:endParaRPr sz="3200" dirty="0">
              <a:latin typeface="Comic Sans MS" panose="030F0702030302020204" pitchFamily="66" charset="0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40" y="1295400"/>
            <a:ext cx="11960860" cy="4392293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50"/>
              </a:spcBef>
            </a:pPr>
            <a:r>
              <a:rPr sz="2800" dirty="0">
                <a:latin typeface="Comic Sans MS" panose="030F0702030302020204" pitchFamily="66" charset="0"/>
                <a:cs typeface="Times New Roman"/>
              </a:rPr>
              <a:t>In</a:t>
            </a:r>
            <a:r>
              <a:rPr sz="2800" spc="-4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800" dirty="0">
                <a:latin typeface="Comic Sans MS" panose="030F0702030302020204" pitchFamily="66" charset="0"/>
                <a:cs typeface="Times New Roman"/>
              </a:rPr>
              <a:t>Flutter,</a:t>
            </a:r>
            <a:r>
              <a:rPr sz="2800" spc="-3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800" dirty="0">
                <a:latin typeface="Comic Sans MS" panose="030F0702030302020204" pitchFamily="66" charset="0"/>
                <a:cs typeface="Times New Roman"/>
              </a:rPr>
              <a:t>widgets</a:t>
            </a:r>
            <a:r>
              <a:rPr sz="2800" spc="-4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800" dirty="0">
                <a:latin typeface="Comic Sans MS" panose="030F0702030302020204" pitchFamily="66" charset="0"/>
                <a:cs typeface="Times New Roman"/>
              </a:rPr>
              <a:t>can</a:t>
            </a:r>
            <a:r>
              <a:rPr sz="2800" spc="-3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800" dirty="0">
                <a:latin typeface="Comic Sans MS" panose="030F0702030302020204" pitchFamily="66" charset="0"/>
                <a:cs typeface="Times New Roman"/>
              </a:rPr>
              <a:t>be</a:t>
            </a:r>
            <a:r>
              <a:rPr sz="2800" spc="-4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800" dirty="0">
                <a:latin typeface="Comic Sans MS" panose="030F0702030302020204" pitchFamily="66" charset="0"/>
                <a:cs typeface="Times New Roman"/>
              </a:rPr>
              <a:t>grouped</a:t>
            </a:r>
            <a:r>
              <a:rPr sz="2800" spc="-3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800" dirty="0">
                <a:latin typeface="Comic Sans MS" panose="030F0702030302020204" pitchFamily="66" charset="0"/>
                <a:cs typeface="Times New Roman"/>
              </a:rPr>
              <a:t>into</a:t>
            </a:r>
            <a:r>
              <a:rPr sz="2800" spc="-3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800" dirty="0">
                <a:latin typeface="Comic Sans MS" panose="030F0702030302020204" pitchFamily="66" charset="0"/>
                <a:cs typeface="Times New Roman"/>
              </a:rPr>
              <a:t>multiple</a:t>
            </a:r>
            <a:r>
              <a:rPr sz="2800" spc="-4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800" dirty="0">
                <a:latin typeface="Comic Sans MS" panose="030F0702030302020204" pitchFamily="66" charset="0"/>
                <a:cs typeface="Times New Roman"/>
              </a:rPr>
              <a:t>categories</a:t>
            </a:r>
            <a:r>
              <a:rPr sz="2800" spc="-4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800" dirty="0">
                <a:latin typeface="Comic Sans MS" panose="030F0702030302020204" pitchFamily="66" charset="0"/>
                <a:cs typeface="Times New Roman"/>
              </a:rPr>
              <a:t>based</a:t>
            </a:r>
            <a:r>
              <a:rPr sz="2800" spc="-3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800" dirty="0">
                <a:latin typeface="Comic Sans MS" panose="030F0702030302020204" pitchFamily="66" charset="0"/>
                <a:cs typeface="Times New Roman"/>
              </a:rPr>
              <a:t>on</a:t>
            </a:r>
            <a:r>
              <a:rPr sz="2800" spc="-4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800" spc="-10" dirty="0">
                <a:latin typeface="Comic Sans MS" panose="030F0702030302020204" pitchFamily="66" charset="0"/>
                <a:cs typeface="Times New Roman"/>
              </a:rPr>
              <a:t>their </a:t>
            </a:r>
            <a:r>
              <a:rPr sz="2800" dirty="0">
                <a:latin typeface="Comic Sans MS" panose="030F0702030302020204" pitchFamily="66" charset="0"/>
                <a:cs typeface="Times New Roman"/>
              </a:rPr>
              <a:t>features,</a:t>
            </a:r>
            <a:r>
              <a:rPr sz="2800" spc="-4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800" dirty="0">
                <a:latin typeface="Comic Sans MS" panose="030F0702030302020204" pitchFamily="66" charset="0"/>
                <a:cs typeface="Times New Roman"/>
              </a:rPr>
              <a:t>as</a:t>
            </a:r>
            <a:r>
              <a:rPr sz="2800" spc="-4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800" dirty="0">
                <a:latin typeface="Comic Sans MS" panose="030F0702030302020204" pitchFamily="66" charset="0"/>
                <a:cs typeface="Times New Roman"/>
              </a:rPr>
              <a:t>listed</a:t>
            </a:r>
            <a:r>
              <a:rPr sz="2800" spc="-4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800" dirty="0">
                <a:latin typeface="Comic Sans MS" panose="030F0702030302020204" pitchFamily="66" charset="0"/>
                <a:cs typeface="Times New Roman"/>
              </a:rPr>
              <a:t>below</a:t>
            </a:r>
            <a:r>
              <a:rPr sz="2800" spc="-4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800" spc="-50" dirty="0" smtClean="0">
                <a:latin typeface="Comic Sans MS" panose="030F0702030302020204" pitchFamily="66" charset="0"/>
                <a:cs typeface="Times New Roman"/>
              </a:rPr>
              <a:t>−</a:t>
            </a:r>
            <a:endParaRPr lang="en-US" sz="2800" spc="-50" dirty="0" smtClean="0">
              <a:latin typeface="Comic Sans MS" panose="030F0702030302020204" pitchFamily="66" charset="0"/>
              <a:cs typeface="Times New Roman"/>
            </a:endParaRPr>
          </a:p>
          <a:p>
            <a:pPr marL="12700" marR="5080">
              <a:lnSpc>
                <a:spcPct val="101400"/>
              </a:lnSpc>
              <a:spcBef>
                <a:spcPts val="50"/>
              </a:spcBef>
            </a:pPr>
            <a:endParaRPr sz="2800" dirty="0">
              <a:latin typeface="Comic Sans MS" panose="030F0702030302020204" pitchFamily="66" charset="0"/>
              <a:cs typeface="Times New Roman"/>
            </a:endParaRPr>
          </a:p>
          <a:p>
            <a:pPr marL="2295525" indent="-285115">
              <a:lnSpc>
                <a:spcPct val="100000"/>
              </a:lnSpc>
              <a:buFont typeface="Wingdings"/>
              <a:buChar char=""/>
              <a:tabLst>
                <a:tab pos="2295525" algn="l"/>
              </a:tabLst>
            </a:pPr>
            <a:r>
              <a:rPr sz="2800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Platform</a:t>
            </a:r>
            <a:r>
              <a:rPr sz="2800" spc="-55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specific</a:t>
            </a:r>
            <a:r>
              <a:rPr sz="2800" spc="-50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widgets</a:t>
            </a:r>
            <a:endParaRPr sz="2800" dirty="0">
              <a:latin typeface="Comic Sans MS" panose="030F0702030302020204" pitchFamily="66" charset="0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Clr>
                <a:srgbClr val="FF0000"/>
              </a:buClr>
              <a:buFont typeface="Wingdings"/>
              <a:buChar char=""/>
            </a:pPr>
            <a:endParaRPr sz="2800" dirty="0">
              <a:latin typeface="Comic Sans MS" panose="030F0702030302020204" pitchFamily="66" charset="0"/>
              <a:cs typeface="Times New Roman"/>
            </a:endParaRPr>
          </a:p>
          <a:p>
            <a:pPr marL="2295525" indent="-285115">
              <a:lnSpc>
                <a:spcPct val="100000"/>
              </a:lnSpc>
              <a:spcBef>
                <a:spcPts val="5"/>
              </a:spcBef>
              <a:buFont typeface="Wingdings"/>
              <a:buChar char=""/>
              <a:tabLst>
                <a:tab pos="2295525" algn="l"/>
              </a:tabLst>
            </a:pPr>
            <a:r>
              <a:rPr sz="2800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Layout</a:t>
            </a:r>
            <a:r>
              <a:rPr sz="2800" spc="-15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widgets</a:t>
            </a:r>
            <a:endParaRPr sz="2800" dirty="0">
              <a:latin typeface="Comic Sans MS" panose="030F0702030302020204" pitchFamily="66" charset="0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Clr>
                <a:srgbClr val="FF0000"/>
              </a:buClr>
              <a:buFont typeface="Wingdings"/>
              <a:buChar char=""/>
            </a:pPr>
            <a:endParaRPr sz="2800" dirty="0">
              <a:latin typeface="Comic Sans MS" panose="030F0702030302020204" pitchFamily="66" charset="0"/>
              <a:cs typeface="Times New Roman"/>
            </a:endParaRPr>
          </a:p>
          <a:p>
            <a:pPr marL="2295525" indent="-285115">
              <a:lnSpc>
                <a:spcPct val="100000"/>
              </a:lnSpc>
              <a:buFont typeface="Wingdings"/>
              <a:buChar char=""/>
              <a:tabLst>
                <a:tab pos="2295525" algn="l"/>
              </a:tabLst>
            </a:pPr>
            <a:r>
              <a:rPr sz="2800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State</a:t>
            </a:r>
            <a:r>
              <a:rPr sz="2800" spc="-40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maintenance</a:t>
            </a:r>
            <a:r>
              <a:rPr sz="2800" spc="-35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widgets</a:t>
            </a:r>
            <a:endParaRPr sz="2800" dirty="0">
              <a:latin typeface="Comic Sans MS" panose="030F0702030302020204" pitchFamily="66" charset="0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"/>
              </a:spcBef>
              <a:buClr>
                <a:srgbClr val="FF0000"/>
              </a:buClr>
              <a:buFont typeface="Wingdings"/>
              <a:buChar char=""/>
            </a:pPr>
            <a:endParaRPr sz="2800" dirty="0">
              <a:latin typeface="Comic Sans MS" panose="030F0702030302020204" pitchFamily="66" charset="0"/>
              <a:cs typeface="Times New Roman"/>
            </a:endParaRPr>
          </a:p>
          <a:p>
            <a:pPr marL="2295525" indent="-285115">
              <a:lnSpc>
                <a:spcPct val="100000"/>
              </a:lnSpc>
              <a:spcBef>
                <a:spcPts val="5"/>
              </a:spcBef>
              <a:buFont typeface="Wingdings"/>
              <a:buChar char=""/>
              <a:tabLst>
                <a:tab pos="2295525" algn="l"/>
              </a:tabLst>
            </a:pPr>
            <a:r>
              <a:rPr sz="2800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Platform</a:t>
            </a:r>
            <a:r>
              <a:rPr sz="2800" spc="-30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independent</a:t>
            </a:r>
            <a:r>
              <a:rPr sz="2800" spc="-30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/</a:t>
            </a:r>
            <a:r>
              <a:rPr sz="2800" spc="-30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basic</a:t>
            </a:r>
            <a:r>
              <a:rPr sz="2800" spc="-30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widgets</a:t>
            </a:r>
            <a:endParaRPr sz="2800" dirty="0">
              <a:latin typeface="Comic Sans MS" panose="030F0702030302020204" pitchFamily="66" charset="0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81903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49395" y="142240"/>
            <a:ext cx="449023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omic Sans MS" panose="030F0702030302020204" pitchFamily="66" charset="0"/>
                <a:cs typeface="Calibri"/>
              </a:rPr>
              <a:t>Platform</a:t>
            </a:r>
            <a:r>
              <a:rPr sz="2400" b="1" spc="-90" dirty="0">
                <a:latin typeface="Comic Sans MS" panose="030F0702030302020204" pitchFamily="66" charset="0"/>
                <a:cs typeface="Calibri"/>
              </a:rPr>
              <a:t> </a:t>
            </a:r>
            <a:r>
              <a:rPr sz="2400" b="1" dirty="0">
                <a:latin typeface="Comic Sans MS" panose="030F0702030302020204" pitchFamily="66" charset="0"/>
                <a:cs typeface="Calibri"/>
              </a:rPr>
              <a:t>specific</a:t>
            </a:r>
            <a:r>
              <a:rPr sz="2400" b="1" spc="-90" dirty="0">
                <a:latin typeface="Comic Sans MS" panose="030F0702030302020204" pitchFamily="66" charset="0"/>
                <a:cs typeface="Calibri"/>
              </a:rPr>
              <a:t> </a:t>
            </a:r>
            <a:r>
              <a:rPr sz="2400" b="1" spc="-10" dirty="0">
                <a:latin typeface="Comic Sans MS" panose="030F0702030302020204" pitchFamily="66" charset="0"/>
                <a:cs typeface="Calibri"/>
              </a:rPr>
              <a:t>widgets</a:t>
            </a:r>
            <a:endParaRPr sz="2400" dirty="0">
              <a:latin typeface="Comic Sans MS" panose="030F0702030302020204" pitchFamily="66" charset="0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600" y="849884"/>
            <a:ext cx="10286999" cy="21142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Flutter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widgets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specific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particular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platform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Android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iOS.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75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1035050" marR="1986280" algn="just">
              <a:lnSpc>
                <a:spcPct val="100600"/>
              </a:lnSpc>
            </a:pPr>
            <a:r>
              <a:rPr sz="2400" dirty="0">
                <a:latin typeface="Times New Roman"/>
                <a:cs typeface="Times New Roman"/>
              </a:rPr>
              <a:t>Android</a:t>
            </a:r>
            <a:r>
              <a:rPr sz="2400" spc="3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specific</a:t>
            </a:r>
            <a:r>
              <a:rPr sz="2400" spc="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widgets</a:t>
            </a:r>
            <a:r>
              <a:rPr sz="2400" spc="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designed</a:t>
            </a:r>
            <a:r>
              <a:rPr sz="2400" spc="40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in </a:t>
            </a:r>
            <a:r>
              <a:rPr sz="2400" dirty="0">
                <a:latin typeface="Times New Roman"/>
                <a:cs typeface="Times New Roman"/>
              </a:rPr>
              <a:t>accordance</a:t>
            </a:r>
            <a:r>
              <a:rPr sz="2400" spc="4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4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Material</a:t>
            </a:r>
            <a:r>
              <a:rPr sz="2400" spc="4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design</a:t>
            </a:r>
            <a:r>
              <a:rPr sz="2400" spc="4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guideline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5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Android</a:t>
            </a:r>
            <a:r>
              <a:rPr sz="2400" spc="5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OS.</a:t>
            </a:r>
            <a:r>
              <a:rPr sz="2400" spc="5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Android</a:t>
            </a:r>
            <a:r>
              <a:rPr sz="2400" spc="5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specific</a:t>
            </a:r>
            <a:r>
              <a:rPr sz="2400" spc="5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widgets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called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Material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widgets.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7673" y="3766820"/>
            <a:ext cx="17221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762000" algn="l"/>
              </a:tabLst>
            </a:pPr>
            <a:r>
              <a:rPr sz="2400" spc="-25" dirty="0">
                <a:latin typeface="Times New Roman"/>
                <a:cs typeface="Times New Roman"/>
              </a:rPr>
              <a:t>iOS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specific accordance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63622" y="3766820"/>
            <a:ext cx="1058228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6995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widgets </a:t>
            </a:r>
            <a:r>
              <a:rPr sz="2400" spc="-20" dirty="0">
                <a:latin typeface="Times New Roman"/>
                <a:cs typeface="Times New Roman"/>
              </a:rPr>
              <a:t>with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19310" y="3766820"/>
            <a:ext cx="25203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2729">
              <a:lnSpc>
                <a:spcPct val="100000"/>
              </a:lnSpc>
              <a:spcBef>
                <a:spcPts val="100"/>
              </a:spcBef>
              <a:tabLst>
                <a:tab pos="911860" algn="l"/>
                <a:tab pos="1424940" algn="l"/>
                <a:tab pos="2269490" algn="l"/>
              </a:tabLst>
            </a:pPr>
            <a:r>
              <a:rPr sz="2400" spc="-25" dirty="0">
                <a:latin typeface="Times New Roman"/>
                <a:cs typeface="Times New Roman"/>
              </a:rPr>
              <a:t>are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designed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in </a:t>
            </a:r>
            <a:r>
              <a:rPr sz="2400" spc="-10" dirty="0">
                <a:latin typeface="Times New Roman"/>
                <a:cs typeface="Times New Roman"/>
              </a:rPr>
              <a:t>Human</a:t>
            </a:r>
            <a:r>
              <a:rPr sz="2400" dirty="0">
                <a:latin typeface="Times New Roman"/>
                <a:cs typeface="Times New Roman"/>
              </a:rPr>
              <a:t>		</a:t>
            </a:r>
            <a:r>
              <a:rPr sz="2400" spc="-10" dirty="0">
                <a:latin typeface="Times New Roman"/>
                <a:cs typeface="Times New Roman"/>
              </a:rPr>
              <a:t>Interface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48655" y="5107305"/>
            <a:ext cx="7746658" cy="7600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sz="2400" dirty="0">
                <a:latin typeface="Times New Roman"/>
                <a:cs typeface="Times New Roman"/>
              </a:rPr>
              <a:t>Guidelines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Apple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they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called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as </a:t>
            </a:r>
            <a:r>
              <a:rPr sz="2400" dirty="0">
                <a:latin typeface="Times New Roman"/>
                <a:cs typeface="Times New Roman"/>
              </a:rPr>
              <a:t>Cupertino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widgets.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4446" y="1588007"/>
            <a:ext cx="1664208" cy="48402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95313" y="1731310"/>
            <a:ext cx="2511552" cy="47091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31265"/>
            <a:ext cx="12192000" cy="10287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52800" y="-3556"/>
            <a:ext cx="5133974" cy="676501"/>
          </a:xfrm>
          <a:prstGeom prst="rect">
            <a:avLst/>
          </a:prstGeom>
        </p:spPr>
        <p:txBody>
          <a:bodyPr vert="horz" wrap="square" lIns="0" tIns="121318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sz="3600" dirty="0">
                <a:latin typeface="Comic Sans MS" panose="030F0702030302020204" pitchFamily="66" charset="0"/>
              </a:rPr>
              <a:t>Layout</a:t>
            </a:r>
            <a:r>
              <a:rPr sz="3600" spc="125" dirty="0">
                <a:latin typeface="Comic Sans MS" panose="030F0702030302020204" pitchFamily="66" charset="0"/>
              </a:rPr>
              <a:t> </a:t>
            </a:r>
            <a:r>
              <a:rPr sz="3600" spc="-10" dirty="0">
                <a:latin typeface="Comic Sans MS" panose="030F0702030302020204" pitchFamily="66" charset="0"/>
              </a:rPr>
              <a:t>widgets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2400" y="1806955"/>
            <a:ext cx="11887199" cy="366776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0029" marR="5080" indent="-227329" algn="just">
              <a:lnSpc>
                <a:spcPct val="9040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mic Sans MS" panose="030F0702030302020204" pitchFamily="66" charset="0"/>
                <a:cs typeface="Times New Roman"/>
              </a:rPr>
              <a:t>In</a:t>
            </a:r>
            <a:r>
              <a:rPr sz="2400" spc="25" dirty="0">
                <a:latin typeface="Comic Sans MS" panose="030F0702030302020204" pitchFamily="66" charset="0"/>
                <a:cs typeface="Times New Roman"/>
              </a:rPr>
              <a:t> 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Flutter,</a:t>
            </a:r>
            <a:r>
              <a:rPr sz="2400" spc="30" dirty="0">
                <a:latin typeface="Comic Sans MS" panose="030F0702030302020204" pitchFamily="66" charset="0"/>
                <a:cs typeface="Times New Roman"/>
              </a:rPr>
              <a:t> 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a</a:t>
            </a:r>
            <a:r>
              <a:rPr sz="2400" spc="25" dirty="0">
                <a:latin typeface="Comic Sans MS" panose="030F0702030302020204" pitchFamily="66" charset="0"/>
                <a:cs typeface="Times New Roman"/>
              </a:rPr>
              <a:t> 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widget</a:t>
            </a:r>
            <a:r>
              <a:rPr sz="2400" spc="25" dirty="0">
                <a:latin typeface="Comic Sans MS" panose="030F0702030302020204" pitchFamily="66" charset="0"/>
                <a:cs typeface="Times New Roman"/>
              </a:rPr>
              <a:t> 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can</a:t>
            </a:r>
            <a:r>
              <a:rPr sz="2400" spc="30" dirty="0">
                <a:latin typeface="Comic Sans MS" panose="030F0702030302020204" pitchFamily="66" charset="0"/>
                <a:cs typeface="Times New Roman"/>
              </a:rPr>
              <a:t> 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be</a:t>
            </a:r>
            <a:r>
              <a:rPr sz="2400" spc="25" dirty="0">
                <a:latin typeface="Comic Sans MS" panose="030F0702030302020204" pitchFamily="66" charset="0"/>
                <a:cs typeface="Times New Roman"/>
              </a:rPr>
              <a:t> 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created</a:t>
            </a:r>
            <a:r>
              <a:rPr sz="2400" spc="25" dirty="0">
                <a:latin typeface="Comic Sans MS" panose="030F0702030302020204" pitchFamily="66" charset="0"/>
                <a:cs typeface="Times New Roman"/>
              </a:rPr>
              <a:t> 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by</a:t>
            </a:r>
            <a:r>
              <a:rPr sz="2400" spc="25" dirty="0">
                <a:latin typeface="Comic Sans MS" panose="030F0702030302020204" pitchFamily="66" charset="0"/>
                <a:cs typeface="Times New Roman"/>
              </a:rPr>
              <a:t> 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composing</a:t>
            </a:r>
            <a:r>
              <a:rPr sz="2400" spc="30" dirty="0">
                <a:latin typeface="Comic Sans MS" panose="030F0702030302020204" pitchFamily="66" charset="0"/>
                <a:cs typeface="Times New Roman"/>
              </a:rPr>
              <a:t> 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one</a:t>
            </a:r>
            <a:r>
              <a:rPr sz="2400" spc="25" dirty="0">
                <a:latin typeface="Comic Sans MS" panose="030F0702030302020204" pitchFamily="66" charset="0"/>
                <a:cs typeface="Times New Roman"/>
              </a:rPr>
              <a:t> 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or</a:t>
            </a:r>
            <a:r>
              <a:rPr sz="2400" spc="30" dirty="0">
                <a:latin typeface="Comic Sans MS" panose="030F0702030302020204" pitchFamily="66" charset="0"/>
                <a:cs typeface="Times New Roman"/>
              </a:rPr>
              <a:t> 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more</a:t>
            </a:r>
            <a:r>
              <a:rPr sz="2400" spc="25" dirty="0">
                <a:latin typeface="Comic Sans MS" panose="030F0702030302020204" pitchFamily="66" charset="0"/>
                <a:cs typeface="Times New Roman"/>
              </a:rPr>
              <a:t> 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widgets.</a:t>
            </a:r>
            <a:r>
              <a:rPr sz="2400" spc="25" dirty="0">
                <a:latin typeface="Comic Sans MS" panose="030F0702030302020204" pitchFamily="66" charset="0"/>
                <a:cs typeface="Times New Roman"/>
              </a:rPr>
              <a:t>  </a:t>
            </a:r>
            <a:r>
              <a:rPr sz="2400" spc="-25" dirty="0">
                <a:latin typeface="Comic Sans MS" panose="030F0702030302020204" pitchFamily="66" charset="0"/>
                <a:cs typeface="Times New Roman"/>
              </a:rPr>
              <a:t>To 	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compose</a:t>
            </a:r>
            <a:r>
              <a:rPr sz="2400" spc="20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multiple</a:t>
            </a:r>
            <a:r>
              <a:rPr sz="2400" spc="204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widgets</a:t>
            </a:r>
            <a:r>
              <a:rPr sz="2400" spc="21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into</a:t>
            </a:r>
            <a:r>
              <a:rPr sz="2400" spc="204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a</a:t>
            </a:r>
            <a:r>
              <a:rPr sz="2400" spc="20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single</a:t>
            </a:r>
            <a:r>
              <a:rPr sz="2400" spc="204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widget,</a:t>
            </a:r>
            <a:r>
              <a:rPr sz="2400" spc="204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Flutter</a:t>
            </a:r>
            <a:r>
              <a:rPr sz="2400" spc="21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provides</a:t>
            </a:r>
            <a:r>
              <a:rPr sz="2400" spc="204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large</a:t>
            </a:r>
            <a:r>
              <a:rPr sz="2400" spc="204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number</a:t>
            </a:r>
            <a:r>
              <a:rPr sz="2400" spc="204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spc="-25" dirty="0">
                <a:latin typeface="Comic Sans MS" panose="030F0702030302020204" pitchFamily="66" charset="0"/>
                <a:cs typeface="Times New Roman"/>
              </a:rPr>
              <a:t>of 	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widgets</a:t>
            </a:r>
            <a:r>
              <a:rPr sz="240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with</a:t>
            </a:r>
            <a:r>
              <a:rPr sz="2400" spc="-2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layout</a:t>
            </a:r>
            <a:r>
              <a:rPr sz="2400" spc="-3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spc="-10" dirty="0">
                <a:latin typeface="Comic Sans MS" panose="030F0702030302020204" pitchFamily="66" charset="0"/>
                <a:cs typeface="Times New Roman"/>
              </a:rPr>
              <a:t>feature.</a:t>
            </a:r>
            <a:endParaRPr sz="2400" dirty="0">
              <a:latin typeface="Comic Sans MS" panose="030F0702030302020204" pitchFamily="66" charset="0"/>
              <a:cs typeface="Times New Roman"/>
            </a:endParaRPr>
          </a:p>
          <a:p>
            <a:pPr marL="240029" marR="5080" indent="-227329" algn="just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omic Sans MS" panose="030F0702030302020204" pitchFamily="66" charset="0"/>
                <a:cs typeface="Times New Roman"/>
              </a:rPr>
              <a:t>Container</a:t>
            </a:r>
            <a:r>
              <a:rPr sz="2400" b="1" spc="56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−</a:t>
            </a:r>
            <a:r>
              <a:rPr sz="2400" spc="57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A</a:t>
            </a:r>
            <a:r>
              <a:rPr sz="2400" spc="45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rectangular</a:t>
            </a:r>
            <a:r>
              <a:rPr sz="2400" spc="57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box</a:t>
            </a:r>
            <a:r>
              <a:rPr sz="2400" spc="57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decorated</a:t>
            </a:r>
            <a:r>
              <a:rPr sz="2400" spc="57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using</a:t>
            </a:r>
            <a:r>
              <a:rPr sz="2400" spc="57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BoxDecoration</a:t>
            </a:r>
            <a:r>
              <a:rPr sz="2400" spc="57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widgets</a:t>
            </a:r>
            <a:r>
              <a:rPr sz="2400" spc="57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spc="-20" dirty="0">
                <a:latin typeface="Comic Sans MS" panose="030F0702030302020204" pitchFamily="66" charset="0"/>
                <a:cs typeface="Times New Roman"/>
              </a:rPr>
              <a:t>with 	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background,</a:t>
            </a:r>
            <a:r>
              <a:rPr sz="2400" spc="-4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border</a:t>
            </a:r>
            <a:r>
              <a:rPr sz="2400" spc="-3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and</a:t>
            </a:r>
            <a:r>
              <a:rPr sz="2400" spc="-3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spc="-10" dirty="0">
                <a:latin typeface="Comic Sans MS" panose="030F0702030302020204" pitchFamily="66" charset="0"/>
                <a:cs typeface="Times New Roman"/>
              </a:rPr>
              <a:t>shadow.</a:t>
            </a:r>
            <a:endParaRPr sz="2400" dirty="0">
              <a:latin typeface="Comic Sans MS" panose="030F0702030302020204" pitchFamily="66" charset="0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omic Sans MS" panose="030F0702030302020204" pitchFamily="66" charset="0"/>
                <a:cs typeface="Times New Roman"/>
              </a:rPr>
              <a:t>Center</a:t>
            </a:r>
            <a:r>
              <a:rPr sz="2400" b="1" spc="-3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−</a:t>
            </a:r>
            <a:r>
              <a:rPr sz="2400" spc="-2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Center</a:t>
            </a:r>
            <a:r>
              <a:rPr sz="240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its</a:t>
            </a:r>
            <a:r>
              <a:rPr sz="2400" spc="-1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child</a:t>
            </a:r>
            <a:r>
              <a:rPr sz="2400" spc="-2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spc="-10" dirty="0">
                <a:latin typeface="Comic Sans MS" panose="030F0702030302020204" pitchFamily="66" charset="0"/>
                <a:cs typeface="Times New Roman"/>
              </a:rPr>
              <a:t>widget.</a:t>
            </a:r>
            <a:endParaRPr sz="2400" dirty="0">
              <a:latin typeface="Comic Sans MS" panose="030F0702030302020204" pitchFamily="66" charset="0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omic Sans MS" panose="030F0702030302020204" pitchFamily="66" charset="0"/>
                <a:cs typeface="Times New Roman"/>
              </a:rPr>
              <a:t>Row</a:t>
            </a:r>
            <a:r>
              <a:rPr sz="2400" b="1" spc="-4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−</a:t>
            </a:r>
            <a:r>
              <a:rPr sz="2400" spc="-15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Arrange</a:t>
            </a:r>
            <a:r>
              <a:rPr sz="2400" spc="-3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its</a:t>
            </a:r>
            <a:r>
              <a:rPr sz="240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children</a:t>
            </a:r>
            <a:r>
              <a:rPr sz="2400" spc="-3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in</a:t>
            </a:r>
            <a:r>
              <a:rPr sz="2400" spc="-2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the</a:t>
            </a:r>
            <a:r>
              <a:rPr sz="2400" spc="-3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horizontal</a:t>
            </a:r>
            <a:r>
              <a:rPr sz="2400" spc="-3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spc="-10" dirty="0">
                <a:latin typeface="Comic Sans MS" panose="030F0702030302020204" pitchFamily="66" charset="0"/>
                <a:cs typeface="Times New Roman"/>
              </a:rPr>
              <a:t>direction.</a:t>
            </a:r>
            <a:endParaRPr sz="2400" dirty="0">
              <a:latin typeface="Comic Sans MS" panose="030F0702030302020204" pitchFamily="66" charset="0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omic Sans MS" panose="030F0702030302020204" pitchFamily="66" charset="0"/>
                <a:cs typeface="Times New Roman"/>
              </a:rPr>
              <a:t>Column</a:t>
            </a:r>
            <a:r>
              <a:rPr sz="2400" b="1" spc="-4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−</a:t>
            </a:r>
            <a:r>
              <a:rPr sz="2400" spc="-15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Arrange</a:t>
            </a:r>
            <a:r>
              <a:rPr sz="2400" spc="-3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its</a:t>
            </a:r>
            <a:r>
              <a:rPr sz="2400" spc="-2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children</a:t>
            </a:r>
            <a:r>
              <a:rPr sz="2400" spc="-3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in</a:t>
            </a:r>
            <a:r>
              <a:rPr sz="2400" spc="-3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the</a:t>
            </a:r>
            <a:r>
              <a:rPr sz="2400" spc="-3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vertical</a:t>
            </a:r>
            <a:r>
              <a:rPr sz="2400" spc="-3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spc="-10" dirty="0">
                <a:latin typeface="Comic Sans MS" panose="030F0702030302020204" pitchFamily="66" charset="0"/>
                <a:cs typeface="Times New Roman"/>
              </a:rPr>
              <a:t>direction.</a:t>
            </a:r>
            <a:endParaRPr sz="2400" dirty="0">
              <a:latin typeface="Comic Sans MS" panose="030F0702030302020204" pitchFamily="66" charset="0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omic Sans MS" panose="030F0702030302020204" pitchFamily="66" charset="0"/>
                <a:cs typeface="Times New Roman"/>
              </a:rPr>
              <a:t>Stack</a:t>
            </a:r>
            <a:r>
              <a:rPr sz="2400" b="1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−</a:t>
            </a:r>
            <a:r>
              <a:rPr sz="2400" spc="-15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Arrange</a:t>
            </a:r>
            <a:r>
              <a:rPr sz="240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one</a:t>
            </a:r>
            <a:r>
              <a:rPr sz="240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above</a:t>
            </a:r>
            <a:r>
              <a:rPr sz="240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the</a:t>
            </a:r>
            <a:r>
              <a:rPr sz="240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spc="-10" dirty="0">
                <a:latin typeface="Comic Sans MS" panose="030F0702030302020204" pitchFamily="66" charset="0"/>
                <a:cs typeface="Times New Roman"/>
              </a:rPr>
              <a:t>another.</a:t>
            </a:r>
            <a:endParaRPr sz="2400" dirty="0">
              <a:latin typeface="Comic Sans MS" panose="030F0702030302020204" pitchFamily="66" charset="0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2000" cy="101441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62226" y="-3556"/>
            <a:ext cx="6962774" cy="728823"/>
          </a:xfrm>
          <a:prstGeom prst="rect">
            <a:avLst/>
          </a:prstGeom>
        </p:spPr>
        <p:txBody>
          <a:bodyPr vert="horz" wrap="square" lIns="0" tIns="11217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dirty="0">
                <a:latin typeface="Comic Sans MS" panose="030F0702030302020204" pitchFamily="66" charset="0"/>
              </a:rPr>
              <a:t>State</a:t>
            </a:r>
            <a:r>
              <a:rPr sz="4000" spc="225" dirty="0">
                <a:latin typeface="Comic Sans MS" panose="030F0702030302020204" pitchFamily="66" charset="0"/>
              </a:rPr>
              <a:t> </a:t>
            </a:r>
            <a:r>
              <a:rPr sz="4000" dirty="0">
                <a:latin typeface="Comic Sans MS" panose="030F0702030302020204" pitchFamily="66" charset="0"/>
              </a:rPr>
              <a:t>maintenance</a:t>
            </a:r>
            <a:r>
              <a:rPr sz="4000" spc="229" dirty="0">
                <a:latin typeface="Comic Sans MS" panose="030F0702030302020204" pitchFamily="66" charset="0"/>
              </a:rPr>
              <a:t> </a:t>
            </a:r>
            <a:r>
              <a:rPr sz="4000" spc="-10" dirty="0">
                <a:latin typeface="Comic Sans MS" panose="030F0702030302020204" pitchFamily="66" charset="0"/>
              </a:rPr>
              <a:t>widgets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0" y="1447800"/>
            <a:ext cx="12191999" cy="2305759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500"/>
              </a:spcBef>
            </a:pPr>
            <a:r>
              <a:rPr sz="2800" b="1" dirty="0">
                <a:latin typeface="Times New Roman"/>
                <a:cs typeface="Times New Roman"/>
              </a:rPr>
              <a:t>State: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State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information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read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synchronously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when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widget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built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might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change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during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lifetime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widget</a:t>
            </a:r>
            <a:r>
              <a:rPr sz="2800" spc="-10" dirty="0" smtClean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Flutter,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all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widgets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either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derived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from</a:t>
            </a:r>
            <a:endParaRPr sz="28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StatelessWidget</a:t>
            </a:r>
            <a:r>
              <a:rPr sz="2800" b="1" spc="-1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or</a:t>
            </a:r>
            <a:endParaRPr sz="28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StatefulWidget.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2000" cy="102864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07739" y="53978"/>
            <a:ext cx="5636261" cy="738056"/>
          </a:xfrm>
          <a:prstGeom prst="rect">
            <a:avLst/>
          </a:prstGeom>
        </p:spPr>
        <p:txBody>
          <a:bodyPr vert="horz" wrap="square" lIns="0" tIns="12131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dirty="0">
                <a:latin typeface="Comic Sans MS" panose="030F0702030302020204" pitchFamily="66" charset="0"/>
              </a:rPr>
              <a:t>Stateless</a:t>
            </a:r>
            <a:r>
              <a:rPr sz="4000" spc="175" dirty="0">
                <a:latin typeface="Comic Sans MS" panose="030F0702030302020204" pitchFamily="66" charset="0"/>
              </a:rPr>
              <a:t> </a:t>
            </a:r>
            <a:r>
              <a:rPr sz="4000" spc="-10" dirty="0">
                <a:latin typeface="Comic Sans MS" panose="030F0702030302020204" pitchFamily="66" charset="0"/>
              </a:rPr>
              <a:t>Widget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8739" y="1322323"/>
            <a:ext cx="7084061" cy="337374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1300" marR="5080" indent="-231140" algn="just">
              <a:lnSpc>
                <a:spcPct val="100800"/>
              </a:lnSpc>
              <a:spcBef>
                <a:spcPts val="75"/>
              </a:spcBef>
              <a:buSzPct val="95833"/>
              <a:buFont typeface="Wingdings"/>
              <a:buChar char=""/>
              <a:tabLst>
                <a:tab pos="241300" algn="l"/>
                <a:tab pos="283210" algn="l"/>
              </a:tabLst>
            </a:pPr>
            <a:r>
              <a:rPr sz="2400" dirty="0">
                <a:latin typeface="Times New Roman"/>
                <a:cs typeface="Times New Roman"/>
              </a:rPr>
              <a:t>	A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Stateless</a:t>
            </a:r>
            <a:r>
              <a:rPr sz="2400" spc="5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Widget</a:t>
            </a:r>
            <a:r>
              <a:rPr sz="2400" spc="5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5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widget</a:t>
            </a:r>
            <a:r>
              <a:rPr sz="2400" spc="5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509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doesn't </a:t>
            </a:r>
            <a:r>
              <a:rPr sz="2400" dirty="0">
                <a:latin typeface="Times New Roman"/>
                <a:cs typeface="Times New Roman"/>
              </a:rPr>
              <a:t>maintain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mutable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state.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Font typeface="Wingdings"/>
              <a:buChar char=""/>
            </a:pPr>
            <a:endParaRPr sz="2400" dirty="0">
              <a:latin typeface="Times New Roman"/>
              <a:cs typeface="Times New Roman"/>
            </a:endParaRPr>
          </a:p>
          <a:p>
            <a:pPr marL="241300" marR="5080" indent="-231140" algn="just">
              <a:lnSpc>
                <a:spcPct val="98800"/>
              </a:lnSpc>
              <a:spcBef>
                <a:spcPts val="5"/>
              </a:spcBef>
              <a:buSzPct val="95833"/>
              <a:buFont typeface="Wingdings"/>
              <a:buChar char=""/>
              <a:tabLst>
                <a:tab pos="241300" algn="l"/>
                <a:tab pos="283210" algn="l"/>
              </a:tabLst>
            </a:pPr>
            <a:r>
              <a:rPr sz="2400" dirty="0">
                <a:latin typeface="Times New Roman"/>
                <a:cs typeface="Times New Roman"/>
              </a:rPr>
              <a:t>	Once</a:t>
            </a:r>
            <a:r>
              <a:rPr sz="2400" spc="7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created,</a:t>
            </a:r>
            <a:r>
              <a:rPr sz="2400" spc="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properties</a:t>
            </a:r>
            <a:r>
              <a:rPr sz="2400" spc="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8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75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stateless </a:t>
            </a:r>
            <a:r>
              <a:rPr sz="2400" dirty="0">
                <a:latin typeface="Times New Roman"/>
                <a:cs typeface="Times New Roman"/>
              </a:rPr>
              <a:t>widget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cannot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changed.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remains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constant </a:t>
            </a:r>
            <a:r>
              <a:rPr sz="2400" dirty="0">
                <a:latin typeface="Times New Roman"/>
                <a:cs typeface="Times New Roman"/>
              </a:rPr>
              <a:t>over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time.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0"/>
              </a:spcBef>
              <a:buFont typeface="Wingdings"/>
              <a:buChar char=""/>
            </a:pPr>
            <a:endParaRPr sz="2400" dirty="0">
              <a:latin typeface="Times New Roman"/>
              <a:cs typeface="Times New Roman"/>
            </a:endParaRPr>
          </a:p>
          <a:p>
            <a:pPr marL="241300" marR="5080" indent="-231140" algn="just">
              <a:lnSpc>
                <a:spcPct val="99200"/>
              </a:lnSpc>
              <a:buSzPct val="95833"/>
              <a:buFont typeface="Wingdings"/>
              <a:buChar char=""/>
              <a:tabLst>
                <a:tab pos="241300" algn="l"/>
                <a:tab pos="283210" algn="l"/>
              </a:tabLst>
            </a:pPr>
            <a:r>
              <a:rPr sz="2400" dirty="0">
                <a:latin typeface="Times New Roman"/>
                <a:cs typeface="Times New Roman"/>
              </a:rPr>
              <a:t>	Stateless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widgets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generally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parts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UI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don't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change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dynamically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based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interactions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other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factors.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15200" y="1219200"/>
            <a:ext cx="4687824" cy="50383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11715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62400" y="-3556"/>
            <a:ext cx="4524374" cy="747290"/>
          </a:xfrm>
          <a:prstGeom prst="rect">
            <a:avLst/>
          </a:prstGeom>
        </p:spPr>
        <p:txBody>
          <a:bodyPr vert="horz" wrap="square" lIns="0" tIns="19142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sz="3600" dirty="0">
                <a:latin typeface="Comic Sans MS" panose="030F0702030302020204" pitchFamily="66" charset="0"/>
              </a:rPr>
              <a:t>Stateful</a:t>
            </a:r>
            <a:r>
              <a:rPr sz="3600" spc="95" dirty="0">
                <a:latin typeface="Comic Sans MS" panose="030F0702030302020204" pitchFamily="66" charset="0"/>
              </a:rPr>
              <a:t> </a:t>
            </a:r>
            <a:r>
              <a:rPr sz="3600" spc="-10" dirty="0">
                <a:latin typeface="Comic Sans MS" panose="030F0702030302020204" pitchFamily="66" charset="0"/>
              </a:rPr>
              <a:t>Widget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200" y="1513840"/>
            <a:ext cx="7162800" cy="40487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0029" marR="5080" indent="-227329">
              <a:lnSpc>
                <a:spcPct val="100800"/>
              </a:lnSpc>
              <a:spcBef>
                <a:spcPts val="75"/>
              </a:spcBef>
              <a:buFont typeface="Arial MT"/>
              <a:buChar char="•"/>
              <a:tabLst>
                <a:tab pos="241300" algn="l"/>
                <a:tab pos="865505" algn="l"/>
                <a:tab pos="1965325" algn="l"/>
                <a:tab pos="2896235" algn="l"/>
                <a:tab pos="3605529" algn="l"/>
                <a:tab pos="4178935" algn="l"/>
                <a:tab pos="4618355" algn="l"/>
                <a:tab pos="5596890" algn="l"/>
              </a:tabLst>
            </a:pP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widgets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whose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state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can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be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altered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once 	</a:t>
            </a:r>
            <a:r>
              <a:rPr sz="2400" dirty="0">
                <a:latin typeface="Times New Roman"/>
                <a:cs typeface="Times New Roman"/>
              </a:rPr>
              <a:t>they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built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called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stateful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Widgets.</a:t>
            </a:r>
            <a:endParaRPr sz="2400" dirty="0">
              <a:latin typeface="Times New Roman"/>
              <a:cs typeface="Times New Roman"/>
            </a:endParaRPr>
          </a:p>
          <a:p>
            <a:pPr marL="240029" marR="5080" indent="-227329">
              <a:lnSpc>
                <a:spcPts val="2900"/>
              </a:lnSpc>
              <a:spcBef>
                <a:spcPts val="80"/>
              </a:spcBef>
              <a:buFont typeface="Arial MT"/>
              <a:buChar char="•"/>
              <a:tabLst>
                <a:tab pos="241300" algn="l"/>
                <a:tab pos="1112520" algn="l"/>
                <a:tab pos="1933575" algn="l"/>
                <a:tab pos="2449830" algn="l"/>
                <a:tab pos="3573779" algn="l"/>
                <a:tab pos="4158615" algn="l"/>
                <a:tab pos="4725670" algn="l"/>
                <a:tab pos="5157470" algn="l"/>
              </a:tabLst>
            </a:pPr>
            <a:r>
              <a:rPr sz="2400" spc="-10" dirty="0">
                <a:latin typeface="Times New Roman"/>
                <a:cs typeface="Times New Roman"/>
              </a:rPr>
              <a:t>These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states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are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mutable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can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be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changed 	</a:t>
            </a:r>
            <a:r>
              <a:rPr sz="2400" dirty="0">
                <a:latin typeface="Times New Roman"/>
                <a:cs typeface="Times New Roman"/>
              </a:rPr>
              <a:t>multiple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their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lifetime.</a:t>
            </a:r>
            <a:endParaRPr sz="2400" dirty="0">
              <a:latin typeface="Times New Roman"/>
              <a:cs typeface="Times New Roman"/>
            </a:endParaRPr>
          </a:p>
          <a:p>
            <a:pPr marL="240029" indent="-227329">
              <a:lnSpc>
                <a:spcPts val="2710"/>
              </a:lnSpc>
              <a:buFont typeface="Arial MT"/>
              <a:buChar char="•"/>
              <a:tabLst>
                <a:tab pos="240029" algn="l"/>
                <a:tab pos="963930" algn="l"/>
                <a:tab pos="1973580" algn="l"/>
                <a:tab pos="2933065" algn="l"/>
                <a:tab pos="3486150" algn="l"/>
                <a:tab pos="4224655" algn="l"/>
                <a:tab pos="4659630" algn="l"/>
                <a:tab pos="5128260" algn="l"/>
                <a:tab pos="5749290" algn="l"/>
              </a:tabLst>
            </a:pPr>
            <a:r>
              <a:rPr sz="2400" spc="-20" dirty="0">
                <a:latin typeface="Times New Roman"/>
                <a:cs typeface="Times New Roman"/>
              </a:rPr>
              <a:t>This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simply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means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state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app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can</a:t>
            </a:r>
            <a:endParaRPr sz="2400" dirty="0">
              <a:latin typeface="Times New Roman"/>
              <a:cs typeface="Times New Roman"/>
            </a:endParaRPr>
          </a:p>
          <a:p>
            <a:pPr marL="241300" marR="5080">
              <a:lnSpc>
                <a:spcPct val="100800"/>
              </a:lnSpc>
              <a:tabLst>
                <a:tab pos="1286510" algn="l"/>
                <a:tab pos="2483485" algn="l"/>
                <a:tab pos="3326129" algn="l"/>
                <a:tab pos="4051300" algn="l"/>
                <a:tab pos="5276850" algn="l"/>
                <a:tab pos="5917565" algn="l"/>
              </a:tabLst>
            </a:pPr>
            <a:r>
              <a:rPr sz="2400" spc="-10" dirty="0">
                <a:latin typeface="Times New Roman"/>
                <a:cs typeface="Times New Roman"/>
              </a:rPr>
              <a:t>change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multiple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times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with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different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sets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variables,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inputs,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data.</a:t>
            </a:r>
            <a:endParaRPr sz="2400" dirty="0">
              <a:latin typeface="Times New Roman"/>
              <a:cs typeface="Times New Roman"/>
            </a:endParaRPr>
          </a:p>
          <a:p>
            <a:pPr marL="240029" marR="5080" indent="-227329" algn="just">
              <a:lnSpc>
                <a:spcPct val="99200"/>
              </a:lnSpc>
              <a:spcBef>
                <a:spcPts val="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Below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basic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structure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stateful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widget. 	</a:t>
            </a:r>
            <a:r>
              <a:rPr sz="2400" i="1" dirty="0">
                <a:latin typeface="Times New Roman"/>
                <a:cs typeface="Times New Roman"/>
              </a:rPr>
              <a:t>Stateful</a:t>
            </a:r>
            <a:r>
              <a:rPr sz="2400" i="1" spc="47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widget</a:t>
            </a:r>
            <a:r>
              <a:rPr sz="2400" spc="47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overrides</a:t>
            </a:r>
            <a:r>
              <a:rPr sz="2400" spc="4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75" dirty="0">
                <a:latin typeface="Times New Roman"/>
                <a:cs typeface="Times New Roman"/>
              </a:rPr>
              <a:t>  </a:t>
            </a:r>
            <a:r>
              <a:rPr sz="2400" i="1" spc="-10" dirty="0">
                <a:latin typeface="Times New Roman"/>
                <a:cs typeface="Times New Roman"/>
              </a:rPr>
              <a:t>createState</a:t>
            </a:r>
            <a:r>
              <a:rPr sz="2400" spc="-10" dirty="0">
                <a:latin typeface="Times New Roman"/>
                <a:cs typeface="Times New Roman"/>
              </a:rPr>
              <a:t>() 	</a:t>
            </a:r>
            <a:r>
              <a:rPr sz="2400" dirty="0">
                <a:latin typeface="Times New Roman"/>
                <a:cs typeface="Times New Roman"/>
              </a:rPr>
              <a:t>method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returns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State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 marL="240029" indent="-227329" algn="just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UI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change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dynamically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69540" y="1513840"/>
            <a:ext cx="4687824" cy="45079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2000" cy="152558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0600" y="290972"/>
            <a:ext cx="10541635" cy="790473"/>
          </a:xfrm>
          <a:prstGeom prst="rect">
            <a:avLst/>
          </a:prstGeom>
        </p:spPr>
        <p:txBody>
          <a:bodyPr vert="horz" wrap="square" lIns="0" tIns="173228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latin typeface="Comic Sans MS" panose="030F0702030302020204" pitchFamily="66" charset="0"/>
              </a:rPr>
              <a:t>Platform</a:t>
            </a:r>
            <a:r>
              <a:rPr sz="4000" spc="-125" dirty="0">
                <a:latin typeface="Comic Sans MS" panose="030F0702030302020204" pitchFamily="66" charset="0"/>
              </a:rPr>
              <a:t> </a:t>
            </a:r>
            <a:r>
              <a:rPr sz="4000" spc="-10" dirty="0">
                <a:latin typeface="Comic Sans MS" panose="030F0702030302020204" pitchFamily="66" charset="0"/>
              </a:rPr>
              <a:t>independent</a:t>
            </a:r>
            <a:r>
              <a:rPr sz="4000" spc="-110" dirty="0">
                <a:latin typeface="Comic Sans MS" panose="030F0702030302020204" pitchFamily="66" charset="0"/>
              </a:rPr>
              <a:t> </a:t>
            </a:r>
            <a:r>
              <a:rPr sz="4000" dirty="0">
                <a:latin typeface="Comic Sans MS" panose="030F0702030302020204" pitchFamily="66" charset="0"/>
              </a:rPr>
              <a:t>/</a:t>
            </a:r>
            <a:r>
              <a:rPr sz="4000" spc="-110" dirty="0">
                <a:latin typeface="Comic Sans MS" panose="030F0702030302020204" pitchFamily="66" charset="0"/>
              </a:rPr>
              <a:t> </a:t>
            </a:r>
            <a:r>
              <a:rPr sz="4000" dirty="0">
                <a:latin typeface="Comic Sans MS" panose="030F0702030302020204" pitchFamily="66" charset="0"/>
              </a:rPr>
              <a:t>basic</a:t>
            </a:r>
            <a:r>
              <a:rPr sz="4000" spc="-110" dirty="0">
                <a:latin typeface="Comic Sans MS" panose="030F0702030302020204" pitchFamily="66" charset="0"/>
              </a:rPr>
              <a:t> </a:t>
            </a:r>
            <a:r>
              <a:rPr sz="4000" spc="-10" dirty="0">
                <a:latin typeface="Comic Sans MS" panose="030F0702030302020204" pitchFamily="66" charset="0"/>
              </a:rPr>
              <a:t>widgets</a:t>
            </a:r>
            <a:endParaRPr sz="400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1697228"/>
            <a:ext cx="12113261" cy="272324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sz="2400" dirty="0">
                <a:latin typeface="Comic Sans MS" panose="030F0702030302020204" pitchFamily="66" charset="0"/>
                <a:cs typeface="Times New Roman"/>
              </a:rPr>
              <a:t>Flutter</a:t>
            </a:r>
            <a:r>
              <a:rPr sz="2400" spc="7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provides</a:t>
            </a:r>
            <a:r>
              <a:rPr sz="2400" spc="7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large</a:t>
            </a:r>
            <a:r>
              <a:rPr sz="2400" spc="7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number</a:t>
            </a:r>
            <a:r>
              <a:rPr sz="2400" spc="7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of</a:t>
            </a:r>
            <a:r>
              <a:rPr sz="2400" spc="7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basic</a:t>
            </a:r>
            <a:r>
              <a:rPr sz="2400" spc="7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widgets</a:t>
            </a:r>
            <a:r>
              <a:rPr sz="2400" spc="7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to</a:t>
            </a:r>
            <a:r>
              <a:rPr sz="2400" spc="7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create</a:t>
            </a:r>
            <a:r>
              <a:rPr sz="2400" spc="7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simple</a:t>
            </a:r>
            <a:r>
              <a:rPr sz="2400" spc="7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as</a:t>
            </a:r>
            <a:r>
              <a:rPr sz="2400" spc="8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well</a:t>
            </a:r>
            <a:r>
              <a:rPr sz="2400" spc="6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as</a:t>
            </a:r>
            <a:r>
              <a:rPr sz="2400" spc="7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complex</a:t>
            </a:r>
            <a:r>
              <a:rPr sz="2400" spc="7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spc="-20" dirty="0">
                <a:latin typeface="Comic Sans MS" panose="030F0702030302020204" pitchFamily="66" charset="0"/>
                <a:cs typeface="Times New Roman"/>
              </a:rPr>
              <a:t>user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interface</a:t>
            </a:r>
            <a:r>
              <a:rPr sz="2400" spc="-3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in</a:t>
            </a:r>
            <a:r>
              <a:rPr sz="240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a</a:t>
            </a:r>
            <a:r>
              <a:rPr sz="2400" spc="-3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platform</a:t>
            </a:r>
            <a:r>
              <a:rPr sz="2400" spc="-2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independent</a:t>
            </a:r>
            <a:r>
              <a:rPr sz="2400" spc="-3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spc="-10" dirty="0">
                <a:latin typeface="Comic Sans MS" panose="030F0702030302020204" pitchFamily="66" charset="0"/>
                <a:cs typeface="Times New Roman"/>
              </a:rPr>
              <a:t>manner.</a:t>
            </a:r>
            <a:endParaRPr sz="2400" dirty="0">
              <a:latin typeface="Comic Sans MS" panose="030F0702030302020204" pitchFamily="66" charset="0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85"/>
              </a:spcBef>
            </a:pPr>
            <a:r>
              <a:rPr sz="3200" b="1" spc="-20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Text</a:t>
            </a:r>
            <a:endParaRPr sz="3200" dirty="0">
              <a:latin typeface="Comic Sans MS" panose="030F0702030302020204" pitchFamily="66" charset="0"/>
              <a:cs typeface="Times New Roman"/>
            </a:endParaRPr>
          </a:p>
          <a:p>
            <a:pPr marL="12700" marR="707390">
              <a:lnSpc>
                <a:spcPct val="100800"/>
              </a:lnSpc>
              <a:spcBef>
                <a:spcPts val="295"/>
              </a:spcBef>
            </a:pPr>
            <a:r>
              <a:rPr sz="2400" spc="-20" dirty="0">
                <a:latin typeface="Comic Sans MS" panose="030F0702030302020204" pitchFamily="66" charset="0"/>
                <a:cs typeface="Times New Roman"/>
              </a:rPr>
              <a:t>Text</a:t>
            </a:r>
            <a:r>
              <a:rPr sz="2400" spc="-3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widget</a:t>
            </a:r>
            <a:r>
              <a:rPr sz="2400" spc="-2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is</a:t>
            </a:r>
            <a:r>
              <a:rPr sz="240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used</a:t>
            </a:r>
            <a:r>
              <a:rPr sz="240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to</a:t>
            </a:r>
            <a:r>
              <a:rPr sz="240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display</a:t>
            </a:r>
            <a:r>
              <a:rPr sz="240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a</a:t>
            </a:r>
            <a:r>
              <a:rPr sz="2400" spc="-2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piece</a:t>
            </a:r>
            <a:r>
              <a:rPr sz="2400" spc="-2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of</a:t>
            </a:r>
            <a:r>
              <a:rPr sz="240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string.</a:t>
            </a:r>
            <a:r>
              <a:rPr sz="2400" spc="-6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The</a:t>
            </a:r>
            <a:r>
              <a:rPr sz="2400" spc="-2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style</a:t>
            </a:r>
            <a:r>
              <a:rPr sz="2400" spc="-2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of</a:t>
            </a:r>
            <a:r>
              <a:rPr sz="240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the</a:t>
            </a:r>
            <a:r>
              <a:rPr sz="2400" spc="-2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string</a:t>
            </a:r>
            <a:r>
              <a:rPr sz="2400" spc="-2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can</a:t>
            </a:r>
            <a:r>
              <a:rPr sz="2400" spc="-2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be</a:t>
            </a:r>
            <a:r>
              <a:rPr sz="2400" spc="-2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set</a:t>
            </a:r>
            <a:r>
              <a:rPr sz="2400" spc="-25" dirty="0">
                <a:latin typeface="Comic Sans MS" panose="030F0702030302020204" pitchFamily="66" charset="0"/>
                <a:cs typeface="Times New Roman"/>
              </a:rPr>
              <a:t> by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using</a:t>
            </a:r>
            <a:r>
              <a:rPr sz="2400" spc="-3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style</a:t>
            </a:r>
            <a:r>
              <a:rPr sz="2400" spc="-3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property</a:t>
            </a:r>
            <a:r>
              <a:rPr sz="2400" spc="-3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and</a:t>
            </a:r>
            <a:r>
              <a:rPr sz="2400" spc="-7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spc="-10" dirty="0">
                <a:latin typeface="Comic Sans MS" panose="030F0702030302020204" pitchFamily="66" charset="0"/>
                <a:cs typeface="Times New Roman"/>
              </a:rPr>
              <a:t>TextStyle</a:t>
            </a:r>
            <a:r>
              <a:rPr sz="2400" spc="-3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class.</a:t>
            </a:r>
            <a:r>
              <a:rPr sz="2400" spc="-8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The</a:t>
            </a:r>
            <a:r>
              <a:rPr sz="2400" spc="-3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sample</a:t>
            </a:r>
            <a:r>
              <a:rPr sz="2400" spc="-3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code</a:t>
            </a:r>
            <a:r>
              <a:rPr sz="2400" spc="-4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for</a:t>
            </a:r>
            <a:r>
              <a:rPr sz="2400" spc="-30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this</a:t>
            </a:r>
            <a:r>
              <a:rPr sz="2400" spc="-3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purpose</a:t>
            </a:r>
            <a:r>
              <a:rPr sz="2400" spc="-3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is</a:t>
            </a:r>
            <a:r>
              <a:rPr sz="2400" spc="-3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spc="-25" dirty="0">
                <a:latin typeface="Comic Sans MS" panose="030F0702030302020204" pitchFamily="66" charset="0"/>
                <a:cs typeface="Times New Roman"/>
              </a:rPr>
              <a:t>as </a:t>
            </a:r>
            <a:r>
              <a:rPr sz="2400" dirty="0">
                <a:latin typeface="Comic Sans MS" panose="030F0702030302020204" pitchFamily="66" charset="0"/>
                <a:cs typeface="Times New Roman"/>
              </a:rPr>
              <a:t>follows</a:t>
            </a:r>
            <a:r>
              <a:rPr sz="2400" spc="-65" dirty="0">
                <a:latin typeface="Comic Sans MS" panose="030F0702030302020204" pitchFamily="66" charset="0"/>
                <a:cs typeface="Times New Roman"/>
              </a:rPr>
              <a:t> </a:t>
            </a:r>
            <a:r>
              <a:rPr sz="2400" spc="-50" dirty="0">
                <a:latin typeface="Comic Sans MS" panose="030F0702030302020204" pitchFamily="66" charset="0"/>
                <a:cs typeface="Times New Roman"/>
              </a:rPr>
              <a:t>−</a:t>
            </a:r>
            <a:endParaRPr sz="2400" dirty="0">
              <a:latin typeface="Comic Sans MS" panose="030F0702030302020204" pitchFamily="66" charset="0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8216" y="4617616"/>
            <a:ext cx="8735568" cy="13776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163185" y="211836"/>
            <a:ext cx="93281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05" dirty="0"/>
              <a:t>Text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1400" y="3169918"/>
            <a:ext cx="4706111" cy="259384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0" y="1387347"/>
            <a:ext cx="12192000" cy="13030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99600"/>
              </a:lnSpc>
              <a:spcBef>
                <a:spcPts val="110"/>
              </a:spcBef>
            </a:pPr>
            <a:r>
              <a:rPr sz="2800" spc="-10" dirty="0">
                <a:latin typeface="Times New Roman"/>
                <a:cs typeface="Times New Roman"/>
              </a:rPr>
              <a:t>Text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widget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special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constructor,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Text.rich,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which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accepts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child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type </a:t>
            </a:r>
            <a:r>
              <a:rPr sz="2800" spc="-10" dirty="0">
                <a:latin typeface="Times New Roman"/>
                <a:cs typeface="Times New Roman"/>
              </a:rPr>
              <a:t>TextSpan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specify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string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different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style.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TextSpan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widget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recursive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nature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accepts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TextSpan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children.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1143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15585" y="266700"/>
            <a:ext cx="93281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05" dirty="0"/>
              <a:t>Text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152400" y="1386332"/>
            <a:ext cx="12039599" cy="40806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most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important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properties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i="1" spc="-30" dirty="0">
                <a:latin typeface="Times New Roman"/>
                <a:cs typeface="Times New Roman"/>
              </a:rPr>
              <a:t>Text</a:t>
            </a:r>
            <a:r>
              <a:rPr sz="2400" i="1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widget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follows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−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Times New Roman"/>
                <a:cs typeface="Times New Roman"/>
              </a:rPr>
              <a:t>maxLines,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int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−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Maximum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show</a:t>
            </a:r>
            <a:endParaRPr sz="2400" dirty="0">
              <a:latin typeface="Times New Roman"/>
              <a:cs typeface="Times New Roman"/>
            </a:endParaRPr>
          </a:p>
          <a:p>
            <a:pPr marL="240029" marR="5080" indent="-227329">
              <a:lnSpc>
                <a:spcPts val="259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  <a:tab pos="1629410" algn="l"/>
                <a:tab pos="3691254" algn="l"/>
                <a:tab pos="4058920" algn="l"/>
                <a:tab pos="5184775" algn="l"/>
                <a:tab pos="5906135" algn="l"/>
                <a:tab pos="6828790" algn="l"/>
                <a:tab pos="8124825" algn="l"/>
                <a:tab pos="8524240" algn="l"/>
                <a:tab pos="968311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overflow,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TextOverFlow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−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Specify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how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visual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overflow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handled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using 	</a:t>
            </a:r>
            <a:r>
              <a:rPr sz="2400" spc="-20" dirty="0">
                <a:latin typeface="Times New Roman"/>
                <a:cs typeface="Times New Roman"/>
              </a:rPr>
              <a:t>TextOverFlow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class</a:t>
            </a:r>
            <a:endParaRPr sz="24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Times New Roman"/>
                <a:cs typeface="Times New Roman"/>
              </a:rPr>
              <a:t>style,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TextStyle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−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style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TextStyle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class</a:t>
            </a:r>
            <a:endParaRPr sz="2400" dirty="0">
              <a:latin typeface="Times New Roman"/>
              <a:cs typeface="Times New Roman"/>
            </a:endParaRPr>
          </a:p>
          <a:p>
            <a:pPr marL="240029" marR="5080" indent="-227329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Times New Roman"/>
                <a:cs typeface="Times New Roman"/>
              </a:rPr>
              <a:t>textAlign,</a:t>
            </a:r>
            <a:r>
              <a:rPr sz="2400" b="1" spc="254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TextAlign</a:t>
            </a:r>
            <a:r>
              <a:rPr sz="2400" b="1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−</a:t>
            </a:r>
            <a:r>
              <a:rPr sz="2400" spc="2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Alignment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text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like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right,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left,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justify,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etc.,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using 	TextAlign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class</a:t>
            </a:r>
            <a:endParaRPr sz="2400" dirty="0">
              <a:latin typeface="Times New Roman"/>
              <a:cs typeface="Times New Roman"/>
            </a:endParaRPr>
          </a:p>
          <a:p>
            <a:pPr marL="240029" marR="5080" indent="-227329">
              <a:lnSpc>
                <a:spcPts val="262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  <a:tab pos="2149475" algn="l"/>
                <a:tab pos="4055745" algn="l"/>
                <a:tab pos="4357370" algn="l"/>
                <a:tab pos="5636895" algn="l"/>
                <a:tab pos="6021070" algn="l"/>
                <a:tab pos="6606540" algn="l"/>
                <a:tab pos="6972934" algn="l"/>
                <a:tab pos="7718425" algn="l"/>
                <a:tab pos="8540750" algn="l"/>
                <a:tab pos="1008951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textDirection,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TextDirection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−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Direction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text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flow,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either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left-to-right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or 	</a:t>
            </a:r>
            <a:r>
              <a:rPr sz="2400" spc="-10" dirty="0">
                <a:latin typeface="Times New Roman"/>
                <a:cs typeface="Times New Roman"/>
              </a:rPr>
              <a:t>right-to-</a:t>
            </a:r>
            <a:r>
              <a:rPr sz="2400" spc="-20" dirty="0">
                <a:latin typeface="Times New Roman"/>
                <a:cs typeface="Times New Roman"/>
              </a:rPr>
              <a:t>left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27" y="-3556"/>
            <a:ext cx="12192000" cy="98263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62600" y="-3556"/>
            <a:ext cx="2924174" cy="982633"/>
          </a:xfrm>
          <a:prstGeom prst="rect">
            <a:avLst/>
          </a:prstGeom>
        </p:spPr>
        <p:txBody>
          <a:bodyPr vert="horz" wrap="square" lIns="0" tIns="31334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Image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0" y="1568450"/>
            <a:ext cx="12191999" cy="3929666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269240" indent="-227329">
              <a:lnSpc>
                <a:spcPct val="100000"/>
              </a:lnSpc>
              <a:spcBef>
                <a:spcPts val="820"/>
              </a:spcBef>
              <a:buFont typeface="Arial MT"/>
              <a:buChar char="•"/>
              <a:tabLst>
                <a:tab pos="269240" algn="l"/>
              </a:tabLst>
            </a:pPr>
            <a:r>
              <a:rPr sz="2000" b="1" dirty="0">
                <a:latin typeface="Comic Sans MS" panose="030F0702030302020204" pitchFamily="66" charset="0"/>
              </a:rPr>
              <a:t>Image</a:t>
            </a:r>
            <a:r>
              <a:rPr sz="2000" b="1" spc="-30" dirty="0">
                <a:latin typeface="Comic Sans MS" panose="030F0702030302020204" pitchFamily="66" charset="0"/>
              </a:rPr>
              <a:t> </a:t>
            </a:r>
            <a:r>
              <a:rPr sz="2000" dirty="0">
                <a:latin typeface="Comic Sans MS" panose="030F0702030302020204" pitchFamily="66" charset="0"/>
              </a:rPr>
              <a:t>−</a:t>
            </a:r>
            <a:r>
              <a:rPr sz="2000" spc="-30" dirty="0">
                <a:latin typeface="Comic Sans MS" panose="030F0702030302020204" pitchFamily="66" charset="0"/>
              </a:rPr>
              <a:t> </a:t>
            </a:r>
            <a:r>
              <a:rPr sz="2000" dirty="0">
                <a:latin typeface="Comic Sans MS" panose="030F0702030302020204" pitchFamily="66" charset="0"/>
              </a:rPr>
              <a:t>Generic</a:t>
            </a:r>
            <a:r>
              <a:rPr sz="2000" spc="-25" dirty="0">
                <a:latin typeface="Comic Sans MS" panose="030F0702030302020204" pitchFamily="66" charset="0"/>
              </a:rPr>
              <a:t> </a:t>
            </a:r>
            <a:r>
              <a:rPr sz="2000" dirty="0">
                <a:latin typeface="Comic Sans MS" panose="030F0702030302020204" pitchFamily="66" charset="0"/>
              </a:rPr>
              <a:t>image</a:t>
            </a:r>
            <a:r>
              <a:rPr sz="2000" spc="-30" dirty="0">
                <a:latin typeface="Comic Sans MS" panose="030F0702030302020204" pitchFamily="66" charset="0"/>
              </a:rPr>
              <a:t> </a:t>
            </a:r>
            <a:r>
              <a:rPr sz="2000" dirty="0">
                <a:latin typeface="Comic Sans MS" panose="030F0702030302020204" pitchFamily="66" charset="0"/>
              </a:rPr>
              <a:t>loader</a:t>
            </a:r>
            <a:r>
              <a:rPr sz="2000" spc="-25" dirty="0">
                <a:latin typeface="Comic Sans MS" panose="030F0702030302020204" pitchFamily="66" charset="0"/>
              </a:rPr>
              <a:t> </a:t>
            </a:r>
            <a:r>
              <a:rPr sz="2000" dirty="0">
                <a:latin typeface="Comic Sans MS" panose="030F0702030302020204" pitchFamily="66" charset="0"/>
              </a:rPr>
              <a:t>using</a:t>
            </a:r>
            <a:r>
              <a:rPr sz="2000" spc="-25" dirty="0">
                <a:latin typeface="Comic Sans MS" panose="030F0702030302020204" pitchFamily="66" charset="0"/>
              </a:rPr>
              <a:t> </a:t>
            </a:r>
            <a:r>
              <a:rPr sz="2000" i="1" spc="-10" dirty="0">
                <a:latin typeface="Comic Sans MS" panose="030F0702030302020204" pitchFamily="66" charset="0"/>
              </a:rPr>
              <a:t>ImageProvider</a:t>
            </a:r>
          </a:p>
          <a:p>
            <a:pPr marL="269240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69240" algn="l"/>
              </a:tabLst>
            </a:pPr>
            <a:r>
              <a:rPr sz="2000" b="1" dirty="0">
                <a:latin typeface="Comic Sans MS" panose="030F0702030302020204" pitchFamily="66" charset="0"/>
              </a:rPr>
              <a:t>Image.asset</a:t>
            </a:r>
            <a:r>
              <a:rPr sz="2000" b="1" spc="-40" dirty="0">
                <a:latin typeface="Comic Sans MS" panose="030F0702030302020204" pitchFamily="66" charset="0"/>
              </a:rPr>
              <a:t> </a:t>
            </a:r>
            <a:r>
              <a:rPr sz="2000" dirty="0">
                <a:latin typeface="Comic Sans MS" panose="030F0702030302020204" pitchFamily="66" charset="0"/>
              </a:rPr>
              <a:t>−</a:t>
            </a:r>
            <a:r>
              <a:rPr sz="2000" spc="-45" dirty="0">
                <a:latin typeface="Comic Sans MS" panose="030F0702030302020204" pitchFamily="66" charset="0"/>
              </a:rPr>
              <a:t> </a:t>
            </a:r>
            <a:r>
              <a:rPr sz="2000" dirty="0">
                <a:latin typeface="Comic Sans MS" panose="030F0702030302020204" pitchFamily="66" charset="0"/>
              </a:rPr>
              <a:t>Load</a:t>
            </a:r>
            <a:r>
              <a:rPr sz="2000" spc="-40" dirty="0">
                <a:latin typeface="Comic Sans MS" panose="030F0702030302020204" pitchFamily="66" charset="0"/>
              </a:rPr>
              <a:t> </a:t>
            </a:r>
            <a:r>
              <a:rPr sz="2000" dirty="0">
                <a:latin typeface="Comic Sans MS" panose="030F0702030302020204" pitchFamily="66" charset="0"/>
              </a:rPr>
              <a:t>image</a:t>
            </a:r>
            <a:r>
              <a:rPr sz="2000" spc="-45" dirty="0">
                <a:latin typeface="Comic Sans MS" panose="030F0702030302020204" pitchFamily="66" charset="0"/>
              </a:rPr>
              <a:t> </a:t>
            </a:r>
            <a:r>
              <a:rPr sz="2000" dirty="0">
                <a:latin typeface="Comic Sans MS" panose="030F0702030302020204" pitchFamily="66" charset="0"/>
              </a:rPr>
              <a:t>from</a:t>
            </a:r>
            <a:r>
              <a:rPr sz="2000" spc="-45" dirty="0">
                <a:latin typeface="Comic Sans MS" panose="030F0702030302020204" pitchFamily="66" charset="0"/>
              </a:rPr>
              <a:t> </a:t>
            </a:r>
            <a:r>
              <a:rPr sz="2000" dirty="0">
                <a:latin typeface="Comic Sans MS" panose="030F0702030302020204" pitchFamily="66" charset="0"/>
              </a:rPr>
              <a:t>flutter</a:t>
            </a:r>
            <a:r>
              <a:rPr sz="2000" spc="-35" dirty="0">
                <a:latin typeface="Comic Sans MS" panose="030F0702030302020204" pitchFamily="66" charset="0"/>
              </a:rPr>
              <a:t> </a:t>
            </a:r>
            <a:r>
              <a:rPr sz="2000" spc="-10" dirty="0">
                <a:latin typeface="Comic Sans MS" panose="030F0702030302020204" pitchFamily="66" charset="0"/>
              </a:rPr>
              <a:t>project’s</a:t>
            </a:r>
            <a:r>
              <a:rPr sz="2000" spc="-40" dirty="0">
                <a:latin typeface="Comic Sans MS" panose="030F0702030302020204" pitchFamily="66" charset="0"/>
              </a:rPr>
              <a:t> </a:t>
            </a:r>
            <a:r>
              <a:rPr sz="2000" spc="-10" dirty="0">
                <a:latin typeface="Comic Sans MS" panose="030F0702030302020204" pitchFamily="66" charset="0"/>
              </a:rPr>
              <a:t>assets</a:t>
            </a:r>
          </a:p>
          <a:p>
            <a:pPr marL="269240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69240" algn="l"/>
              </a:tabLst>
            </a:pPr>
            <a:r>
              <a:rPr sz="2000" b="1" dirty="0">
                <a:latin typeface="Comic Sans MS" panose="030F0702030302020204" pitchFamily="66" charset="0"/>
              </a:rPr>
              <a:t>Image.file</a:t>
            </a:r>
            <a:r>
              <a:rPr sz="2000" b="1" spc="-30" dirty="0">
                <a:latin typeface="Comic Sans MS" panose="030F0702030302020204" pitchFamily="66" charset="0"/>
              </a:rPr>
              <a:t> </a:t>
            </a:r>
            <a:r>
              <a:rPr sz="2000" dirty="0">
                <a:latin typeface="Comic Sans MS" panose="030F0702030302020204" pitchFamily="66" charset="0"/>
              </a:rPr>
              <a:t>−</a:t>
            </a:r>
            <a:r>
              <a:rPr sz="2000" spc="-30" dirty="0">
                <a:latin typeface="Comic Sans MS" panose="030F0702030302020204" pitchFamily="66" charset="0"/>
              </a:rPr>
              <a:t> </a:t>
            </a:r>
            <a:r>
              <a:rPr sz="2000" dirty="0">
                <a:latin typeface="Comic Sans MS" panose="030F0702030302020204" pitchFamily="66" charset="0"/>
              </a:rPr>
              <a:t>Load</a:t>
            </a:r>
            <a:r>
              <a:rPr sz="2000" spc="-25" dirty="0">
                <a:latin typeface="Comic Sans MS" panose="030F0702030302020204" pitchFamily="66" charset="0"/>
              </a:rPr>
              <a:t> </a:t>
            </a:r>
            <a:r>
              <a:rPr sz="2000" dirty="0">
                <a:latin typeface="Comic Sans MS" panose="030F0702030302020204" pitchFamily="66" charset="0"/>
              </a:rPr>
              <a:t>image</a:t>
            </a:r>
            <a:r>
              <a:rPr sz="2000" spc="-30" dirty="0">
                <a:latin typeface="Comic Sans MS" panose="030F0702030302020204" pitchFamily="66" charset="0"/>
              </a:rPr>
              <a:t> </a:t>
            </a:r>
            <a:r>
              <a:rPr sz="2000" dirty="0">
                <a:latin typeface="Comic Sans MS" panose="030F0702030302020204" pitchFamily="66" charset="0"/>
              </a:rPr>
              <a:t>from</a:t>
            </a:r>
            <a:r>
              <a:rPr sz="2000" spc="-30" dirty="0">
                <a:latin typeface="Comic Sans MS" panose="030F0702030302020204" pitchFamily="66" charset="0"/>
              </a:rPr>
              <a:t> </a:t>
            </a:r>
            <a:r>
              <a:rPr sz="2000" dirty="0">
                <a:latin typeface="Comic Sans MS" panose="030F0702030302020204" pitchFamily="66" charset="0"/>
              </a:rPr>
              <a:t>system</a:t>
            </a:r>
            <a:r>
              <a:rPr sz="2000" spc="-30" dirty="0">
                <a:latin typeface="Comic Sans MS" panose="030F0702030302020204" pitchFamily="66" charset="0"/>
              </a:rPr>
              <a:t> </a:t>
            </a:r>
            <a:r>
              <a:rPr sz="2000" spc="-10" dirty="0">
                <a:latin typeface="Comic Sans MS" panose="030F0702030302020204" pitchFamily="66" charset="0"/>
              </a:rPr>
              <a:t>folder</a:t>
            </a:r>
          </a:p>
          <a:p>
            <a:pPr marL="269240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69240" algn="l"/>
              </a:tabLst>
            </a:pPr>
            <a:r>
              <a:rPr sz="2000" b="1" dirty="0">
                <a:latin typeface="Comic Sans MS" panose="030F0702030302020204" pitchFamily="66" charset="0"/>
              </a:rPr>
              <a:t>Image.memory</a:t>
            </a:r>
            <a:r>
              <a:rPr sz="2000" b="1" spc="-35" dirty="0">
                <a:latin typeface="Comic Sans MS" panose="030F0702030302020204" pitchFamily="66" charset="0"/>
              </a:rPr>
              <a:t> </a:t>
            </a:r>
            <a:r>
              <a:rPr sz="2000" dirty="0">
                <a:latin typeface="Comic Sans MS" panose="030F0702030302020204" pitchFamily="66" charset="0"/>
              </a:rPr>
              <a:t>−</a:t>
            </a:r>
            <a:r>
              <a:rPr sz="2000" spc="-30" dirty="0">
                <a:latin typeface="Comic Sans MS" panose="030F0702030302020204" pitchFamily="66" charset="0"/>
              </a:rPr>
              <a:t> </a:t>
            </a:r>
            <a:r>
              <a:rPr sz="2000" dirty="0">
                <a:latin typeface="Comic Sans MS" panose="030F0702030302020204" pitchFamily="66" charset="0"/>
              </a:rPr>
              <a:t>Load</a:t>
            </a:r>
            <a:r>
              <a:rPr sz="2000" spc="-25" dirty="0">
                <a:latin typeface="Comic Sans MS" panose="030F0702030302020204" pitchFamily="66" charset="0"/>
              </a:rPr>
              <a:t> </a:t>
            </a:r>
            <a:r>
              <a:rPr sz="2000" dirty="0">
                <a:latin typeface="Comic Sans MS" panose="030F0702030302020204" pitchFamily="66" charset="0"/>
              </a:rPr>
              <a:t>image</a:t>
            </a:r>
            <a:r>
              <a:rPr sz="2000" spc="-35" dirty="0">
                <a:latin typeface="Comic Sans MS" panose="030F0702030302020204" pitchFamily="66" charset="0"/>
              </a:rPr>
              <a:t> </a:t>
            </a:r>
            <a:r>
              <a:rPr sz="2000" dirty="0">
                <a:latin typeface="Comic Sans MS" panose="030F0702030302020204" pitchFamily="66" charset="0"/>
              </a:rPr>
              <a:t>from</a:t>
            </a:r>
            <a:r>
              <a:rPr sz="2000" spc="-30" dirty="0">
                <a:latin typeface="Comic Sans MS" panose="030F0702030302020204" pitchFamily="66" charset="0"/>
              </a:rPr>
              <a:t> </a:t>
            </a:r>
            <a:r>
              <a:rPr sz="2000" spc="-10" dirty="0">
                <a:latin typeface="Comic Sans MS" panose="030F0702030302020204" pitchFamily="66" charset="0"/>
              </a:rPr>
              <a:t>memory</a:t>
            </a:r>
          </a:p>
          <a:p>
            <a:pPr marL="269240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69240" algn="l"/>
              </a:tabLst>
            </a:pPr>
            <a:r>
              <a:rPr sz="2000" b="1" dirty="0">
                <a:latin typeface="Comic Sans MS" panose="030F0702030302020204" pitchFamily="66" charset="0"/>
              </a:rPr>
              <a:t>Image.Network</a:t>
            </a:r>
            <a:r>
              <a:rPr sz="2000" b="1" spc="-35" dirty="0">
                <a:latin typeface="Comic Sans MS" panose="030F0702030302020204" pitchFamily="66" charset="0"/>
              </a:rPr>
              <a:t> </a:t>
            </a:r>
            <a:r>
              <a:rPr sz="2000" dirty="0">
                <a:latin typeface="Comic Sans MS" panose="030F0702030302020204" pitchFamily="66" charset="0"/>
              </a:rPr>
              <a:t>−</a:t>
            </a:r>
            <a:r>
              <a:rPr sz="2000" spc="-35" dirty="0">
                <a:latin typeface="Comic Sans MS" panose="030F0702030302020204" pitchFamily="66" charset="0"/>
              </a:rPr>
              <a:t> </a:t>
            </a:r>
            <a:r>
              <a:rPr sz="2000" dirty="0">
                <a:latin typeface="Comic Sans MS" panose="030F0702030302020204" pitchFamily="66" charset="0"/>
              </a:rPr>
              <a:t>Load</a:t>
            </a:r>
            <a:r>
              <a:rPr sz="2000" spc="-30" dirty="0">
                <a:latin typeface="Comic Sans MS" panose="030F0702030302020204" pitchFamily="66" charset="0"/>
              </a:rPr>
              <a:t> </a:t>
            </a:r>
            <a:r>
              <a:rPr sz="2000" dirty="0">
                <a:latin typeface="Comic Sans MS" panose="030F0702030302020204" pitchFamily="66" charset="0"/>
              </a:rPr>
              <a:t>image</a:t>
            </a:r>
            <a:r>
              <a:rPr sz="2000" spc="-35" dirty="0">
                <a:latin typeface="Comic Sans MS" panose="030F0702030302020204" pitchFamily="66" charset="0"/>
              </a:rPr>
              <a:t> </a:t>
            </a:r>
            <a:r>
              <a:rPr sz="2000" dirty="0">
                <a:latin typeface="Comic Sans MS" panose="030F0702030302020204" pitchFamily="66" charset="0"/>
              </a:rPr>
              <a:t>from</a:t>
            </a:r>
            <a:r>
              <a:rPr sz="2000" spc="-35" dirty="0">
                <a:latin typeface="Comic Sans MS" panose="030F0702030302020204" pitchFamily="66" charset="0"/>
              </a:rPr>
              <a:t> </a:t>
            </a:r>
            <a:r>
              <a:rPr sz="2000" spc="-10" dirty="0">
                <a:latin typeface="Comic Sans MS" panose="030F0702030302020204" pitchFamily="66" charset="0"/>
              </a:rPr>
              <a:t>network</a:t>
            </a:r>
          </a:p>
          <a:p>
            <a:pPr marL="41910" marR="5080">
              <a:lnSpc>
                <a:spcPct val="101099"/>
              </a:lnSpc>
              <a:spcBef>
                <a:spcPts val="2495"/>
              </a:spcBef>
            </a:pP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</a:rPr>
              <a:t>The</a:t>
            </a:r>
            <a:r>
              <a:rPr sz="1800" spc="-25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</a:rPr>
              <a:t>easiest</a:t>
            </a:r>
            <a:r>
              <a:rPr sz="1800" spc="-25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</a:rPr>
              <a:t>option</a:t>
            </a:r>
            <a:r>
              <a:rPr sz="1800" spc="-2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</a:rPr>
              <a:t>to</a:t>
            </a:r>
            <a:r>
              <a:rPr sz="1800" spc="-2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</a:rPr>
              <a:t>load</a:t>
            </a:r>
            <a:r>
              <a:rPr sz="1800" spc="-2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</a:rPr>
              <a:t>and</a:t>
            </a:r>
            <a:r>
              <a:rPr sz="1800" spc="-2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</a:rPr>
              <a:t>display</a:t>
            </a:r>
            <a:r>
              <a:rPr sz="1800" spc="-2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</a:rPr>
              <a:t>an</a:t>
            </a:r>
            <a:r>
              <a:rPr sz="1800" spc="-2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</a:rPr>
              <a:t>image</a:t>
            </a:r>
            <a:r>
              <a:rPr sz="1800" spc="-25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</a:rPr>
              <a:t>in</a:t>
            </a:r>
            <a:r>
              <a:rPr sz="1800" spc="-25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omic Sans MS" panose="030F0702030302020204" pitchFamily="66" charset="0"/>
              </a:rPr>
              <a:t>Flutter</a:t>
            </a:r>
            <a:r>
              <a:rPr sz="1800" i="1" spc="-25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</a:rPr>
              <a:t>is</a:t>
            </a:r>
            <a:r>
              <a:rPr sz="1800" spc="-25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</a:rPr>
              <a:t>by</a:t>
            </a:r>
            <a:r>
              <a:rPr sz="1800" spc="-2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</a:rPr>
              <a:t>including</a:t>
            </a:r>
            <a:r>
              <a:rPr sz="1800" spc="-2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</a:rPr>
              <a:t>the</a:t>
            </a:r>
            <a:r>
              <a:rPr sz="1800" spc="-2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</a:rPr>
              <a:t>image</a:t>
            </a:r>
            <a:r>
              <a:rPr sz="1800" spc="-2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</a:rPr>
              <a:t>as</a:t>
            </a:r>
            <a:r>
              <a:rPr sz="1800" spc="-25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</a:rPr>
              <a:t>assets</a:t>
            </a:r>
            <a:r>
              <a:rPr sz="1800" spc="-25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</a:rPr>
              <a:t>of</a:t>
            </a:r>
            <a:r>
              <a:rPr sz="1800" spc="-2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</a:rPr>
              <a:t>the</a:t>
            </a:r>
            <a:r>
              <a:rPr sz="1800" spc="-25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</a:rPr>
              <a:t>application</a:t>
            </a:r>
            <a:r>
              <a:rPr sz="1800" spc="-2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omic Sans MS" panose="030F0702030302020204" pitchFamily="66" charset="0"/>
              </a:rPr>
              <a:t>and 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</a:rPr>
              <a:t>load</a:t>
            </a:r>
            <a:r>
              <a:rPr sz="1800" spc="-2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</a:rPr>
              <a:t>it</a:t>
            </a:r>
            <a:r>
              <a:rPr sz="1800" spc="-15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</a:rPr>
              <a:t>into</a:t>
            </a:r>
            <a:r>
              <a:rPr sz="1800" spc="-15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</a:rPr>
              <a:t>the</a:t>
            </a:r>
            <a:r>
              <a:rPr sz="1800" spc="-2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</a:rPr>
              <a:t>widget</a:t>
            </a:r>
            <a:r>
              <a:rPr sz="1800" spc="-15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</a:rPr>
              <a:t>on</a:t>
            </a:r>
            <a:r>
              <a:rPr sz="1800" spc="-15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mic Sans MS" panose="030F0702030302020204" pitchFamily="66" charset="0"/>
              </a:rPr>
              <a:t>demand</a:t>
            </a:r>
            <a:endParaRPr sz="1800" dirty="0">
              <a:latin typeface="Comic Sans MS" panose="030F0702030302020204" pitchFamily="66" charset="0"/>
            </a:endParaRPr>
          </a:p>
          <a:p>
            <a:pPr marL="29209">
              <a:lnSpc>
                <a:spcPct val="100000"/>
              </a:lnSpc>
              <a:spcBef>
                <a:spcPts val="450"/>
              </a:spcBef>
            </a:pPr>
            <a:endParaRPr sz="1800" dirty="0">
              <a:latin typeface="Comic Sans MS" panose="030F0702030302020204" pitchFamily="66" charset="0"/>
            </a:endParaRPr>
          </a:p>
          <a:p>
            <a:pPr marL="887730" lvl="1" indent="-285750">
              <a:lnSpc>
                <a:spcPct val="100000"/>
              </a:lnSpc>
              <a:buFont typeface="Arial MT"/>
              <a:buChar char="•"/>
              <a:tabLst>
                <a:tab pos="887730" algn="l"/>
              </a:tabLst>
            </a:pPr>
            <a:r>
              <a:rPr sz="1800" b="1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Create</a:t>
            </a:r>
            <a:r>
              <a:rPr sz="1800" b="1" spc="-40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a</a:t>
            </a:r>
            <a:r>
              <a:rPr sz="1800" b="1" spc="-35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folder,</a:t>
            </a:r>
            <a:r>
              <a:rPr sz="1800" b="1" spc="-30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assets</a:t>
            </a:r>
            <a:r>
              <a:rPr sz="1800" b="1" spc="-40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in</a:t>
            </a:r>
            <a:r>
              <a:rPr sz="1800" b="1" spc="-30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the</a:t>
            </a:r>
            <a:r>
              <a:rPr sz="1800" b="1" spc="-40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project</a:t>
            </a:r>
            <a:r>
              <a:rPr sz="1800" b="1" spc="-25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folder</a:t>
            </a:r>
            <a:r>
              <a:rPr sz="1800" b="1" spc="-35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and</a:t>
            </a:r>
            <a:r>
              <a:rPr sz="1800" b="1" spc="-35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place</a:t>
            </a:r>
            <a:r>
              <a:rPr sz="1800" b="1" spc="-35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the</a:t>
            </a:r>
            <a:r>
              <a:rPr sz="1800" b="1" spc="-40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necessary</a:t>
            </a:r>
            <a:r>
              <a:rPr sz="1800" b="1" spc="-30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images.</a:t>
            </a:r>
            <a:endParaRPr sz="1800" dirty="0">
              <a:latin typeface="Comic Sans MS" panose="030F0702030302020204" pitchFamily="66" charset="0"/>
              <a:cs typeface="Calibri"/>
            </a:endParaRPr>
          </a:p>
          <a:p>
            <a:pPr marL="1316990" lvl="2" indent="-285750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1316990" algn="l"/>
              </a:tabLst>
            </a:pP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Specify</a:t>
            </a:r>
            <a:r>
              <a:rPr sz="1800" spc="-35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the</a:t>
            </a:r>
            <a:r>
              <a:rPr sz="1800" spc="-35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assets</a:t>
            </a:r>
            <a:r>
              <a:rPr sz="1800" spc="-40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in</a:t>
            </a:r>
            <a:r>
              <a:rPr sz="1800" spc="-35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the</a:t>
            </a:r>
            <a:r>
              <a:rPr sz="1800" spc="-30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pubspec.yaml</a:t>
            </a:r>
            <a:r>
              <a:rPr sz="1800" spc="-35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as</a:t>
            </a:r>
            <a:r>
              <a:rPr sz="1800" spc="-40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shown</a:t>
            </a:r>
            <a:r>
              <a:rPr sz="1800" spc="-35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below</a:t>
            </a:r>
            <a:r>
              <a:rPr sz="1800" spc="-40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omic Sans MS" panose="030F0702030302020204" pitchFamily="66" charset="0"/>
                <a:cs typeface="Times New Roman"/>
              </a:rPr>
              <a:t>−</a:t>
            </a:r>
            <a:endParaRPr sz="1800" dirty="0">
              <a:latin typeface="Comic Sans MS" panose="030F0702030302020204" pitchFamily="66" charset="0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53000" y="5652833"/>
            <a:ext cx="2029968" cy="9723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55" y="13855"/>
            <a:ext cx="12192000" cy="9005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07739" y="-76200"/>
            <a:ext cx="4950461" cy="922817"/>
          </a:xfrm>
          <a:prstGeom prst="rect">
            <a:avLst/>
          </a:prstGeom>
        </p:spPr>
        <p:txBody>
          <a:bodyPr vert="horz" wrap="square" lIns="0" tIns="2433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Complete</a:t>
            </a:r>
            <a:r>
              <a:rPr sz="4400" spc="-185" dirty="0"/>
              <a:t> </a:t>
            </a:r>
            <a:r>
              <a:rPr sz="4400" spc="-10" dirty="0"/>
              <a:t>Example</a:t>
            </a:r>
            <a:endParaRPr sz="4400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7800" y="1621536"/>
            <a:ext cx="5824728" cy="305104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15400" y="1621536"/>
            <a:ext cx="2337816" cy="38130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2000" cy="1142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4539" y="128594"/>
            <a:ext cx="2359661" cy="938206"/>
          </a:xfrm>
          <a:prstGeom prst="rect">
            <a:avLst/>
          </a:prstGeom>
        </p:spPr>
        <p:txBody>
          <a:bodyPr vert="horz" wrap="square" lIns="0" tIns="25857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0" dirty="0"/>
              <a:t>Image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228600" y="1807971"/>
            <a:ext cx="11810999" cy="3039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most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important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properties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Image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widget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follows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−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2800" b="1" dirty="0">
                <a:latin typeface="Times New Roman"/>
                <a:cs typeface="Times New Roman"/>
              </a:rPr>
              <a:t>image,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ImageProvider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−</a:t>
            </a:r>
            <a:r>
              <a:rPr sz="2800" spc="-1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Actual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image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load</a:t>
            </a:r>
            <a:endParaRPr sz="28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1" dirty="0">
                <a:latin typeface="Times New Roman"/>
                <a:cs typeface="Times New Roman"/>
              </a:rPr>
              <a:t>width,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double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−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Width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image</a:t>
            </a:r>
            <a:endParaRPr sz="28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1" dirty="0">
                <a:latin typeface="Times New Roman"/>
                <a:cs typeface="Times New Roman"/>
              </a:rPr>
              <a:t>height,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double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−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Height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image</a:t>
            </a:r>
            <a:endParaRPr sz="280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00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alignment,</a:t>
            </a:r>
            <a:r>
              <a:rPr sz="2800" b="1" spc="-1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AlignmentGeometry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−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How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align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image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within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its </a:t>
            </a:r>
            <a:r>
              <a:rPr sz="2800" spc="-10" dirty="0">
                <a:latin typeface="Times New Roman"/>
                <a:cs typeface="Times New Roman"/>
              </a:rPr>
              <a:t>bounds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29" y="0"/>
            <a:ext cx="12152870" cy="97907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03139" y="-3556"/>
            <a:ext cx="1902461" cy="982633"/>
          </a:xfrm>
          <a:prstGeom prst="rect">
            <a:avLst/>
          </a:prstGeom>
        </p:spPr>
        <p:txBody>
          <a:bodyPr vert="horz" wrap="square" lIns="0" tIns="298103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10"/>
              </a:spcBef>
            </a:pPr>
            <a:r>
              <a:rPr spc="-20" dirty="0"/>
              <a:t>Icon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0" y="1905000"/>
            <a:ext cx="5090159" cy="3051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447</Words>
  <Application>Microsoft Office PowerPoint</Application>
  <PresentationFormat>Widescreen</PresentationFormat>
  <Paragraphs>83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 MT</vt:lpstr>
      <vt:lpstr>Calibri</vt:lpstr>
      <vt:lpstr>Calibri Light</vt:lpstr>
      <vt:lpstr>Comic Sans MS</vt:lpstr>
      <vt:lpstr>Georgia</vt:lpstr>
      <vt:lpstr>Times New Roman</vt:lpstr>
      <vt:lpstr>Wingdings</vt:lpstr>
      <vt:lpstr>Office Theme</vt:lpstr>
      <vt:lpstr>Mobile Learning Application Development</vt:lpstr>
      <vt:lpstr>Flutter Widget</vt:lpstr>
      <vt:lpstr>Platform specific widgets</vt:lpstr>
      <vt:lpstr>Layout widgets</vt:lpstr>
      <vt:lpstr>State maintenance widgets</vt:lpstr>
      <vt:lpstr>Stateless Widget</vt:lpstr>
      <vt:lpstr>Stateful Widget</vt:lpstr>
      <vt:lpstr>Platform independent / basic widgets</vt:lpstr>
      <vt:lpstr>Text</vt:lpstr>
      <vt:lpstr>Text</vt:lpstr>
      <vt:lpstr>Image</vt:lpstr>
      <vt:lpstr>Complete Example</vt:lpstr>
      <vt:lpstr>Image</vt:lpstr>
      <vt:lpstr>Icon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5</dc:title>
  <cp:lastModifiedBy>MasterPC</cp:lastModifiedBy>
  <cp:revision>6</cp:revision>
  <dcterms:created xsi:type="dcterms:W3CDTF">2025-09-26T07:03:37Z</dcterms:created>
  <dcterms:modified xsi:type="dcterms:W3CDTF">2025-10-24T05:33:33Z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2024-11-25T00:00:00Z</vt:filetime>
  </property>
  <property fmtid="{D5CDD505-2E9C-101B-9397-08002B2CF9AE}" pid="3" name="Creator">
    <vt:lpwstr>PowerPoint</vt:lpwstr>
  </property>
  <property fmtid="{D5CDD505-2E9C-101B-9397-08002B2CF9AE}" pid="4" name="LastSaved">
    <vt:filetime>2025-09-26T00:00:00Z</vt:filetime>
  </property>
  <property fmtid="{D5CDD505-2E9C-101B-9397-08002B2CF9AE}" pid="5" name="Producer">
    <vt:lpwstr>macOS Version 15.1 (Build 24B83) Quartz PDFContext</vt:lpwstr>
  </property>
</Properties>
</file>