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104098" cy="12840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12687" y="155671"/>
            <a:ext cx="15278724" cy="1081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104098" cy="12840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76142" y="155671"/>
            <a:ext cx="16262985" cy="18604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70510" y="2547222"/>
            <a:ext cx="18247360" cy="6504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0104098" cy="113085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49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b="0" dirty="0">
                <a:latin typeface="Arial MT"/>
                <a:cs typeface="Arial MT"/>
              </a:rPr>
              <a:t>Mobile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Learning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Application </a:t>
            </a:r>
            <a:r>
              <a:rPr b="0" spc="-10" dirty="0">
                <a:latin typeface="Arial MT"/>
                <a:cs typeface="Arial MT"/>
              </a:rPr>
              <a:t>Development</a:t>
            </a:r>
            <a:endParaRPr b="0" spc="-10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15558" y="2656254"/>
            <a:ext cx="4385206" cy="1271584"/>
          </a:xfrm>
          <a:prstGeom prst="rect">
            <a:avLst/>
          </a:prstGeom>
        </p:spPr>
      </p:pic>
      <p:sp>
        <p:nvSpPr>
          <p:cNvPr id="7" name="TextBox 5"/>
          <p:cNvSpPr txBox="1"/>
          <p:nvPr/>
        </p:nvSpPr>
        <p:spPr>
          <a:xfrm>
            <a:off x="1631950" y="5789960"/>
            <a:ext cx="168402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kern="0"/>
            </a:def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  <a:latin typeface="Georgia" panose="02040502050405020303" pitchFamily="18" charset="0"/>
              </a:rPr>
              <a:t>Presented By: </a:t>
            </a:r>
            <a:endParaRPr lang="en-US" sz="4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endParaRPr lang="en-US" sz="4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800" b="1" dirty="0">
                <a:solidFill>
                  <a:schemeClr val="tx1"/>
                </a:solidFill>
                <a:latin typeface="Georgia" panose="02040502050405020303" pitchFamily="18" charset="0"/>
              </a:rPr>
              <a:t>Rakib Hossen </a:t>
            </a:r>
            <a:endParaRPr lang="en-US" sz="4800" b="1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  <a:latin typeface="Georgia" panose="02040502050405020303" pitchFamily="18" charset="0"/>
              </a:rPr>
              <a:t>Assistant Professor</a:t>
            </a:r>
            <a:endParaRPr lang="en-US" sz="4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0" indent="0" algn="ctr">
              <a:spcBef>
                <a:spcPts val="0"/>
              </a:spcBef>
              <a:buNone/>
            </a:pPr>
            <a:r>
              <a:rPr lang="en-US" sz="4400" dirty="0">
                <a:solidFill>
                  <a:schemeClr val="tx1"/>
                </a:solidFill>
                <a:latin typeface="Georgia" panose="02040502050405020303" pitchFamily="18" charset="0"/>
              </a:rPr>
              <a:t>Dept. of Cyber Security Engineering (</a:t>
            </a:r>
            <a:r>
              <a:rPr lang="en-US" sz="4400" dirty="0" err="1">
                <a:solidFill>
                  <a:schemeClr val="tx1"/>
                </a:solidFill>
                <a:latin typeface="Georgia" panose="02040502050405020303" pitchFamily="18" charset="0"/>
              </a:rPr>
              <a:t>CySE</a:t>
            </a:r>
            <a:r>
              <a:rPr lang="en-US" sz="4400" dirty="0">
                <a:solidFill>
                  <a:schemeClr val="tx1"/>
                </a:solidFill>
                <a:latin typeface="Georgia" panose="02040502050405020303" pitchFamily="18" charset="0"/>
              </a:rPr>
              <a:t>), </a:t>
            </a:r>
            <a:r>
              <a:rPr lang="en-US" sz="4400" dirty="0" smtClean="0">
                <a:solidFill>
                  <a:schemeClr val="tx1"/>
                </a:solidFill>
                <a:latin typeface="Georgia" panose="02040502050405020303" pitchFamily="18" charset="0"/>
              </a:rPr>
              <a:t>UFTB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12287" y="5166618"/>
            <a:ext cx="106756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Form</a:t>
            </a:r>
            <a:r>
              <a:rPr spc="-15" dirty="0"/>
              <a:t> </a:t>
            </a:r>
            <a:r>
              <a:rPr dirty="0"/>
              <a:t>Validation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Flutter</a:t>
            </a: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48230">
              <a:lnSpc>
                <a:spcPct val="100000"/>
              </a:lnSpc>
              <a:spcBef>
                <a:spcPts val="125"/>
              </a:spcBef>
            </a:pPr>
            <a:r>
              <a:rPr dirty="0"/>
              <a:t>Form</a:t>
            </a:r>
            <a:r>
              <a:rPr spc="-15" dirty="0"/>
              <a:t> </a:t>
            </a:r>
            <a:r>
              <a:rPr dirty="0"/>
              <a:t>Validation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Flutter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70510" y="2955167"/>
            <a:ext cx="9422765" cy="1842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48765" algn="l"/>
                <a:tab pos="4120515" algn="l"/>
                <a:tab pos="4845050" algn="l"/>
                <a:tab pos="5767070" algn="l"/>
                <a:tab pos="8227695" algn="l"/>
              </a:tabLst>
            </a:pPr>
            <a:r>
              <a:rPr sz="3950" spc="-20" dirty="0">
                <a:latin typeface="Arial MT"/>
                <a:cs typeface="Arial MT"/>
              </a:rPr>
              <a:t>Form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10" dirty="0">
                <a:latin typeface="Arial MT"/>
                <a:cs typeface="Arial MT"/>
              </a:rPr>
              <a:t>Validation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5" dirty="0">
                <a:latin typeface="Arial MT"/>
                <a:cs typeface="Arial MT"/>
              </a:rPr>
              <a:t>is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5" dirty="0">
                <a:latin typeface="Arial MT"/>
                <a:cs typeface="Arial MT"/>
              </a:rPr>
              <a:t>an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10" dirty="0">
                <a:latin typeface="Arial MT"/>
                <a:cs typeface="Arial MT"/>
              </a:rPr>
              <a:t>important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0" dirty="0">
                <a:latin typeface="Arial MT"/>
                <a:cs typeface="Arial MT"/>
              </a:rPr>
              <a:t>part</a:t>
            </a:r>
            <a:endParaRPr sz="3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9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2994025" algn="l"/>
                <a:tab pos="4578350" algn="l"/>
                <a:tab pos="5742305" algn="l"/>
                <a:tab pos="7408545" algn="l"/>
                <a:tab pos="8989695" algn="l"/>
              </a:tabLst>
            </a:pPr>
            <a:r>
              <a:rPr sz="3950" spc="-10" dirty="0">
                <a:latin typeface="Arial MT"/>
                <a:cs typeface="Arial MT"/>
              </a:rPr>
              <a:t>application,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10" dirty="0">
                <a:latin typeface="Arial MT"/>
                <a:cs typeface="Arial MT"/>
              </a:rPr>
              <a:t>there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5" dirty="0">
                <a:latin typeface="Arial MT"/>
                <a:cs typeface="Arial MT"/>
              </a:rPr>
              <a:t>are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0" dirty="0">
                <a:latin typeface="Arial MT"/>
                <a:cs typeface="Arial MT"/>
              </a:rPr>
              <a:t>many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0" dirty="0">
                <a:latin typeface="Arial MT"/>
                <a:cs typeface="Arial MT"/>
              </a:rPr>
              <a:t>ways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5" dirty="0">
                <a:latin typeface="Arial MT"/>
                <a:cs typeface="Arial MT"/>
              </a:rPr>
              <a:t>to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15772" y="2955167"/>
            <a:ext cx="8411845" cy="18427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5"/>
              </a:spcBef>
              <a:tabLst>
                <a:tab pos="781685" algn="l"/>
                <a:tab pos="2374265" algn="l"/>
                <a:tab pos="5282565" algn="l"/>
                <a:tab pos="6064885" algn="l"/>
                <a:tab pos="7127240" algn="l"/>
              </a:tabLst>
            </a:pPr>
            <a:r>
              <a:rPr sz="3950" spc="-25" dirty="0">
                <a:latin typeface="Arial MT"/>
                <a:cs typeface="Arial MT"/>
              </a:rPr>
              <a:t>of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10" dirty="0">
                <a:latin typeface="Arial MT"/>
                <a:cs typeface="Arial MT"/>
              </a:rPr>
              <a:t>every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10" dirty="0">
                <a:latin typeface="Arial MT"/>
                <a:cs typeface="Arial MT"/>
              </a:rPr>
              <a:t>application.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5" dirty="0">
                <a:latin typeface="Arial MT"/>
                <a:cs typeface="Arial MT"/>
              </a:rPr>
              <a:t>In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5" dirty="0">
                <a:latin typeface="Arial MT"/>
                <a:cs typeface="Arial MT"/>
              </a:rPr>
              <a:t>the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10" dirty="0">
                <a:latin typeface="Arial MT"/>
                <a:cs typeface="Arial MT"/>
              </a:rPr>
              <a:t>flutter</a:t>
            </a:r>
            <a:endParaRPr sz="3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950">
              <a:latin typeface="Arial MT"/>
              <a:cs typeface="Arial MT"/>
            </a:endParaRPr>
          </a:p>
          <a:p>
            <a:pPr marR="5080" algn="r">
              <a:lnSpc>
                <a:spcPct val="100000"/>
              </a:lnSpc>
              <a:tabLst>
                <a:tab pos="2169795" algn="l"/>
                <a:tab pos="3612515" algn="l"/>
                <a:tab pos="5111115" algn="l"/>
                <a:tab pos="6078855" algn="l"/>
                <a:tab pos="7717790" algn="l"/>
              </a:tabLst>
            </a:pPr>
            <a:r>
              <a:rPr sz="3950" spc="-10" dirty="0">
                <a:latin typeface="Arial MT"/>
                <a:cs typeface="Arial MT"/>
              </a:rPr>
              <a:t>validate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0" dirty="0">
                <a:latin typeface="Arial MT"/>
                <a:cs typeface="Arial MT"/>
              </a:rPr>
              <a:t>form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0" dirty="0">
                <a:latin typeface="Arial MT"/>
                <a:cs typeface="Arial MT"/>
              </a:rPr>
              <a:t>such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25" dirty="0">
                <a:latin typeface="Arial MT"/>
                <a:cs typeface="Arial MT"/>
              </a:rPr>
              <a:t>as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10" dirty="0">
                <a:latin typeface="Arial MT"/>
                <a:cs typeface="Arial MT"/>
              </a:rPr>
              <a:t>using</a:t>
            </a:r>
            <a:r>
              <a:rPr sz="3950" dirty="0">
                <a:latin typeface="Arial MT"/>
                <a:cs typeface="Arial MT"/>
              </a:rPr>
              <a:t>	</a:t>
            </a:r>
            <a:r>
              <a:rPr sz="3950" spc="-50" dirty="0">
                <a:latin typeface="Arial MT"/>
                <a:cs typeface="Arial MT"/>
              </a:rPr>
              <a:t>a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0510" y="5375198"/>
            <a:ext cx="17857470" cy="3036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TextEditingController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.</a:t>
            </a:r>
            <a:r>
              <a:rPr sz="3950" spc="2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But</a:t>
            </a:r>
            <a:r>
              <a:rPr sz="3950" spc="2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handling</a:t>
            </a:r>
            <a:r>
              <a:rPr sz="3950" spc="2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text</a:t>
            </a:r>
            <a:r>
              <a:rPr sz="3950" spc="2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controller</a:t>
            </a:r>
            <a:r>
              <a:rPr sz="3950" spc="2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for</a:t>
            </a:r>
            <a:r>
              <a:rPr sz="3950" spc="2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every</a:t>
            </a:r>
            <a:r>
              <a:rPr sz="3950" spc="2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Input</a:t>
            </a:r>
            <a:r>
              <a:rPr sz="3950" spc="2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can</a:t>
            </a:r>
            <a:r>
              <a:rPr sz="3950" spc="2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be</a:t>
            </a:r>
            <a:r>
              <a:rPr sz="3950" spc="22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messy</a:t>
            </a:r>
            <a:endParaRPr sz="3950">
              <a:latin typeface="Arial MT"/>
              <a:cs typeface="Arial MT"/>
            </a:endParaRPr>
          </a:p>
          <a:p>
            <a:pPr marL="12700" marR="5080">
              <a:lnSpc>
                <a:spcPts val="9480"/>
              </a:lnSpc>
              <a:spcBef>
                <a:spcPts val="905"/>
              </a:spcBef>
            </a:pPr>
            <a:r>
              <a:rPr sz="3950" dirty="0">
                <a:latin typeface="Arial MT"/>
                <a:cs typeface="Arial MT"/>
              </a:rPr>
              <a:t>in</a:t>
            </a:r>
            <a:r>
              <a:rPr sz="3950" spc="16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big</a:t>
            </a:r>
            <a:r>
              <a:rPr sz="3950" spc="1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applications.</a:t>
            </a:r>
            <a:r>
              <a:rPr sz="3950" spc="1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Hence,</a:t>
            </a:r>
            <a:r>
              <a:rPr sz="3950" spc="170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Form</a:t>
            </a:r>
            <a:r>
              <a:rPr sz="3950" b="1" spc="160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provides</a:t>
            </a:r>
            <a:r>
              <a:rPr sz="3950" spc="1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</a:t>
            </a:r>
            <a:r>
              <a:rPr sz="3950" spc="1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1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convenient</a:t>
            </a:r>
            <a:r>
              <a:rPr sz="3950" spc="1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way</a:t>
            </a:r>
            <a:r>
              <a:rPr sz="3950" spc="1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1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validate</a:t>
            </a:r>
            <a:r>
              <a:rPr sz="3950" spc="170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user </a:t>
            </a:r>
            <a:r>
              <a:rPr sz="3950" spc="-10" dirty="0">
                <a:latin typeface="Arial MT"/>
                <a:cs typeface="Arial MT"/>
              </a:rPr>
              <a:t>Inputs.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48230">
              <a:lnSpc>
                <a:spcPct val="100000"/>
              </a:lnSpc>
              <a:spcBef>
                <a:spcPts val="125"/>
              </a:spcBef>
            </a:pPr>
            <a:r>
              <a:rPr dirty="0"/>
              <a:t>Form</a:t>
            </a:r>
            <a:r>
              <a:rPr spc="-15" dirty="0"/>
              <a:t> </a:t>
            </a:r>
            <a:r>
              <a:rPr dirty="0"/>
              <a:t>Validation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Flutter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47088" y="2277096"/>
            <a:ext cx="18009921" cy="81937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70510" y="2548059"/>
            <a:ext cx="17857470" cy="59461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5"/>
              </a:spcBef>
            </a:pPr>
            <a:r>
              <a:rPr sz="3950" dirty="0">
                <a:latin typeface="Arial MT"/>
                <a:cs typeface="Arial MT"/>
              </a:rPr>
              <a:t>In</a:t>
            </a:r>
            <a:r>
              <a:rPr sz="3950" spc="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form,</a:t>
            </a:r>
            <a:r>
              <a:rPr sz="3950" spc="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input</a:t>
            </a:r>
            <a:r>
              <a:rPr sz="3950" spc="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validated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your</a:t>
            </a:r>
            <a:r>
              <a:rPr sz="3950" spc="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submit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function(the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function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which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3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called </a:t>
            </a:r>
            <a:r>
              <a:rPr sz="3950" dirty="0">
                <a:latin typeface="Arial MT"/>
                <a:cs typeface="Arial MT"/>
              </a:rPr>
              <a:t>once</a:t>
            </a:r>
            <a:r>
              <a:rPr sz="3950" spc="7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user</a:t>
            </a:r>
            <a:r>
              <a:rPr sz="3950" spc="7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has</a:t>
            </a:r>
            <a:r>
              <a:rPr sz="3950" spc="7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entered</a:t>
            </a:r>
            <a:r>
              <a:rPr sz="3950" spc="7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every</a:t>
            </a:r>
            <a:r>
              <a:rPr sz="3950" spc="7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detail,</a:t>
            </a:r>
            <a:r>
              <a:rPr sz="3950" spc="7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But</a:t>
            </a:r>
            <a:r>
              <a:rPr sz="3950" spc="7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condition</a:t>
            </a:r>
            <a:r>
              <a:rPr sz="3950" spc="7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7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applied</a:t>
            </a:r>
            <a:r>
              <a:rPr sz="3950" spc="7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73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each </a:t>
            </a:r>
            <a:r>
              <a:rPr sz="3950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TextFormField</a:t>
            </a:r>
            <a:r>
              <a:rPr sz="3950" i="1" spc="3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itself</a:t>
            </a:r>
            <a:r>
              <a:rPr sz="3950" spc="3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with</a:t>
            </a:r>
            <a:r>
              <a:rPr sz="3950" spc="3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3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widget</a:t>
            </a:r>
            <a:r>
              <a:rPr sz="3950" spc="3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name</a:t>
            </a:r>
            <a:r>
              <a:rPr sz="3950" spc="3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validator</a:t>
            </a:r>
            <a:r>
              <a:rPr sz="3950" spc="3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as</a:t>
            </a:r>
            <a:r>
              <a:rPr sz="3950" spc="3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shown</a:t>
            </a:r>
            <a:r>
              <a:rPr sz="3950" spc="3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3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3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below</a:t>
            </a:r>
            <a:r>
              <a:rPr sz="3950" spc="310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given </a:t>
            </a:r>
            <a:r>
              <a:rPr sz="3950" spc="-10" dirty="0">
                <a:latin typeface="Arial MT"/>
                <a:cs typeface="Arial MT"/>
              </a:rPr>
              <a:t>example.</a:t>
            </a:r>
            <a:endParaRPr sz="3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270"/>
              </a:spcBef>
            </a:pPr>
            <a:endParaRPr sz="3950">
              <a:latin typeface="Arial MT"/>
              <a:cs typeface="Arial MT"/>
            </a:endParaRPr>
          </a:p>
          <a:p>
            <a:pPr marL="12700" marR="5080" algn="just">
              <a:lnSpc>
                <a:spcPct val="100000"/>
              </a:lnSpc>
            </a:pPr>
            <a:r>
              <a:rPr sz="3950" dirty="0">
                <a:latin typeface="Arial MT"/>
                <a:cs typeface="Arial MT"/>
              </a:rPr>
              <a:t>The</a:t>
            </a:r>
            <a:r>
              <a:rPr sz="3950" spc="330" dirty="0"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Validator</a:t>
            </a:r>
            <a:r>
              <a:rPr sz="3950" spc="32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widget</a:t>
            </a:r>
            <a:r>
              <a:rPr sz="3950" spc="3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takes</a:t>
            </a:r>
            <a:r>
              <a:rPr sz="3950" spc="3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3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function</a:t>
            </a:r>
            <a:r>
              <a:rPr sz="3950" spc="3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with</a:t>
            </a:r>
            <a:r>
              <a:rPr sz="3950" spc="3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3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parameter</a:t>
            </a:r>
            <a:r>
              <a:rPr sz="3950" spc="3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that</a:t>
            </a:r>
            <a:r>
              <a:rPr sz="3950" spc="3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contains</a:t>
            </a:r>
            <a:r>
              <a:rPr sz="3950" spc="3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340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value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single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input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and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then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it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checks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condition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which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 given</a:t>
            </a:r>
            <a:r>
              <a:rPr sz="3950" spc="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spc="-10" dirty="0">
                <a:solidFill>
                  <a:srgbClr val="FF0000"/>
                </a:solidFill>
                <a:latin typeface="Arial MT"/>
                <a:cs typeface="Arial MT"/>
              </a:rPr>
              <a:t>validator 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function.</a:t>
            </a:r>
            <a:r>
              <a:rPr sz="3950" spc="98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9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key</a:t>
            </a:r>
            <a:r>
              <a:rPr sz="3950" spc="98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98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used</a:t>
            </a:r>
            <a:r>
              <a:rPr sz="3950" spc="9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9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this</a:t>
            </a:r>
            <a:r>
              <a:rPr sz="3950" spc="98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because</a:t>
            </a:r>
            <a:r>
              <a:rPr sz="3950" spc="9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there</a:t>
            </a:r>
            <a:r>
              <a:rPr sz="3950" spc="9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can</a:t>
            </a:r>
            <a:r>
              <a:rPr sz="3950" spc="9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be</a:t>
            </a:r>
            <a:r>
              <a:rPr sz="3950" spc="9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many</a:t>
            </a:r>
            <a:r>
              <a:rPr sz="3950" spc="97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inputs</a:t>
            </a:r>
            <a:r>
              <a:rPr sz="3950" spc="98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so</a:t>
            </a:r>
            <a:r>
              <a:rPr sz="3950" spc="-60" dirty="0">
                <a:latin typeface="Arial MT"/>
                <a:cs typeface="Arial MT"/>
              </a:rPr>
              <a:t>  </a:t>
            </a:r>
            <a:r>
              <a:rPr sz="3950" spc="-25" dirty="0">
                <a:latin typeface="Arial MT"/>
                <a:cs typeface="Arial MT"/>
              </a:rPr>
              <a:t>to </a:t>
            </a:r>
            <a:r>
              <a:rPr sz="3950" dirty="0">
                <a:latin typeface="Arial MT"/>
                <a:cs typeface="Arial MT"/>
              </a:rPr>
              <a:t>connect the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widget tree with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elementary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tree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key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type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i="1" dirty="0">
                <a:latin typeface="Arial" panose="020B0604020202020204"/>
                <a:cs typeface="Arial" panose="020B0604020202020204"/>
              </a:rPr>
              <a:t>FormState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used.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0104098" cy="12840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48230">
              <a:lnSpc>
                <a:spcPct val="100000"/>
              </a:lnSpc>
              <a:spcBef>
                <a:spcPts val="125"/>
              </a:spcBef>
            </a:pPr>
            <a:r>
              <a:rPr dirty="0"/>
              <a:t>Form</a:t>
            </a:r>
            <a:r>
              <a:rPr spc="-15" dirty="0"/>
              <a:t> </a:t>
            </a:r>
            <a:r>
              <a:rPr dirty="0"/>
              <a:t>Validation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Flutter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79245" y="1952610"/>
            <a:ext cx="3960507" cy="8496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8798" y="5166618"/>
            <a:ext cx="1194625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Customizing</a:t>
            </a:r>
            <a:r>
              <a:rPr spc="-25" dirty="0"/>
              <a:t> </a:t>
            </a:r>
            <a:r>
              <a:rPr dirty="0"/>
              <a:t>Fonts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Flutter</a:t>
            </a: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5135">
              <a:lnSpc>
                <a:spcPct val="100000"/>
              </a:lnSpc>
              <a:spcBef>
                <a:spcPts val="125"/>
              </a:spcBef>
            </a:pPr>
            <a:r>
              <a:rPr dirty="0"/>
              <a:t>Customizing</a:t>
            </a:r>
            <a:r>
              <a:rPr spc="-25" dirty="0"/>
              <a:t> </a:t>
            </a:r>
            <a:r>
              <a:rPr dirty="0"/>
              <a:t>Fonts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Flutter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70510" y="2955167"/>
            <a:ext cx="17858740" cy="545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 MT"/>
                <a:cs typeface="Arial MT"/>
              </a:rPr>
              <a:t>In Flutter,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everything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widget. So,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“Text” is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widget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too. The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b="1" i="1" dirty="0">
                <a:latin typeface="Arial" panose="020B0604020202020204"/>
                <a:cs typeface="Arial" panose="020B0604020202020204"/>
              </a:rPr>
              <a:t>text widget</a:t>
            </a:r>
            <a:r>
              <a:rPr sz="395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3950" spc="-25" dirty="0">
                <a:latin typeface="Arial MT"/>
                <a:cs typeface="Arial MT"/>
              </a:rPr>
              <a:t>has</a:t>
            </a:r>
            <a:endParaRPr sz="3950">
              <a:latin typeface="Arial MT"/>
              <a:cs typeface="Arial MT"/>
            </a:endParaRPr>
          </a:p>
          <a:p>
            <a:pPr marL="12700" marR="5080" algn="just">
              <a:lnSpc>
                <a:spcPct val="200000"/>
              </a:lnSpc>
              <a:spcBef>
                <a:spcPts val="75"/>
              </a:spcBef>
            </a:pPr>
            <a:r>
              <a:rPr sz="3950" dirty="0">
                <a:latin typeface="Arial MT"/>
                <a:cs typeface="Arial MT"/>
              </a:rPr>
              <a:t>its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own</a:t>
            </a:r>
            <a:r>
              <a:rPr sz="3950" spc="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properties</a:t>
            </a:r>
            <a:r>
              <a:rPr sz="3950" spc="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like</a:t>
            </a:r>
            <a:r>
              <a:rPr sz="3950" spc="45" dirty="0"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font</a:t>
            </a:r>
            <a:r>
              <a:rPr sz="395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style,</a:t>
            </a:r>
            <a:r>
              <a:rPr sz="3950" spc="4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font</a:t>
            </a:r>
            <a:r>
              <a:rPr sz="39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size,</a:t>
            </a:r>
            <a:r>
              <a:rPr sz="3950" spc="4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3950" spc="-10" dirty="0">
                <a:solidFill>
                  <a:srgbClr val="FF0000"/>
                </a:solidFill>
                <a:latin typeface="Arial MT"/>
                <a:cs typeface="Arial MT"/>
              </a:rPr>
              <a:t>font-</a:t>
            </a:r>
            <a:r>
              <a:rPr sz="3950" dirty="0">
                <a:solidFill>
                  <a:srgbClr val="FF0000"/>
                </a:solidFill>
                <a:latin typeface="Arial MT"/>
                <a:cs typeface="Arial MT"/>
              </a:rPr>
              <a:t>weight</a:t>
            </a:r>
            <a:r>
              <a:rPr sz="3950" dirty="0">
                <a:latin typeface="Arial MT"/>
                <a:cs typeface="Arial MT"/>
              </a:rPr>
              <a:t>,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etc.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Flutter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team</a:t>
            </a:r>
            <a:r>
              <a:rPr sz="3950" spc="40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has </a:t>
            </a:r>
            <a:r>
              <a:rPr sz="3950" dirty="0">
                <a:latin typeface="Arial MT"/>
                <a:cs typeface="Arial MT"/>
              </a:rPr>
              <a:t>set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4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few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default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properties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before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making</a:t>
            </a:r>
            <a:r>
              <a:rPr sz="3950" spc="4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things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easier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for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4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user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420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create </a:t>
            </a:r>
            <a:r>
              <a:rPr sz="3950" dirty="0">
                <a:latin typeface="Arial MT"/>
                <a:cs typeface="Arial MT"/>
              </a:rPr>
              <a:t>apps.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So,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customizing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text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40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all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about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editing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these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properties</a:t>
            </a:r>
            <a:r>
              <a:rPr sz="3950" spc="40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as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we</a:t>
            </a:r>
            <a:r>
              <a:rPr sz="3950" spc="4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want,</a:t>
            </a:r>
            <a:r>
              <a:rPr sz="3950" spc="409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to </a:t>
            </a:r>
            <a:r>
              <a:rPr sz="3950" dirty="0">
                <a:latin typeface="Arial MT"/>
                <a:cs typeface="Arial MT"/>
              </a:rPr>
              <a:t>get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desired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output.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0104098" cy="12840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15135">
              <a:lnSpc>
                <a:spcPct val="100000"/>
              </a:lnSpc>
              <a:spcBef>
                <a:spcPts val="125"/>
              </a:spcBef>
            </a:pPr>
            <a:r>
              <a:rPr dirty="0"/>
              <a:t>Customizing</a:t>
            </a:r>
            <a:r>
              <a:rPr spc="-25" dirty="0"/>
              <a:t> </a:t>
            </a:r>
            <a:r>
              <a:rPr dirty="0"/>
              <a:t>Fonts</a:t>
            </a:r>
            <a:r>
              <a:rPr spc="-1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spc="-10" dirty="0"/>
              <a:t>Flutter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2774" y="3261890"/>
            <a:ext cx="3460418" cy="692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02578" y="3261890"/>
            <a:ext cx="3598633" cy="692334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236312" y="5643807"/>
            <a:ext cx="2144395" cy="1951989"/>
            <a:chOff x="8236312" y="5643807"/>
            <a:chExt cx="2144395" cy="1951989"/>
          </a:xfrm>
        </p:grpSpPr>
        <p:sp>
          <p:nvSpPr>
            <p:cNvPr id="7" name="object 7"/>
            <p:cNvSpPr/>
            <p:nvPr/>
          </p:nvSpPr>
          <p:spPr>
            <a:xfrm>
              <a:off x="8246783" y="5654277"/>
              <a:ext cx="2123440" cy="1931035"/>
            </a:xfrm>
            <a:custGeom>
              <a:avLst/>
              <a:gdLst/>
              <a:ahLst/>
              <a:cxnLst/>
              <a:rect l="l" t="t" r="r" b="b"/>
              <a:pathLst>
                <a:path w="2123440" h="1931034">
                  <a:moveTo>
                    <a:pt x="1157780" y="0"/>
                  </a:moveTo>
                  <a:lnTo>
                    <a:pt x="1157780" y="482729"/>
                  </a:lnTo>
                  <a:lnTo>
                    <a:pt x="0" y="482729"/>
                  </a:lnTo>
                  <a:lnTo>
                    <a:pt x="0" y="1448188"/>
                  </a:lnTo>
                  <a:lnTo>
                    <a:pt x="1157780" y="1448188"/>
                  </a:lnTo>
                  <a:lnTo>
                    <a:pt x="1157780" y="1930917"/>
                  </a:lnTo>
                  <a:lnTo>
                    <a:pt x="2123239" y="965458"/>
                  </a:lnTo>
                  <a:lnTo>
                    <a:pt x="1157780" y="0"/>
                  </a:lnTo>
                  <a:close/>
                </a:path>
              </a:pathLst>
            </a:custGeom>
            <a:solidFill>
              <a:srgbClr val="0076B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246783" y="5654277"/>
              <a:ext cx="2123440" cy="1931035"/>
            </a:xfrm>
            <a:custGeom>
              <a:avLst/>
              <a:gdLst/>
              <a:ahLst/>
              <a:cxnLst/>
              <a:rect l="l" t="t" r="r" b="b"/>
              <a:pathLst>
                <a:path w="2123440" h="1931034">
                  <a:moveTo>
                    <a:pt x="0" y="482730"/>
                  </a:moveTo>
                  <a:lnTo>
                    <a:pt x="1157780" y="482730"/>
                  </a:lnTo>
                  <a:lnTo>
                    <a:pt x="1157780" y="0"/>
                  </a:lnTo>
                  <a:lnTo>
                    <a:pt x="2123239" y="965458"/>
                  </a:lnTo>
                  <a:lnTo>
                    <a:pt x="1157780" y="1930917"/>
                  </a:lnTo>
                  <a:lnTo>
                    <a:pt x="1157780" y="1448188"/>
                  </a:lnTo>
                  <a:lnTo>
                    <a:pt x="0" y="1448188"/>
                  </a:lnTo>
                  <a:lnTo>
                    <a:pt x="0" y="482730"/>
                  </a:lnTo>
                  <a:close/>
                </a:path>
              </a:pathLst>
            </a:custGeom>
            <a:ln w="20941">
              <a:solidFill>
                <a:srgbClr val="002E4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16530">
              <a:lnSpc>
                <a:spcPct val="100000"/>
              </a:lnSpc>
              <a:spcBef>
                <a:spcPts val="125"/>
              </a:spcBef>
            </a:pPr>
            <a:r>
              <a:rPr dirty="0"/>
              <a:t>Custom</a:t>
            </a:r>
            <a:r>
              <a:rPr spc="-15" dirty="0"/>
              <a:t> </a:t>
            </a:r>
            <a:r>
              <a:rPr dirty="0"/>
              <a:t>Fonts in</a:t>
            </a:r>
            <a:r>
              <a:rPr spc="-10" dirty="0"/>
              <a:t> Flutter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70510" y="2563137"/>
            <a:ext cx="17206595" cy="6197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275" marR="5080" indent="-283210">
              <a:lnSpc>
                <a:spcPct val="100000"/>
              </a:lnSpc>
              <a:spcBef>
                <a:spcPts val="105"/>
              </a:spcBef>
              <a:buSzPct val="37000"/>
              <a:buFont typeface="Arial MT"/>
              <a:buChar char="•"/>
              <a:tabLst>
                <a:tab pos="295275" algn="l"/>
              </a:tabLst>
            </a:pPr>
            <a:r>
              <a:rPr sz="3950" b="1" dirty="0">
                <a:latin typeface="Arial" panose="020B0604020202020204"/>
                <a:cs typeface="Arial" panose="020B0604020202020204"/>
              </a:rPr>
              <a:t>Download</a:t>
            </a:r>
            <a:r>
              <a:rPr sz="3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Font</a:t>
            </a:r>
            <a:r>
              <a:rPr sz="3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File:</a:t>
            </a:r>
            <a:r>
              <a:rPr sz="39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Font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file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has all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required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details regarding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font </a:t>
            </a:r>
            <a:r>
              <a:rPr sz="3950" dirty="0">
                <a:latin typeface="Arial MT"/>
                <a:cs typeface="Arial MT"/>
              </a:rPr>
              <a:t>family,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so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once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imported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font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style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used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throughout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app. </a:t>
            </a:r>
            <a:r>
              <a:rPr sz="3950" b="1" i="1" dirty="0">
                <a:latin typeface="Arial" panose="020B0604020202020204"/>
                <a:cs typeface="Arial" panose="020B0604020202020204"/>
              </a:rPr>
              <a:t>Google</a:t>
            </a:r>
            <a:r>
              <a:rPr sz="3950" b="1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i="1" dirty="0">
                <a:latin typeface="Arial" panose="020B0604020202020204"/>
                <a:cs typeface="Arial" panose="020B0604020202020204"/>
              </a:rPr>
              <a:t>Fonts</a:t>
            </a:r>
            <a:r>
              <a:rPr sz="3950" b="1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website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has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wide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variety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font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families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that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be </a:t>
            </a:r>
            <a:r>
              <a:rPr sz="3950" dirty="0">
                <a:latin typeface="Arial MT"/>
                <a:cs typeface="Arial MT"/>
              </a:rPr>
              <a:t>downloaded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and used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app.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 steps for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downloading 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file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are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as </a:t>
            </a:r>
            <a:r>
              <a:rPr sz="3950" spc="-10" dirty="0">
                <a:latin typeface="Arial MT"/>
                <a:cs typeface="Arial MT"/>
              </a:rPr>
              <a:t>follows:</a:t>
            </a:r>
            <a:endParaRPr sz="3950">
              <a:latin typeface="Arial MT"/>
              <a:cs typeface="Arial MT"/>
            </a:endParaRPr>
          </a:p>
          <a:p>
            <a:pPr marL="295275" marR="589915" indent="-283210">
              <a:lnSpc>
                <a:spcPts val="4690"/>
              </a:lnSpc>
              <a:spcBef>
                <a:spcPts val="2225"/>
              </a:spcBef>
              <a:buSzPct val="37000"/>
              <a:buFont typeface="Arial MT"/>
              <a:buChar char="•"/>
              <a:tabLst>
                <a:tab pos="295275" algn="l"/>
              </a:tabLst>
            </a:pPr>
            <a:r>
              <a:rPr sz="3950" b="1" dirty="0">
                <a:latin typeface="Arial" panose="020B0604020202020204"/>
                <a:cs typeface="Arial" panose="020B0604020202020204"/>
              </a:rPr>
              <a:t>Step 1:</a:t>
            </a:r>
            <a:r>
              <a:rPr sz="3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Open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Google</a:t>
            </a:r>
            <a:r>
              <a:rPr sz="3950" u="heavy" spc="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 </a:t>
            </a:r>
            <a:r>
              <a:rPr sz="3950" u="heavy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Arial MT"/>
                <a:cs typeface="Arial MT"/>
              </a:rPr>
              <a:t>Fonts</a:t>
            </a:r>
            <a:r>
              <a:rPr sz="3950" spc="-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and search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font family in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search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bar </a:t>
            </a:r>
            <a:r>
              <a:rPr sz="3950" dirty="0">
                <a:latin typeface="Arial MT"/>
                <a:cs typeface="Arial MT"/>
              </a:rPr>
              <a:t>(here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“Pacifico”).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880"/>
              </a:spcBef>
              <a:buSzPct val="37000"/>
              <a:buFont typeface="Arial MT"/>
              <a:buChar char="•"/>
              <a:tabLst>
                <a:tab pos="295275" algn="l"/>
              </a:tabLst>
            </a:pPr>
            <a:r>
              <a:rPr sz="3950" b="1" dirty="0">
                <a:latin typeface="Arial" panose="020B0604020202020204"/>
                <a:cs typeface="Arial" panose="020B0604020202020204"/>
              </a:rPr>
              <a:t>Step</a:t>
            </a:r>
            <a:r>
              <a:rPr sz="3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2:</a:t>
            </a:r>
            <a:r>
              <a:rPr sz="39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Select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“Pacifico”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font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file.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30"/>
              </a:spcBef>
              <a:buSzPct val="37000"/>
              <a:buFont typeface="Arial MT"/>
              <a:buChar char="•"/>
              <a:tabLst>
                <a:tab pos="295275" algn="l"/>
              </a:tabLst>
            </a:pPr>
            <a:r>
              <a:rPr sz="3950" b="1" dirty="0">
                <a:latin typeface="Arial" panose="020B0604020202020204"/>
                <a:cs typeface="Arial" panose="020B0604020202020204"/>
              </a:rPr>
              <a:t>Step</a:t>
            </a:r>
            <a:r>
              <a:rPr sz="3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3:</a:t>
            </a:r>
            <a:r>
              <a:rPr sz="39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download, click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“Download Family”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button.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300605">
              <a:lnSpc>
                <a:spcPct val="100000"/>
              </a:lnSpc>
              <a:spcBef>
                <a:spcPts val="125"/>
              </a:spcBef>
            </a:pPr>
            <a:r>
              <a:rPr dirty="0"/>
              <a:t>Add</a:t>
            </a:r>
            <a:r>
              <a:rPr spc="-20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font</a:t>
            </a:r>
            <a:r>
              <a:rPr spc="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dirty="0"/>
              <a:t>your</a:t>
            </a:r>
            <a:r>
              <a:rPr spc="5" dirty="0"/>
              <a:t> </a:t>
            </a:r>
            <a:r>
              <a:rPr spc="-10" dirty="0"/>
              <a:t>project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70510" y="2463873"/>
            <a:ext cx="17857470" cy="4021454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>
              <a:lnSpc>
                <a:spcPts val="2630"/>
              </a:lnSpc>
              <a:spcBef>
                <a:spcPts val="715"/>
              </a:spcBef>
            </a:pPr>
            <a:r>
              <a:rPr sz="2700" dirty="0">
                <a:latin typeface="Arial MT"/>
                <a:cs typeface="Arial MT"/>
              </a:rPr>
              <a:t>To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use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downloaded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font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family,</a:t>
            </a:r>
            <a:r>
              <a:rPr sz="2700" spc="3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we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need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import</a:t>
            </a:r>
            <a:r>
              <a:rPr sz="2700" spc="3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font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file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into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340" dirty="0">
                <a:latin typeface="Arial MT"/>
                <a:cs typeface="Arial MT"/>
              </a:rPr>
              <a:t> </a:t>
            </a:r>
            <a:r>
              <a:rPr sz="2700" b="1" i="1" dirty="0">
                <a:latin typeface="Arial" panose="020B0604020202020204"/>
                <a:cs typeface="Arial" panose="020B0604020202020204"/>
              </a:rPr>
              <a:t>root</a:t>
            </a:r>
            <a:r>
              <a:rPr sz="2700" b="1" i="1" spc="325" dirty="0">
                <a:latin typeface="Arial" panose="020B0604020202020204"/>
                <a:cs typeface="Arial" panose="020B0604020202020204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3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Flutter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app.</a:t>
            </a:r>
            <a:r>
              <a:rPr sz="2700" spc="3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steps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for </a:t>
            </a:r>
            <a:r>
              <a:rPr sz="2700" dirty="0">
                <a:latin typeface="Arial MT"/>
                <a:cs typeface="Arial MT"/>
              </a:rPr>
              <a:t>importing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 font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file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b="1" i="1" dirty="0">
                <a:latin typeface="Arial" panose="020B0604020202020204"/>
                <a:cs typeface="Arial" panose="020B0604020202020204"/>
              </a:rPr>
              <a:t>Android</a:t>
            </a:r>
            <a:r>
              <a:rPr sz="2700" b="1" i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i="1" dirty="0">
                <a:latin typeface="Arial" panose="020B0604020202020204"/>
                <a:cs typeface="Arial" panose="020B0604020202020204"/>
              </a:rPr>
              <a:t>Studio</a:t>
            </a:r>
            <a:r>
              <a:rPr sz="2700" b="1" i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700" dirty="0">
                <a:latin typeface="Arial MT"/>
                <a:cs typeface="Arial MT"/>
              </a:rPr>
              <a:t>are as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follows: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85"/>
              </a:spcBef>
            </a:pPr>
            <a:r>
              <a:rPr sz="2700" b="1" dirty="0">
                <a:latin typeface="Arial" panose="020B0604020202020204"/>
                <a:cs typeface="Arial" panose="020B0604020202020204"/>
              </a:rPr>
              <a:t>Step</a:t>
            </a:r>
            <a:r>
              <a:rPr sz="2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1:</a:t>
            </a:r>
            <a:r>
              <a:rPr sz="2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700" dirty="0">
                <a:latin typeface="Arial MT"/>
                <a:cs typeface="Arial MT"/>
              </a:rPr>
              <a:t>Click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 “</a:t>
            </a:r>
            <a:r>
              <a:rPr sz="2700" b="1" dirty="0">
                <a:latin typeface="Arial" panose="020B0604020202020204"/>
                <a:cs typeface="Arial" panose="020B0604020202020204"/>
              </a:rPr>
              <a:t>Project</a:t>
            </a:r>
            <a:r>
              <a:rPr sz="2700" dirty="0">
                <a:latin typeface="Arial MT"/>
                <a:cs typeface="Arial MT"/>
              </a:rPr>
              <a:t>”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button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 top left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corner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of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Android </a:t>
            </a:r>
            <a:r>
              <a:rPr sz="2700" spc="-10" dirty="0">
                <a:latin typeface="Arial MT"/>
                <a:cs typeface="Arial MT"/>
              </a:rPr>
              <a:t>Studio.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15"/>
              </a:spcBef>
            </a:pPr>
            <a:r>
              <a:rPr sz="2700" b="1" dirty="0">
                <a:latin typeface="Arial" panose="020B0604020202020204"/>
                <a:cs typeface="Arial" panose="020B0604020202020204"/>
              </a:rPr>
              <a:t>Step</a:t>
            </a:r>
            <a:r>
              <a:rPr sz="2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2: </a:t>
            </a:r>
            <a:r>
              <a:rPr sz="2700" spc="-10" dirty="0">
                <a:latin typeface="Arial MT"/>
                <a:cs typeface="Arial MT"/>
              </a:rPr>
              <a:t>Right-</a:t>
            </a:r>
            <a:r>
              <a:rPr sz="2700" dirty="0">
                <a:latin typeface="Arial MT"/>
                <a:cs typeface="Arial MT"/>
              </a:rPr>
              <a:t>click on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project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name, here “project_name” and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select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b="1" i="1" dirty="0">
                <a:latin typeface="Arial" panose="020B0604020202020204"/>
                <a:cs typeface="Arial" panose="020B0604020202020204"/>
              </a:rPr>
              <a:t>New</a:t>
            </a:r>
            <a:r>
              <a:rPr sz="2700" b="1" i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i="1" dirty="0">
                <a:latin typeface="Arial" panose="020B0604020202020204"/>
                <a:cs typeface="Arial" panose="020B0604020202020204"/>
              </a:rPr>
              <a:t>+</a:t>
            </a:r>
            <a:r>
              <a:rPr sz="2700" b="1" i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i="1" spc="-10" dirty="0">
                <a:latin typeface="Arial" panose="020B0604020202020204"/>
                <a:cs typeface="Arial" panose="020B0604020202020204"/>
              </a:rPr>
              <a:t>Directory</a:t>
            </a:r>
            <a:r>
              <a:rPr sz="2700" spc="-10" dirty="0">
                <a:latin typeface="Arial MT"/>
                <a:cs typeface="Arial MT"/>
              </a:rPr>
              <a:t>.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700" b="1" dirty="0">
                <a:latin typeface="Arial" panose="020B0604020202020204"/>
                <a:cs typeface="Arial" panose="020B0604020202020204"/>
              </a:rPr>
              <a:t>Step</a:t>
            </a:r>
            <a:r>
              <a:rPr sz="27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3: </a:t>
            </a:r>
            <a:r>
              <a:rPr sz="2700" dirty="0">
                <a:latin typeface="Arial MT"/>
                <a:cs typeface="Arial MT"/>
              </a:rPr>
              <a:t>Name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directory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as </a:t>
            </a:r>
            <a:r>
              <a:rPr sz="2700" spc="-10" dirty="0">
                <a:latin typeface="Arial MT"/>
                <a:cs typeface="Arial MT"/>
              </a:rPr>
              <a:t>“</a:t>
            </a:r>
            <a:r>
              <a:rPr sz="2700" b="1" i="1" spc="-10" dirty="0">
                <a:latin typeface="Arial" panose="020B0604020202020204"/>
                <a:cs typeface="Arial" panose="020B0604020202020204"/>
              </a:rPr>
              <a:t>fonts</a:t>
            </a:r>
            <a:r>
              <a:rPr sz="2700" spc="-10" dirty="0">
                <a:latin typeface="Arial MT"/>
                <a:cs typeface="Arial MT"/>
              </a:rPr>
              <a:t>“.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sz="2700" b="1" dirty="0">
                <a:latin typeface="Arial" panose="020B0604020202020204"/>
                <a:cs typeface="Arial" panose="020B0604020202020204"/>
              </a:rPr>
              <a:t>Step</a:t>
            </a:r>
            <a:r>
              <a:rPr sz="2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4:</a:t>
            </a:r>
            <a:r>
              <a:rPr sz="27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700" dirty="0">
                <a:latin typeface="Arial MT"/>
                <a:cs typeface="Arial MT"/>
              </a:rPr>
              <a:t>Open file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manager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and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go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downloads.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b="1" i="1" dirty="0">
                <a:latin typeface="Arial" panose="020B0604020202020204"/>
                <a:cs typeface="Arial" panose="020B0604020202020204"/>
              </a:rPr>
              <a:t>Extract </a:t>
            </a:r>
            <a:r>
              <a:rPr sz="2700" dirty="0">
                <a:latin typeface="Arial MT"/>
                <a:cs typeface="Arial MT"/>
              </a:rPr>
              <a:t>and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open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 “Pacifico”</a:t>
            </a:r>
            <a:r>
              <a:rPr sz="2700" spc="-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zip </a:t>
            </a:r>
            <a:r>
              <a:rPr sz="2700" spc="-20" dirty="0">
                <a:latin typeface="Arial MT"/>
                <a:cs typeface="Arial MT"/>
              </a:rPr>
              <a:t>file.</a:t>
            </a:r>
            <a:endParaRPr sz="2700">
              <a:latin typeface="Arial MT"/>
              <a:cs typeface="Arial MT"/>
            </a:endParaRPr>
          </a:p>
          <a:p>
            <a:pPr marL="12700" marR="5080">
              <a:lnSpc>
                <a:spcPts val="2650"/>
              </a:lnSpc>
              <a:spcBef>
                <a:spcPts val="1870"/>
              </a:spcBef>
            </a:pPr>
            <a:r>
              <a:rPr sz="2700" b="1" dirty="0">
                <a:latin typeface="Arial" panose="020B0604020202020204"/>
                <a:cs typeface="Arial" panose="020B0604020202020204"/>
              </a:rPr>
              <a:t>Step</a:t>
            </a:r>
            <a:r>
              <a:rPr sz="2700" b="1" spc="32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dirty="0">
                <a:latin typeface="Arial" panose="020B0604020202020204"/>
                <a:cs typeface="Arial" panose="020B0604020202020204"/>
              </a:rPr>
              <a:t>5:</a:t>
            </a:r>
            <a:r>
              <a:rPr sz="2700" b="1" spc="335" dirty="0">
                <a:latin typeface="Arial" panose="020B0604020202020204"/>
                <a:cs typeface="Arial" panose="020B0604020202020204"/>
              </a:rPr>
              <a:t> </a:t>
            </a:r>
            <a:r>
              <a:rPr sz="2700" b="1" i="1" dirty="0">
                <a:latin typeface="Arial" panose="020B0604020202020204"/>
                <a:cs typeface="Arial" panose="020B0604020202020204"/>
              </a:rPr>
              <a:t>Move</a:t>
            </a:r>
            <a:r>
              <a:rPr sz="2700" b="1" i="1" spc="335" dirty="0">
                <a:latin typeface="Arial" panose="020B0604020202020204"/>
                <a:cs typeface="Arial" panose="020B0604020202020204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3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“Pacifico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Regular”</a:t>
            </a:r>
            <a:r>
              <a:rPr sz="2700" spc="3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file</a:t>
            </a:r>
            <a:r>
              <a:rPr sz="2700" spc="3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into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this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directory.</a:t>
            </a:r>
            <a:r>
              <a:rPr sz="2700" spc="32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After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moving,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the</a:t>
            </a:r>
            <a:r>
              <a:rPr sz="2700" spc="34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font</a:t>
            </a:r>
            <a:r>
              <a:rPr sz="2700" spc="330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directory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contains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a</a:t>
            </a:r>
            <a:r>
              <a:rPr sz="2700" spc="33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file</a:t>
            </a:r>
            <a:r>
              <a:rPr sz="2700" spc="34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named “Pacifico-Regular</a:t>
            </a:r>
            <a:r>
              <a:rPr sz="2700" b="1" i="1" spc="-10" dirty="0">
                <a:latin typeface="Arial" panose="020B0604020202020204"/>
                <a:cs typeface="Arial" panose="020B0604020202020204"/>
              </a:rPr>
              <a:t>.ttf</a:t>
            </a:r>
            <a:r>
              <a:rPr sz="2700" spc="-10" dirty="0">
                <a:latin typeface="Arial MT"/>
                <a:cs typeface="Arial MT"/>
              </a:rPr>
              <a:t>”.</a:t>
            </a:r>
            <a:endParaRPr sz="27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4249504" y="7222397"/>
            <a:ext cx="9876139" cy="36187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80840">
              <a:lnSpc>
                <a:spcPct val="100000"/>
              </a:lnSpc>
              <a:spcBef>
                <a:spcPts val="125"/>
              </a:spcBef>
            </a:pPr>
            <a:r>
              <a:rPr dirty="0"/>
              <a:t>Register</a:t>
            </a:r>
            <a:r>
              <a:rPr spc="-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20" dirty="0"/>
              <a:t>font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076272" y="2745750"/>
            <a:ext cx="14158594" cy="1134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3355" indent="-168275">
              <a:lnSpc>
                <a:spcPct val="100000"/>
              </a:lnSpc>
              <a:spcBef>
                <a:spcPts val="125"/>
              </a:spcBef>
              <a:buSzPct val="97000"/>
              <a:buChar char="•"/>
              <a:tabLst>
                <a:tab pos="173355" algn="l"/>
              </a:tabLst>
            </a:pPr>
            <a:r>
              <a:rPr sz="3600" dirty="0">
                <a:latin typeface="Arial MT"/>
                <a:cs typeface="Arial MT"/>
              </a:rPr>
              <a:t>Open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your </a:t>
            </a:r>
            <a:r>
              <a:rPr sz="3600" i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pubspec.yaml </a:t>
            </a:r>
            <a:r>
              <a:rPr sz="3600" spc="-10" dirty="0">
                <a:latin typeface="Arial MT"/>
                <a:cs typeface="Arial MT"/>
              </a:rPr>
              <a:t>file.</a:t>
            </a:r>
            <a:endParaRPr sz="3600">
              <a:latin typeface="Arial MT"/>
              <a:cs typeface="Arial MT"/>
            </a:endParaRPr>
          </a:p>
          <a:p>
            <a:pPr marL="173355" indent="-168275">
              <a:lnSpc>
                <a:spcPct val="100000"/>
              </a:lnSpc>
              <a:spcBef>
                <a:spcPts val="55"/>
              </a:spcBef>
              <a:buSzPct val="97000"/>
              <a:buChar char="•"/>
              <a:tabLst>
                <a:tab pos="173355" algn="l"/>
              </a:tabLst>
            </a:pPr>
            <a:r>
              <a:rPr sz="3600" dirty="0">
                <a:latin typeface="Arial MT"/>
                <a:cs typeface="Arial MT"/>
              </a:rPr>
              <a:t>Add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fonts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info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under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flutter section.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Indentation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is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mandatory.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440135" y="5337638"/>
            <a:ext cx="15223829" cy="33448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25"/>
              </a:spcBef>
            </a:pPr>
            <a:r>
              <a:rPr dirty="0"/>
              <a:t>Use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dirty="0"/>
              <a:t>font</a:t>
            </a:r>
            <a:r>
              <a:rPr spc="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your</a:t>
            </a:r>
            <a:r>
              <a:rPr spc="5" dirty="0"/>
              <a:t> </a:t>
            </a:r>
            <a:r>
              <a:rPr dirty="0"/>
              <a:t>theme</a:t>
            </a:r>
            <a:r>
              <a:rPr spc="5" dirty="0"/>
              <a:t> </a:t>
            </a:r>
            <a:r>
              <a:rPr dirty="0"/>
              <a:t>or</a:t>
            </a:r>
            <a:r>
              <a:rPr spc="5" dirty="0"/>
              <a:t> </a:t>
            </a:r>
            <a:r>
              <a:rPr spc="-10" dirty="0"/>
              <a:t>widget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76272" y="2296758"/>
            <a:ext cx="17147540" cy="122428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4690"/>
              </a:lnSpc>
              <a:spcBef>
                <a:spcPts val="255"/>
              </a:spcBef>
            </a:pPr>
            <a:r>
              <a:rPr sz="3950" dirty="0">
                <a:latin typeface="Arial MT"/>
                <a:cs typeface="Arial MT"/>
              </a:rPr>
              <a:t>Now</a:t>
            </a:r>
            <a:r>
              <a:rPr sz="3950" spc="-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you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can use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your font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by setting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fontFamily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attribute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 the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TextStyle </a:t>
            </a:r>
            <a:r>
              <a:rPr sz="3950" dirty="0">
                <a:latin typeface="Arial MT"/>
                <a:cs typeface="Arial MT"/>
              </a:rPr>
              <a:t>widget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whatever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you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called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it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 </a:t>
            </a:r>
            <a:r>
              <a:rPr sz="3950" spc="-10" dirty="0">
                <a:latin typeface="Arial MT"/>
                <a:cs typeface="Arial MT"/>
              </a:rPr>
              <a:t>pubspec.yaml.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45413" y="4407823"/>
            <a:ext cx="7433490" cy="32241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29432" y="3631303"/>
            <a:ext cx="8066770" cy="76772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21561" y="5166618"/>
            <a:ext cx="946150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Flutter</a:t>
            </a:r>
            <a:r>
              <a:rPr spc="-5" dirty="0"/>
              <a:t> </a:t>
            </a:r>
            <a:r>
              <a:rPr dirty="0"/>
              <a:t>– Skeleton</a:t>
            </a:r>
            <a:r>
              <a:rPr spc="-5" dirty="0"/>
              <a:t> </a:t>
            </a:r>
            <a:r>
              <a:rPr spc="-20" dirty="0"/>
              <a:t>Text</a:t>
            </a:r>
            <a:endParaRPr spc="-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57830">
              <a:lnSpc>
                <a:spcPct val="100000"/>
              </a:lnSpc>
              <a:spcBef>
                <a:spcPts val="125"/>
              </a:spcBef>
            </a:pPr>
            <a:r>
              <a:rPr dirty="0"/>
              <a:t>Flutter</a:t>
            </a:r>
            <a:r>
              <a:rPr spc="-5" dirty="0"/>
              <a:t> </a:t>
            </a:r>
            <a:r>
              <a:rPr dirty="0"/>
              <a:t>– Skeleton</a:t>
            </a:r>
            <a:r>
              <a:rPr spc="-5" dirty="0"/>
              <a:t> </a:t>
            </a:r>
            <a:r>
              <a:rPr spc="-20" dirty="0"/>
              <a:t>Text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170510" y="2955167"/>
            <a:ext cx="12508230" cy="66598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 MT"/>
                <a:cs typeface="Arial MT"/>
              </a:rPr>
              <a:t>In</a:t>
            </a:r>
            <a:r>
              <a:rPr sz="3950" spc="7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Flutter,</a:t>
            </a:r>
            <a:r>
              <a:rPr sz="3950" spc="75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55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skeleton_text</a:t>
            </a:r>
            <a:r>
              <a:rPr sz="3950" b="1" spc="750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library</a:t>
            </a:r>
            <a:r>
              <a:rPr sz="3950" b="1" spc="76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7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used</a:t>
            </a:r>
            <a:r>
              <a:rPr sz="3950" spc="76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760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easily</a:t>
            </a:r>
            <a:endParaRPr sz="3950">
              <a:latin typeface="Arial MT"/>
              <a:cs typeface="Arial MT"/>
            </a:endParaRPr>
          </a:p>
          <a:p>
            <a:pPr marL="12700" marR="5080" algn="just">
              <a:lnSpc>
                <a:spcPct val="200000"/>
              </a:lnSpc>
              <a:spcBef>
                <a:spcPts val="75"/>
              </a:spcBef>
            </a:pPr>
            <a:r>
              <a:rPr sz="3950" dirty="0">
                <a:latin typeface="Arial MT"/>
                <a:cs typeface="Arial MT"/>
              </a:rPr>
              <a:t>implement</a:t>
            </a:r>
            <a:r>
              <a:rPr sz="3950" spc="140" dirty="0">
                <a:latin typeface="Arial MT"/>
                <a:cs typeface="Arial MT"/>
              </a:rPr>
              <a:t>  </a:t>
            </a:r>
            <a:r>
              <a:rPr sz="3950" dirty="0">
                <a:latin typeface="Arial MT"/>
                <a:cs typeface="Arial MT"/>
              </a:rPr>
              <a:t>skeleton</a:t>
            </a:r>
            <a:r>
              <a:rPr sz="3950" spc="150" dirty="0">
                <a:latin typeface="Arial MT"/>
                <a:cs typeface="Arial MT"/>
              </a:rPr>
              <a:t>  </a:t>
            </a:r>
            <a:r>
              <a:rPr sz="3950" dirty="0">
                <a:latin typeface="Arial MT"/>
                <a:cs typeface="Arial MT"/>
              </a:rPr>
              <a:t>text</a:t>
            </a:r>
            <a:r>
              <a:rPr sz="3950" spc="150" dirty="0">
                <a:latin typeface="Arial MT"/>
                <a:cs typeface="Arial MT"/>
              </a:rPr>
              <a:t>  </a:t>
            </a:r>
            <a:r>
              <a:rPr sz="3950" dirty="0">
                <a:latin typeface="Arial MT"/>
                <a:cs typeface="Arial MT"/>
              </a:rPr>
              <a:t>loading</a:t>
            </a:r>
            <a:r>
              <a:rPr sz="3950" spc="145" dirty="0">
                <a:latin typeface="Arial MT"/>
                <a:cs typeface="Arial MT"/>
              </a:rPr>
              <a:t>  </a:t>
            </a:r>
            <a:r>
              <a:rPr sz="3950" dirty="0">
                <a:latin typeface="Arial MT"/>
                <a:cs typeface="Arial MT"/>
              </a:rPr>
              <a:t>animation.</a:t>
            </a:r>
            <a:r>
              <a:rPr sz="3950" spc="150" dirty="0">
                <a:latin typeface="Arial MT"/>
                <a:cs typeface="Arial MT"/>
              </a:rPr>
              <a:t>  </a:t>
            </a:r>
            <a:r>
              <a:rPr sz="3950" dirty="0">
                <a:latin typeface="Arial MT"/>
                <a:cs typeface="Arial MT"/>
              </a:rPr>
              <a:t>Its</a:t>
            </a:r>
            <a:r>
              <a:rPr sz="3950" spc="150" dirty="0">
                <a:latin typeface="Arial MT"/>
                <a:cs typeface="Arial MT"/>
              </a:rPr>
              <a:t>  </a:t>
            </a:r>
            <a:r>
              <a:rPr sz="3950" spc="-20" dirty="0">
                <a:latin typeface="Arial MT"/>
                <a:cs typeface="Arial MT"/>
              </a:rPr>
              <a:t>main </a:t>
            </a:r>
            <a:r>
              <a:rPr sz="3950" dirty="0">
                <a:latin typeface="Arial MT"/>
                <a:cs typeface="Arial MT"/>
              </a:rPr>
              <a:t>application</a:t>
            </a:r>
            <a:r>
              <a:rPr sz="3950" spc="1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flutter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app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assure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its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users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that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the </a:t>
            </a:r>
            <a:r>
              <a:rPr sz="3950" dirty="0">
                <a:latin typeface="Arial MT"/>
                <a:cs typeface="Arial MT"/>
              </a:rPr>
              <a:t>servers</a:t>
            </a:r>
            <a:r>
              <a:rPr sz="3950" spc="65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are</a:t>
            </a:r>
            <a:r>
              <a:rPr sz="3950" spc="67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working</a:t>
            </a:r>
            <a:r>
              <a:rPr sz="3950" spc="6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but</a:t>
            </a:r>
            <a:r>
              <a:rPr sz="3950" spc="6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running</a:t>
            </a:r>
            <a:r>
              <a:rPr sz="3950" spc="67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slow,</a:t>
            </a:r>
            <a:r>
              <a:rPr sz="3950" spc="6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but</a:t>
            </a:r>
            <a:r>
              <a:rPr sz="3950" spc="6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67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content </a:t>
            </a:r>
            <a:r>
              <a:rPr sz="3950" dirty="0">
                <a:latin typeface="Arial MT"/>
                <a:cs typeface="Arial MT"/>
              </a:rPr>
              <a:t>will</a:t>
            </a:r>
            <a:r>
              <a:rPr sz="3950" spc="3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eventually</a:t>
            </a:r>
            <a:r>
              <a:rPr sz="3950" spc="3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load.</a:t>
            </a:r>
            <a:r>
              <a:rPr sz="3950" spc="3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It</a:t>
            </a:r>
            <a:r>
              <a:rPr sz="3950" spc="4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also</a:t>
            </a:r>
            <a:r>
              <a:rPr sz="3950" spc="4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enhances</a:t>
            </a:r>
            <a:r>
              <a:rPr sz="3950" spc="3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4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UI</a:t>
            </a:r>
            <a:r>
              <a:rPr sz="3950" spc="3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if</a:t>
            </a:r>
            <a:r>
              <a:rPr sz="3950" spc="3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400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user </a:t>
            </a:r>
            <a:r>
              <a:rPr sz="3950" dirty="0">
                <a:latin typeface="Arial MT"/>
                <a:cs typeface="Arial MT"/>
              </a:rPr>
              <a:t>connection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slow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too.</a:t>
            </a:r>
            <a:endParaRPr sz="39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005197" y="2563272"/>
            <a:ext cx="3849935" cy="73455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957830">
              <a:lnSpc>
                <a:spcPct val="100000"/>
              </a:lnSpc>
              <a:spcBef>
                <a:spcPts val="125"/>
              </a:spcBef>
            </a:pPr>
            <a:r>
              <a:rPr dirty="0"/>
              <a:t>Flutter</a:t>
            </a:r>
            <a:r>
              <a:rPr spc="-5" dirty="0"/>
              <a:t> </a:t>
            </a:r>
            <a:r>
              <a:rPr dirty="0"/>
              <a:t>– Skeleton</a:t>
            </a:r>
            <a:r>
              <a:rPr spc="-5" dirty="0"/>
              <a:t> </a:t>
            </a:r>
            <a:r>
              <a:rPr spc="-20" dirty="0"/>
              <a:t>Text</a:t>
            </a:r>
            <a:endParaRPr spc="-20" dirty="0"/>
          </a:p>
        </p:txBody>
      </p:sp>
      <p:sp>
        <p:nvSpPr>
          <p:cNvPr id="3" name="object 3"/>
          <p:cNvSpPr txBox="1"/>
          <p:nvPr/>
        </p:nvSpPr>
        <p:spPr>
          <a:xfrm>
            <a:off x="1170510" y="2955167"/>
            <a:ext cx="12357100" cy="40328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 MT"/>
                <a:cs typeface="Arial MT"/>
              </a:rPr>
              <a:t>Process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adding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Skeleton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Text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3525"/>
              </a:spcBef>
              <a:buSzPct val="72000"/>
              <a:buChar char="•"/>
              <a:tabLst>
                <a:tab pos="295275" algn="l"/>
              </a:tabLst>
            </a:pPr>
            <a:r>
              <a:rPr sz="3600" dirty="0">
                <a:latin typeface="Arial MT"/>
                <a:cs typeface="Arial MT"/>
              </a:rPr>
              <a:t>Add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i="1" dirty="0">
                <a:latin typeface="Arial" panose="020B0604020202020204"/>
                <a:cs typeface="Arial" panose="020B0604020202020204"/>
              </a:rPr>
              <a:t>skeleton_text</a:t>
            </a:r>
            <a:r>
              <a:rPr sz="3600" i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3600" i="1" dirty="0">
                <a:latin typeface="Arial" panose="020B0604020202020204"/>
                <a:cs typeface="Arial" panose="020B0604020202020204"/>
              </a:rPr>
              <a:t>dependency</a:t>
            </a:r>
            <a:r>
              <a:rPr sz="3600" i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i="1" dirty="0">
                <a:latin typeface="Arial" panose="020B0604020202020204"/>
                <a:cs typeface="Arial" panose="020B0604020202020204"/>
              </a:rPr>
              <a:t>pubspec.yaml</a:t>
            </a:r>
            <a:r>
              <a:rPr sz="3600" i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3600" i="1" spc="-20" dirty="0">
                <a:latin typeface="Arial" panose="020B0604020202020204"/>
                <a:cs typeface="Arial" panose="020B0604020202020204"/>
              </a:rPr>
              <a:t>file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295275" indent="-282575">
              <a:lnSpc>
                <a:spcPct val="100000"/>
              </a:lnSpc>
              <a:spcBef>
                <a:spcPts val="2035"/>
              </a:spcBef>
              <a:buSzPct val="72000"/>
              <a:buChar char="•"/>
              <a:tabLst>
                <a:tab pos="295275" algn="l"/>
              </a:tabLst>
            </a:pPr>
            <a:r>
              <a:rPr sz="3600" dirty="0">
                <a:latin typeface="Arial MT"/>
                <a:cs typeface="Arial MT"/>
              </a:rPr>
              <a:t>Import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dependency 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i="1" dirty="0">
                <a:latin typeface="Arial" panose="020B0604020202020204"/>
                <a:cs typeface="Arial" panose="020B0604020202020204"/>
              </a:rPr>
              <a:t>main.dart</a:t>
            </a:r>
            <a:r>
              <a:rPr sz="3600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3600" i="1" spc="-20" dirty="0">
                <a:latin typeface="Arial" panose="020B0604020202020204"/>
                <a:cs typeface="Arial" panose="020B0604020202020204"/>
              </a:rPr>
              <a:t>file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295275" indent="-282575">
              <a:lnSpc>
                <a:spcPct val="100000"/>
              </a:lnSpc>
              <a:spcBef>
                <a:spcPts val="2030"/>
              </a:spcBef>
              <a:buSzPct val="72000"/>
              <a:buChar char="•"/>
              <a:tabLst>
                <a:tab pos="295275" algn="l"/>
              </a:tabLst>
            </a:pPr>
            <a:r>
              <a:rPr sz="3600" dirty="0">
                <a:latin typeface="Arial MT"/>
                <a:cs typeface="Arial MT"/>
              </a:rPr>
              <a:t>Build a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simple app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structure 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implement 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dependency</a:t>
            </a:r>
            <a:endParaRPr sz="360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30"/>
              </a:spcBef>
              <a:buSzPct val="72000"/>
              <a:buChar char="•"/>
              <a:tabLst>
                <a:tab pos="295275" algn="l"/>
              </a:tabLst>
            </a:pPr>
            <a:r>
              <a:rPr sz="3600" dirty="0">
                <a:latin typeface="Arial MT"/>
                <a:cs typeface="Arial MT"/>
              </a:rPr>
              <a:t>Call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b="1" dirty="0">
                <a:latin typeface="Arial" panose="020B0604020202020204"/>
                <a:cs typeface="Arial" panose="020B0604020202020204"/>
              </a:rPr>
              <a:t>SkeletoAnimation </a:t>
            </a:r>
            <a:r>
              <a:rPr sz="3600" dirty="0">
                <a:latin typeface="Arial MT"/>
                <a:cs typeface="Arial MT"/>
              </a:rPr>
              <a:t>method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body of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app</a:t>
            </a:r>
            <a:endParaRPr sz="36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005197" y="2563272"/>
            <a:ext cx="3849935" cy="73455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0104098" cy="12840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474720">
              <a:lnSpc>
                <a:spcPct val="100000"/>
              </a:lnSpc>
              <a:spcBef>
                <a:spcPts val="125"/>
              </a:spcBef>
            </a:pPr>
            <a:r>
              <a:rPr dirty="0"/>
              <a:t>Adding</a:t>
            </a:r>
            <a:r>
              <a:rPr spc="-35" dirty="0"/>
              <a:t> </a:t>
            </a:r>
            <a:r>
              <a:rPr spc="-10" dirty="0"/>
              <a:t>dependency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5197" y="2563272"/>
            <a:ext cx="3849935" cy="73455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55554" y="3721771"/>
            <a:ext cx="12801285" cy="446562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20104098" cy="128407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29155">
              <a:lnSpc>
                <a:spcPct val="100000"/>
              </a:lnSpc>
              <a:spcBef>
                <a:spcPts val="125"/>
              </a:spcBef>
            </a:pPr>
            <a:r>
              <a:rPr dirty="0"/>
              <a:t>Importing</a:t>
            </a:r>
            <a:r>
              <a:rPr spc="-10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10" dirty="0"/>
              <a:t>Dependency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05197" y="2563272"/>
            <a:ext cx="3849935" cy="734553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68298" y="4312329"/>
            <a:ext cx="9936451" cy="30432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40892" y="5166618"/>
            <a:ext cx="681926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Flutter</a:t>
            </a:r>
            <a:r>
              <a:rPr spc="-20" dirty="0"/>
              <a:t> </a:t>
            </a:r>
            <a:r>
              <a:rPr spc="-10" dirty="0"/>
              <a:t>Gestures</a:t>
            </a:r>
            <a:endParaRPr spc="-1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77360">
              <a:lnSpc>
                <a:spcPct val="100000"/>
              </a:lnSpc>
              <a:spcBef>
                <a:spcPts val="125"/>
              </a:spcBef>
            </a:pPr>
            <a:r>
              <a:rPr dirty="0"/>
              <a:t>Flutter</a:t>
            </a:r>
            <a:r>
              <a:rPr spc="-20" dirty="0"/>
              <a:t> </a:t>
            </a:r>
            <a:r>
              <a:rPr spc="-10" dirty="0"/>
              <a:t>Gestures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076272" y="2439999"/>
            <a:ext cx="18341975" cy="736345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06680" marR="5080" algn="just">
              <a:lnSpc>
                <a:spcPct val="150000"/>
              </a:lnSpc>
              <a:spcBef>
                <a:spcPts val="65"/>
              </a:spcBef>
            </a:pPr>
            <a:r>
              <a:rPr sz="3950" dirty="0">
                <a:latin typeface="Arial MT"/>
                <a:cs typeface="Arial MT"/>
              </a:rPr>
              <a:t>Gestures</a:t>
            </a:r>
            <a:r>
              <a:rPr sz="3950" spc="5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are</a:t>
            </a:r>
            <a:r>
              <a:rPr sz="3950" spc="57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</a:t>
            </a:r>
            <a:r>
              <a:rPr sz="3950" spc="5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interesting</a:t>
            </a:r>
            <a:r>
              <a:rPr sz="3950" spc="5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feature</a:t>
            </a:r>
            <a:r>
              <a:rPr sz="3950" spc="5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57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Flutter</a:t>
            </a:r>
            <a:r>
              <a:rPr sz="3950" spc="5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that</a:t>
            </a:r>
            <a:r>
              <a:rPr sz="3950" spc="5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allows</a:t>
            </a:r>
            <a:r>
              <a:rPr sz="3950" spc="5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</a:t>
            </a:r>
            <a:r>
              <a:rPr sz="3950" spc="5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5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interact</a:t>
            </a:r>
            <a:r>
              <a:rPr sz="3950" spc="5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with</a:t>
            </a:r>
            <a:r>
              <a:rPr sz="3950" spc="56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the </a:t>
            </a:r>
            <a:r>
              <a:rPr sz="3950" dirty="0">
                <a:latin typeface="Arial MT"/>
                <a:cs typeface="Arial MT"/>
              </a:rPr>
              <a:t>mobile</a:t>
            </a:r>
            <a:r>
              <a:rPr sz="3950" spc="2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app</a:t>
            </a:r>
            <a:r>
              <a:rPr sz="3950" spc="26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(or</a:t>
            </a:r>
            <a:r>
              <a:rPr sz="3950" spc="254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any</a:t>
            </a:r>
            <a:r>
              <a:rPr sz="3950" spc="254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touch-</a:t>
            </a:r>
            <a:r>
              <a:rPr sz="3950" dirty="0">
                <a:latin typeface="Arial MT"/>
                <a:cs typeface="Arial MT"/>
              </a:rPr>
              <a:t>based</a:t>
            </a:r>
            <a:r>
              <a:rPr sz="3950" spc="254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device).</a:t>
            </a:r>
            <a:r>
              <a:rPr sz="3950" spc="26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Generally,</a:t>
            </a:r>
            <a:r>
              <a:rPr sz="3950" spc="254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gestures</a:t>
            </a:r>
            <a:r>
              <a:rPr sz="3950" spc="254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define</a:t>
            </a:r>
            <a:r>
              <a:rPr sz="3950" spc="254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any</a:t>
            </a:r>
            <a:r>
              <a:rPr sz="3950" spc="254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physical </a:t>
            </a:r>
            <a:r>
              <a:rPr sz="3950" dirty="0">
                <a:latin typeface="Arial MT"/>
                <a:cs typeface="Arial MT"/>
              </a:rPr>
              <a:t>action</a:t>
            </a:r>
            <a:r>
              <a:rPr sz="3950" spc="6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or</a:t>
            </a:r>
            <a:r>
              <a:rPr sz="3950" spc="6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movement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6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user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intention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specific</a:t>
            </a:r>
            <a:r>
              <a:rPr sz="3950" spc="6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control</a:t>
            </a:r>
            <a:r>
              <a:rPr sz="3950" spc="6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mobile </a:t>
            </a:r>
            <a:r>
              <a:rPr sz="3950" dirty="0">
                <a:latin typeface="Arial MT"/>
                <a:cs typeface="Arial MT"/>
              </a:rPr>
              <a:t>device.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Some of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examples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 gestures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are:</a:t>
            </a:r>
            <a:endParaRPr sz="39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3950">
              <a:latin typeface="Arial MT"/>
              <a:cs typeface="Arial MT"/>
            </a:endParaRPr>
          </a:p>
          <a:p>
            <a:pPr marL="766445" marR="588645" indent="-754380">
              <a:lnSpc>
                <a:spcPts val="4690"/>
              </a:lnSpc>
              <a:buAutoNum type="arabicPeriod"/>
              <a:tabLst>
                <a:tab pos="766445" algn="l"/>
              </a:tabLst>
            </a:pPr>
            <a:r>
              <a:rPr sz="3950" dirty="0">
                <a:latin typeface="Arial MT"/>
                <a:cs typeface="Arial MT"/>
              </a:rPr>
              <a:t>When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mobile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screen is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locked,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you slide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your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finger across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screen </a:t>
            </a:r>
            <a:r>
              <a:rPr sz="3950" spc="-25" dirty="0">
                <a:latin typeface="Arial MT"/>
                <a:cs typeface="Arial MT"/>
              </a:rPr>
              <a:t>to </a:t>
            </a:r>
            <a:r>
              <a:rPr sz="3950" dirty="0">
                <a:latin typeface="Arial MT"/>
                <a:cs typeface="Arial MT"/>
              </a:rPr>
              <a:t>unlock </a:t>
            </a:r>
            <a:r>
              <a:rPr sz="3950" spc="-25" dirty="0">
                <a:latin typeface="Arial MT"/>
                <a:cs typeface="Arial MT"/>
              </a:rPr>
              <a:t>it.</a:t>
            </a:r>
            <a:endParaRPr sz="3950">
              <a:latin typeface="Arial MT"/>
              <a:cs typeface="Arial MT"/>
            </a:endParaRPr>
          </a:p>
          <a:p>
            <a:pPr marL="766445" indent="-753745">
              <a:lnSpc>
                <a:spcPts val="4640"/>
              </a:lnSpc>
              <a:buAutoNum type="arabicPeriod"/>
              <a:tabLst>
                <a:tab pos="766445" algn="l"/>
              </a:tabLst>
            </a:pPr>
            <a:r>
              <a:rPr sz="3950" dirty="0">
                <a:latin typeface="Arial MT"/>
                <a:cs typeface="Arial MT"/>
              </a:rPr>
              <a:t>Tapping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button on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your mobile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screen, </a:t>
            </a:r>
            <a:r>
              <a:rPr sz="3950" spc="-25" dirty="0">
                <a:latin typeface="Arial MT"/>
                <a:cs typeface="Arial MT"/>
              </a:rPr>
              <a:t>and</a:t>
            </a:r>
            <a:endParaRPr sz="3950">
              <a:latin typeface="Arial MT"/>
              <a:cs typeface="Arial MT"/>
            </a:endParaRPr>
          </a:p>
          <a:p>
            <a:pPr marL="766445" marR="915035" indent="-754380">
              <a:lnSpc>
                <a:spcPts val="4690"/>
              </a:lnSpc>
              <a:spcBef>
                <a:spcPts val="200"/>
              </a:spcBef>
              <a:buAutoNum type="arabicPeriod"/>
              <a:tabLst>
                <a:tab pos="766445" algn="l"/>
              </a:tabLst>
            </a:pPr>
            <a:r>
              <a:rPr sz="3950" dirty="0">
                <a:latin typeface="Arial MT"/>
                <a:cs typeface="Arial MT"/>
              </a:rPr>
              <a:t>Tapping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and holding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app icon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on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 </a:t>
            </a:r>
            <a:r>
              <a:rPr sz="3950" spc="-10" dirty="0">
                <a:latin typeface="Arial MT"/>
                <a:cs typeface="Arial MT"/>
              </a:rPr>
              <a:t>touch-</a:t>
            </a:r>
            <a:r>
              <a:rPr sz="3950" dirty="0">
                <a:latin typeface="Arial MT"/>
                <a:cs typeface="Arial MT"/>
              </a:rPr>
              <a:t>based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device to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drag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it </a:t>
            </a:r>
            <a:r>
              <a:rPr sz="3950" spc="-10" dirty="0">
                <a:latin typeface="Arial MT"/>
                <a:cs typeface="Arial MT"/>
              </a:rPr>
              <a:t>across screens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277360">
              <a:lnSpc>
                <a:spcPct val="100000"/>
              </a:lnSpc>
              <a:spcBef>
                <a:spcPts val="125"/>
              </a:spcBef>
            </a:pPr>
            <a:r>
              <a:rPr dirty="0"/>
              <a:t>Flutter</a:t>
            </a:r>
            <a:r>
              <a:rPr spc="-20" dirty="0"/>
              <a:t> </a:t>
            </a:r>
            <a:r>
              <a:rPr spc="-10" dirty="0"/>
              <a:t>Gestures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70510" y="2548059"/>
            <a:ext cx="17675860" cy="35388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 MT"/>
                <a:cs typeface="Arial MT"/>
              </a:rPr>
              <a:t>We</a:t>
            </a:r>
            <a:r>
              <a:rPr sz="3950" spc="-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all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these gestures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everyday life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interact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with your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phone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or </a:t>
            </a:r>
            <a:r>
              <a:rPr sz="3950" spc="-10" dirty="0">
                <a:latin typeface="Arial MT"/>
                <a:cs typeface="Arial MT"/>
              </a:rPr>
              <a:t>touch- </a:t>
            </a:r>
            <a:r>
              <a:rPr sz="3950" dirty="0">
                <a:latin typeface="Arial MT"/>
                <a:cs typeface="Arial MT"/>
              </a:rPr>
              <a:t>based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device.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Flutter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divides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system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into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two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different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layers,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which </a:t>
            </a:r>
            <a:r>
              <a:rPr sz="3950" dirty="0">
                <a:latin typeface="Arial MT"/>
                <a:cs typeface="Arial MT"/>
              </a:rPr>
              <a:t>are given </a:t>
            </a:r>
            <a:r>
              <a:rPr sz="3950" spc="-10" dirty="0">
                <a:latin typeface="Arial MT"/>
                <a:cs typeface="Arial MT"/>
              </a:rPr>
              <a:t>below: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30"/>
              </a:spcBef>
              <a:buSzPct val="8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Pointers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2025"/>
              </a:spcBef>
              <a:buSzPct val="8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Gestures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63" rIns="0" bIns="0" rtlCol="0">
            <a:spAutoFit/>
          </a:bodyPr>
          <a:lstStyle/>
          <a:p>
            <a:pPr marL="6083935">
              <a:lnSpc>
                <a:spcPct val="100000"/>
              </a:lnSpc>
              <a:spcBef>
                <a:spcPts val="115"/>
              </a:spcBef>
            </a:pPr>
            <a:r>
              <a:rPr sz="6250" spc="-10" dirty="0"/>
              <a:t>Pointers</a:t>
            </a:r>
            <a:endParaRPr sz="6250"/>
          </a:p>
        </p:txBody>
      </p:sp>
      <p:sp>
        <p:nvSpPr>
          <p:cNvPr id="3" name="object 3"/>
          <p:cNvSpPr txBox="1"/>
          <p:nvPr/>
        </p:nvSpPr>
        <p:spPr>
          <a:xfrm>
            <a:off x="1170510" y="2546384"/>
            <a:ext cx="18247995" cy="5948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3300" dirty="0">
                <a:latin typeface="Arial MT"/>
                <a:cs typeface="Arial MT"/>
              </a:rPr>
              <a:t>Pointers</a:t>
            </a:r>
            <a:r>
              <a:rPr sz="3300" spc="-5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are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first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layer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that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represents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raw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data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about</a:t>
            </a:r>
            <a:r>
              <a:rPr sz="3300" spc="-5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user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interaction.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It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has</a:t>
            </a:r>
            <a:r>
              <a:rPr sz="3300" spc="-4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events,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which </a:t>
            </a:r>
            <a:r>
              <a:rPr sz="3300" dirty="0">
                <a:latin typeface="Arial MT"/>
                <a:cs typeface="Arial MT"/>
              </a:rPr>
              <a:t>describe</a:t>
            </a:r>
            <a:r>
              <a:rPr sz="3300" spc="4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420" dirty="0">
                <a:latin typeface="Arial MT"/>
                <a:cs typeface="Arial MT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location</a:t>
            </a:r>
            <a:r>
              <a:rPr sz="3300" b="1" spc="420" dirty="0">
                <a:latin typeface="Arial" panose="020B0604020202020204"/>
                <a:cs typeface="Arial" panose="020B0604020202020204"/>
              </a:rPr>
              <a:t> </a:t>
            </a:r>
            <a:r>
              <a:rPr sz="3300" dirty="0">
                <a:latin typeface="Arial MT"/>
                <a:cs typeface="Arial MT"/>
              </a:rPr>
              <a:t>and</a:t>
            </a:r>
            <a:r>
              <a:rPr sz="3300" spc="415" dirty="0">
                <a:latin typeface="Arial MT"/>
                <a:cs typeface="Arial MT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movement</a:t>
            </a:r>
            <a:r>
              <a:rPr sz="3300" b="1" spc="420" dirty="0">
                <a:latin typeface="Arial" panose="020B0604020202020204"/>
                <a:cs typeface="Arial" panose="020B0604020202020204"/>
              </a:rPr>
              <a:t> </a:t>
            </a:r>
            <a:r>
              <a:rPr sz="3300" dirty="0">
                <a:latin typeface="Arial MT"/>
                <a:cs typeface="Arial MT"/>
              </a:rPr>
              <a:t>of</a:t>
            </a:r>
            <a:r>
              <a:rPr sz="3300" spc="42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pointers</a:t>
            </a:r>
            <a:r>
              <a:rPr sz="3300" spc="4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such</a:t>
            </a:r>
            <a:r>
              <a:rPr sz="3300" spc="4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as</a:t>
            </a:r>
            <a:r>
              <a:rPr sz="3300" spc="42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touches,</a:t>
            </a:r>
            <a:r>
              <a:rPr sz="3300" spc="42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mice,</a:t>
            </a:r>
            <a:r>
              <a:rPr sz="3300" spc="4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and</a:t>
            </a:r>
            <a:r>
              <a:rPr sz="3300" spc="42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style</a:t>
            </a:r>
            <a:r>
              <a:rPr sz="3300" spc="42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across</a:t>
            </a:r>
            <a:r>
              <a:rPr sz="3300" spc="415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the </a:t>
            </a:r>
            <a:r>
              <a:rPr sz="3300" dirty="0">
                <a:latin typeface="Arial MT"/>
                <a:cs typeface="Arial MT"/>
              </a:rPr>
              <a:t>screens.</a:t>
            </a:r>
            <a:r>
              <a:rPr sz="3300" spc="1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Flutter</a:t>
            </a:r>
            <a:r>
              <a:rPr sz="3300" spc="10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does</a:t>
            </a:r>
            <a:r>
              <a:rPr sz="3300" spc="1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not</a:t>
            </a:r>
            <a:r>
              <a:rPr sz="3300" spc="1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provide</a:t>
            </a:r>
            <a:r>
              <a:rPr sz="3300" spc="10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any</a:t>
            </a:r>
            <a:r>
              <a:rPr sz="3300" spc="1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mechanism</a:t>
            </a:r>
            <a:r>
              <a:rPr sz="3300" spc="1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to</a:t>
            </a:r>
            <a:r>
              <a:rPr sz="3300" spc="10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cancel</a:t>
            </a:r>
            <a:r>
              <a:rPr sz="3300" spc="1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or</a:t>
            </a:r>
            <a:r>
              <a:rPr sz="3300" spc="10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stop</a:t>
            </a:r>
            <a:r>
              <a:rPr sz="3300" spc="10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100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pointer-</a:t>
            </a:r>
            <a:r>
              <a:rPr sz="3300" dirty="0">
                <a:latin typeface="Arial MT"/>
                <a:cs typeface="Arial MT"/>
              </a:rPr>
              <a:t>events</a:t>
            </a:r>
            <a:r>
              <a:rPr sz="3300" spc="10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from</a:t>
            </a:r>
            <a:r>
              <a:rPr sz="3300" spc="110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being </a:t>
            </a:r>
            <a:r>
              <a:rPr sz="3300" dirty="0">
                <a:latin typeface="Arial MT"/>
                <a:cs typeface="Arial MT"/>
              </a:rPr>
              <a:t>dispatched</a:t>
            </a:r>
            <a:r>
              <a:rPr sz="3300" spc="1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further.</a:t>
            </a:r>
            <a:r>
              <a:rPr sz="3300" spc="1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Flutter</a:t>
            </a:r>
            <a:r>
              <a:rPr sz="3300" spc="1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provides</a:t>
            </a:r>
            <a:r>
              <a:rPr sz="3300" spc="1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</a:t>
            </a:r>
            <a:r>
              <a:rPr sz="3300" spc="185" dirty="0">
                <a:latin typeface="Arial MT"/>
                <a:cs typeface="Arial MT"/>
              </a:rPr>
              <a:t> </a:t>
            </a:r>
            <a:r>
              <a:rPr sz="3300" b="1" dirty="0">
                <a:latin typeface="Arial" panose="020B0604020202020204"/>
                <a:cs typeface="Arial" panose="020B0604020202020204"/>
              </a:rPr>
              <a:t>Listener</a:t>
            </a:r>
            <a:r>
              <a:rPr sz="3300" b="1" spc="185" dirty="0">
                <a:latin typeface="Arial" panose="020B0604020202020204"/>
                <a:cs typeface="Arial" panose="020B0604020202020204"/>
              </a:rPr>
              <a:t> </a:t>
            </a:r>
            <a:r>
              <a:rPr sz="3300" dirty="0">
                <a:latin typeface="Arial MT"/>
                <a:cs typeface="Arial MT"/>
              </a:rPr>
              <a:t>widget</a:t>
            </a:r>
            <a:r>
              <a:rPr sz="3300" spc="18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to</a:t>
            </a:r>
            <a:r>
              <a:rPr sz="3300" spc="19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listen</a:t>
            </a:r>
            <a:r>
              <a:rPr sz="3300" spc="18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to</a:t>
            </a:r>
            <a:r>
              <a:rPr sz="3300" spc="1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185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pointer-</a:t>
            </a:r>
            <a:r>
              <a:rPr sz="3300" dirty="0">
                <a:latin typeface="Arial MT"/>
                <a:cs typeface="Arial MT"/>
              </a:rPr>
              <a:t>events</a:t>
            </a:r>
            <a:r>
              <a:rPr sz="3300" spc="1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directly</a:t>
            </a:r>
            <a:r>
              <a:rPr sz="3300" spc="180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from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widgets</a:t>
            </a:r>
            <a:r>
              <a:rPr sz="3300" spc="-8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layer.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The</a:t>
            </a:r>
            <a:r>
              <a:rPr sz="3300" spc="-80" dirty="0">
                <a:latin typeface="Arial MT"/>
                <a:cs typeface="Arial MT"/>
              </a:rPr>
              <a:t> </a:t>
            </a:r>
            <a:r>
              <a:rPr sz="3300" spc="-20" dirty="0">
                <a:latin typeface="Arial MT"/>
                <a:cs typeface="Arial MT"/>
              </a:rPr>
              <a:t>pointer-</a:t>
            </a:r>
            <a:r>
              <a:rPr sz="3300" dirty="0">
                <a:latin typeface="Arial MT"/>
                <a:cs typeface="Arial MT"/>
              </a:rPr>
              <a:t>events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are</a:t>
            </a:r>
            <a:r>
              <a:rPr sz="3300" spc="-8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categories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into</a:t>
            </a:r>
            <a:r>
              <a:rPr sz="3300" spc="-80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mainly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four</a:t>
            </a:r>
            <a:r>
              <a:rPr sz="3300" spc="-7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types:</a:t>
            </a:r>
            <a:endParaRPr sz="330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90"/>
              </a:spcBef>
              <a:buSzPct val="3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PointerDownEvents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30"/>
              </a:spcBef>
              <a:buSzPct val="3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PointerMoveEvents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2025"/>
              </a:spcBef>
              <a:buSzPct val="3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PointerUpEvents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30"/>
              </a:spcBef>
              <a:buSzPct val="3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PointerCancelEvents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63" rIns="0" bIns="0" rtlCol="0">
            <a:spAutoFit/>
          </a:bodyPr>
          <a:lstStyle/>
          <a:p>
            <a:pPr marL="6083935">
              <a:lnSpc>
                <a:spcPct val="100000"/>
              </a:lnSpc>
              <a:spcBef>
                <a:spcPts val="115"/>
              </a:spcBef>
            </a:pPr>
            <a:r>
              <a:rPr sz="6250" spc="-10" dirty="0"/>
              <a:t>Pointers</a:t>
            </a:r>
            <a:endParaRPr sz="6250"/>
          </a:p>
        </p:txBody>
      </p:sp>
      <p:sp>
        <p:nvSpPr>
          <p:cNvPr id="3" name="object 3"/>
          <p:cNvSpPr txBox="1"/>
          <p:nvPr/>
        </p:nvSpPr>
        <p:spPr>
          <a:xfrm>
            <a:off x="1170510" y="2293407"/>
            <a:ext cx="18194655" cy="3795395"/>
          </a:xfrm>
          <a:prstGeom prst="rect">
            <a:avLst/>
          </a:prstGeom>
        </p:spPr>
        <p:txBody>
          <a:bodyPr vert="horz" wrap="square" lIns="0" tIns="269875" rIns="0" bIns="0" rtlCol="0">
            <a:spAutoFit/>
          </a:bodyPr>
          <a:lstStyle/>
          <a:p>
            <a:pPr marL="295275" indent="-282575">
              <a:lnSpc>
                <a:spcPct val="100000"/>
              </a:lnSpc>
              <a:spcBef>
                <a:spcPts val="2125"/>
              </a:spcBef>
              <a:buSzPct val="40000"/>
              <a:buFont typeface="Arial MT"/>
              <a:buChar char="•"/>
              <a:tabLst>
                <a:tab pos="295275" algn="l"/>
              </a:tabLst>
            </a:pPr>
            <a:r>
              <a:rPr sz="3600" b="1" dirty="0">
                <a:latin typeface="Arial" panose="020B0604020202020204"/>
                <a:cs typeface="Arial" panose="020B0604020202020204"/>
              </a:rPr>
              <a:t>PointerDownEvents:</a:t>
            </a:r>
            <a:r>
              <a:rPr sz="36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 MT"/>
                <a:cs typeface="Arial MT"/>
              </a:rPr>
              <a:t>It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allows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pointer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contact</a:t>
            </a:r>
            <a:r>
              <a:rPr sz="3600" spc="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screen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at</a:t>
            </a:r>
            <a:r>
              <a:rPr sz="3600" spc="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particular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location.</a:t>
            </a:r>
            <a:endParaRPr sz="3600">
              <a:latin typeface="Arial MT"/>
              <a:cs typeface="Arial MT"/>
            </a:endParaRPr>
          </a:p>
          <a:p>
            <a:pPr marL="295275" marR="5080" indent="-283210">
              <a:lnSpc>
                <a:spcPts val="4270"/>
              </a:lnSpc>
              <a:spcBef>
                <a:spcPts val="2215"/>
              </a:spcBef>
              <a:buSzPct val="40000"/>
              <a:buFont typeface="Arial MT"/>
              <a:buChar char="•"/>
              <a:tabLst>
                <a:tab pos="295275" algn="l"/>
              </a:tabLst>
            </a:pPr>
            <a:r>
              <a:rPr sz="3600" b="1" dirty="0">
                <a:latin typeface="Arial" panose="020B0604020202020204"/>
                <a:cs typeface="Arial" panose="020B0604020202020204"/>
              </a:rPr>
              <a:t>PointerMoveEvents:</a:t>
            </a:r>
            <a:r>
              <a:rPr sz="36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 MT"/>
                <a:cs typeface="Arial MT"/>
              </a:rPr>
              <a:t>It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allows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pointer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move from one location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 another </a:t>
            </a:r>
            <a:r>
              <a:rPr sz="3600" spc="-10" dirty="0">
                <a:latin typeface="Arial MT"/>
                <a:cs typeface="Arial MT"/>
              </a:rPr>
              <a:t>location </a:t>
            </a:r>
            <a:r>
              <a:rPr sz="3600" dirty="0">
                <a:latin typeface="Arial MT"/>
                <a:cs typeface="Arial MT"/>
              </a:rPr>
              <a:t>on the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screen.</a:t>
            </a:r>
            <a:endParaRPr sz="360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00"/>
              </a:spcBef>
              <a:buSzPct val="40000"/>
              <a:buFont typeface="Arial MT"/>
              <a:buChar char="•"/>
              <a:tabLst>
                <a:tab pos="295275" algn="l"/>
              </a:tabLst>
            </a:pPr>
            <a:r>
              <a:rPr sz="3600" b="1" dirty="0">
                <a:latin typeface="Arial" panose="020B0604020202020204"/>
                <a:cs typeface="Arial" panose="020B0604020202020204"/>
              </a:rPr>
              <a:t>PointerUpEvents:</a:t>
            </a:r>
            <a:r>
              <a:rPr sz="36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 MT"/>
                <a:cs typeface="Arial MT"/>
              </a:rPr>
              <a:t>It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allows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pointer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stop contacting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screen.</a:t>
            </a:r>
            <a:endParaRPr sz="360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2035"/>
              </a:spcBef>
              <a:buSzPct val="40000"/>
              <a:buFont typeface="Arial MT"/>
              <a:buChar char="•"/>
              <a:tabLst>
                <a:tab pos="295275" algn="l"/>
              </a:tabLst>
            </a:pPr>
            <a:r>
              <a:rPr sz="3600" b="1" dirty="0">
                <a:latin typeface="Arial" panose="020B0604020202020204"/>
                <a:cs typeface="Arial" panose="020B0604020202020204"/>
              </a:rPr>
              <a:t>PointerCancelEvents: </a:t>
            </a:r>
            <a:r>
              <a:rPr sz="3600" dirty="0">
                <a:latin typeface="Arial MT"/>
                <a:cs typeface="Arial MT"/>
              </a:rPr>
              <a:t>This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event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is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sent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when</a:t>
            </a:r>
            <a:r>
              <a:rPr sz="3600" spc="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pointer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interaction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is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canceled.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63" rIns="0" bIns="0" rtlCol="0">
            <a:spAutoFit/>
          </a:bodyPr>
          <a:lstStyle/>
          <a:p>
            <a:pPr marL="5951220">
              <a:lnSpc>
                <a:spcPct val="100000"/>
              </a:lnSpc>
              <a:spcBef>
                <a:spcPts val="115"/>
              </a:spcBef>
            </a:pPr>
            <a:r>
              <a:rPr sz="6250" spc="-10" dirty="0"/>
              <a:t>Gestures</a:t>
            </a:r>
            <a:endParaRPr sz="6250"/>
          </a:p>
        </p:txBody>
      </p:sp>
      <p:sp>
        <p:nvSpPr>
          <p:cNvPr id="3" name="object 3"/>
          <p:cNvSpPr txBox="1"/>
          <p:nvPr/>
        </p:nvSpPr>
        <p:spPr>
          <a:xfrm>
            <a:off x="1170510" y="2548059"/>
            <a:ext cx="18247995" cy="72574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25"/>
              </a:spcBef>
            </a:pPr>
            <a:r>
              <a:rPr sz="3950" dirty="0">
                <a:latin typeface="Arial MT"/>
                <a:cs typeface="Arial MT"/>
              </a:rPr>
              <a:t>It</a:t>
            </a:r>
            <a:r>
              <a:rPr sz="3950" spc="4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45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45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second</a:t>
            </a:r>
            <a:r>
              <a:rPr sz="3950" spc="47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layer</a:t>
            </a:r>
            <a:r>
              <a:rPr sz="3950" spc="45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that</a:t>
            </a:r>
            <a:r>
              <a:rPr sz="3950" spc="45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represents</a:t>
            </a:r>
            <a:r>
              <a:rPr sz="3950" spc="459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semantic</a:t>
            </a:r>
            <a:r>
              <a:rPr sz="3950" b="1" spc="459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actions</a:t>
            </a:r>
            <a:r>
              <a:rPr sz="3950" b="1" spc="46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such</a:t>
            </a:r>
            <a:r>
              <a:rPr sz="3950" spc="46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as</a:t>
            </a:r>
            <a:r>
              <a:rPr sz="3950" spc="45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tap,</a:t>
            </a:r>
            <a:r>
              <a:rPr sz="3950" spc="45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drag,</a:t>
            </a:r>
            <a:r>
              <a:rPr sz="3950" spc="46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and </a:t>
            </a:r>
            <a:r>
              <a:rPr sz="3950" dirty="0">
                <a:latin typeface="Arial MT"/>
                <a:cs typeface="Arial MT"/>
              </a:rPr>
              <a:t>scale,</a:t>
            </a:r>
            <a:r>
              <a:rPr sz="3950" spc="1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which</a:t>
            </a:r>
            <a:r>
              <a:rPr sz="3950" spc="1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are</a:t>
            </a:r>
            <a:r>
              <a:rPr sz="3950" spc="1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recognized</a:t>
            </a:r>
            <a:r>
              <a:rPr sz="3950" spc="15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from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multiple</a:t>
            </a:r>
            <a:r>
              <a:rPr sz="3950" spc="15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individual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pointer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events.</a:t>
            </a:r>
            <a:r>
              <a:rPr sz="3950" spc="1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It</a:t>
            </a:r>
            <a:r>
              <a:rPr sz="3950" spc="15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also</a:t>
            </a:r>
            <a:r>
              <a:rPr sz="3950" spc="155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able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1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dispatch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multiple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events</a:t>
            </a:r>
            <a:r>
              <a:rPr sz="3950" spc="1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corresponding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lifecycle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like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drag</a:t>
            </a:r>
            <a:r>
              <a:rPr sz="3950" spc="14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start,</a:t>
            </a:r>
            <a:r>
              <a:rPr sz="3950" spc="140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drag </a:t>
            </a:r>
            <a:r>
              <a:rPr sz="3950" dirty="0">
                <a:latin typeface="Arial MT"/>
                <a:cs typeface="Arial MT"/>
              </a:rPr>
              <a:t>update,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and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drag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end.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Some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popularly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used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are</a:t>
            </a:r>
            <a:r>
              <a:rPr sz="3950" spc="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listed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below:</a:t>
            </a:r>
            <a:endParaRPr sz="3950">
              <a:latin typeface="Arial MT"/>
              <a:cs typeface="Arial MT"/>
            </a:endParaRPr>
          </a:p>
          <a:p>
            <a:pPr marL="624840" indent="-612140">
              <a:lnSpc>
                <a:spcPct val="100000"/>
              </a:lnSpc>
              <a:spcBef>
                <a:spcPts val="2040"/>
              </a:spcBef>
              <a:buSzPct val="60000"/>
              <a:buAutoNum type="arabicPeriod"/>
              <a:tabLst>
                <a:tab pos="624840" algn="l"/>
              </a:tabLst>
            </a:pPr>
            <a:r>
              <a:rPr sz="3600" b="1" spc="-25" dirty="0">
                <a:latin typeface="Arial" panose="020B0604020202020204"/>
                <a:cs typeface="Arial" panose="020B0604020202020204"/>
              </a:rPr>
              <a:t>Tap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624840" indent="-612140">
              <a:lnSpc>
                <a:spcPct val="100000"/>
              </a:lnSpc>
              <a:spcBef>
                <a:spcPts val="2035"/>
              </a:spcBef>
              <a:buSzPct val="60000"/>
              <a:buAutoNum type="arabicPeriod"/>
              <a:tabLst>
                <a:tab pos="624840" algn="l"/>
              </a:tabLst>
            </a:pPr>
            <a:r>
              <a:rPr sz="3600" b="1" dirty="0">
                <a:latin typeface="Arial" panose="020B0604020202020204"/>
                <a:cs typeface="Arial" panose="020B0604020202020204"/>
              </a:rPr>
              <a:t>Double</a:t>
            </a:r>
            <a:r>
              <a:rPr sz="36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3600" b="1" spc="-25" dirty="0">
                <a:latin typeface="Arial" panose="020B0604020202020204"/>
                <a:cs typeface="Arial" panose="020B0604020202020204"/>
              </a:rPr>
              <a:t>Tap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624840" indent="-612140">
              <a:lnSpc>
                <a:spcPct val="100000"/>
              </a:lnSpc>
              <a:spcBef>
                <a:spcPts val="2030"/>
              </a:spcBef>
              <a:buSzPct val="60000"/>
              <a:buAutoNum type="arabicPeriod"/>
              <a:tabLst>
                <a:tab pos="624840" algn="l"/>
              </a:tabLst>
            </a:pPr>
            <a:r>
              <a:rPr sz="3600" b="1" spc="-20" dirty="0">
                <a:latin typeface="Arial" panose="020B0604020202020204"/>
                <a:cs typeface="Arial" panose="020B0604020202020204"/>
              </a:rPr>
              <a:t>Drag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624840" indent="-612140">
              <a:lnSpc>
                <a:spcPct val="100000"/>
              </a:lnSpc>
              <a:spcBef>
                <a:spcPts val="2030"/>
              </a:spcBef>
              <a:buSzPct val="60000"/>
              <a:buAutoNum type="arabicPeriod"/>
              <a:tabLst>
                <a:tab pos="624840" algn="l"/>
              </a:tabLst>
            </a:pPr>
            <a:r>
              <a:rPr sz="3600" b="1" dirty="0">
                <a:latin typeface="Arial" panose="020B0604020202020204"/>
                <a:cs typeface="Arial" panose="020B0604020202020204"/>
              </a:rPr>
              <a:t>Long</a:t>
            </a:r>
            <a:r>
              <a:rPr sz="3600" b="1" spc="-20" dirty="0">
                <a:latin typeface="Arial" panose="020B0604020202020204"/>
                <a:cs typeface="Arial" panose="020B0604020202020204"/>
              </a:rPr>
              <a:t> </a:t>
            </a:r>
            <a:r>
              <a:rPr sz="3600" b="1" spc="-10" dirty="0">
                <a:latin typeface="Arial" panose="020B0604020202020204"/>
                <a:cs typeface="Arial" panose="020B0604020202020204"/>
              </a:rPr>
              <a:t>Press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624840" indent="-612140">
              <a:lnSpc>
                <a:spcPct val="100000"/>
              </a:lnSpc>
              <a:spcBef>
                <a:spcPts val="1935"/>
              </a:spcBef>
              <a:buSzPct val="60000"/>
              <a:buAutoNum type="arabicPeriod"/>
              <a:tabLst>
                <a:tab pos="624840" algn="l"/>
              </a:tabLst>
            </a:pPr>
            <a:r>
              <a:rPr sz="3600" b="1" spc="-25" dirty="0">
                <a:latin typeface="Arial" panose="020B0604020202020204"/>
                <a:cs typeface="Arial" panose="020B0604020202020204"/>
              </a:rPr>
              <a:t>Pan</a:t>
            </a:r>
            <a:endParaRPr sz="3600">
              <a:latin typeface="Arial" panose="020B0604020202020204"/>
              <a:cs typeface="Arial" panose="020B0604020202020204"/>
            </a:endParaRPr>
          </a:p>
          <a:p>
            <a:pPr marL="624840" indent="-612140">
              <a:lnSpc>
                <a:spcPct val="100000"/>
              </a:lnSpc>
              <a:spcBef>
                <a:spcPts val="2030"/>
              </a:spcBef>
              <a:buSzPct val="60000"/>
              <a:buAutoNum type="arabicPeriod"/>
              <a:tabLst>
                <a:tab pos="624840" algn="l"/>
              </a:tabLst>
            </a:pPr>
            <a:r>
              <a:rPr sz="3600" b="1" spc="-10" dirty="0">
                <a:latin typeface="Arial" panose="020B0604020202020204"/>
                <a:cs typeface="Arial" panose="020B0604020202020204"/>
              </a:rPr>
              <a:t>Pinch</a:t>
            </a:r>
            <a:endParaRPr sz="36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63" rIns="0" bIns="0" rtlCol="0">
            <a:spAutoFit/>
          </a:bodyPr>
          <a:lstStyle/>
          <a:p>
            <a:pPr marL="5951220">
              <a:lnSpc>
                <a:spcPct val="100000"/>
              </a:lnSpc>
              <a:spcBef>
                <a:spcPts val="115"/>
              </a:spcBef>
            </a:pPr>
            <a:r>
              <a:rPr sz="6250" spc="-10" dirty="0"/>
              <a:t>Gestures</a:t>
            </a:r>
            <a:endParaRPr sz="62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Tap:</a:t>
            </a:r>
            <a:r>
              <a:rPr b="1" spc="280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It</a:t>
            </a:r>
            <a:r>
              <a:rPr spc="295" dirty="0"/>
              <a:t> </a:t>
            </a:r>
            <a:r>
              <a:rPr dirty="0"/>
              <a:t>means</a:t>
            </a:r>
            <a:r>
              <a:rPr spc="295" dirty="0"/>
              <a:t> </a:t>
            </a:r>
            <a:r>
              <a:rPr dirty="0"/>
              <a:t>touching</a:t>
            </a:r>
            <a:r>
              <a:rPr spc="295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surface</a:t>
            </a:r>
            <a:r>
              <a:rPr spc="295" dirty="0"/>
              <a:t> </a:t>
            </a:r>
            <a:r>
              <a:rPr dirty="0"/>
              <a:t>of</a:t>
            </a:r>
            <a:r>
              <a:rPr spc="295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screen</a:t>
            </a:r>
            <a:r>
              <a:rPr spc="295" dirty="0"/>
              <a:t> </a:t>
            </a:r>
            <a:r>
              <a:rPr dirty="0"/>
              <a:t>from</a:t>
            </a:r>
            <a:r>
              <a:rPr spc="290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fingertip</a:t>
            </a:r>
            <a:r>
              <a:rPr spc="300" dirty="0"/>
              <a:t> </a:t>
            </a:r>
            <a:r>
              <a:rPr dirty="0"/>
              <a:t>for</a:t>
            </a:r>
            <a:r>
              <a:rPr spc="290" dirty="0"/>
              <a:t> </a:t>
            </a:r>
            <a:r>
              <a:rPr dirty="0"/>
              <a:t>a</a:t>
            </a:r>
            <a:r>
              <a:rPr spc="295" dirty="0"/>
              <a:t> </a:t>
            </a:r>
            <a:r>
              <a:rPr dirty="0"/>
              <a:t>short</a:t>
            </a:r>
            <a:r>
              <a:rPr spc="295" dirty="0"/>
              <a:t> </a:t>
            </a:r>
            <a:r>
              <a:rPr dirty="0"/>
              <a:t>time</a:t>
            </a:r>
            <a:r>
              <a:rPr spc="295" dirty="0"/>
              <a:t> </a:t>
            </a:r>
            <a:r>
              <a:rPr spc="-25" dirty="0"/>
              <a:t>and </a:t>
            </a:r>
            <a:r>
              <a:rPr dirty="0"/>
              <a:t>then</a:t>
            </a:r>
            <a:r>
              <a:rPr spc="5" dirty="0"/>
              <a:t> </a:t>
            </a:r>
            <a:r>
              <a:rPr dirty="0"/>
              <a:t>releasing them.</a:t>
            </a:r>
            <a:r>
              <a:rPr spc="5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dirty="0"/>
              <a:t>gesture contains</a:t>
            </a:r>
            <a:r>
              <a:rPr spc="5" dirty="0"/>
              <a:t> </a:t>
            </a:r>
            <a:r>
              <a:rPr dirty="0"/>
              <a:t>the following</a:t>
            </a:r>
            <a:r>
              <a:rPr spc="15" dirty="0"/>
              <a:t> </a:t>
            </a:r>
            <a:r>
              <a:rPr spc="-10" dirty="0"/>
              <a:t>events: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1930"/>
              </a:spcBef>
              <a:buSzPct val="75000"/>
              <a:buChar char="•"/>
              <a:tabLst>
                <a:tab pos="295275" algn="l"/>
              </a:tabLst>
            </a:pPr>
            <a:r>
              <a:rPr spc="-10" dirty="0"/>
              <a:t>onTapDown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2035"/>
              </a:spcBef>
              <a:buSzPct val="75000"/>
              <a:buChar char="•"/>
              <a:tabLst>
                <a:tab pos="295275" algn="l"/>
              </a:tabLst>
            </a:pPr>
            <a:r>
              <a:rPr spc="-10" dirty="0"/>
              <a:t>onTapUp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2030"/>
              </a:spcBef>
              <a:buSzPct val="75000"/>
              <a:buChar char="•"/>
              <a:tabLst>
                <a:tab pos="295275" algn="l"/>
              </a:tabLst>
            </a:pPr>
            <a:r>
              <a:rPr spc="-10" dirty="0"/>
              <a:t>onTap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2035"/>
              </a:spcBef>
              <a:buSzPct val="75000"/>
              <a:buChar char="•"/>
              <a:tabLst>
                <a:tab pos="295275" algn="l"/>
              </a:tabLst>
            </a:pPr>
            <a:r>
              <a:rPr spc="-10" dirty="0"/>
              <a:t>onTapCancel</a:t>
            </a:r>
            <a:endParaRPr spc="-1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63" rIns="0" bIns="0" rtlCol="0">
            <a:spAutoFit/>
          </a:bodyPr>
          <a:lstStyle/>
          <a:p>
            <a:pPr marL="5951220">
              <a:lnSpc>
                <a:spcPct val="100000"/>
              </a:lnSpc>
              <a:spcBef>
                <a:spcPts val="115"/>
              </a:spcBef>
            </a:pPr>
            <a:r>
              <a:rPr sz="6250" spc="-10" dirty="0"/>
              <a:t>Gestures</a:t>
            </a:r>
            <a:endParaRPr sz="62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75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Tap:</a:t>
            </a:r>
            <a:r>
              <a:rPr b="1" spc="280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It</a:t>
            </a:r>
            <a:r>
              <a:rPr spc="295" dirty="0"/>
              <a:t> </a:t>
            </a:r>
            <a:r>
              <a:rPr dirty="0"/>
              <a:t>means</a:t>
            </a:r>
            <a:r>
              <a:rPr spc="295" dirty="0"/>
              <a:t> </a:t>
            </a:r>
            <a:r>
              <a:rPr dirty="0"/>
              <a:t>touching</a:t>
            </a:r>
            <a:r>
              <a:rPr spc="295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surface</a:t>
            </a:r>
            <a:r>
              <a:rPr spc="295" dirty="0"/>
              <a:t> </a:t>
            </a:r>
            <a:r>
              <a:rPr dirty="0"/>
              <a:t>of</a:t>
            </a:r>
            <a:r>
              <a:rPr spc="295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screen</a:t>
            </a:r>
            <a:r>
              <a:rPr spc="295" dirty="0"/>
              <a:t> </a:t>
            </a:r>
            <a:r>
              <a:rPr dirty="0"/>
              <a:t>from</a:t>
            </a:r>
            <a:r>
              <a:rPr spc="290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fingertip</a:t>
            </a:r>
            <a:r>
              <a:rPr spc="300" dirty="0"/>
              <a:t> </a:t>
            </a:r>
            <a:r>
              <a:rPr dirty="0"/>
              <a:t>for</a:t>
            </a:r>
            <a:r>
              <a:rPr spc="290" dirty="0"/>
              <a:t> </a:t>
            </a:r>
            <a:r>
              <a:rPr dirty="0"/>
              <a:t>a</a:t>
            </a:r>
            <a:r>
              <a:rPr spc="295" dirty="0"/>
              <a:t> </a:t>
            </a:r>
            <a:r>
              <a:rPr dirty="0"/>
              <a:t>short</a:t>
            </a:r>
            <a:r>
              <a:rPr spc="295" dirty="0"/>
              <a:t> </a:t>
            </a:r>
            <a:r>
              <a:rPr dirty="0"/>
              <a:t>time</a:t>
            </a:r>
            <a:r>
              <a:rPr spc="295" dirty="0"/>
              <a:t> </a:t>
            </a:r>
            <a:r>
              <a:rPr spc="-25" dirty="0"/>
              <a:t>and </a:t>
            </a:r>
            <a:r>
              <a:rPr dirty="0"/>
              <a:t>then</a:t>
            </a:r>
            <a:r>
              <a:rPr spc="5" dirty="0"/>
              <a:t> </a:t>
            </a:r>
            <a:r>
              <a:rPr dirty="0"/>
              <a:t>releasing them.</a:t>
            </a:r>
            <a:r>
              <a:rPr spc="5" dirty="0"/>
              <a:t> </a:t>
            </a:r>
            <a:r>
              <a:rPr dirty="0"/>
              <a:t>This</a:t>
            </a:r>
            <a:r>
              <a:rPr spc="-5" dirty="0"/>
              <a:t> </a:t>
            </a:r>
            <a:r>
              <a:rPr dirty="0"/>
              <a:t>gesture contains</a:t>
            </a:r>
            <a:r>
              <a:rPr spc="5" dirty="0"/>
              <a:t> </a:t>
            </a:r>
            <a:r>
              <a:rPr dirty="0"/>
              <a:t>the following</a:t>
            </a:r>
            <a:r>
              <a:rPr spc="15" dirty="0"/>
              <a:t> </a:t>
            </a:r>
            <a:r>
              <a:rPr spc="-10" dirty="0"/>
              <a:t>events: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1930"/>
              </a:spcBef>
              <a:buSzPct val="75000"/>
              <a:buChar char="•"/>
              <a:tabLst>
                <a:tab pos="295275" algn="l"/>
              </a:tabLst>
            </a:pPr>
            <a:r>
              <a:rPr spc="-10" dirty="0"/>
              <a:t>onTapDown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2035"/>
              </a:spcBef>
              <a:buSzPct val="75000"/>
              <a:buChar char="•"/>
              <a:tabLst>
                <a:tab pos="295275" algn="l"/>
              </a:tabLst>
            </a:pPr>
            <a:r>
              <a:rPr spc="-10" dirty="0"/>
              <a:t>onTapUp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2030"/>
              </a:spcBef>
              <a:buSzPct val="75000"/>
              <a:buChar char="•"/>
              <a:tabLst>
                <a:tab pos="295275" algn="l"/>
              </a:tabLst>
            </a:pPr>
            <a:r>
              <a:rPr spc="-10" dirty="0"/>
              <a:t>onTap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2035"/>
              </a:spcBef>
              <a:buSzPct val="75000"/>
              <a:buChar char="•"/>
              <a:tabLst>
                <a:tab pos="295275" algn="l"/>
              </a:tabLst>
            </a:pPr>
            <a:r>
              <a:rPr spc="-10" dirty="0"/>
              <a:t>onTapCancel</a:t>
            </a:r>
            <a:endParaRPr spc="-10" dirty="0"/>
          </a:p>
          <a:p>
            <a:pPr marL="12700" marR="367030">
              <a:lnSpc>
                <a:spcPts val="4270"/>
              </a:lnSpc>
              <a:spcBef>
                <a:spcPts val="2215"/>
              </a:spcBef>
            </a:pPr>
            <a:r>
              <a:rPr b="1" dirty="0">
                <a:latin typeface="Arial" panose="020B0604020202020204"/>
                <a:cs typeface="Arial" panose="020B0604020202020204"/>
              </a:rPr>
              <a:t>Double Tap:</a:t>
            </a:r>
            <a:r>
              <a:rPr b="1" spc="5" dirty="0">
                <a:latin typeface="Arial" panose="020B0604020202020204"/>
                <a:cs typeface="Arial" panose="020B0604020202020204"/>
              </a:rPr>
              <a:t> </a:t>
            </a:r>
            <a:r>
              <a:rPr dirty="0"/>
              <a:t>It</a:t>
            </a:r>
            <a:r>
              <a:rPr spc="5" dirty="0"/>
              <a:t> </a:t>
            </a:r>
            <a:r>
              <a:rPr dirty="0"/>
              <a:t>is similar</a:t>
            </a:r>
            <a:r>
              <a:rPr spc="-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Tap</a:t>
            </a:r>
            <a:r>
              <a:rPr spc="5" dirty="0"/>
              <a:t> </a:t>
            </a:r>
            <a:r>
              <a:rPr dirty="0"/>
              <a:t>gesture,</a:t>
            </a:r>
            <a:r>
              <a:rPr spc="5" dirty="0"/>
              <a:t> </a:t>
            </a:r>
            <a:r>
              <a:rPr dirty="0"/>
              <a:t>but you</a:t>
            </a:r>
            <a:r>
              <a:rPr spc="5" dirty="0"/>
              <a:t> </a:t>
            </a:r>
            <a:r>
              <a:rPr dirty="0"/>
              <a:t>need</a:t>
            </a:r>
            <a:r>
              <a:rPr spc="5" dirty="0"/>
              <a:t> </a:t>
            </a:r>
            <a:r>
              <a:rPr dirty="0"/>
              <a:t>to</a:t>
            </a:r>
            <a:r>
              <a:rPr spc="5" dirty="0"/>
              <a:t> </a:t>
            </a:r>
            <a:r>
              <a:rPr dirty="0"/>
              <a:t>tapping twice</a:t>
            </a:r>
            <a:r>
              <a:rPr spc="5" dirty="0"/>
              <a:t> </a:t>
            </a:r>
            <a:r>
              <a:rPr dirty="0"/>
              <a:t>in</a:t>
            </a:r>
            <a:r>
              <a:rPr spc="5" dirty="0"/>
              <a:t> </a:t>
            </a:r>
            <a:r>
              <a:rPr dirty="0"/>
              <a:t>a</a:t>
            </a:r>
            <a:r>
              <a:rPr spc="5" dirty="0"/>
              <a:t> </a:t>
            </a:r>
            <a:r>
              <a:rPr dirty="0"/>
              <a:t>short</a:t>
            </a:r>
            <a:r>
              <a:rPr spc="5" dirty="0"/>
              <a:t> </a:t>
            </a:r>
            <a:r>
              <a:rPr spc="-20" dirty="0"/>
              <a:t>time. </a:t>
            </a:r>
            <a:r>
              <a:rPr dirty="0"/>
              <a:t>This</a:t>
            </a:r>
            <a:r>
              <a:rPr spc="-15" dirty="0"/>
              <a:t> </a:t>
            </a:r>
            <a:r>
              <a:rPr dirty="0"/>
              <a:t>gesture contains</a:t>
            </a:r>
            <a:r>
              <a:rPr spc="-5" dirty="0"/>
              <a:t> </a:t>
            </a:r>
            <a:r>
              <a:rPr dirty="0"/>
              <a:t>the following</a:t>
            </a:r>
            <a:r>
              <a:rPr spc="5" dirty="0"/>
              <a:t> </a:t>
            </a:r>
            <a:r>
              <a:rPr spc="-10" dirty="0"/>
              <a:t>events:</a:t>
            </a:r>
            <a:endParaRPr spc="-10" dirty="0"/>
          </a:p>
          <a:p>
            <a:pPr marL="295275" indent="-282575">
              <a:lnSpc>
                <a:spcPct val="100000"/>
              </a:lnSpc>
              <a:spcBef>
                <a:spcPts val="1900"/>
              </a:spcBef>
              <a:buSzPct val="40000"/>
              <a:buFont typeface="Arial MT"/>
              <a:buChar char="•"/>
              <a:tabLst>
                <a:tab pos="295275" algn="l"/>
              </a:tabLst>
            </a:pPr>
            <a:r>
              <a:rPr b="1" spc="-10" dirty="0">
                <a:latin typeface="Arial" panose="020B0604020202020204"/>
                <a:cs typeface="Arial" panose="020B0604020202020204"/>
              </a:rPr>
              <a:t>onDoubleTap</a:t>
            </a:r>
            <a:endParaRPr b="1" spc="-10" dirty="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63" rIns="0" bIns="0" rtlCol="0">
            <a:spAutoFit/>
          </a:bodyPr>
          <a:lstStyle/>
          <a:p>
            <a:pPr marL="5951220">
              <a:lnSpc>
                <a:spcPct val="100000"/>
              </a:lnSpc>
              <a:spcBef>
                <a:spcPts val="115"/>
              </a:spcBef>
            </a:pPr>
            <a:r>
              <a:rPr sz="6250" spc="-10" dirty="0"/>
              <a:t>Gestures</a:t>
            </a:r>
            <a:endParaRPr sz="6250"/>
          </a:p>
        </p:txBody>
      </p:sp>
      <p:sp>
        <p:nvSpPr>
          <p:cNvPr id="3" name="object 3"/>
          <p:cNvSpPr txBox="1"/>
          <p:nvPr/>
        </p:nvSpPr>
        <p:spPr>
          <a:xfrm>
            <a:off x="1170510" y="2431623"/>
            <a:ext cx="18169255" cy="7898765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2700" marR="5080">
              <a:lnSpc>
                <a:spcPct val="81000"/>
              </a:lnSpc>
              <a:spcBef>
                <a:spcPts val="945"/>
              </a:spcBef>
            </a:pPr>
            <a:r>
              <a:rPr sz="3600" b="1" dirty="0">
                <a:latin typeface="Arial" panose="020B0604020202020204"/>
                <a:cs typeface="Arial" panose="020B0604020202020204"/>
              </a:rPr>
              <a:t>Drag:</a:t>
            </a:r>
            <a:r>
              <a:rPr sz="36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 MT"/>
                <a:cs typeface="Arial MT"/>
              </a:rPr>
              <a:t>It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allows us 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touch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surface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of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screen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with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fingertip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move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from </a:t>
            </a:r>
            <a:r>
              <a:rPr sz="3600" spc="-25" dirty="0">
                <a:latin typeface="Arial MT"/>
                <a:cs typeface="Arial MT"/>
              </a:rPr>
              <a:t>one </a:t>
            </a:r>
            <a:r>
              <a:rPr sz="3600" dirty="0">
                <a:latin typeface="Arial MT"/>
                <a:cs typeface="Arial MT"/>
              </a:rPr>
              <a:t>location 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another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location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and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then releasing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them. Flutter categories the drag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25" dirty="0">
                <a:latin typeface="Arial MT"/>
                <a:cs typeface="Arial MT"/>
              </a:rPr>
              <a:t>two </a:t>
            </a:r>
            <a:r>
              <a:rPr sz="3600" spc="-10" dirty="0">
                <a:latin typeface="Arial MT"/>
                <a:cs typeface="Arial MT"/>
              </a:rPr>
              <a:t>types:</a:t>
            </a:r>
            <a:endParaRPr sz="3600">
              <a:latin typeface="Arial MT"/>
              <a:cs typeface="Arial MT"/>
            </a:endParaRPr>
          </a:p>
          <a:p>
            <a:pPr marL="295275" marR="751840" indent="-283210">
              <a:lnSpc>
                <a:spcPts val="3460"/>
              </a:lnSpc>
              <a:spcBef>
                <a:spcPts val="1950"/>
              </a:spcBef>
            </a:pPr>
            <a:r>
              <a:rPr sz="1450" b="1" dirty="0">
                <a:latin typeface="Arial" panose="020B0604020202020204"/>
                <a:cs typeface="Arial" panose="020B0604020202020204"/>
              </a:rPr>
              <a:t>1.</a:t>
            </a:r>
            <a:r>
              <a:rPr sz="1450" b="1" spc="85" dirty="0">
                <a:latin typeface="Arial" panose="020B0604020202020204"/>
                <a:cs typeface="Arial" panose="020B0604020202020204"/>
              </a:rPr>
              <a:t>  </a:t>
            </a:r>
            <a:r>
              <a:rPr sz="3600" b="1" dirty="0">
                <a:latin typeface="Arial" panose="020B0604020202020204"/>
                <a:cs typeface="Arial" panose="020B0604020202020204"/>
              </a:rPr>
              <a:t>Horizontal</a:t>
            </a:r>
            <a:r>
              <a:rPr sz="36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3600" b="1" dirty="0">
                <a:latin typeface="Arial" panose="020B0604020202020204"/>
                <a:cs typeface="Arial" panose="020B0604020202020204"/>
              </a:rPr>
              <a:t>Drag:</a:t>
            </a:r>
            <a:r>
              <a:rPr sz="36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 MT"/>
                <a:cs typeface="Arial MT"/>
              </a:rPr>
              <a:t>This gesture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allows</a:t>
            </a:r>
            <a:r>
              <a:rPr sz="3600" spc="-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pointer to move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 a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horizontal direction. </a:t>
            </a:r>
            <a:r>
              <a:rPr sz="3600" spc="-25" dirty="0">
                <a:latin typeface="Arial MT"/>
                <a:cs typeface="Arial MT"/>
              </a:rPr>
              <a:t>It </a:t>
            </a:r>
            <a:r>
              <a:rPr sz="3600" dirty="0">
                <a:latin typeface="Arial MT"/>
                <a:cs typeface="Arial MT"/>
              </a:rPr>
              <a:t>contains</a:t>
            </a:r>
            <a:r>
              <a:rPr sz="3600" spc="-1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the following </a:t>
            </a:r>
            <a:r>
              <a:rPr sz="3600" spc="-10" dirty="0">
                <a:latin typeface="Arial MT"/>
                <a:cs typeface="Arial MT"/>
              </a:rPr>
              <a:t>events:</a:t>
            </a:r>
            <a:endParaRPr sz="3600">
              <a:latin typeface="Arial MT"/>
              <a:cs typeface="Arial MT"/>
            </a:endParaRPr>
          </a:p>
          <a:p>
            <a:pPr marL="860425" indent="-565150">
              <a:lnSpc>
                <a:spcPct val="100000"/>
              </a:lnSpc>
              <a:spcBef>
                <a:spcPts val="1155"/>
              </a:spcBef>
              <a:buSzPct val="96000"/>
              <a:buChar char="•"/>
              <a:tabLst>
                <a:tab pos="860425" algn="l"/>
              </a:tabLst>
            </a:pPr>
            <a:r>
              <a:rPr sz="3600" spc="-10" dirty="0">
                <a:latin typeface="Arial MT"/>
                <a:cs typeface="Arial MT"/>
              </a:rPr>
              <a:t>onHorizontalDragStart</a:t>
            </a:r>
            <a:endParaRPr sz="3600">
              <a:latin typeface="Arial MT"/>
              <a:cs typeface="Arial MT"/>
            </a:endParaRPr>
          </a:p>
          <a:p>
            <a:pPr marL="860425" indent="-565150">
              <a:lnSpc>
                <a:spcPct val="100000"/>
              </a:lnSpc>
              <a:spcBef>
                <a:spcPts val="1200"/>
              </a:spcBef>
              <a:buSzPct val="96000"/>
              <a:buChar char="•"/>
              <a:tabLst>
                <a:tab pos="860425" algn="l"/>
              </a:tabLst>
            </a:pPr>
            <a:r>
              <a:rPr sz="3600" spc="-10" dirty="0">
                <a:latin typeface="Arial MT"/>
                <a:cs typeface="Arial MT"/>
              </a:rPr>
              <a:t>onHorizontalDragUpdate</a:t>
            </a:r>
            <a:endParaRPr sz="3600">
              <a:latin typeface="Arial MT"/>
              <a:cs typeface="Arial MT"/>
            </a:endParaRPr>
          </a:p>
          <a:p>
            <a:pPr marL="860425" indent="-565150">
              <a:lnSpc>
                <a:spcPct val="100000"/>
              </a:lnSpc>
              <a:spcBef>
                <a:spcPts val="1120"/>
              </a:spcBef>
              <a:buSzPct val="96000"/>
              <a:buChar char="•"/>
              <a:tabLst>
                <a:tab pos="860425" algn="l"/>
              </a:tabLst>
            </a:pPr>
            <a:r>
              <a:rPr sz="3600" spc="-10" dirty="0">
                <a:latin typeface="Arial MT"/>
                <a:cs typeface="Arial MT"/>
              </a:rPr>
              <a:t>onHorizontalDragEnd</a:t>
            </a:r>
            <a:endParaRPr sz="3600">
              <a:latin typeface="Arial MT"/>
              <a:cs typeface="Arial MT"/>
            </a:endParaRPr>
          </a:p>
          <a:p>
            <a:pPr marL="295275" marR="31750" indent="-283210">
              <a:lnSpc>
                <a:spcPts val="3460"/>
              </a:lnSpc>
              <a:spcBef>
                <a:spcPts val="1955"/>
              </a:spcBef>
            </a:pPr>
            <a:r>
              <a:rPr sz="1450" b="1" dirty="0">
                <a:latin typeface="Arial" panose="020B0604020202020204"/>
                <a:cs typeface="Arial" panose="020B0604020202020204"/>
              </a:rPr>
              <a:t>2.</a:t>
            </a:r>
            <a:r>
              <a:rPr sz="1450" b="1" spc="85" dirty="0">
                <a:latin typeface="Arial" panose="020B0604020202020204"/>
                <a:cs typeface="Arial" panose="020B0604020202020204"/>
              </a:rPr>
              <a:t>  </a:t>
            </a:r>
            <a:r>
              <a:rPr sz="3600" b="1" dirty="0">
                <a:latin typeface="Arial" panose="020B0604020202020204"/>
                <a:cs typeface="Arial" panose="020B0604020202020204"/>
              </a:rPr>
              <a:t>Vertical</a:t>
            </a:r>
            <a:r>
              <a:rPr sz="36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3600" b="1" dirty="0">
                <a:latin typeface="Arial" panose="020B0604020202020204"/>
                <a:cs typeface="Arial" panose="020B0604020202020204"/>
              </a:rPr>
              <a:t>Drag:</a:t>
            </a:r>
            <a:r>
              <a:rPr sz="360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600" dirty="0">
                <a:latin typeface="Arial MT"/>
                <a:cs typeface="Arial MT"/>
              </a:rPr>
              <a:t>This gesture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allows the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pointer to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move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in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a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vertical direction. It</a:t>
            </a:r>
            <a:r>
              <a:rPr sz="3600" spc="5" dirty="0">
                <a:latin typeface="Arial MT"/>
                <a:cs typeface="Arial MT"/>
              </a:rPr>
              <a:t> </a:t>
            </a:r>
            <a:r>
              <a:rPr sz="3600" spc="-10" dirty="0">
                <a:latin typeface="Arial MT"/>
                <a:cs typeface="Arial MT"/>
              </a:rPr>
              <a:t>contains </a:t>
            </a:r>
            <a:r>
              <a:rPr sz="3600" dirty="0">
                <a:latin typeface="Arial MT"/>
                <a:cs typeface="Arial MT"/>
              </a:rPr>
              <a:t>the</a:t>
            </a:r>
            <a:r>
              <a:rPr sz="3600" spc="-10" dirty="0">
                <a:latin typeface="Arial MT"/>
                <a:cs typeface="Arial MT"/>
              </a:rPr>
              <a:t> </a:t>
            </a:r>
            <a:r>
              <a:rPr sz="3600" dirty="0">
                <a:latin typeface="Arial MT"/>
                <a:cs typeface="Arial MT"/>
              </a:rPr>
              <a:t>following </a:t>
            </a:r>
            <a:r>
              <a:rPr sz="3600" spc="-10" dirty="0">
                <a:latin typeface="Arial MT"/>
                <a:cs typeface="Arial MT"/>
              </a:rPr>
              <a:t>events:</a:t>
            </a:r>
            <a:endParaRPr sz="3600">
              <a:latin typeface="Arial MT"/>
              <a:cs typeface="Arial MT"/>
            </a:endParaRPr>
          </a:p>
          <a:p>
            <a:pPr marL="860425" indent="-565150">
              <a:lnSpc>
                <a:spcPct val="100000"/>
              </a:lnSpc>
              <a:spcBef>
                <a:spcPts val="1250"/>
              </a:spcBef>
              <a:buChar char="•"/>
              <a:tabLst>
                <a:tab pos="860425" algn="l"/>
              </a:tabLst>
            </a:pPr>
            <a:r>
              <a:rPr sz="3600" spc="-10" dirty="0">
                <a:latin typeface="Arial MT"/>
                <a:cs typeface="Arial MT"/>
              </a:rPr>
              <a:t>onVerticalDragStart</a:t>
            </a:r>
            <a:endParaRPr sz="3600">
              <a:latin typeface="Arial MT"/>
              <a:cs typeface="Arial MT"/>
            </a:endParaRPr>
          </a:p>
          <a:p>
            <a:pPr marL="860425" indent="-565150">
              <a:lnSpc>
                <a:spcPct val="100000"/>
              </a:lnSpc>
              <a:spcBef>
                <a:spcPts val="1120"/>
              </a:spcBef>
              <a:buChar char="•"/>
              <a:tabLst>
                <a:tab pos="860425" algn="l"/>
              </a:tabLst>
            </a:pPr>
            <a:r>
              <a:rPr sz="3600" spc="-10" dirty="0">
                <a:latin typeface="Arial MT"/>
                <a:cs typeface="Arial MT"/>
              </a:rPr>
              <a:t>onVerticalDragUpdate</a:t>
            </a:r>
            <a:endParaRPr sz="3600">
              <a:latin typeface="Arial MT"/>
              <a:cs typeface="Arial MT"/>
            </a:endParaRPr>
          </a:p>
          <a:p>
            <a:pPr marL="860425" indent="-565150">
              <a:lnSpc>
                <a:spcPct val="100000"/>
              </a:lnSpc>
              <a:spcBef>
                <a:spcPts val="1125"/>
              </a:spcBef>
              <a:buChar char="•"/>
              <a:tabLst>
                <a:tab pos="860425" algn="l"/>
              </a:tabLst>
            </a:pPr>
            <a:r>
              <a:rPr sz="3600" spc="-10" dirty="0">
                <a:latin typeface="Arial MT"/>
                <a:cs typeface="Arial MT"/>
              </a:rPr>
              <a:t>onVerticalDragEnd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963" rIns="0" bIns="0" rtlCol="0">
            <a:spAutoFit/>
          </a:bodyPr>
          <a:lstStyle/>
          <a:p>
            <a:pPr marL="5951220">
              <a:lnSpc>
                <a:spcPct val="100000"/>
              </a:lnSpc>
              <a:spcBef>
                <a:spcPts val="115"/>
              </a:spcBef>
            </a:pPr>
            <a:r>
              <a:rPr sz="6250" spc="-10" dirty="0"/>
              <a:t>Gestures</a:t>
            </a:r>
            <a:endParaRPr sz="6250"/>
          </a:p>
        </p:txBody>
      </p:sp>
      <p:sp>
        <p:nvSpPr>
          <p:cNvPr id="3" name="object 3"/>
          <p:cNvSpPr txBox="1"/>
          <p:nvPr/>
        </p:nvSpPr>
        <p:spPr>
          <a:xfrm>
            <a:off x="1170510" y="2548059"/>
            <a:ext cx="18181955" cy="67005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394335" algn="just">
              <a:lnSpc>
                <a:spcPts val="4690"/>
              </a:lnSpc>
              <a:spcBef>
                <a:spcPts val="305"/>
              </a:spcBef>
            </a:pPr>
            <a:r>
              <a:rPr sz="3950" b="1" dirty="0">
                <a:latin typeface="Arial" panose="020B0604020202020204"/>
                <a:cs typeface="Arial" panose="020B0604020202020204"/>
              </a:rPr>
              <a:t>Long</a:t>
            </a:r>
            <a:r>
              <a:rPr sz="3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Press:</a:t>
            </a:r>
            <a:r>
              <a:rPr sz="3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It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means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touching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surface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screen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particular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location </a:t>
            </a:r>
            <a:r>
              <a:rPr sz="3950" dirty="0">
                <a:latin typeface="Arial MT"/>
                <a:cs typeface="Arial MT"/>
              </a:rPr>
              <a:t>for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long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time.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This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contains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following</a:t>
            </a:r>
            <a:r>
              <a:rPr sz="3950" spc="-10" dirty="0">
                <a:latin typeface="Arial MT"/>
                <a:cs typeface="Arial MT"/>
              </a:rPr>
              <a:t> events:</a:t>
            </a:r>
            <a:endParaRPr sz="3950">
              <a:latin typeface="Arial MT"/>
              <a:cs typeface="Arial MT"/>
            </a:endParaRPr>
          </a:p>
          <a:p>
            <a:pPr marL="293370" indent="-280670" algn="just">
              <a:lnSpc>
                <a:spcPct val="100000"/>
              </a:lnSpc>
              <a:spcBef>
                <a:spcPts val="1880"/>
              </a:spcBef>
              <a:buSzPct val="37000"/>
              <a:buChar char="•"/>
              <a:tabLst>
                <a:tab pos="293370" algn="l"/>
              </a:tabLst>
            </a:pPr>
            <a:r>
              <a:rPr sz="3950" spc="-10" dirty="0">
                <a:latin typeface="Arial MT"/>
                <a:cs typeface="Arial MT"/>
              </a:rPr>
              <a:t>onLongPress</a:t>
            </a:r>
            <a:endParaRPr sz="3950">
              <a:latin typeface="Arial MT"/>
              <a:cs typeface="Arial MT"/>
            </a:endParaRPr>
          </a:p>
          <a:p>
            <a:pPr marL="12700" marR="5080" algn="just">
              <a:lnSpc>
                <a:spcPct val="101000"/>
              </a:lnSpc>
              <a:spcBef>
                <a:spcPts val="1880"/>
              </a:spcBef>
            </a:pPr>
            <a:r>
              <a:rPr sz="3950" b="1" dirty="0">
                <a:latin typeface="Arial" panose="020B0604020202020204"/>
                <a:cs typeface="Arial" panose="020B0604020202020204"/>
              </a:rPr>
              <a:t>Pan:</a:t>
            </a:r>
            <a:r>
              <a:rPr sz="395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It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means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touching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surface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screen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with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fingertip,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which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can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spc="-20" dirty="0">
                <a:latin typeface="Arial MT"/>
                <a:cs typeface="Arial MT"/>
              </a:rPr>
              <a:t>move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any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direction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without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releasing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fingertip.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This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contains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10" dirty="0">
                <a:latin typeface="Arial MT"/>
                <a:cs typeface="Arial MT"/>
              </a:rPr>
              <a:t> following events: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25"/>
              </a:spcBef>
              <a:buSzPct val="3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onPanStart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2030"/>
              </a:spcBef>
              <a:buSzPct val="3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onPanUpdate</a:t>
            </a:r>
            <a:endParaRPr sz="3950">
              <a:latin typeface="Arial MT"/>
              <a:cs typeface="Arial MT"/>
            </a:endParaRPr>
          </a:p>
          <a:p>
            <a:pPr marL="295275" indent="-282575">
              <a:lnSpc>
                <a:spcPct val="100000"/>
              </a:lnSpc>
              <a:spcBef>
                <a:spcPts val="1930"/>
              </a:spcBef>
              <a:buSzPct val="37000"/>
              <a:buChar char="•"/>
              <a:tabLst>
                <a:tab pos="295275" algn="l"/>
              </a:tabLst>
            </a:pPr>
            <a:r>
              <a:rPr sz="3950" spc="-10" dirty="0">
                <a:latin typeface="Arial MT"/>
                <a:cs typeface="Arial MT"/>
              </a:rPr>
              <a:t>onPanEnd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5963" rIns="0" bIns="0" rtlCol="0">
            <a:spAutoFit/>
          </a:bodyPr>
          <a:lstStyle/>
          <a:p>
            <a:pPr marL="5914390">
              <a:lnSpc>
                <a:spcPct val="100000"/>
              </a:lnSpc>
              <a:spcBef>
                <a:spcPts val="115"/>
              </a:spcBef>
            </a:pPr>
            <a:r>
              <a:rPr sz="6250" spc="-10" dirty="0"/>
              <a:t>Gestures</a:t>
            </a:r>
            <a:endParaRPr sz="6250"/>
          </a:p>
        </p:txBody>
      </p:sp>
      <p:sp>
        <p:nvSpPr>
          <p:cNvPr id="3" name="object 3"/>
          <p:cNvSpPr txBox="1"/>
          <p:nvPr/>
        </p:nvSpPr>
        <p:spPr>
          <a:xfrm>
            <a:off x="1170510" y="2548059"/>
            <a:ext cx="18242280" cy="1832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950" b="1" dirty="0">
                <a:latin typeface="Arial" panose="020B0604020202020204"/>
                <a:cs typeface="Arial" panose="020B0604020202020204"/>
              </a:rPr>
              <a:t>Pinch:</a:t>
            </a:r>
            <a:r>
              <a:rPr sz="3950" b="1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It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means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pinching (move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one's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finger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and thumb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bring them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together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on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touchscreen)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surface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screen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using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two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fingers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zoom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into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or</a:t>
            </a:r>
            <a:r>
              <a:rPr sz="3950" spc="-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out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spc="-50" dirty="0">
                <a:latin typeface="Arial MT"/>
                <a:cs typeface="Arial MT"/>
              </a:rPr>
              <a:t>a </a:t>
            </a:r>
            <a:r>
              <a:rPr sz="3950" spc="-10" dirty="0">
                <a:latin typeface="Arial MT"/>
                <a:cs typeface="Arial MT"/>
              </a:rPr>
              <a:t>screen.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105910">
              <a:lnSpc>
                <a:spcPct val="100000"/>
              </a:lnSpc>
              <a:spcBef>
                <a:spcPts val="125"/>
              </a:spcBef>
            </a:pPr>
            <a:r>
              <a:rPr dirty="0"/>
              <a:t>Gesture</a:t>
            </a:r>
            <a:r>
              <a:rPr spc="10" dirty="0"/>
              <a:t> </a:t>
            </a:r>
            <a:r>
              <a:rPr spc="-10" dirty="0"/>
              <a:t>Detector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170510" y="2548059"/>
            <a:ext cx="18248630" cy="5695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5"/>
              </a:spcBef>
            </a:pPr>
            <a:r>
              <a:rPr sz="3950" dirty="0">
                <a:latin typeface="Arial MT"/>
                <a:cs typeface="Arial MT"/>
              </a:rPr>
              <a:t>Flutter</a:t>
            </a:r>
            <a:r>
              <a:rPr sz="3950" spc="2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provides</a:t>
            </a:r>
            <a:r>
              <a:rPr sz="3950" spc="2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2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widget</a:t>
            </a:r>
            <a:r>
              <a:rPr sz="3950" spc="2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that</a:t>
            </a:r>
            <a:r>
              <a:rPr sz="3950" spc="2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gives</a:t>
            </a:r>
            <a:r>
              <a:rPr sz="3950" spc="2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excellent</a:t>
            </a:r>
            <a:r>
              <a:rPr sz="3950" spc="2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support</a:t>
            </a:r>
            <a:r>
              <a:rPr sz="3950" spc="2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for</a:t>
            </a:r>
            <a:r>
              <a:rPr sz="3950" spc="2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all</a:t>
            </a:r>
            <a:r>
              <a:rPr sz="3950" spc="29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types</a:t>
            </a:r>
            <a:r>
              <a:rPr sz="3950" spc="28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29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gestures</a:t>
            </a:r>
            <a:r>
              <a:rPr sz="3950" spc="28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by </a:t>
            </a:r>
            <a:r>
              <a:rPr sz="3950" dirty="0">
                <a:latin typeface="Arial MT"/>
                <a:cs typeface="Arial MT"/>
              </a:rPr>
              <a:t>using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10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GestureDetector</a:t>
            </a:r>
            <a:r>
              <a:rPr sz="3950" b="1" spc="700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widget.</a:t>
            </a:r>
            <a:r>
              <a:rPr sz="3950" spc="70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10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GestureWidget</a:t>
            </a:r>
            <a:r>
              <a:rPr sz="3950" b="1" spc="71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7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non-visual</a:t>
            </a:r>
            <a:r>
              <a:rPr sz="3950" spc="700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widgets, </a:t>
            </a:r>
            <a:r>
              <a:rPr sz="3950" dirty="0">
                <a:latin typeface="Arial MT"/>
                <a:cs typeface="Arial MT"/>
              </a:rPr>
              <a:t>which</a:t>
            </a:r>
            <a:r>
              <a:rPr sz="3950" spc="70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7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primarily</a:t>
            </a:r>
            <a:r>
              <a:rPr sz="3950" spc="7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used</a:t>
            </a:r>
            <a:r>
              <a:rPr sz="3950" spc="7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for</a:t>
            </a:r>
            <a:r>
              <a:rPr sz="3950" spc="7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detecting</a:t>
            </a:r>
            <a:r>
              <a:rPr sz="3950" spc="7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user's</a:t>
            </a:r>
            <a:r>
              <a:rPr sz="3950" spc="7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gesture.</a:t>
            </a:r>
            <a:r>
              <a:rPr sz="3950" spc="7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72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basic</a:t>
            </a:r>
            <a:r>
              <a:rPr sz="3950" spc="7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idea</a:t>
            </a:r>
            <a:r>
              <a:rPr sz="3950" spc="71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</a:t>
            </a:r>
            <a:r>
              <a:rPr sz="3950" spc="71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the </a:t>
            </a:r>
            <a:r>
              <a:rPr sz="3950" dirty="0">
                <a:latin typeface="Arial MT"/>
                <a:cs typeface="Arial MT"/>
              </a:rPr>
              <a:t>gesture</a:t>
            </a:r>
            <a:r>
              <a:rPr sz="3950" spc="204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detector</a:t>
            </a:r>
            <a:r>
              <a:rPr sz="3950" spc="2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2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215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stateless</a:t>
            </a:r>
            <a:r>
              <a:rPr sz="3950" b="1" spc="204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widget</a:t>
            </a:r>
            <a:r>
              <a:rPr sz="3950" spc="2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that</a:t>
            </a:r>
            <a:r>
              <a:rPr sz="3950" spc="204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contains</a:t>
            </a:r>
            <a:r>
              <a:rPr sz="3950" spc="2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parameters</a:t>
            </a:r>
            <a:r>
              <a:rPr sz="3950" spc="20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in</a:t>
            </a:r>
            <a:r>
              <a:rPr sz="3950" spc="21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its</a:t>
            </a:r>
            <a:r>
              <a:rPr sz="3950" spc="204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constructor </a:t>
            </a:r>
            <a:r>
              <a:rPr sz="3950" dirty="0">
                <a:latin typeface="Arial MT"/>
                <a:cs typeface="Arial MT"/>
              </a:rPr>
              <a:t>for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different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touch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events.</a:t>
            </a:r>
            <a:endParaRPr sz="3950">
              <a:latin typeface="Arial MT"/>
              <a:cs typeface="Arial MT"/>
            </a:endParaRPr>
          </a:p>
          <a:p>
            <a:pPr marL="12700" marR="5715" algn="just">
              <a:lnSpc>
                <a:spcPct val="100000"/>
              </a:lnSpc>
              <a:spcBef>
                <a:spcPts val="2045"/>
              </a:spcBef>
            </a:pPr>
            <a:r>
              <a:rPr sz="3950" dirty="0">
                <a:latin typeface="Arial MT"/>
                <a:cs typeface="Arial MT"/>
              </a:rPr>
              <a:t>There</a:t>
            </a:r>
            <a:r>
              <a:rPr sz="3950" spc="1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might</a:t>
            </a:r>
            <a:r>
              <a:rPr sz="3950" spc="1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be</a:t>
            </a:r>
            <a:r>
              <a:rPr sz="3950" spc="135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multiple</a:t>
            </a:r>
            <a:r>
              <a:rPr sz="3950" b="1" spc="125" dirty="0">
                <a:latin typeface="Arial" panose="020B0604020202020204"/>
                <a:cs typeface="Arial" panose="020B0604020202020204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gesture</a:t>
            </a:r>
            <a:r>
              <a:rPr sz="3950" b="1" spc="13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detectors</a:t>
            </a:r>
            <a:r>
              <a:rPr sz="3950" spc="12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at</a:t>
            </a:r>
            <a:r>
              <a:rPr sz="3950" spc="1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a</a:t>
            </a:r>
            <a:r>
              <a:rPr sz="3950" spc="1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particular</a:t>
            </a:r>
            <a:r>
              <a:rPr sz="3950" spc="1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location</a:t>
            </a:r>
            <a:r>
              <a:rPr sz="3950" spc="1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on</a:t>
            </a:r>
            <a:r>
              <a:rPr sz="3950" spc="1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130" dirty="0">
                <a:latin typeface="Arial MT"/>
                <a:cs typeface="Arial MT"/>
              </a:rPr>
              <a:t> </a:t>
            </a:r>
            <a:r>
              <a:rPr sz="3950" spc="-10" dirty="0">
                <a:latin typeface="Arial MT"/>
                <a:cs typeface="Arial MT"/>
              </a:rPr>
              <a:t>screen, </a:t>
            </a:r>
            <a:r>
              <a:rPr sz="3950" dirty="0">
                <a:latin typeface="Arial MT"/>
                <a:cs typeface="Arial MT"/>
              </a:rPr>
              <a:t>and</a:t>
            </a:r>
            <a:r>
              <a:rPr sz="3950" spc="86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then</a:t>
            </a:r>
            <a:r>
              <a:rPr sz="3950" spc="86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the</a:t>
            </a:r>
            <a:r>
              <a:rPr sz="3950" spc="86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framework</a:t>
            </a:r>
            <a:r>
              <a:rPr sz="3950" spc="855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disambiguates</a:t>
            </a:r>
            <a:r>
              <a:rPr sz="3950" b="1" spc="87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which</a:t>
            </a:r>
            <a:r>
              <a:rPr sz="3950" spc="86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</a:t>
            </a:r>
            <a:r>
              <a:rPr sz="3950" spc="86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should</a:t>
            </a:r>
            <a:r>
              <a:rPr sz="3950" spc="86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be</a:t>
            </a:r>
            <a:r>
              <a:rPr sz="3950" spc="869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called.</a:t>
            </a:r>
            <a:r>
              <a:rPr sz="3950" spc="86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The </a:t>
            </a:r>
            <a:r>
              <a:rPr sz="3950" dirty="0">
                <a:latin typeface="Arial MT"/>
                <a:cs typeface="Arial MT"/>
              </a:rPr>
              <a:t>GestureDetector</a:t>
            </a:r>
            <a:r>
              <a:rPr sz="3950" spc="5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widget</a:t>
            </a:r>
            <a:r>
              <a:rPr sz="3950" spc="5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decides</a:t>
            </a:r>
            <a:r>
              <a:rPr sz="3950" spc="5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which</a:t>
            </a:r>
            <a:r>
              <a:rPr sz="3950" spc="5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gesture</a:t>
            </a:r>
            <a:r>
              <a:rPr sz="3950" spc="5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is</a:t>
            </a:r>
            <a:r>
              <a:rPr sz="3950" spc="530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going</a:t>
            </a:r>
            <a:r>
              <a:rPr sz="3950" spc="53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to</a:t>
            </a:r>
            <a:r>
              <a:rPr sz="3950" spc="535" dirty="0">
                <a:latin typeface="Arial MT"/>
                <a:cs typeface="Arial MT"/>
              </a:rPr>
              <a:t>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recognize</a:t>
            </a:r>
            <a:r>
              <a:rPr sz="3950" b="1" spc="535" dirty="0">
                <a:latin typeface="Arial" panose="020B0604020202020204"/>
                <a:cs typeface="Arial" panose="020B0604020202020204"/>
              </a:rPr>
              <a:t> </a:t>
            </a:r>
            <a:r>
              <a:rPr sz="3950" dirty="0">
                <a:latin typeface="Arial MT"/>
                <a:cs typeface="Arial MT"/>
              </a:rPr>
              <a:t>based</a:t>
            </a:r>
            <a:r>
              <a:rPr sz="3950" spc="535" dirty="0">
                <a:latin typeface="Arial MT"/>
                <a:cs typeface="Arial MT"/>
              </a:rPr>
              <a:t> </a:t>
            </a:r>
            <a:r>
              <a:rPr sz="3950" spc="-25" dirty="0">
                <a:latin typeface="Arial MT"/>
                <a:cs typeface="Arial MT"/>
              </a:rPr>
              <a:t>on </a:t>
            </a:r>
            <a:r>
              <a:rPr sz="3950" dirty="0">
                <a:latin typeface="Arial MT"/>
                <a:cs typeface="Arial MT"/>
              </a:rPr>
              <a:t>which</a:t>
            </a:r>
            <a:r>
              <a:rPr sz="3950" spc="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of its</a:t>
            </a:r>
            <a:r>
              <a:rPr sz="3950" spc="-5" dirty="0">
                <a:latin typeface="Arial MT"/>
                <a:cs typeface="Arial MT"/>
              </a:rPr>
              <a:t> </a:t>
            </a:r>
            <a:r>
              <a:rPr sz="3950" dirty="0">
                <a:latin typeface="Arial MT"/>
                <a:cs typeface="Arial MT"/>
              </a:rPr>
              <a:t>callbacks are </a:t>
            </a:r>
            <a:r>
              <a:rPr sz="3950" b="1" dirty="0">
                <a:latin typeface="Arial" panose="020B0604020202020204"/>
                <a:cs typeface="Arial" panose="020B0604020202020204"/>
              </a:rPr>
              <a:t>non-</a:t>
            </a:r>
            <a:r>
              <a:rPr sz="3950" b="1" spc="-10" dirty="0">
                <a:latin typeface="Arial" panose="020B0604020202020204"/>
                <a:cs typeface="Arial" panose="020B0604020202020204"/>
              </a:rPr>
              <a:t>null</a:t>
            </a:r>
            <a:r>
              <a:rPr sz="3950" spc="-10" dirty="0">
                <a:latin typeface="Arial MT"/>
                <a:cs typeface="Arial MT"/>
              </a:rPr>
              <a:t>.</a:t>
            </a:r>
            <a:endParaRPr sz="39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7872</Words>
  <Application>WPS Presentation</Application>
  <PresentationFormat>On-screen Show (4:3)</PresentationFormat>
  <Paragraphs>173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SimSun</vt:lpstr>
      <vt:lpstr>Wingdings</vt:lpstr>
      <vt:lpstr>Arial</vt:lpstr>
      <vt:lpstr>Arial MT</vt:lpstr>
      <vt:lpstr>Microsoft YaHei</vt:lpstr>
      <vt:lpstr>Arial Unicode MS</vt:lpstr>
      <vt:lpstr>Calibri</vt:lpstr>
      <vt:lpstr>Georgia</vt:lpstr>
      <vt:lpstr>Office Theme</vt:lpstr>
      <vt:lpstr>Mobile Learning Application Development</vt:lpstr>
      <vt:lpstr>Form Validation in Flutter</vt:lpstr>
      <vt:lpstr>Form Validation in Flutter</vt:lpstr>
      <vt:lpstr>Form Validation in Flutter</vt:lpstr>
      <vt:lpstr>Form Validation in Flutter</vt:lpstr>
      <vt:lpstr>Customizing Fonts in Flutter</vt:lpstr>
      <vt:lpstr>Customizing Fonts in Flutter</vt:lpstr>
      <vt:lpstr>Customizing Fonts in Flutter</vt:lpstr>
      <vt:lpstr>Custom Fonts in Flutter</vt:lpstr>
      <vt:lpstr>Add a font to your project</vt:lpstr>
      <vt:lpstr>Register the font</vt:lpstr>
      <vt:lpstr>Use the font in your theme or widget</vt:lpstr>
      <vt:lpstr>Flutter – Skeleton Text</vt:lpstr>
      <vt:lpstr>Flutter – Skeleton Text</vt:lpstr>
      <vt:lpstr>Flutter – Skeleton Text</vt:lpstr>
      <vt:lpstr>Adding dependency</vt:lpstr>
      <vt:lpstr>Importing the Dependency</vt:lpstr>
      <vt:lpstr>Flutter Gestures</vt:lpstr>
      <vt:lpstr>Flutter Gestures</vt:lpstr>
      <vt:lpstr>Flutter Gestures</vt:lpstr>
      <vt:lpstr>Pointers</vt:lpstr>
      <vt:lpstr>Pointers</vt:lpstr>
      <vt:lpstr>Gestures</vt:lpstr>
      <vt:lpstr>Gestures</vt:lpstr>
      <vt:lpstr>Gestures</vt:lpstr>
      <vt:lpstr>Gestures</vt:lpstr>
      <vt:lpstr>Gestures</vt:lpstr>
      <vt:lpstr>Gestures</vt:lpstr>
      <vt:lpstr>Gesture Detector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Learning Application Development</dc:title>
  <dc:creator/>
  <cp:lastModifiedBy>User</cp:lastModifiedBy>
  <cp:revision>1</cp:revision>
  <dcterms:created xsi:type="dcterms:W3CDTF">2025-09-26T07:09:42Z</dcterms:created>
  <dcterms:modified xsi:type="dcterms:W3CDTF">2025-09-26T07:09:43Z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2024-12-09T06:00:00Z</vt:filetime>
  </property>
  <property fmtid="{D5CDD505-2E9C-101B-9397-08002B2CF9AE}" pid="3" name="Creator">
    <vt:lpwstr>PowerPoint</vt:lpwstr>
  </property>
  <property fmtid="{D5CDD505-2E9C-101B-9397-08002B2CF9AE}" pid="4" name="LastSaved">
    <vt:filetime>2025-09-26T06:00:00Z</vt:filetime>
  </property>
  <property fmtid="{D5CDD505-2E9C-101B-9397-08002B2CF9AE}" pid="5" name="Producer">
    <vt:lpwstr>macOS Version 15.1.1 (Build 24B91) Quartz PDFContext</vt:lpwstr>
  </property>
  <property fmtid="{D5CDD505-2E9C-101B-9397-08002B2CF9AE}" pid="6" name="ICV">
    <vt:lpwstr>E040336B6E97460CACBD90172FE3A19E_12</vt:lpwstr>
  </property>
  <property fmtid="{D5CDD505-2E9C-101B-9397-08002B2CF9AE}" pid="7" name="KSOProductBuildVer">
    <vt:lpwstr>1033-12.2.0.21931</vt:lpwstr>
  </property>
</Properties>
</file>